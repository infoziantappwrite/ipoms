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the eleven formal specification documents — the Design Foundation plus Modules 01 through 10. These are the signed-off specs rather than the working discussions, so where an earlier conversation and one of these documents disagree, the document is the version of record. Every slide here traces to a numbered section in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documents produced over roughly two days of concentrated design work. Note the status column — Module 01 is still marked Draft while the rest reached Final Draft or Completed, and every one of them is pending formal approval. That is the single outstanding governance item across the whole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pausing on before the module walkthrough. The uniform structure means you can find the permission matrix or the deferred list in any of these documents in seconds. The bottom card is the genuinely distinctive part — these specs preserve the road not taken, which is rare and valuable.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The point to land is the data core — Module 02 is deliberately the supporting module, while the Daily Tracker is where coordinators actually live. The specs say plainly that a coordinator should never need to leave the Daily Tracker to maintain the company database; it updates itself as they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is not a module. It is the design language the ten modules are assembled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palette is derived from the existing brand mark rather than invented — that is stated explicitly in §4.1. Note the theme position in this document: light mode is the only theme shipping in v1, with the colour system built so dark mode can be added later without redesigning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sidebar items in a fixed order, and the same seven-layer shell on every screen. The highlighted row is the point — the data grid is the hero of almost every module. Note Monthly Tracker sits in the sidebar but has no specification document in this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draw out. The login screen is deliberately two-panel rather than a bare form, to make a stronger first impression for an enterprise product. And the dashboard is one framework with role-based visibility — the document is explicit that this is a single codebase, not separate executive and operational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component library and grid standards are why the ten modules that follow read as one product rather than ten screens. The quote at the bottom is the sentence the whole project has been run on — business workflow is designed first, the interface second, every single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here it is roughly three slides per module, following each specification's own section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01 is the only document in the set still marked Draft rather than Final. The role definitions here are the ones every later permission matrix refers back to. The TPO is the one to flag — external, read-only, and in Module 06 they lose module access altogether and simply receive exports.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master matrix — every later module's permission table is consistent with it. The pattern to notice: coordinators can do operational work but cannot delete, import, export or administer. Team Leaders sit in the middle with a starred exception for creating coordinator accounts, which Module 08 later confirms and extends.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split at the top is the clever part of Module 01 — coordinators must keep contact details current because they discover them on calls, but they can never touch the core company record. The lifecycle rule matters legally as much as technically: nothing is ever deleted to remove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scale figures — 5,000 to 8,000 curated companies drawn from a wider working meta-database of around 40,000 records. The identity decision is the one that surprises people: no company ID at all. The name is the identity, because that is how the team already thinks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four-column table is the precise rule set — worth showing in full because it is the kind of thing that gets approximated during build and then behaves wrongly. The bottom-right card explains a decision that looks trivial and is not: one row per contact, justified by the click cost across seventy calls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correction worth voicing: an earlier draft proposed emailing the Team Leader on every deletion. That was superseded — the Recycle Bin with restore rights replaced it, and the email requirement was dropped. Also note Bulk Paste is a future enhancement in this document, not something shipping in 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iterations before this landed, and the middle card is the interesting rejection — the risk was not usability but data safety. Letting someone into the master database while they are just preparing a call list is how master records get damaged.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time-tracking section went through several iterations and the rationale is worth repeating, because both rejected models look reasonable on paper. The honesty in the second card matters too — the spec is explicit that Duration is activity time, not verified conversation time, so nobody later mistakes it for a telephony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removal of Response 2 is the single most consequential decision in this document — it is what created the clean split between Modules 03 and 04. Soft validation is the other theme: a missing email never stops a day being submitted, it just comes back as a reminder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 that removes the most manual labour. The design was validated against the team's real multi-college Excel tracker — KIOT, KLU-KARE, KPR, Karpagam, SONA, PSNA and others, each on its own tab. The familiar section names were kept deliberately so the change feels like relief rather than disruption.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reading a couple of those real status lines aloud — they are the argument. A dropdown would have forced somebody to pick “Awaiting JD” and lose the rest. Also note a company is never duplicated per role; multiple roles go comma-separated into the single Role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KPI cards sit above these sections — Pipeline, In Progress, Completed, Rejected, Follow-ups Due Today and Top Companies — and each one is clickable, filtering straight to its section. Rejected by HR and Rejected by College are deliberately kept as two sections rather than merged, matching the existing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Friday-to-Friday week is a small detail that matters — it matches how the organization already reports, so the tracker's weeks line up with the reports produced from it. An earlier proposal to lock Completed records against further edits was explicitly not adopted.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middle table is the clearest statement anywhere in the document set of why there are three registers rather than one. Daily Leads replaces a two-sheet Excel workbook and is explicitly independent — it neither reads from nor feeds the Weekly Tracker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automation refusal is a mature decision and worth defending out loud — it would have been easy to auto-populate this from the Daily Tracker and quietly degrade the data. Performance is written in as an explicit non-functional requirement: instant saves, no visible refresh, and multiple coordinators working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architectural rule carried forward from this document is that Reports &amp; Analytics never duplicates or re-keys data — it only reads and formats. That is what keeps the numbers trustworthy. Company Analytics lives inside the Analytics section precisely because a standalone Company Report was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Cutting ten templates to four was the right call — everything removed was already answered somewhere else in the product. The absence of coordinator rankings in v1.0 is deliberate, to keep the emphasis on metrics rather than league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Canva rejection is worth stating plainly — it was seriously considered and turned down for a sound architectural reason, not a preference. The storage rule surprises people every time: generate, edit, export, done. And the editor deliberately cannot write back, which is what protects data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dashboards but one framework. The non-editable rule is the one people query — you can click through to anywhere from here, but you cannot type into it. All operational editing stays in the dedicated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Assigned Work is the signature feature of Module 07 and the merge engine is what makes it safe — a Team Leader can hand over contacts and the system files them correctly without anyone checking for duplicates by hand. Assigned Work is explicitly temporary storage; the Metadata Database is the only permanent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row is worth pointing at — every contact records who added it, when, and who assigned it, so the question “where did this number come from?” always has an answer. Note the deliberate omission of Assigned Date: simplicity was chosen over completeness.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document is unusually candid about being corrected — it records the initial recommendation, the business correction, and the final decision for almost every point. Blocked versus Deactivated is the distinction to make sure lands; the two are easy to confuse and mean very different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Email OTP only in v1 — SMS and WhatsApp OTP were both proposed and deferred. Username is the primary login identifier, with email switchable later by an administrator. The security fix worth mentioning: users originally chose their own role at signup, which was 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governing sentence is that Settings customizes the application and never changes business workflow or report calculation logic — that is the answer to every “can we make that configurable?” question. Showing the privacy rules to users rather than burying them in code is a thoughtful touch.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backup decision is a good example of scope discipline — it would have been easy to add a Backup button and much harder to make it correct and safe. Note this is the one place in the module set where the database choice is named: Firebase or MongoDB Atlas, still undecided.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framing here is unusually honest — the document opens by asking whether the module is needed at all, then justifies a much smaller version than was originally proposed. Almost every figure is a count of existing records rather than separately stored data, so it costs the backend almost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three-state banner is the whole design in miniature — one glance tells management whether to care. Access is Director and CEO in full, Team Leader view-only and optional, coordinators none at all. The database platform decision is explicitly deferred and told not to influence this module's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slides are analysis across the whole set rather than a summary of any single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only exists because these documents record their rejected alternatives. Read down the right-hand column and a theme emerges: the initial proposal was usually the more sophisticated one, and it lost to the simpler thing that matched real behaviour. Response 2 is the standout — removing a field created the clean split between two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deferred lists on one slide. The value is not the individual items but the habit — nothing was dropped silently, and each exclusion carries a stated reason, which means the decision can be revisited later on its merits rather than rediscovered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matrices side by side is the fastest way to sanity-check them, and they hold up. Two things stand out: the TPO progressively loses access as you move right, ending with none at all in Reports; and the Team Leader is the only role that is both operational and administrative.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honest read of the set. None of these are serious — the module-numbering drift and the two product names are housekeeping. The database choice is the only one with downstream consequences, and the specs have been carefully written to defer it without being blocked by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honest position. Ten modules are specified to a genuinely high standard — this is the hard part of software, done properly and in the right order. What remains is sign-off, a few housekeeping reconciliations, and the two chapters that turn business design into something a developer can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Offer to walk through any individual specification in detail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13-2.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1-4.png"/><Relationship Id="rId3" Type="http://schemas.openxmlformats.org/officeDocument/2006/relationships/image" Target="../media/image-3-3.png"/><Relationship Id="rId4" Type="http://schemas.openxmlformats.org/officeDocument/2006/relationships/image" Target="../media/image-16-5.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3-3.png"/><Relationship Id="rId3" Type="http://schemas.openxmlformats.org/officeDocument/2006/relationships/image" Target="../media/image-16-3.png"/><Relationship Id="rId4" Type="http://schemas.openxmlformats.org/officeDocument/2006/relationships/image" Target="../media/image-14-3.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20-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3-3.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3-7.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33-2.png"/><Relationship Id="rId3" Type="http://schemas.openxmlformats.org/officeDocument/2006/relationships/image" Target="../media/image-11-4.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3-3.png"/><Relationship Id="rId3" Type="http://schemas.openxmlformats.org/officeDocument/2006/relationships/image" Target="../media/image-13-2.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3.pn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36-2.png"/><Relationship Id="rId3" Type="http://schemas.openxmlformats.org/officeDocument/2006/relationships/image" Target="../media/image-14-3.png"/><Relationship Id="rId4" Type="http://schemas.openxmlformats.org/officeDocument/2006/relationships/image" Target="../media/image-26-2.png"/><Relationship Id="rId5" Type="http://schemas.openxmlformats.org/officeDocument/2006/relationships/image" Target="../media/image-36-5.pn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3-3.png"/><Relationship Id="rId3" Type="http://schemas.openxmlformats.org/officeDocument/2006/relationships/image" Target="../media/image-11-2.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5.png"/><Relationship Id="rId7" Type="http://schemas.openxmlformats.org/officeDocument/2006/relationships/image" Target="../media/image-40-7.png"/><Relationship Id="rId8" Type="http://schemas.openxmlformats.org/officeDocument/2006/relationships/slideLayout" Target="../slideLayouts/slideLayout1.xml"/><Relationship Id="rId9"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42-2.png"/><Relationship Id="rId3" Type="http://schemas.openxmlformats.org/officeDocument/2006/relationships/image" Target="../media/image-24-3.png"/><Relationship Id="rId4" Type="http://schemas.openxmlformats.org/officeDocument/2006/relationships/image" Target="../media/image-42-4.png"/><Relationship Id="rId5" Type="http://schemas.openxmlformats.org/officeDocument/2006/relationships/image" Target="../media/image-11-3.png"/><Relationship Id="rId6" Type="http://schemas.openxmlformats.org/officeDocument/2006/relationships/image" Target="../media/image-14-2.png"/><Relationship Id="rId7" Type="http://schemas.openxmlformats.org/officeDocument/2006/relationships/image" Target="../media/image-42-7.png"/><Relationship Id="rId8" Type="http://schemas.openxmlformats.org/officeDocument/2006/relationships/slideLayout" Target="../slideLayouts/slideLayout1.xml"/><Relationship Id="rId9"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36-5.png"/><Relationship Id="rId3" Type="http://schemas.openxmlformats.org/officeDocument/2006/relationships/image" Target="../media/image-18-2.png"/><Relationship Id="rId4" Type="http://schemas.openxmlformats.org/officeDocument/2006/relationships/image" Target="../media/image-43-4.png"/><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1234440"/>
            <a:ext cx="11057839" cy="4315968"/>
          </a:xfrm>
          <a:prstGeom prst="roundRect">
            <a:avLst>
              <a:gd name="adj" fmla="val 3814"/>
            </a:avLst>
          </a:prstGeom>
          <a:solidFill>
            <a:srgbClr val="EEF4FB"/>
          </a:solidFill>
          <a:ln w="9525">
            <a:solidFill>
              <a:srgbClr val="D6E4F5"/>
            </a:solidFill>
            <a:prstDash val="solid"/>
          </a:ln>
        </p:spPr>
      </p:sp>
      <p:pic>
        <p:nvPicPr>
          <p:cNvPr id="3" name="Image 0" descr="preencoded.png">    </p:cNvPr>
          <p:cNvPicPr>
            <a:picLocks noChangeAspect="1"/>
          </p:cNvPicPr>
          <p:nvPr/>
        </p:nvPicPr>
        <p:blipFill>
          <a:blip r:embed="rId1"/>
          <a:stretch>
            <a:fillRect/>
          </a:stretch>
        </p:blipFill>
        <p:spPr>
          <a:xfrm>
            <a:off x="1133856" y="1883664"/>
            <a:ext cx="2286000" cy="2286000"/>
          </a:xfrm>
          <a:prstGeom prst="rect">
            <a:avLst/>
          </a:prstGeom>
        </p:spPr>
      </p:pic>
      <p:sp>
        <p:nvSpPr>
          <p:cNvPr id="4" name="Text 1"/>
          <p:cNvSpPr/>
          <p:nvPr/>
        </p:nvSpPr>
        <p:spPr>
          <a:xfrm>
            <a:off x="3913632" y="1810512"/>
            <a:ext cx="7315200" cy="274320"/>
          </a:xfrm>
          <a:prstGeom prst="rect">
            <a:avLst/>
          </a:prstGeom>
          <a:noFill/>
          <a:ln/>
        </p:spPr>
        <p:txBody>
          <a:bodyPr wrap="square" lIns="0" tIns="0" rIns="0" bIns="0" rtlCol="0" anchor="ctr"/>
          <a:lstStyle/>
          <a:p>
            <a:pPr indent="0" marL="0">
              <a:buNone/>
            </a:pPr>
            <a:r>
              <a:rPr lang="en-US" sz="1150" b="1" spc="160" kern="0" dirty="0">
                <a:solidFill>
                  <a:srgbClr val="00ACC1"/>
                </a:solidFill>
                <a:latin typeface="Calibri" pitchFamily="34" charset="0"/>
                <a:ea typeface="Calibri" pitchFamily="34" charset="-122"/>
                <a:cs typeface="Calibri" pitchFamily="34" charset="-120"/>
              </a:rPr>
              <a:t>Secure.  Scalable.  Innovative.</a:t>
            </a:r>
            <a:endParaRPr lang="en-US" sz="1150" dirty="0"/>
          </a:p>
        </p:txBody>
      </p:sp>
      <p:sp>
        <p:nvSpPr>
          <p:cNvPr id="5" name="Text 2"/>
          <p:cNvSpPr/>
          <p:nvPr/>
        </p:nvSpPr>
        <p:spPr>
          <a:xfrm>
            <a:off x="3913632" y="2139696"/>
            <a:ext cx="7315200" cy="1133856"/>
          </a:xfrm>
          <a:prstGeom prst="rect">
            <a:avLst/>
          </a:prstGeom>
          <a:noFill/>
          <a:ln/>
        </p:spPr>
        <p:txBody>
          <a:bodyPr wrap="square" lIns="0" tIns="0" rIns="0" bIns="0" rtlCol="0" anchor="ctr"/>
          <a:lstStyle/>
          <a:p>
            <a:pPr indent="0" marL="0">
              <a:buNone/>
            </a:pPr>
            <a:r>
              <a:rPr lang="en-US" sz="7600" b="1" spc="200" kern="0" dirty="0">
                <a:solidFill>
                  <a:srgbClr val="0B2E59"/>
                </a:solidFill>
                <a:latin typeface="Calibri" pitchFamily="34" charset="0"/>
                <a:ea typeface="Calibri" pitchFamily="34" charset="-122"/>
                <a:cs typeface="Calibri" pitchFamily="34" charset="-120"/>
              </a:rPr>
              <a:t>iPOMS</a:t>
            </a:r>
            <a:endParaRPr lang="en-US" sz="7600" dirty="0"/>
          </a:p>
        </p:txBody>
      </p:sp>
      <p:sp>
        <p:nvSpPr>
          <p:cNvPr id="6" name="Text 3"/>
          <p:cNvSpPr/>
          <p:nvPr/>
        </p:nvSpPr>
        <p:spPr>
          <a:xfrm>
            <a:off x="3913632" y="3291840"/>
            <a:ext cx="7680960" cy="420624"/>
          </a:xfrm>
          <a:prstGeom prst="rect">
            <a:avLst/>
          </a:prstGeom>
          <a:noFill/>
          <a:ln/>
        </p:spPr>
        <p:txBody>
          <a:bodyPr wrap="square" lIns="0" tIns="0" rIns="0" bIns="0" rtlCol="0" anchor="ctr"/>
          <a:lstStyle/>
          <a:p>
            <a:pPr indent="0" marL="0">
              <a:buNone/>
            </a:pPr>
            <a:r>
              <a:rPr lang="en-US" sz="2000" dirty="0">
                <a:solidFill>
                  <a:srgbClr val="175496"/>
                </a:solidFill>
                <a:latin typeface="Calibri" pitchFamily="34" charset="0"/>
                <a:ea typeface="Calibri" pitchFamily="34" charset="-122"/>
                <a:cs typeface="Calibri" pitchFamily="34" charset="-120"/>
              </a:rPr>
              <a:t>Module Specifications — Version 1.0</a:t>
            </a:r>
            <a:endParaRPr lang="en-US" sz="2000" dirty="0"/>
          </a:p>
        </p:txBody>
      </p:sp>
      <p:sp>
        <p:nvSpPr>
          <p:cNvPr id="7" name="Text 4"/>
          <p:cNvSpPr/>
          <p:nvPr/>
        </p:nvSpPr>
        <p:spPr>
          <a:xfrm>
            <a:off x="3913632" y="3712464"/>
            <a:ext cx="7680960" cy="347472"/>
          </a:xfrm>
          <a:prstGeom prst="rect">
            <a:avLst/>
          </a:prstGeom>
          <a:noFill/>
          <a:ln/>
        </p:spPr>
        <p:txBody>
          <a:bodyPr wrap="square" lIns="0" tIns="0" rIns="0" bIns="0" rtlCol="0" anchor="ctr"/>
          <a:lstStyle/>
          <a:p>
            <a:pPr indent="0" marL="0">
              <a:buNone/>
            </a:pPr>
            <a:r>
              <a:rPr lang="en-US" sz="1300" i="1" dirty="0">
                <a:solidFill>
                  <a:srgbClr val="3E4C59"/>
                </a:solidFill>
                <a:latin typeface="Calibri" pitchFamily="34" charset="0"/>
                <a:ea typeface="Calibri" pitchFamily="34" charset="-122"/>
                <a:cs typeface="Calibri" pitchFamily="34" charset="-120"/>
              </a:rPr>
              <a:t>Design Foundation and Modules 01–10, as signed off for internal review.</a:t>
            </a:r>
            <a:endParaRPr lang="en-US" sz="1300" dirty="0"/>
          </a:p>
        </p:txBody>
      </p:sp>
      <p:sp>
        <p:nvSpPr>
          <p:cNvPr id="8" name="Shape 5"/>
          <p:cNvSpPr/>
          <p:nvPr/>
        </p:nvSpPr>
        <p:spPr>
          <a:xfrm>
            <a:off x="3913632" y="4242816"/>
            <a:ext cx="2322576" cy="402336"/>
          </a:xfrm>
          <a:prstGeom prst="roundRect">
            <a:avLst>
              <a:gd name="adj" fmla="val 113636"/>
            </a:avLst>
          </a:prstGeom>
          <a:solidFill>
            <a:srgbClr val="FFFFFF"/>
          </a:solidFill>
          <a:ln w="9525">
            <a:solidFill>
              <a:srgbClr val="C6D9EF"/>
            </a:solidFill>
            <a:prstDash val="solid"/>
          </a:ln>
        </p:spPr>
      </p:sp>
      <p:sp>
        <p:nvSpPr>
          <p:cNvPr id="9" name="Text 6"/>
          <p:cNvSpPr/>
          <p:nvPr/>
        </p:nvSpPr>
        <p:spPr>
          <a:xfrm>
            <a:off x="3986784" y="4242816"/>
            <a:ext cx="2176272" cy="402336"/>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11 specification documents</a:t>
            </a:r>
            <a:endParaRPr lang="en-US" sz="1050" dirty="0"/>
          </a:p>
        </p:txBody>
      </p:sp>
      <p:sp>
        <p:nvSpPr>
          <p:cNvPr id="10" name="Shape 7"/>
          <p:cNvSpPr/>
          <p:nvPr/>
        </p:nvSpPr>
        <p:spPr>
          <a:xfrm>
            <a:off x="6364224" y="4242816"/>
            <a:ext cx="2322576" cy="402336"/>
          </a:xfrm>
          <a:prstGeom prst="roundRect">
            <a:avLst>
              <a:gd name="adj" fmla="val 113636"/>
            </a:avLst>
          </a:prstGeom>
          <a:solidFill>
            <a:srgbClr val="FFFFFF"/>
          </a:solidFill>
          <a:ln w="9525">
            <a:solidFill>
              <a:srgbClr val="C6D9EF"/>
            </a:solidFill>
            <a:prstDash val="solid"/>
          </a:ln>
        </p:spPr>
      </p:sp>
      <p:sp>
        <p:nvSpPr>
          <p:cNvPr id="11" name="Text 8"/>
          <p:cNvSpPr/>
          <p:nvPr/>
        </p:nvSpPr>
        <p:spPr>
          <a:xfrm>
            <a:off x="6437376" y="4242816"/>
            <a:ext cx="2176272" cy="402336"/>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Prepared by A. Mohanaradha</a:t>
            </a:r>
            <a:endParaRPr lang="en-US" sz="1050" dirty="0"/>
          </a:p>
        </p:txBody>
      </p:sp>
      <p:sp>
        <p:nvSpPr>
          <p:cNvPr id="12" name="Shape 9"/>
          <p:cNvSpPr/>
          <p:nvPr/>
        </p:nvSpPr>
        <p:spPr>
          <a:xfrm>
            <a:off x="8814816" y="4242816"/>
            <a:ext cx="2322576" cy="402336"/>
          </a:xfrm>
          <a:prstGeom prst="roundRect">
            <a:avLst>
              <a:gd name="adj" fmla="val 113636"/>
            </a:avLst>
          </a:prstGeom>
          <a:solidFill>
            <a:srgbClr val="FFFFFF"/>
          </a:solidFill>
          <a:ln w="9525">
            <a:solidFill>
              <a:srgbClr val="C6D9EF"/>
            </a:solidFill>
            <a:prstDash val="solid"/>
          </a:ln>
        </p:spPr>
      </p:sp>
      <p:sp>
        <p:nvSpPr>
          <p:cNvPr id="13" name="Text 10"/>
          <p:cNvSpPr/>
          <p:nvPr/>
        </p:nvSpPr>
        <p:spPr>
          <a:xfrm>
            <a:off x="8887968" y="4242816"/>
            <a:ext cx="2176272" cy="402336"/>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22–23 July 2026</a:t>
            </a:r>
            <a:endParaRPr lang="en-US" sz="1050" dirty="0"/>
          </a:p>
        </p:txBody>
      </p:sp>
      <p:sp>
        <p:nvSpPr>
          <p:cNvPr id="14" name="Text 11"/>
          <p:cNvSpPr/>
          <p:nvPr/>
        </p:nvSpPr>
        <p:spPr>
          <a:xfrm>
            <a:off x="3913632" y="4791456"/>
            <a:ext cx="7680960" cy="292608"/>
          </a:xfrm>
          <a:prstGeom prst="rect">
            <a:avLst/>
          </a:prstGeom>
          <a:noFill/>
          <a:ln/>
        </p:spPr>
        <p:txBody>
          <a:bodyPr wrap="square" lIns="0" tIns="0" rIns="0" bIns="0" rtlCol="0" anchor="ctr"/>
          <a:lstStyle/>
          <a:p>
            <a:pPr indent="0" marL="0">
              <a:buNone/>
            </a:pPr>
            <a:r>
              <a:rPr lang="en-US" sz="1050" dirty="0">
                <a:solidFill>
                  <a:srgbClr val="7B8794"/>
                </a:solidFill>
                <a:latin typeface="Calibri" pitchFamily="34" charset="0"/>
                <a:ea typeface="Calibri" pitchFamily="34" charset="-122"/>
                <a:cs typeface="Calibri" pitchFamily="34" charset="-120"/>
              </a:rPr>
              <a:t>Status: Draft / Final Draft — Approved for Internal Review · Prepared for the Chief Executive Officer, Infoziant</a:t>
            </a:r>
            <a:endParaRPr lang="en-US" sz="1050" dirty="0"/>
          </a:p>
        </p:txBody>
      </p:sp>
      <p:sp>
        <p:nvSpPr>
          <p:cNvPr id="15" name="Text 1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THE DOCUMENT SET</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Eleven specifications, one structure</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a:t>
            </a:r>
            <a:endParaRPr lang="en-US" sz="9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3566160"/>
                <a:gridCol w="4709160"/>
                <a:gridCol w="1463040"/>
                <a:gridCol w="1319479"/>
              </a:tblGrid>
              <a:tr h="347472">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Document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Covers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Dated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47472">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Chapter 1 — Design Foundation</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UI / UX design standards for every module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Completed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3E4C59"/>
                          </a:solidFill>
                          <a:latin typeface="Calibri" pitchFamily="34" charset="0"/>
                          <a:ea typeface="Calibri" pitchFamily="34" charset="-122"/>
                          <a:cs typeface="Calibri" pitchFamily="34" charset="-120"/>
                        </a:rPr>
                        <a:t>23 Jul 2026</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7472">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Module 01 — User Management</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Authentication, roles, permissions, account lifecycle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26A00"/>
                          </a:solidFill>
                          <a:latin typeface="Calibri" pitchFamily="34" charset="0"/>
                          <a:ea typeface="Calibri" pitchFamily="34" charset="-122"/>
                          <a:cs typeface="Calibri" pitchFamily="34" charset="-120"/>
                        </a:rPr>
                        <a:t>Draft</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E4C59"/>
                          </a:solidFill>
                          <a:latin typeface="Calibri" pitchFamily="34" charset="0"/>
                          <a:ea typeface="Calibri" pitchFamily="34" charset="-122"/>
                          <a:cs typeface="Calibri" pitchFamily="34" charset="-120"/>
                        </a:rPr>
                        <a:t>22 Jul 2026</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7472">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Module 02 — Master Company Database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Company and HR contact repository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Final Draft</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3E4C59"/>
                          </a:solidFill>
                          <a:latin typeface="Calibri" pitchFamily="34" charset="0"/>
                          <a:ea typeface="Calibri" pitchFamily="34" charset="-122"/>
                          <a:cs typeface="Calibri" pitchFamily="34" charset="-120"/>
                        </a:rPr>
                        <a:t>23 Jul 2026</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7472">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Module 03 — Daily Tracker</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The coordinator's daily calling workspace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Completed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E4C59"/>
                          </a:solidFill>
                          <a:latin typeface="Calibri" pitchFamily="34" charset="0"/>
                          <a:ea typeface="Calibri" pitchFamily="34" charset="-122"/>
                          <a:cs typeface="Calibri" pitchFamily="34" charset="-120"/>
                        </a:rPr>
                        <a:t>23 Jul 2026</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7472">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Module 04 — Weekly Tracker</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The placement lifecycle board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Completed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3E4C59"/>
                          </a:solidFill>
                          <a:latin typeface="Calibri" pitchFamily="34" charset="0"/>
                          <a:ea typeface="Calibri" pitchFamily="34" charset="-122"/>
                          <a:cs typeface="Calibri" pitchFamily="34" charset="-120"/>
                        </a:rPr>
                        <a:t>23 Jul 2026</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7472">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Module 05 — Daily Leads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Daily positives and JDs received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Completed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E4C59"/>
                          </a:solidFill>
                          <a:latin typeface="Calibri" pitchFamily="34" charset="0"/>
                          <a:ea typeface="Calibri" pitchFamily="34" charset="-122"/>
                          <a:cs typeface="Calibri" pitchFamily="34" charset="-120"/>
                        </a:rPr>
                        <a:t>Jul 2026</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7472">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Module 06 — Reports &amp; Analytics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Analytics, report library, report builder</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Completed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3E4C59"/>
                          </a:solidFill>
                          <a:latin typeface="Calibri" pitchFamily="34" charset="0"/>
                          <a:ea typeface="Calibri" pitchFamily="34" charset="-122"/>
                          <a:cs typeface="Calibri" pitchFamily="34" charset="-120"/>
                        </a:rPr>
                        <a:t>Jul 2026</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7472">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Module 07 — Role-Based Dashboard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Landing page, assigned work, merge engine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Completed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E4C59"/>
                          </a:solidFill>
                          <a:latin typeface="Calibri" pitchFamily="34" charset="0"/>
                          <a:ea typeface="Calibri" pitchFamily="34" charset="-122"/>
                          <a:cs typeface="Calibri" pitchFamily="34" charset="-120"/>
                        </a:rPr>
                        <a:t>Jul 2026</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7472">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Module 08 — User &amp; Access Management</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Identity, status, passwords, signup</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Completed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3E4C59"/>
                          </a:solidFill>
                          <a:latin typeface="Calibri" pitchFamily="34" charset="0"/>
                          <a:ea typeface="Calibri" pitchFamily="34" charset="-122"/>
                          <a:cs typeface="Calibri" pitchFamily="34" charset="-120"/>
                        </a:rPr>
                        <a:t>Jul 2026</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7472">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Module 09 — Settings &amp; Configuration</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Personal, organization and system settings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Completed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E4C59"/>
                          </a:solidFill>
                          <a:latin typeface="Calibri" pitchFamily="34" charset="0"/>
                          <a:ea typeface="Calibri" pitchFamily="34" charset="-122"/>
                          <a:cs typeface="Calibri" pitchFamily="34" charset="-120"/>
                        </a:rPr>
                        <a:t>Jul 2026</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7472">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Module 10 — System Information &amp; Admin</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Health, data quality, announcements, maintenance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Completed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3E4C59"/>
                          </a:solidFill>
                          <a:latin typeface="Calibri" pitchFamily="34" charset="0"/>
                          <a:ea typeface="Calibri" pitchFamily="34" charset="-122"/>
                          <a:cs typeface="Calibri" pitchFamily="34" charset="-120"/>
                        </a:rPr>
                        <a:t>Jul 2026</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
        <p:nvSpPr>
          <p:cNvPr id="8" name="Text 4"/>
          <p:cNvSpPr/>
          <p:nvPr/>
        </p:nvSpPr>
        <p:spPr>
          <a:xfrm>
            <a:off x="566928" y="5541264"/>
            <a:ext cx="11057839" cy="27432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Every document carries an Approval Sheet requiring sign-off by the Technical Lead and the CEO / Director before it is committed to the repository as v1.0.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HOW TO READ THESE</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Every specification follows the same spine</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a:t>
            </a:r>
            <a:endParaRPr lang="en-US" sz="950" dirty="0"/>
          </a:p>
        </p:txBody>
      </p:sp>
      <p:sp>
        <p:nvSpPr>
          <p:cNvPr id="7" name="Shape 4"/>
          <p:cNvSpPr/>
          <p:nvPr/>
        </p:nvSpPr>
        <p:spPr>
          <a:xfrm>
            <a:off x="566928" y="1417320"/>
            <a:ext cx="3527450" cy="1252728"/>
          </a:xfrm>
          <a:prstGeom prst="roundRect">
            <a:avLst>
              <a:gd name="adj" fmla="val 7299"/>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Shape 5"/>
          <p:cNvSpPr/>
          <p:nvPr/>
        </p:nvSpPr>
        <p:spPr>
          <a:xfrm>
            <a:off x="786384" y="1636776"/>
            <a:ext cx="365760" cy="365760"/>
          </a:xfrm>
          <a:prstGeom prst="ellipse">
            <a:avLst/>
          </a:prstGeom>
          <a:solidFill>
            <a:srgbClr val="0B2E59"/>
          </a:solidFill>
          <a:ln w="12700">
            <a:solidFill>
              <a:srgbClr val="0B2E59"/>
            </a:solidFill>
            <a:prstDash val="solid"/>
          </a:ln>
        </p:spPr>
      </p:sp>
      <p:pic>
        <p:nvPicPr>
          <p:cNvPr id="9" name="Image 1" descr="preencoded.png">    </p:cNvPr>
          <p:cNvPicPr>
            <a:picLocks noChangeAspect="1"/>
          </p:cNvPicPr>
          <p:nvPr/>
        </p:nvPicPr>
        <p:blipFill>
          <a:blip r:embed="rId2"/>
          <a:stretch>
            <a:fillRect/>
          </a:stretch>
        </p:blipFill>
        <p:spPr>
          <a:xfrm>
            <a:off x="877824" y="1728216"/>
            <a:ext cx="182880" cy="182880"/>
          </a:xfrm>
          <a:prstGeom prst="rect">
            <a:avLst/>
          </a:prstGeom>
        </p:spPr>
      </p:pic>
      <p:sp>
        <p:nvSpPr>
          <p:cNvPr id="10" name="Text 6"/>
          <p:cNvSpPr/>
          <p:nvPr/>
        </p:nvSpPr>
        <p:spPr>
          <a:xfrm>
            <a:off x="1280160" y="1636776"/>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Purpose &amp; Objectives</a:t>
            </a:r>
            <a:endParaRPr lang="en-US" sz="1250" dirty="0"/>
          </a:p>
        </p:txBody>
      </p:sp>
      <p:sp>
        <p:nvSpPr>
          <p:cNvPr id="11" name="Text 7"/>
          <p:cNvSpPr/>
          <p:nvPr/>
        </p:nvSpPr>
        <p:spPr>
          <a:xfrm>
            <a:off x="786384" y="2048256"/>
            <a:ext cx="3088538" cy="44805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What the module is for, in business terms, and the measurable objectives it has to meet.</a:t>
            </a:r>
            <a:endParaRPr lang="en-US" sz="1000" dirty="0"/>
          </a:p>
        </p:txBody>
      </p:sp>
      <p:sp>
        <p:nvSpPr>
          <p:cNvPr id="12" name="Shape 8"/>
          <p:cNvSpPr/>
          <p:nvPr/>
        </p:nvSpPr>
        <p:spPr>
          <a:xfrm>
            <a:off x="4332122" y="1417320"/>
            <a:ext cx="3527450" cy="1252728"/>
          </a:xfrm>
          <a:prstGeom prst="roundRect">
            <a:avLst>
              <a:gd name="adj" fmla="val 7299"/>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Shape 9"/>
          <p:cNvSpPr/>
          <p:nvPr/>
        </p:nvSpPr>
        <p:spPr>
          <a:xfrm>
            <a:off x="4551578" y="1636776"/>
            <a:ext cx="365760" cy="365760"/>
          </a:xfrm>
          <a:prstGeom prst="ellipse">
            <a:avLst/>
          </a:prstGeom>
          <a:solidFill>
            <a:srgbClr val="175496"/>
          </a:solidFill>
          <a:ln w="12700">
            <a:solidFill>
              <a:srgbClr val="175496"/>
            </a:solidFill>
            <a:prstDash val="solid"/>
          </a:ln>
        </p:spPr>
      </p:sp>
      <p:pic>
        <p:nvPicPr>
          <p:cNvPr id="14" name="Image 2" descr="preencoded.png">    </p:cNvPr>
          <p:cNvPicPr>
            <a:picLocks noChangeAspect="1"/>
          </p:cNvPicPr>
          <p:nvPr/>
        </p:nvPicPr>
        <p:blipFill>
          <a:blip r:embed="rId3"/>
          <a:stretch>
            <a:fillRect/>
          </a:stretch>
        </p:blipFill>
        <p:spPr>
          <a:xfrm>
            <a:off x="4643018" y="1728216"/>
            <a:ext cx="182880" cy="182880"/>
          </a:xfrm>
          <a:prstGeom prst="rect">
            <a:avLst/>
          </a:prstGeom>
        </p:spPr>
      </p:pic>
      <p:sp>
        <p:nvSpPr>
          <p:cNvPr id="15" name="Text 10"/>
          <p:cNvSpPr/>
          <p:nvPr/>
        </p:nvSpPr>
        <p:spPr>
          <a:xfrm>
            <a:off x="5045354" y="1636776"/>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Data Model</a:t>
            </a:r>
            <a:endParaRPr lang="en-US" sz="1250" dirty="0"/>
          </a:p>
        </p:txBody>
      </p:sp>
      <p:sp>
        <p:nvSpPr>
          <p:cNvPr id="16" name="Text 11"/>
          <p:cNvSpPr/>
          <p:nvPr/>
        </p:nvSpPr>
        <p:spPr>
          <a:xfrm>
            <a:off x="4551578" y="2048256"/>
            <a:ext cx="3088538" cy="44805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The exact columns or fields, which are mandatory, and what is explicitly out of scope for v1.0.</a:t>
            </a:r>
            <a:endParaRPr lang="en-US" sz="1000" dirty="0"/>
          </a:p>
        </p:txBody>
      </p:sp>
      <p:sp>
        <p:nvSpPr>
          <p:cNvPr id="17" name="Shape 12"/>
          <p:cNvSpPr/>
          <p:nvPr/>
        </p:nvSpPr>
        <p:spPr>
          <a:xfrm>
            <a:off x="8097317" y="1417320"/>
            <a:ext cx="3527450" cy="1252728"/>
          </a:xfrm>
          <a:prstGeom prst="roundRect">
            <a:avLst>
              <a:gd name="adj" fmla="val 7299"/>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Shape 13"/>
          <p:cNvSpPr/>
          <p:nvPr/>
        </p:nvSpPr>
        <p:spPr>
          <a:xfrm>
            <a:off x="8316773" y="1636776"/>
            <a:ext cx="365760" cy="365760"/>
          </a:xfrm>
          <a:prstGeom prst="ellipse">
            <a:avLst/>
          </a:prstGeom>
          <a:solidFill>
            <a:srgbClr val="00ACC1"/>
          </a:solidFill>
          <a:ln w="12700">
            <a:solidFill>
              <a:srgbClr val="00ACC1"/>
            </a:solidFill>
            <a:prstDash val="solid"/>
          </a:ln>
        </p:spPr>
      </p:sp>
      <p:pic>
        <p:nvPicPr>
          <p:cNvPr id="19" name="Image 3" descr="preencoded.png">    </p:cNvPr>
          <p:cNvPicPr>
            <a:picLocks noChangeAspect="1"/>
          </p:cNvPicPr>
          <p:nvPr/>
        </p:nvPicPr>
        <p:blipFill>
          <a:blip r:embed="rId4"/>
          <a:stretch>
            <a:fillRect/>
          </a:stretch>
        </p:blipFill>
        <p:spPr>
          <a:xfrm>
            <a:off x="8408213" y="1728216"/>
            <a:ext cx="182880" cy="182880"/>
          </a:xfrm>
          <a:prstGeom prst="rect">
            <a:avLst/>
          </a:prstGeom>
        </p:spPr>
      </p:pic>
      <p:sp>
        <p:nvSpPr>
          <p:cNvPr id="20" name="Text 14"/>
          <p:cNvSpPr/>
          <p:nvPr/>
        </p:nvSpPr>
        <p:spPr>
          <a:xfrm>
            <a:off x="8810549" y="1636776"/>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Workflow &amp; Rules</a:t>
            </a:r>
            <a:endParaRPr lang="en-US" sz="1250" dirty="0"/>
          </a:p>
        </p:txBody>
      </p:sp>
      <p:sp>
        <p:nvSpPr>
          <p:cNvPr id="21" name="Text 15"/>
          <p:cNvSpPr/>
          <p:nvPr/>
        </p:nvSpPr>
        <p:spPr>
          <a:xfrm>
            <a:off x="8316773" y="2048256"/>
            <a:ext cx="3088538" cy="44805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Step-by-step behaviour, validation, and the business rules the software must enforce.</a:t>
            </a:r>
            <a:endParaRPr lang="en-US" sz="1000" dirty="0"/>
          </a:p>
        </p:txBody>
      </p:sp>
      <p:sp>
        <p:nvSpPr>
          <p:cNvPr id="22" name="Shape 16"/>
          <p:cNvSpPr/>
          <p:nvPr/>
        </p:nvSpPr>
        <p:spPr>
          <a:xfrm>
            <a:off x="566928" y="2907792"/>
            <a:ext cx="3527450" cy="1252728"/>
          </a:xfrm>
          <a:prstGeom prst="roundRect">
            <a:avLst>
              <a:gd name="adj" fmla="val 7299"/>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Shape 17"/>
          <p:cNvSpPr/>
          <p:nvPr/>
        </p:nvSpPr>
        <p:spPr>
          <a:xfrm>
            <a:off x="786384" y="3127248"/>
            <a:ext cx="365760" cy="365760"/>
          </a:xfrm>
          <a:prstGeom prst="ellipse">
            <a:avLst/>
          </a:prstGeom>
          <a:solidFill>
            <a:srgbClr val="0B2E59"/>
          </a:solidFill>
          <a:ln w="12700">
            <a:solidFill>
              <a:srgbClr val="0B2E59"/>
            </a:solidFill>
            <a:prstDash val="solid"/>
          </a:ln>
        </p:spPr>
      </p:sp>
      <p:pic>
        <p:nvPicPr>
          <p:cNvPr id="24" name="Image 4" descr="preencoded.png">    </p:cNvPr>
          <p:cNvPicPr>
            <a:picLocks noChangeAspect="1"/>
          </p:cNvPicPr>
          <p:nvPr/>
        </p:nvPicPr>
        <p:blipFill>
          <a:blip r:embed="rId5"/>
          <a:stretch>
            <a:fillRect/>
          </a:stretch>
        </p:blipFill>
        <p:spPr>
          <a:xfrm>
            <a:off x="877824" y="3218688"/>
            <a:ext cx="182880" cy="182880"/>
          </a:xfrm>
          <a:prstGeom prst="rect">
            <a:avLst/>
          </a:prstGeom>
        </p:spPr>
      </p:pic>
      <p:sp>
        <p:nvSpPr>
          <p:cNvPr id="25" name="Text 18"/>
          <p:cNvSpPr/>
          <p:nvPr/>
        </p:nvSpPr>
        <p:spPr>
          <a:xfrm>
            <a:off x="1280160" y="3127248"/>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Permission Matrix</a:t>
            </a:r>
            <a:endParaRPr lang="en-US" sz="1250" dirty="0"/>
          </a:p>
        </p:txBody>
      </p:sp>
      <p:sp>
        <p:nvSpPr>
          <p:cNvPr id="26" name="Text 19"/>
          <p:cNvSpPr/>
          <p:nvPr/>
        </p:nvSpPr>
        <p:spPr>
          <a:xfrm>
            <a:off x="786384" y="3538728"/>
            <a:ext cx="3088538" cy="44805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A role-by-action grid. Every module has one, and they are consistent with each other.</a:t>
            </a:r>
            <a:endParaRPr lang="en-US" sz="1000" dirty="0"/>
          </a:p>
        </p:txBody>
      </p:sp>
      <p:sp>
        <p:nvSpPr>
          <p:cNvPr id="27" name="Shape 20"/>
          <p:cNvSpPr/>
          <p:nvPr/>
        </p:nvSpPr>
        <p:spPr>
          <a:xfrm>
            <a:off x="4332122" y="2907792"/>
            <a:ext cx="3527450" cy="1252728"/>
          </a:xfrm>
          <a:prstGeom prst="roundRect">
            <a:avLst>
              <a:gd name="adj" fmla="val 7299"/>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8" name="Shape 21"/>
          <p:cNvSpPr/>
          <p:nvPr/>
        </p:nvSpPr>
        <p:spPr>
          <a:xfrm>
            <a:off x="4551578" y="3127248"/>
            <a:ext cx="365760" cy="365760"/>
          </a:xfrm>
          <a:prstGeom prst="ellipse">
            <a:avLst/>
          </a:prstGeom>
          <a:solidFill>
            <a:srgbClr val="175496"/>
          </a:solidFill>
          <a:ln w="12700">
            <a:solidFill>
              <a:srgbClr val="175496"/>
            </a:solidFill>
            <a:prstDash val="solid"/>
          </a:ln>
        </p:spPr>
      </p:sp>
      <p:pic>
        <p:nvPicPr>
          <p:cNvPr id="29" name="Image 5" descr="preencoded.png">    </p:cNvPr>
          <p:cNvPicPr>
            <a:picLocks noChangeAspect="1"/>
          </p:cNvPicPr>
          <p:nvPr/>
        </p:nvPicPr>
        <p:blipFill>
          <a:blip r:embed="rId6"/>
          <a:stretch>
            <a:fillRect/>
          </a:stretch>
        </p:blipFill>
        <p:spPr>
          <a:xfrm>
            <a:off x="4643018" y="3218688"/>
            <a:ext cx="182880" cy="182880"/>
          </a:xfrm>
          <a:prstGeom prst="rect">
            <a:avLst/>
          </a:prstGeom>
        </p:spPr>
      </p:pic>
      <p:sp>
        <p:nvSpPr>
          <p:cNvPr id="30" name="Text 22"/>
          <p:cNvSpPr/>
          <p:nvPr/>
        </p:nvSpPr>
        <p:spPr>
          <a:xfrm>
            <a:off x="5045354" y="3127248"/>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Integration</a:t>
            </a:r>
            <a:endParaRPr lang="en-US" sz="1250" dirty="0"/>
          </a:p>
        </p:txBody>
      </p:sp>
      <p:sp>
        <p:nvSpPr>
          <p:cNvPr id="31" name="Text 23"/>
          <p:cNvSpPr/>
          <p:nvPr/>
        </p:nvSpPr>
        <p:spPr>
          <a:xfrm>
            <a:off x="4551578" y="3538728"/>
            <a:ext cx="3088538" cy="44805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Which modules feed this one and which it feeds — stated explicitly, never assumed.</a:t>
            </a:r>
            <a:endParaRPr lang="en-US" sz="1000" dirty="0"/>
          </a:p>
        </p:txBody>
      </p:sp>
      <p:sp>
        <p:nvSpPr>
          <p:cNvPr id="32" name="Shape 24"/>
          <p:cNvSpPr/>
          <p:nvPr/>
        </p:nvSpPr>
        <p:spPr>
          <a:xfrm>
            <a:off x="8097317" y="2907792"/>
            <a:ext cx="3527450" cy="1252728"/>
          </a:xfrm>
          <a:prstGeom prst="roundRect">
            <a:avLst>
              <a:gd name="adj" fmla="val 7299"/>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3" name="Shape 25"/>
          <p:cNvSpPr/>
          <p:nvPr/>
        </p:nvSpPr>
        <p:spPr>
          <a:xfrm>
            <a:off x="8316773" y="3127248"/>
            <a:ext cx="365760" cy="365760"/>
          </a:xfrm>
          <a:prstGeom prst="ellipse">
            <a:avLst/>
          </a:prstGeom>
          <a:solidFill>
            <a:srgbClr val="6B7A8C"/>
          </a:solidFill>
          <a:ln w="12700">
            <a:solidFill>
              <a:srgbClr val="6B7A8C"/>
            </a:solidFill>
            <a:prstDash val="solid"/>
          </a:ln>
        </p:spPr>
      </p:sp>
      <p:pic>
        <p:nvPicPr>
          <p:cNvPr id="34" name="Image 6" descr="preencoded.png">    </p:cNvPr>
          <p:cNvPicPr>
            <a:picLocks noChangeAspect="1"/>
          </p:cNvPicPr>
          <p:nvPr/>
        </p:nvPicPr>
        <p:blipFill>
          <a:blip r:embed="rId7"/>
          <a:stretch>
            <a:fillRect/>
          </a:stretch>
        </p:blipFill>
        <p:spPr>
          <a:xfrm>
            <a:off x="8408213" y="3218688"/>
            <a:ext cx="182880" cy="182880"/>
          </a:xfrm>
          <a:prstGeom prst="rect">
            <a:avLst/>
          </a:prstGeom>
        </p:spPr>
      </p:pic>
      <p:sp>
        <p:nvSpPr>
          <p:cNvPr id="35" name="Text 26"/>
          <p:cNvSpPr/>
          <p:nvPr/>
        </p:nvSpPr>
        <p:spPr>
          <a:xfrm>
            <a:off x="8810549" y="3127248"/>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Deferred / Out of Scope</a:t>
            </a:r>
            <a:endParaRPr lang="en-US" sz="1250" dirty="0"/>
          </a:p>
        </p:txBody>
      </p:sp>
      <p:sp>
        <p:nvSpPr>
          <p:cNvPr id="36" name="Text 27"/>
          <p:cNvSpPr/>
          <p:nvPr/>
        </p:nvSpPr>
        <p:spPr>
          <a:xfrm>
            <a:off x="8316773" y="3538728"/>
            <a:ext cx="3088538" cy="44805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What was considered and consciously excluded from v1.0, with the reason recorded.</a:t>
            </a:r>
            <a:endParaRPr lang="en-US" sz="1000" dirty="0"/>
          </a:p>
        </p:txBody>
      </p:sp>
      <p:sp>
        <p:nvSpPr>
          <p:cNvPr id="37" name="Shape 28"/>
          <p:cNvSpPr/>
          <p:nvPr/>
        </p:nvSpPr>
        <p:spPr>
          <a:xfrm>
            <a:off x="566928" y="4370832"/>
            <a:ext cx="11057839" cy="1463040"/>
          </a:xfrm>
          <a:prstGeom prst="roundRect">
            <a:avLst>
              <a:gd name="adj" fmla="val 6250"/>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8" name="Text 29"/>
          <p:cNvSpPr/>
          <p:nvPr/>
        </p:nvSpPr>
        <p:spPr>
          <a:xfrm>
            <a:off x="786384" y="4590288"/>
            <a:ext cx="10618927"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The section that makes these documents unusually useful</a:t>
            </a:r>
            <a:endParaRPr lang="en-US" sz="1350" dirty="0"/>
          </a:p>
        </p:txBody>
      </p:sp>
      <p:sp>
        <p:nvSpPr>
          <p:cNvPr id="39" name="Text 30"/>
          <p:cNvSpPr/>
          <p:nvPr/>
        </p:nvSpPr>
        <p:spPr>
          <a:xfrm>
            <a:off x="786384" y="4910328"/>
            <a:ext cx="10618927" cy="749808"/>
          </a:xfrm>
          <a:prstGeom prst="rect">
            <a:avLst/>
          </a:prstGeom>
          <a:noFill/>
          <a:ln/>
        </p:spPr>
        <p:txBody>
          <a:bodyPr wrap="square" lIns="0" tIns="0" rIns="0" bIns="0" rtlCol="0" anchor="t"/>
          <a:lstStyle/>
          <a:p>
            <a:pPr indent="0" marL="0">
              <a:lnSpc>
                <a:spcPct val="114000"/>
              </a:lnSpc>
              <a:buNone/>
            </a:pPr>
            <a:r>
              <a:rPr lang="en-US" sz="1100" dirty="0">
                <a:solidFill>
                  <a:srgbClr val="3E4C59"/>
                </a:solidFill>
                <a:latin typeface="Calibri" pitchFamily="34" charset="0"/>
                <a:ea typeface="Calibri" pitchFamily="34" charset="-122"/>
                <a:cs typeface="Calibri" pitchFamily="34" charset="-120"/>
              </a:rPr>
              <a:t>Most specifications record only the decision. These record the rejected alternatives too — “Rejected Approach — Typing Company Names”, “Rejected Approach — Canva as the Primary Editor”, “an earlier proposal was not adopted”. Anyone joining the project later can see not just what was chosen, but what was already tried and why it failed. That is what stops a settled question being reopened six months from now.</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THE SYSTEM</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How the modules connect</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4</a:t>
            </a:r>
            <a:endParaRPr lang="en-US" sz="950" dirty="0"/>
          </a:p>
        </p:txBody>
      </p:sp>
      <p:sp>
        <p:nvSpPr>
          <p:cNvPr id="7" name="Text 4"/>
          <p:cNvSpPr/>
          <p:nvPr/>
        </p:nvSpPr>
        <p:spPr>
          <a:xfrm>
            <a:off x="566928" y="13716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CONFIRMED OPERATIONAL DATA FLOW</a:t>
            </a:r>
            <a:endParaRPr lang="en-US" sz="950" dirty="0"/>
          </a:p>
        </p:txBody>
      </p:sp>
      <p:sp>
        <p:nvSpPr>
          <p:cNvPr id="8" name="Shape 5"/>
          <p:cNvSpPr/>
          <p:nvPr/>
        </p:nvSpPr>
        <p:spPr>
          <a:xfrm>
            <a:off x="566928" y="1627632"/>
            <a:ext cx="2627300" cy="548640"/>
          </a:xfrm>
          <a:prstGeom prst="roundRect">
            <a:avLst>
              <a:gd name="adj" fmla="val 83333"/>
            </a:avLst>
          </a:prstGeom>
          <a:solidFill>
            <a:srgbClr val="EEF4FB"/>
          </a:solidFill>
          <a:ln w="9525">
            <a:solidFill>
              <a:srgbClr val="E1E8F0"/>
            </a:solidFill>
            <a:prstDash val="solid"/>
          </a:ln>
        </p:spPr>
      </p:sp>
      <p:sp>
        <p:nvSpPr>
          <p:cNvPr id="9" name="Text 6"/>
          <p:cNvSpPr/>
          <p:nvPr/>
        </p:nvSpPr>
        <p:spPr>
          <a:xfrm>
            <a:off x="612648" y="1627632"/>
            <a:ext cx="2535860" cy="548640"/>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Master Company Database</a:t>
            </a:r>
            <a:endParaRPr lang="en-US" sz="1100" dirty="0"/>
          </a:p>
        </p:txBody>
      </p:sp>
      <p:sp>
        <p:nvSpPr>
          <p:cNvPr id="10" name="Text 7"/>
          <p:cNvSpPr/>
          <p:nvPr/>
        </p:nvSpPr>
        <p:spPr>
          <a:xfrm>
            <a:off x="3194228" y="1627632"/>
            <a:ext cx="182880" cy="54864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1" name="Shape 8"/>
          <p:cNvSpPr/>
          <p:nvPr/>
        </p:nvSpPr>
        <p:spPr>
          <a:xfrm>
            <a:off x="3377108" y="1627632"/>
            <a:ext cx="2627300" cy="548640"/>
          </a:xfrm>
          <a:prstGeom prst="roundRect">
            <a:avLst>
              <a:gd name="adj" fmla="val 83333"/>
            </a:avLst>
          </a:prstGeom>
          <a:solidFill>
            <a:srgbClr val="EEF4FB"/>
          </a:solidFill>
          <a:ln w="9525">
            <a:solidFill>
              <a:srgbClr val="E1E8F0"/>
            </a:solidFill>
            <a:prstDash val="solid"/>
          </a:ln>
        </p:spPr>
      </p:sp>
      <p:sp>
        <p:nvSpPr>
          <p:cNvPr id="12" name="Text 9"/>
          <p:cNvSpPr/>
          <p:nvPr/>
        </p:nvSpPr>
        <p:spPr>
          <a:xfrm>
            <a:off x="3422828" y="1627632"/>
            <a:ext cx="2535860" cy="548640"/>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Daily Tracker</a:t>
            </a:r>
            <a:endParaRPr lang="en-US" sz="1100" dirty="0"/>
          </a:p>
        </p:txBody>
      </p:sp>
      <p:sp>
        <p:nvSpPr>
          <p:cNvPr id="13" name="Text 10"/>
          <p:cNvSpPr/>
          <p:nvPr/>
        </p:nvSpPr>
        <p:spPr>
          <a:xfrm>
            <a:off x="6004408" y="1627632"/>
            <a:ext cx="182880" cy="54864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4" name="Shape 11"/>
          <p:cNvSpPr/>
          <p:nvPr/>
        </p:nvSpPr>
        <p:spPr>
          <a:xfrm>
            <a:off x="6187288" y="1627632"/>
            <a:ext cx="2627300" cy="548640"/>
          </a:xfrm>
          <a:prstGeom prst="roundRect">
            <a:avLst>
              <a:gd name="adj" fmla="val 83333"/>
            </a:avLst>
          </a:prstGeom>
          <a:solidFill>
            <a:srgbClr val="EEF4FB"/>
          </a:solidFill>
          <a:ln w="9525">
            <a:solidFill>
              <a:srgbClr val="E1E8F0"/>
            </a:solidFill>
            <a:prstDash val="solid"/>
          </a:ln>
        </p:spPr>
      </p:sp>
      <p:sp>
        <p:nvSpPr>
          <p:cNvPr id="15" name="Text 12"/>
          <p:cNvSpPr/>
          <p:nvPr/>
        </p:nvSpPr>
        <p:spPr>
          <a:xfrm>
            <a:off x="6233008" y="1627632"/>
            <a:ext cx="2535860" cy="548640"/>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Weekly Tracker</a:t>
            </a:r>
            <a:endParaRPr lang="en-US" sz="1100" dirty="0"/>
          </a:p>
        </p:txBody>
      </p:sp>
      <p:sp>
        <p:nvSpPr>
          <p:cNvPr id="16" name="Text 13"/>
          <p:cNvSpPr/>
          <p:nvPr/>
        </p:nvSpPr>
        <p:spPr>
          <a:xfrm>
            <a:off x="8814587" y="1627632"/>
            <a:ext cx="182880" cy="54864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7" name="Shape 14"/>
          <p:cNvSpPr/>
          <p:nvPr/>
        </p:nvSpPr>
        <p:spPr>
          <a:xfrm>
            <a:off x="8997467" y="1627632"/>
            <a:ext cx="2627300" cy="548640"/>
          </a:xfrm>
          <a:prstGeom prst="roundRect">
            <a:avLst>
              <a:gd name="adj" fmla="val 83333"/>
            </a:avLst>
          </a:prstGeom>
          <a:solidFill>
            <a:srgbClr val="EEF4FB"/>
          </a:solidFill>
          <a:ln w="9525">
            <a:solidFill>
              <a:srgbClr val="E1E8F0"/>
            </a:solidFill>
            <a:prstDash val="solid"/>
          </a:ln>
        </p:spPr>
      </p:sp>
      <p:sp>
        <p:nvSpPr>
          <p:cNvPr id="18" name="Text 15"/>
          <p:cNvSpPr/>
          <p:nvPr/>
        </p:nvSpPr>
        <p:spPr>
          <a:xfrm>
            <a:off x="9043187" y="1627632"/>
            <a:ext cx="2535860" cy="548640"/>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Reports &amp; Analytics</a:t>
            </a:r>
            <a:endParaRPr lang="en-US" sz="1100" dirty="0"/>
          </a:p>
        </p:txBody>
      </p:sp>
      <p:sp>
        <p:nvSpPr>
          <p:cNvPr id="19" name="Shape 16"/>
          <p:cNvSpPr/>
          <p:nvPr/>
        </p:nvSpPr>
        <p:spPr>
          <a:xfrm>
            <a:off x="566928" y="2395728"/>
            <a:ext cx="2586152" cy="2286000"/>
          </a:xfrm>
          <a:prstGeom prst="roundRect">
            <a:avLst>
              <a:gd name="adj" fmla="val 4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0" name="Shape 17"/>
          <p:cNvSpPr/>
          <p:nvPr/>
        </p:nvSpPr>
        <p:spPr>
          <a:xfrm>
            <a:off x="786384" y="2615184"/>
            <a:ext cx="420624" cy="420624"/>
          </a:xfrm>
          <a:prstGeom prst="ellipse">
            <a:avLst/>
          </a:prstGeom>
          <a:solidFill>
            <a:srgbClr val="0B2E59"/>
          </a:solidFill>
          <a:ln w="12700">
            <a:solidFill>
              <a:srgbClr val="0B2E59"/>
            </a:solidFill>
            <a:prstDash val="solid"/>
          </a:ln>
        </p:spPr>
      </p:sp>
      <p:pic>
        <p:nvPicPr>
          <p:cNvPr id="21" name="Image 1" descr="preencoded.png">    </p:cNvPr>
          <p:cNvPicPr>
            <a:picLocks noChangeAspect="1"/>
          </p:cNvPicPr>
          <p:nvPr/>
        </p:nvPicPr>
        <p:blipFill>
          <a:blip r:embed="rId2"/>
          <a:stretch>
            <a:fillRect/>
          </a:stretch>
        </p:blipFill>
        <p:spPr>
          <a:xfrm>
            <a:off x="891540" y="2720340"/>
            <a:ext cx="210312" cy="210312"/>
          </a:xfrm>
          <a:prstGeom prst="rect">
            <a:avLst/>
          </a:prstGeom>
        </p:spPr>
      </p:pic>
      <p:sp>
        <p:nvSpPr>
          <p:cNvPr id="22" name="Text 18"/>
          <p:cNvSpPr/>
          <p:nvPr/>
        </p:nvSpPr>
        <p:spPr>
          <a:xfrm>
            <a:off x="786384" y="3163824"/>
            <a:ext cx="2147240" cy="274320"/>
          </a:xfrm>
          <a:prstGeom prst="rect">
            <a:avLst/>
          </a:prstGeom>
          <a:noFill/>
          <a:ln/>
        </p:spPr>
        <p:txBody>
          <a:bodyPr wrap="square" lIns="0" tIns="0" rIns="0" bIns="0" rtlCol="0" anchor="t"/>
          <a:lstStyle/>
          <a:p>
            <a:pPr indent="0" marL="0">
              <a:buNone/>
            </a:pPr>
            <a:r>
              <a:rPr lang="en-US" sz="1250" b="1" dirty="0">
                <a:solidFill>
                  <a:srgbClr val="0B2E59"/>
                </a:solidFill>
                <a:latin typeface="Calibri" pitchFamily="34" charset="0"/>
                <a:ea typeface="Calibri" pitchFamily="34" charset="-122"/>
                <a:cs typeface="Calibri" pitchFamily="34" charset="-120"/>
              </a:rPr>
              <a:t>Foundation</a:t>
            </a:r>
            <a:endParaRPr lang="en-US" sz="1250" dirty="0"/>
          </a:p>
        </p:txBody>
      </p:sp>
      <p:sp>
        <p:nvSpPr>
          <p:cNvPr id="23" name="Text 19"/>
          <p:cNvSpPr/>
          <p:nvPr/>
        </p:nvSpPr>
        <p:spPr>
          <a:xfrm>
            <a:off x="786384" y="3483864"/>
            <a:ext cx="2147240" cy="102412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Design Foundation · M01 User Management · M08 User &amp; Access Management.</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Identity, permissions and the visual language every other module inherits.</a:t>
            </a:r>
            <a:endParaRPr lang="en-US" sz="1000" dirty="0"/>
          </a:p>
        </p:txBody>
      </p:sp>
      <p:sp>
        <p:nvSpPr>
          <p:cNvPr id="24" name="Shape 20"/>
          <p:cNvSpPr/>
          <p:nvPr/>
        </p:nvSpPr>
        <p:spPr>
          <a:xfrm>
            <a:off x="3390824" y="2395728"/>
            <a:ext cx="2586152" cy="2286000"/>
          </a:xfrm>
          <a:prstGeom prst="roundRect">
            <a:avLst>
              <a:gd name="adj" fmla="val 4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5" name="Shape 21"/>
          <p:cNvSpPr/>
          <p:nvPr/>
        </p:nvSpPr>
        <p:spPr>
          <a:xfrm>
            <a:off x="3610280" y="2615184"/>
            <a:ext cx="420624" cy="420624"/>
          </a:xfrm>
          <a:prstGeom prst="ellipse">
            <a:avLst/>
          </a:prstGeom>
          <a:solidFill>
            <a:srgbClr val="2E7D32"/>
          </a:solidFill>
          <a:ln w="12700">
            <a:solidFill>
              <a:srgbClr val="2E7D32"/>
            </a:solidFill>
            <a:prstDash val="solid"/>
          </a:ln>
        </p:spPr>
      </p:sp>
      <p:pic>
        <p:nvPicPr>
          <p:cNvPr id="26" name="Image 2" descr="preencoded.png">    </p:cNvPr>
          <p:cNvPicPr>
            <a:picLocks noChangeAspect="1"/>
          </p:cNvPicPr>
          <p:nvPr/>
        </p:nvPicPr>
        <p:blipFill>
          <a:blip r:embed="rId3"/>
          <a:stretch>
            <a:fillRect/>
          </a:stretch>
        </p:blipFill>
        <p:spPr>
          <a:xfrm>
            <a:off x="3715436" y="2720340"/>
            <a:ext cx="210312" cy="210312"/>
          </a:xfrm>
          <a:prstGeom prst="rect">
            <a:avLst/>
          </a:prstGeom>
        </p:spPr>
      </p:pic>
      <p:sp>
        <p:nvSpPr>
          <p:cNvPr id="27" name="Text 22"/>
          <p:cNvSpPr/>
          <p:nvPr/>
        </p:nvSpPr>
        <p:spPr>
          <a:xfrm>
            <a:off x="3610280" y="3163824"/>
            <a:ext cx="2147240" cy="274320"/>
          </a:xfrm>
          <a:prstGeom prst="rect">
            <a:avLst/>
          </a:prstGeom>
          <a:noFill/>
          <a:ln/>
        </p:spPr>
        <p:txBody>
          <a:bodyPr wrap="square" lIns="0" tIns="0" rIns="0" bIns="0" rtlCol="0" anchor="t"/>
          <a:lstStyle/>
          <a:p>
            <a:pPr indent="0" marL="0">
              <a:buNone/>
            </a:pPr>
            <a:r>
              <a:rPr lang="en-US" sz="1250" b="1" dirty="0">
                <a:solidFill>
                  <a:srgbClr val="0B2E59"/>
                </a:solidFill>
                <a:latin typeface="Calibri" pitchFamily="34" charset="0"/>
                <a:ea typeface="Calibri" pitchFamily="34" charset="-122"/>
                <a:cs typeface="Calibri" pitchFamily="34" charset="-120"/>
              </a:rPr>
              <a:t>The data core</a:t>
            </a:r>
            <a:endParaRPr lang="en-US" sz="1250" dirty="0"/>
          </a:p>
        </p:txBody>
      </p:sp>
      <p:sp>
        <p:nvSpPr>
          <p:cNvPr id="28" name="Text 23"/>
          <p:cNvSpPr/>
          <p:nvPr/>
        </p:nvSpPr>
        <p:spPr>
          <a:xfrm>
            <a:off x="3610280" y="3483864"/>
            <a:ext cx="2147240" cy="102412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M02 Master Company Database.</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The single source of truth for companies and HR contacts. Everything operational reads from it.</a:t>
            </a:r>
            <a:endParaRPr lang="en-US" sz="1000" dirty="0"/>
          </a:p>
        </p:txBody>
      </p:sp>
      <p:sp>
        <p:nvSpPr>
          <p:cNvPr id="29" name="Shape 24"/>
          <p:cNvSpPr/>
          <p:nvPr/>
        </p:nvSpPr>
        <p:spPr>
          <a:xfrm>
            <a:off x="6214720" y="2395728"/>
            <a:ext cx="2586152" cy="2286000"/>
          </a:xfrm>
          <a:prstGeom prst="roundRect">
            <a:avLst>
              <a:gd name="adj" fmla="val 4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0" name="Shape 25"/>
          <p:cNvSpPr/>
          <p:nvPr/>
        </p:nvSpPr>
        <p:spPr>
          <a:xfrm>
            <a:off x="6434176" y="2615184"/>
            <a:ext cx="420624" cy="420624"/>
          </a:xfrm>
          <a:prstGeom prst="ellipse">
            <a:avLst/>
          </a:prstGeom>
          <a:solidFill>
            <a:srgbClr val="175496"/>
          </a:solidFill>
          <a:ln w="12700">
            <a:solidFill>
              <a:srgbClr val="175496"/>
            </a:solidFill>
            <a:prstDash val="solid"/>
          </a:ln>
        </p:spPr>
      </p:sp>
      <p:pic>
        <p:nvPicPr>
          <p:cNvPr id="31" name="Image 3" descr="preencoded.png">    </p:cNvPr>
          <p:cNvPicPr>
            <a:picLocks noChangeAspect="1"/>
          </p:cNvPicPr>
          <p:nvPr/>
        </p:nvPicPr>
        <p:blipFill>
          <a:blip r:embed="rId4"/>
          <a:stretch>
            <a:fillRect/>
          </a:stretch>
        </p:blipFill>
        <p:spPr>
          <a:xfrm>
            <a:off x="6539332" y="2720340"/>
            <a:ext cx="210312" cy="210312"/>
          </a:xfrm>
          <a:prstGeom prst="rect">
            <a:avLst/>
          </a:prstGeom>
        </p:spPr>
      </p:pic>
      <p:sp>
        <p:nvSpPr>
          <p:cNvPr id="32" name="Text 26"/>
          <p:cNvSpPr/>
          <p:nvPr/>
        </p:nvSpPr>
        <p:spPr>
          <a:xfrm>
            <a:off x="6434176" y="3163824"/>
            <a:ext cx="2147240" cy="274320"/>
          </a:xfrm>
          <a:prstGeom prst="rect">
            <a:avLst/>
          </a:prstGeom>
          <a:noFill/>
          <a:ln/>
        </p:spPr>
        <p:txBody>
          <a:bodyPr wrap="square" lIns="0" tIns="0" rIns="0" bIns="0" rtlCol="0" anchor="t"/>
          <a:lstStyle/>
          <a:p>
            <a:pPr indent="0" marL="0">
              <a:buNone/>
            </a:pPr>
            <a:r>
              <a:rPr lang="en-US" sz="1250" b="1" dirty="0">
                <a:solidFill>
                  <a:srgbClr val="0B2E59"/>
                </a:solidFill>
                <a:latin typeface="Calibri" pitchFamily="34" charset="0"/>
                <a:ea typeface="Calibri" pitchFamily="34" charset="-122"/>
                <a:cs typeface="Calibri" pitchFamily="34" charset="-120"/>
              </a:rPr>
              <a:t>Operations</a:t>
            </a:r>
            <a:endParaRPr lang="en-US" sz="1250" dirty="0"/>
          </a:p>
        </p:txBody>
      </p:sp>
      <p:sp>
        <p:nvSpPr>
          <p:cNvPr id="33" name="Text 27"/>
          <p:cNvSpPr/>
          <p:nvPr/>
        </p:nvSpPr>
        <p:spPr>
          <a:xfrm>
            <a:off x="6434176" y="3483864"/>
            <a:ext cx="2147240" cy="102412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M03 Daily Tracker · M04 Weekly Tracker · M05 Daily Leads.</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Three registers, three distinct business processes, deliberately kept separate.</a:t>
            </a:r>
            <a:endParaRPr lang="en-US" sz="1000" dirty="0"/>
          </a:p>
        </p:txBody>
      </p:sp>
      <p:sp>
        <p:nvSpPr>
          <p:cNvPr id="34" name="Shape 28"/>
          <p:cNvSpPr/>
          <p:nvPr/>
        </p:nvSpPr>
        <p:spPr>
          <a:xfrm>
            <a:off x="9038615" y="2395728"/>
            <a:ext cx="2586152" cy="2286000"/>
          </a:xfrm>
          <a:prstGeom prst="roundRect">
            <a:avLst>
              <a:gd name="adj" fmla="val 4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5" name="Shape 29"/>
          <p:cNvSpPr/>
          <p:nvPr/>
        </p:nvSpPr>
        <p:spPr>
          <a:xfrm>
            <a:off x="9258071" y="2615184"/>
            <a:ext cx="420624" cy="420624"/>
          </a:xfrm>
          <a:prstGeom prst="ellipse">
            <a:avLst/>
          </a:prstGeom>
          <a:solidFill>
            <a:srgbClr val="00ACC1"/>
          </a:solidFill>
          <a:ln w="12700">
            <a:solidFill>
              <a:srgbClr val="00ACC1"/>
            </a:solidFill>
            <a:prstDash val="solid"/>
          </a:ln>
        </p:spPr>
      </p:sp>
      <p:pic>
        <p:nvPicPr>
          <p:cNvPr id="36" name="Image 4" descr="preencoded.png">    </p:cNvPr>
          <p:cNvPicPr>
            <a:picLocks noChangeAspect="1"/>
          </p:cNvPicPr>
          <p:nvPr/>
        </p:nvPicPr>
        <p:blipFill>
          <a:blip r:embed="rId5"/>
          <a:stretch>
            <a:fillRect/>
          </a:stretch>
        </p:blipFill>
        <p:spPr>
          <a:xfrm>
            <a:off x="9363227" y="2720340"/>
            <a:ext cx="210312" cy="210312"/>
          </a:xfrm>
          <a:prstGeom prst="rect">
            <a:avLst/>
          </a:prstGeom>
        </p:spPr>
      </p:pic>
      <p:sp>
        <p:nvSpPr>
          <p:cNvPr id="37" name="Text 30"/>
          <p:cNvSpPr/>
          <p:nvPr/>
        </p:nvSpPr>
        <p:spPr>
          <a:xfrm>
            <a:off x="9258071" y="3163824"/>
            <a:ext cx="2147240" cy="274320"/>
          </a:xfrm>
          <a:prstGeom prst="rect">
            <a:avLst/>
          </a:prstGeom>
          <a:noFill/>
          <a:ln/>
        </p:spPr>
        <p:txBody>
          <a:bodyPr wrap="square" lIns="0" tIns="0" rIns="0" bIns="0" rtlCol="0" anchor="t"/>
          <a:lstStyle/>
          <a:p>
            <a:pPr indent="0" marL="0">
              <a:buNone/>
            </a:pPr>
            <a:r>
              <a:rPr lang="en-US" sz="1250" b="1" dirty="0">
                <a:solidFill>
                  <a:srgbClr val="0B2E59"/>
                </a:solidFill>
                <a:latin typeface="Calibri" pitchFamily="34" charset="0"/>
                <a:ea typeface="Calibri" pitchFamily="34" charset="-122"/>
                <a:cs typeface="Calibri" pitchFamily="34" charset="-120"/>
              </a:rPr>
              <a:t>Visibility</a:t>
            </a:r>
            <a:endParaRPr lang="en-US" sz="1250" dirty="0"/>
          </a:p>
        </p:txBody>
      </p:sp>
      <p:sp>
        <p:nvSpPr>
          <p:cNvPr id="38" name="Text 31"/>
          <p:cNvSpPr/>
          <p:nvPr/>
        </p:nvSpPr>
        <p:spPr>
          <a:xfrm>
            <a:off x="9258071" y="3483864"/>
            <a:ext cx="2147240" cy="102412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M06 Reports &amp; Analytics · M07 Dashboard · M09 Settings · M10 System Admin.</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Read, format and administer. None of them hold operational records of their own.</a:t>
            </a:r>
            <a:endParaRPr lang="en-US" sz="1000" dirty="0"/>
          </a:p>
        </p:txBody>
      </p:sp>
      <p:sp>
        <p:nvSpPr>
          <p:cNvPr id="39" name="Shape 32"/>
          <p:cNvSpPr/>
          <p:nvPr/>
        </p:nvSpPr>
        <p:spPr>
          <a:xfrm>
            <a:off x="566928" y="4901184"/>
            <a:ext cx="11057839" cy="932688"/>
          </a:xfrm>
          <a:prstGeom prst="roundRect">
            <a:avLst>
              <a:gd name="adj" fmla="val 9804"/>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0" name="Text 33"/>
          <p:cNvSpPr/>
          <p:nvPr/>
        </p:nvSpPr>
        <p:spPr>
          <a:xfrm>
            <a:off x="786384" y="5120640"/>
            <a:ext cx="10618927"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The architectural rule stated in three separate documents</a:t>
            </a:r>
            <a:endParaRPr lang="en-US" sz="1350" dirty="0"/>
          </a:p>
        </p:txBody>
      </p:sp>
      <p:sp>
        <p:nvSpPr>
          <p:cNvPr id="41" name="Text 34"/>
          <p:cNvSpPr/>
          <p:nvPr/>
        </p:nvSpPr>
        <p:spPr>
          <a:xfrm>
            <a:off x="786384" y="5440680"/>
            <a:ext cx="10618927" cy="21945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Daily Tracker = daily activity. Weekly Tracker = placement lifecycle. Daily Leads = the day's positives and JDs. Reports &amp; Analytics never duplicates or re-keys data — it only reads and formats what already exists.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1572768"/>
            <a:ext cx="11057839" cy="3401568"/>
          </a:xfrm>
          <a:prstGeom prst="roundRect">
            <a:avLst>
              <a:gd name="adj" fmla="val 4301"/>
            </a:avLst>
          </a:prstGeom>
          <a:solidFill>
            <a:srgbClr val="EEF4FB"/>
          </a:solidFill>
          <a:ln w="9525">
            <a:solidFill>
              <a:srgbClr val="D6E4F5"/>
            </a:solidFill>
            <a:prstDash val="solid"/>
          </a:ln>
        </p:spPr>
      </p:sp>
      <p:pic>
        <p:nvPicPr>
          <p:cNvPr id="3"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4" name="Text 1"/>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2"/>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5</a:t>
            </a:r>
            <a:endParaRPr lang="en-US" sz="950" dirty="0"/>
          </a:p>
        </p:txBody>
      </p:sp>
      <p:sp>
        <p:nvSpPr>
          <p:cNvPr id="6" name="Text 3"/>
          <p:cNvSpPr/>
          <p:nvPr/>
        </p:nvSpPr>
        <p:spPr>
          <a:xfrm>
            <a:off x="1115568" y="2148840"/>
            <a:ext cx="7315200" cy="292608"/>
          </a:xfrm>
          <a:prstGeom prst="rect">
            <a:avLst/>
          </a:prstGeom>
          <a:noFill/>
          <a:ln/>
        </p:spPr>
        <p:txBody>
          <a:bodyPr wrap="square" lIns="0" tIns="0" rIns="0" bIns="0" rtlCol="0" anchor="ctr"/>
          <a:lstStyle/>
          <a:p>
            <a:pPr indent="0" marL="0">
              <a:buNone/>
            </a:pPr>
            <a:r>
              <a:rPr lang="en-US" sz="1200" b="1" spc="350" kern="0" dirty="0">
                <a:solidFill>
                  <a:srgbClr val="00ACC1"/>
                </a:solidFill>
                <a:latin typeface="Calibri" pitchFamily="34" charset="0"/>
                <a:ea typeface="Calibri" pitchFamily="34" charset="-122"/>
                <a:cs typeface="Calibri" pitchFamily="34" charset="-120"/>
              </a:rPr>
              <a:t>CHAPTER 1</a:t>
            </a:r>
            <a:endParaRPr lang="en-US" sz="1200" dirty="0"/>
          </a:p>
        </p:txBody>
      </p:sp>
      <p:sp>
        <p:nvSpPr>
          <p:cNvPr id="7" name="Text 4"/>
          <p:cNvSpPr/>
          <p:nvPr/>
        </p:nvSpPr>
        <p:spPr>
          <a:xfrm>
            <a:off x="1115568" y="2560320"/>
            <a:ext cx="9692640" cy="960120"/>
          </a:xfrm>
          <a:prstGeom prst="rect">
            <a:avLst/>
          </a:prstGeom>
          <a:noFill/>
          <a:ln/>
        </p:spPr>
        <p:txBody>
          <a:bodyPr wrap="square" lIns="0" tIns="0" rIns="0" bIns="0" rtlCol="0" anchor="ctr"/>
          <a:lstStyle/>
          <a:p>
            <a:pPr indent="0" marL="0">
              <a:buNone/>
            </a:pPr>
            <a:r>
              <a:rPr lang="en-US" sz="5000" b="1" dirty="0">
                <a:solidFill>
                  <a:srgbClr val="0B2E59"/>
                </a:solidFill>
                <a:latin typeface="Calibri" pitchFamily="34" charset="0"/>
                <a:ea typeface="Calibri" pitchFamily="34" charset="-122"/>
                <a:cs typeface="Calibri" pitchFamily="34" charset="-120"/>
              </a:rPr>
              <a:t>Design Foundation</a:t>
            </a:r>
            <a:endParaRPr lang="en-US" sz="5000" dirty="0"/>
          </a:p>
        </p:txBody>
      </p:sp>
      <p:sp>
        <p:nvSpPr>
          <p:cNvPr id="8" name="Text 5"/>
          <p:cNvSpPr/>
          <p:nvPr/>
        </p:nvSpPr>
        <p:spPr>
          <a:xfrm>
            <a:off x="1115568" y="3611880"/>
            <a:ext cx="9326880" cy="822960"/>
          </a:xfrm>
          <a:prstGeom prst="rect">
            <a:avLst/>
          </a:prstGeom>
          <a:noFill/>
          <a:ln/>
        </p:spPr>
        <p:txBody>
          <a:bodyPr wrap="square" lIns="0" tIns="0" rIns="0" bIns="0" rtlCol="0" anchor="t"/>
          <a:lstStyle/>
          <a:p>
            <a:pPr indent="0" marL="0">
              <a:lnSpc>
                <a:spcPct val="115000"/>
              </a:lnSpc>
              <a:buNone/>
            </a:pPr>
            <a:r>
              <a:rPr lang="en-US" sz="1500" dirty="0">
                <a:solidFill>
                  <a:srgbClr val="3E4C59"/>
                </a:solidFill>
                <a:latin typeface="Calibri" pitchFamily="34" charset="0"/>
                <a:ea typeface="Calibri" pitchFamily="34" charset="-122"/>
                <a:cs typeface="Calibri" pitchFamily="34" charset="-120"/>
              </a:rPr>
              <a:t>UI / UX design standards. Defined once so that every module — from User Management to Reports — feels like part of the same product.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DESIGN FOUNDATION §3–4</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Brand and visual identity</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6</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2743200"/>
                <a:gridCol w="8314639"/>
              </a:tblGrid>
              <a:tr h="32918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Element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Final value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29184">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Application name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Infoziant Placement Operations Management System (iPOMS)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29184">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Tagline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“Empowering Placement Teams with Intelligent Operations.”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Footer / copyright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 2025 Infoziant IT Solutions Inc. All rights reserved.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29184">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Certification line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A SOC 2 | ISO 27001:2022 Certified Company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bl>
          </a:graphicData>
        </a:graphic>
      </p:graphicFrame>
      <p:sp>
        <p:nvSpPr>
          <p:cNvPr id="8" name="Text 4"/>
          <p:cNvSpPr/>
          <p:nvPr/>
        </p:nvSpPr>
        <p:spPr>
          <a:xfrm>
            <a:off x="566928" y="316382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COLOUR PALETTE — OPTION A, DERIVED FROM THE INFOZIANT BRAND RATHER THAN A SEPARATE THEME</a:t>
            </a:r>
            <a:endParaRPr lang="en-US" sz="950" dirty="0"/>
          </a:p>
        </p:txBody>
      </p:sp>
      <p:sp>
        <p:nvSpPr>
          <p:cNvPr id="9" name="Shape 5"/>
          <p:cNvSpPr/>
          <p:nvPr/>
        </p:nvSpPr>
        <p:spPr>
          <a:xfrm>
            <a:off x="566928" y="3438144"/>
            <a:ext cx="1705813" cy="566928"/>
          </a:xfrm>
          <a:prstGeom prst="roundRect">
            <a:avLst>
              <a:gd name="adj" fmla="val 14516"/>
            </a:avLst>
          </a:prstGeom>
          <a:solidFill>
            <a:srgbClr val="0B2E59"/>
          </a:solidFill>
          <a:ln w="9525">
            <a:solidFill>
              <a:srgbClr val="0B2E59"/>
            </a:solidFill>
            <a:prstDash val="solid"/>
          </a:ln>
        </p:spPr>
      </p:sp>
      <p:sp>
        <p:nvSpPr>
          <p:cNvPr id="10" name="Text 6"/>
          <p:cNvSpPr/>
          <p:nvPr/>
        </p:nvSpPr>
        <p:spPr>
          <a:xfrm>
            <a:off x="566928" y="4050792"/>
            <a:ext cx="1705813" cy="219456"/>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Primary</a:t>
            </a:r>
            <a:endParaRPr lang="en-US" sz="1100" dirty="0"/>
          </a:p>
        </p:txBody>
      </p:sp>
      <p:sp>
        <p:nvSpPr>
          <p:cNvPr id="11" name="Text 7"/>
          <p:cNvSpPr/>
          <p:nvPr/>
        </p:nvSpPr>
        <p:spPr>
          <a:xfrm>
            <a:off x="566928" y="4270248"/>
            <a:ext cx="1705813" cy="201168"/>
          </a:xfrm>
          <a:prstGeom prst="rect">
            <a:avLst/>
          </a:prstGeom>
          <a:noFill/>
          <a:ln/>
        </p:spPr>
        <p:txBody>
          <a:bodyPr wrap="square" lIns="0" tIns="0" rIns="0" bIns="0" rtlCol="0" anchor="ctr"/>
          <a:lstStyle/>
          <a:p>
            <a:pPr algn="ctr" indent="0" marL="0">
              <a:buNone/>
            </a:pPr>
            <a:r>
              <a:rPr lang="en-US" sz="900" dirty="0">
                <a:solidFill>
                  <a:srgbClr val="7B8794"/>
                </a:solidFill>
                <a:latin typeface="Calibri" pitchFamily="34" charset="0"/>
                <a:ea typeface="Calibri" pitchFamily="34" charset="-122"/>
                <a:cs typeface="Calibri" pitchFamily="34" charset="-120"/>
              </a:rPr>
              <a:t>Deep Blue</a:t>
            </a:r>
            <a:endParaRPr lang="en-US" sz="900" dirty="0"/>
          </a:p>
        </p:txBody>
      </p:sp>
      <p:sp>
        <p:nvSpPr>
          <p:cNvPr id="12" name="Shape 8"/>
          <p:cNvSpPr/>
          <p:nvPr/>
        </p:nvSpPr>
        <p:spPr>
          <a:xfrm>
            <a:off x="2437333" y="3438144"/>
            <a:ext cx="1705813" cy="566928"/>
          </a:xfrm>
          <a:prstGeom prst="roundRect">
            <a:avLst>
              <a:gd name="adj" fmla="val 14516"/>
            </a:avLst>
          </a:prstGeom>
          <a:solidFill>
            <a:srgbClr val="00ACC1"/>
          </a:solidFill>
          <a:ln w="9525">
            <a:solidFill>
              <a:srgbClr val="00ACC1"/>
            </a:solidFill>
            <a:prstDash val="solid"/>
          </a:ln>
        </p:spPr>
      </p:sp>
      <p:sp>
        <p:nvSpPr>
          <p:cNvPr id="13" name="Text 9"/>
          <p:cNvSpPr/>
          <p:nvPr/>
        </p:nvSpPr>
        <p:spPr>
          <a:xfrm>
            <a:off x="2437333" y="4050792"/>
            <a:ext cx="1705813" cy="219456"/>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Secondary</a:t>
            </a:r>
            <a:endParaRPr lang="en-US" sz="1100" dirty="0"/>
          </a:p>
        </p:txBody>
      </p:sp>
      <p:sp>
        <p:nvSpPr>
          <p:cNvPr id="14" name="Text 10"/>
          <p:cNvSpPr/>
          <p:nvPr/>
        </p:nvSpPr>
        <p:spPr>
          <a:xfrm>
            <a:off x="2437333" y="4270248"/>
            <a:ext cx="1705813" cy="201168"/>
          </a:xfrm>
          <a:prstGeom prst="rect">
            <a:avLst/>
          </a:prstGeom>
          <a:noFill/>
          <a:ln/>
        </p:spPr>
        <p:txBody>
          <a:bodyPr wrap="square" lIns="0" tIns="0" rIns="0" bIns="0" rtlCol="0" anchor="ctr"/>
          <a:lstStyle/>
          <a:p>
            <a:pPr algn="ctr" indent="0" marL="0">
              <a:buNone/>
            </a:pPr>
            <a:r>
              <a:rPr lang="en-US" sz="900" dirty="0">
                <a:solidFill>
                  <a:srgbClr val="7B8794"/>
                </a:solidFill>
                <a:latin typeface="Calibri" pitchFamily="34" charset="0"/>
                <a:ea typeface="Calibri" pitchFamily="34" charset="-122"/>
                <a:cs typeface="Calibri" pitchFamily="34" charset="-120"/>
              </a:rPr>
              <a:t>Cyan / Teal</a:t>
            </a:r>
            <a:endParaRPr lang="en-US" sz="900" dirty="0"/>
          </a:p>
        </p:txBody>
      </p:sp>
      <p:sp>
        <p:nvSpPr>
          <p:cNvPr id="15" name="Shape 11"/>
          <p:cNvSpPr/>
          <p:nvPr/>
        </p:nvSpPr>
        <p:spPr>
          <a:xfrm>
            <a:off x="4307738" y="3438144"/>
            <a:ext cx="1705813" cy="566928"/>
          </a:xfrm>
          <a:prstGeom prst="roundRect">
            <a:avLst>
              <a:gd name="adj" fmla="val 14516"/>
            </a:avLst>
          </a:prstGeom>
          <a:solidFill>
            <a:srgbClr val="2E7D32"/>
          </a:solidFill>
          <a:ln w="9525">
            <a:solidFill>
              <a:srgbClr val="2E7D32"/>
            </a:solidFill>
            <a:prstDash val="solid"/>
          </a:ln>
        </p:spPr>
      </p:sp>
      <p:sp>
        <p:nvSpPr>
          <p:cNvPr id="16" name="Text 12"/>
          <p:cNvSpPr/>
          <p:nvPr/>
        </p:nvSpPr>
        <p:spPr>
          <a:xfrm>
            <a:off x="4307738" y="4050792"/>
            <a:ext cx="1705813" cy="219456"/>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Success</a:t>
            </a:r>
            <a:endParaRPr lang="en-US" sz="1100" dirty="0"/>
          </a:p>
        </p:txBody>
      </p:sp>
      <p:sp>
        <p:nvSpPr>
          <p:cNvPr id="17" name="Text 13"/>
          <p:cNvSpPr/>
          <p:nvPr/>
        </p:nvSpPr>
        <p:spPr>
          <a:xfrm>
            <a:off x="4307738" y="4270248"/>
            <a:ext cx="1705813" cy="201168"/>
          </a:xfrm>
          <a:prstGeom prst="rect">
            <a:avLst/>
          </a:prstGeom>
          <a:noFill/>
          <a:ln/>
        </p:spPr>
        <p:txBody>
          <a:bodyPr wrap="square" lIns="0" tIns="0" rIns="0" bIns="0" rtlCol="0" anchor="ctr"/>
          <a:lstStyle/>
          <a:p>
            <a:pPr algn="ctr" indent="0" marL="0">
              <a:buNone/>
            </a:pPr>
            <a:r>
              <a:rPr lang="en-US" sz="900" dirty="0">
                <a:solidFill>
                  <a:srgbClr val="7B8794"/>
                </a:solidFill>
                <a:latin typeface="Calibri" pitchFamily="34" charset="0"/>
                <a:ea typeface="Calibri" pitchFamily="34" charset="-122"/>
                <a:cs typeface="Calibri" pitchFamily="34" charset="-120"/>
              </a:rPr>
              <a:t>Green</a:t>
            </a:r>
            <a:endParaRPr lang="en-US" sz="900" dirty="0"/>
          </a:p>
        </p:txBody>
      </p:sp>
      <p:sp>
        <p:nvSpPr>
          <p:cNvPr id="18" name="Shape 14"/>
          <p:cNvSpPr/>
          <p:nvPr/>
        </p:nvSpPr>
        <p:spPr>
          <a:xfrm>
            <a:off x="6178144" y="3438144"/>
            <a:ext cx="1705813" cy="566928"/>
          </a:xfrm>
          <a:prstGeom prst="roundRect">
            <a:avLst>
              <a:gd name="adj" fmla="val 14516"/>
            </a:avLst>
          </a:prstGeom>
          <a:solidFill>
            <a:srgbClr val="F59E0B"/>
          </a:solidFill>
          <a:ln w="9525">
            <a:solidFill>
              <a:srgbClr val="F59E0B"/>
            </a:solidFill>
            <a:prstDash val="solid"/>
          </a:ln>
        </p:spPr>
      </p:sp>
      <p:sp>
        <p:nvSpPr>
          <p:cNvPr id="19" name="Text 15"/>
          <p:cNvSpPr/>
          <p:nvPr/>
        </p:nvSpPr>
        <p:spPr>
          <a:xfrm>
            <a:off x="6178144" y="4050792"/>
            <a:ext cx="1705813" cy="219456"/>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Warning</a:t>
            </a:r>
            <a:endParaRPr lang="en-US" sz="1100" dirty="0"/>
          </a:p>
        </p:txBody>
      </p:sp>
      <p:sp>
        <p:nvSpPr>
          <p:cNvPr id="20" name="Text 16"/>
          <p:cNvSpPr/>
          <p:nvPr/>
        </p:nvSpPr>
        <p:spPr>
          <a:xfrm>
            <a:off x="6178144" y="4270248"/>
            <a:ext cx="1705813" cy="201168"/>
          </a:xfrm>
          <a:prstGeom prst="rect">
            <a:avLst/>
          </a:prstGeom>
          <a:noFill/>
          <a:ln/>
        </p:spPr>
        <p:txBody>
          <a:bodyPr wrap="square" lIns="0" tIns="0" rIns="0" bIns="0" rtlCol="0" anchor="ctr"/>
          <a:lstStyle/>
          <a:p>
            <a:pPr algn="ctr" indent="0" marL="0">
              <a:buNone/>
            </a:pPr>
            <a:r>
              <a:rPr lang="en-US" sz="900" dirty="0">
                <a:solidFill>
                  <a:srgbClr val="7B8794"/>
                </a:solidFill>
                <a:latin typeface="Calibri" pitchFamily="34" charset="0"/>
                <a:ea typeface="Calibri" pitchFamily="34" charset="-122"/>
                <a:cs typeface="Calibri" pitchFamily="34" charset="-120"/>
              </a:rPr>
              <a:t>Amber</a:t>
            </a:r>
            <a:endParaRPr lang="en-US" sz="900" dirty="0"/>
          </a:p>
        </p:txBody>
      </p:sp>
      <p:sp>
        <p:nvSpPr>
          <p:cNvPr id="21" name="Shape 17"/>
          <p:cNvSpPr/>
          <p:nvPr/>
        </p:nvSpPr>
        <p:spPr>
          <a:xfrm>
            <a:off x="8048549" y="3438144"/>
            <a:ext cx="1705813" cy="566928"/>
          </a:xfrm>
          <a:prstGeom prst="roundRect">
            <a:avLst>
              <a:gd name="adj" fmla="val 14516"/>
            </a:avLst>
          </a:prstGeom>
          <a:solidFill>
            <a:srgbClr val="C62828"/>
          </a:solidFill>
          <a:ln w="9525">
            <a:solidFill>
              <a:srgbClr val="C62828"/>
            </a:solidFill>
            <a:prstDash val="solid"/>
          </a:ln>
        </p:spPr>
      </p:sp>
      <p:sp>
        <p:nvSpPr>
          <p:cNvPr id="22" name="Text 18"/>
          <p:cNvSpPr/>
          <p:nvPr/>
        </p:nvSpPr>
        <p:spPr>
          <a:xfrm>
            <a:off x="8048549" y="4050792"/>
            <a:ext cx="1705813" cy="219456"/>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Error</a:t>
            </a:r>
            <a:endParaRPr lang="en-US" sz="1100" dirty="0"/>
          </a:p>
        </p:txBody>
      </p:sp>
      <p:sp>
        <p:nvSpPr>
          <p:cNvPr id="23" name="Text 19"/>
          <p:cNvSpPr/>
          <p:nvPr/>
        </p:nvSpPr>
        <p:spPr>
          <a:xfrm>
            <a:off x="8048549" y="4270248"/>
            <a:ext cx="1705813" cy="201168"/>
          </a:xfrm>
          <a:prstGeom prst="rect">
            <a:avLst/>
          </a:prstGeom>
          <a:noFill/>
          <a:ln/>
        </p:spPr>
        <p:txBody>
          <a:bodyPr wrap="square" lIns="0" tIns="0" rIns="0" bIns="0" rtlCol="0" anchor="ctr"/>
          <a:lstStyle/>
          <a:p>
            <a:pPr algn="ctr" indent="0" marL="0">
              <a:buNone/>
            </a:pPr>
            <a:r>
              <a:rPr lang="en-US" sz="900" dirty="0">
                <a:solidFill>
                  <a:srgbClr val="7B8794"/>
                </a:solidFill>
                <a:latin typeface="Calibri" pitchFamily="34" charset="0"/>
                <a:ea typeface="Calibri" pitchFamily="34" charset="-122"/>
                <a:cs typeface="Calibri" pitchFamily="34" charset="-120"/>
              </a:rPr>
              <a:t>Red</a:t>
            </a:r>
            <a:endParaRPr lang="en-US" sz="900" dirty="0"/>
          </a:p>
        </p:txBody>
      </p:sp>
      <p:sp>
        <p:nvSpPr>
          <p:cNvPr id="24" name="Shape 20"/>
          <p:cNvSpPr/>
          <p:nvPr/>
        </p:nvSpPr>
        <p:spPr>
          <a:xfrm>
            <a:off x="9918954" y="3438144"/>
            <a:ext cx="1705813" cy="566928"/>
          </a:xfrm>
          <a:prstGeom prst="roundRect">
            <a:avLst>
              <a:gd name="adj" fmla="val 14516"/>
            </a:avLst>
          </a:prstGeom>
          <a:solidFill>
            <a:srgbClr val="F1F4F8"/>
          </a:solidFill>
          <a:ln w="9525">
            <a:solidFill>
              <a:srgbClr val="E1E8F0"/>
            </a:solidFill>
            <a:prstDash val="solid"/>
          </a:ln>
        </p:spPr>
      </p:sp>
      <p:sp>
        <p:nvSpPr>
          <p:cNvPr id="25" name="Text 21"/>
          <p:cNvSpPr/>
          <p:nvPr/>
        </p:nvSpPr>
        <p:spPr>
          <a:xfrm>
            <a:off x="9918954" y="4050792"/>
            <a:ext cx="1705813" cy="219456"/>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Neutral</a:t>
            </a:r>
            <a:endParaRPr lang="en-US" sz="1100" dirty="0"/>
          </a:p>
        </p:txBody>
      </p:sp>
      <p:sp>
        <p:nvSpPr>
          <p:cNvPr id="26" name="Text 22"/>
          <p:cNvSpPr/>
          <p:nvPr/>
        </p:nvSpPr>
        <p:spPr>
          <a:xfrm>
            <a:off x="9918954" y="4270248"/>
            <a:ext cx="1705813" cy="201168"/>
          </a:xfrm>
          <a:prstGeom prst="rect">
            <a:avLst/>
          </a:prstGeom>
          <a:noFill/>
          <a:ln/>
        </p:spPr>
        <p:txBody>
          <a:bodyPr wrap="square" lIns="0" tIns="0" rIns="0" bIns="0" rtlCol="0" anchor="ctr"/>
          <a:lstStyle/>
          <a:p>
            <a:pPr algn="ctr" indent="0" marL="0">
              <a:buNone/>
            </a:pPr>
            <a:r>
              <a:rPr lang="en-US" sz="900" dirty="0">
                <a:solidFill>
                  <a:srgbClr val="7B8794"/>
                </a:solidFill>
                <a:latin typeface="Calibri" pitchFamily="34" charset="0"/>
                <a:ea typeface="Calibri" pitchFamily="34" charset="-122"/>
                <a:cs typeface="Calibri" pitchFamily="34" charset="-120"/>
              </a:rPr>
              <a:t>White + grey</a:t>
            </a:r>
            <a:endParaRPr lang="en-US" sz="900" dirty="0"/>
          </a:p>
        </p:txBody>
      </p:sp>
      <p:sp>
        <p:nvSpPr>
          <p:cNvPr id="27" name="Shape 23"/>
          <p:cNvSpPr/>
          <p:nvPr/>
        </p:nvSpPr>
        <p:spPr>
          <a:xfrm>
            <a:off x="566928" y="4562856"/>
            <a:ext cx="2586152" cy="1289304"/>
          </a:xfrm>
          <a:prstGeom prst="roundRect">
            <a:avLst>
              <a:gd name="adj" fmla="val 709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8" name="Shape 24"/>
          <p:cNvSpPr/>
          <p:nvPr/>
        </p:nvSpPr>
        <p:spPr>
          <a:xfrm>
            <a:off x="786384" y="4782312"/>
            <a:ext cx="365760" cy="365760"/>
          </a:xfrm>
          <a:prstGeom prst="ellipse">
            <a:avLst/>
          </a:prstGeom>
          <a:solidFill>
            <a:srgbClr val="0B2E59"/>
          </a:solidFill>
          <a:ln w="12700">
            <a:solidFill>
              <a:srgbClr val="0B2E59"/>
            </a:solidFill>
            <a:prstDash val="solid"/>
          </a:ln>
        </p:spPr>
      </p:sp>
      <p:pic>
        <p:nvPicPr>
          <p:cNvPr id="29" name="Image 1" descr="preencoded.png">    </p:cNvPr>
          <p:cNvPicPr>
            <a:picLocks noChangeAspect="1"/>
          </p:cNvPicPr>
          <p:nvPr/>
        </p:nvPicPr>
        <p:blipFill>
          <a:blip r:embed="rId2"/>
          <a:stretch>
            <a:fillRect/>
          </a:stretch>
        </p:blipFill>
        <p:spPr>
          <a:xfrm>
            <a:off x="877824" y="4873752"/>
            <a:ext cx="182880" cy="182880"/>
          </a:xfrm>
          <a:prstGeom prst="rect">
            <a:avLst/>
          </a:prstGeom>
        </p:spPr>
      </p:pic>
      <p:sp>
        <p:nvSpPr>
          <p:cNvPr id="30" name="Text 25"/>
          <p:cNvSpPr/>
          <p:nvPr/>
        </p:nvSpPr>
        <p:spPr>
          <a:xfrm>
            <a:off x="1280160" y="4782312"/>
            <a:ext cx="1653464"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Inter</a:t>
            </a:r>
            <a:endParaRPr lang="en-US" sz="1200" dirty="0"/>
          </a:p>
        </p:txBody>
      </p:sp>
      <p:sp>
        <p:nvSpPr>
          <p:cNvPr id="31" name="Text 26"/>
          <p:cNvSpPr/>
          <p:nvPr/>
        </p:nvSpPr>
        <p:spPr>
          <a:xfrm>
            <a:off x="786384" y="5193792"/>
            <a:ext cx="2147240" cy="484632"/>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Chosen for legibility in dense data tables.</a:t>
            </a:r>
            <a:endParaRPr lang="en-US" sz="950" dirty="0"/>
          </a:p>
        </p:txBody>
      </p:sp>
      <p:sp>
        <p:nvSpPr>
          <p:cNvPr id="32" name="Shape 27"/>
          <p:cNvSpPr/>
          <p:nvPr/>
        </p:nvSpPr>
        <p:spPr>
          <a:xfrm>
            <a:off x="3390824" y="4562856"/>
            <a:ext cx="2586152" cy="1289304"/>
          </a:xfrm>
          <a:prstGeom prst="roundRect">
            <a:avLst>
              <a:gd name="adj" fmla="val 709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3" name="Shape 28"/>
          <p:cNvSpPr/>
          <p:nvPr/>
        </p:nvSpPr>
        <p:spPr>
          <a:xfrm>
            <a:off x="3610280" y="4782312"/>
            <a:ext cx="365760" cy="365760"/>
          </a:xfrm>
          <a:prstGeom prst="ellipse">
            <a:avLst/>
          </a:prstGeom>
          <a:solidFill>
            <a:srgbClr val="175496"/>
          </a:solidFill>
          <a:ln w="12700">
            <a:solidFill>
              <a:srgbClr val="175496"/>
            </a:solidFill>
            <a:prstDash val="solid"/>
          </a:ln>
        </p:spPr>
      </p:sp>
      <p:pic>
        <p:nvPicPr>
          <p:cNvPr id="34" name="Image 2" descr="preencoded.png">    </p:cNvPr>
          <p:cNvPicPr>
            <a:picLocks noChangeAspect="1"/>
          </p:cNvPicPr>
          <p:nvPr/>
        </p:nvPicPr>
        <p:blipFill>
          <a:blip r:embed="rId3"/>
          <a:stretch>
            <a:fillRect/>
          </a:stretch>
        </p:blipFill>
        <p:spPr>
          <a:xfrm>
            <a:off x="3701720" y="4873752"/>
            <a:ext cx="182880" cy="182880"/>
          </a:xfrm>
          <a:prstGeom prst="rect">
            <a:avLst/>
          </a:prstGeom>
        </p:spPr>
      </p:pic>
      <p:sp>
        <p:nvSpPr>
          <p:cNvPr id="35" name="Text 29"/>
          <p:cNvSpPr/>
          <p:nvPr/>
        </p:nvSpPr>
        <p:spPr>
          <a:xfrm>
            <a:off x="4104056" y="4782312"/>
            <a:ext cx="1653464"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8px radius</a:t>
            </a:r>
            <a:endParaRPr lang="en-US" sz="1200" dirty="0"/>
          </a:p>
        </p:txBody>
      </p:sp>
      <p:sp>
        <p:nvSpPr>
          <p:cNvPr id="36" name="Text 30"/>
          <p:cNvSpPr/>
          <p:nvPr/>
        </p:nvSpPr>
        <p:spPr>
          <a:xfrm>
            <a:off x="3610280" y="5193792"/>
            <a:ext cx="2147240" cy="484632"/>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Cards, buttons, inputs and dialogs alike.</a:t>
            </a:r>
            <a:endParaRPr lang="en-US" sz="950" dirty="0"/>
          </a:p>
        </p:txBody>
      </p:sp>
      <p:sp>
        <p:nvSpPr>
          <p:cNvPr id="37" name="Shape 31"/>
          <p:cNvSpPr/>
          <p:nvPr/>
        </p:nvSpPr>
        <p:spPr>
          <a:xfrm>
            <a:off x="6214720" y="4562856"/>
            <a:ext cx="2586152" cy="1289304"/>
          </a:xfrm>
          <a:prstGeom prst="roundRect">
            <a:avLst>
              <a:gd name="adj" fmla="val 709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8" name="Shape 32"/>
          <p:cNvSpPr/>
          <p:nvPr/>
        </p:nvSpPr>
        <p:spPr>
          <a:xfrm>
            <a:off x="6434176" y="4782312"/>
            <a:ext cx="365760" cy="365760"/>
          </a:xfrm>
          <a:prstGeom prst="ellipse">
            <a:avLst/>
          </a:prstGeom>
          <a:solidFill>
            <a:srgbClr val="00ACC1"/>
          </a:solidFill>
          <a:ln w="12700">
            <a:solidFill>
              <a:srgbClr val="00ACC1"/>
            </a:solidFill>
            <a:prstDash val="solid"/>
          </a:ln>
        </p:spPr>
      </p:sp>
      <p:pic>
        <p:nvPicPr>
          <p:cNvPr id="39" name="Image 3" descr="preencoded.png">    </p:cNvPr>
          <p:cNvPicPr>
            <a:picLocks noChangeAspect="1"/>
          </p:cNvPicPr>
          <p:nvPr/>
        </p:nvPicPr>
        <p:blipFill>
          <a:blip r:embed="rId4"/>
          <a:stretch>
            <a:fillRect/>
          </a:stretch>
        </p:blipFill>
        <p:spPr>
          <a:xfrm>
            <a:off x="6525616" y="4873752"/>
            <a:ext cx="182880" cy="182880"/>
          </a:xfrm>
          <a:prstGeom prst="rect">
            <a:avLst/>
          </a:prstGeom>
        </p:spPr>
      </p:pic>
      <p:sp>
        <p:nvSpPr>
          <p:cNvPr id="40" name="Text 33"/>
          <p:cNvSpPr/>
          <p:nvPr/>
        </p:nvSpPr>
        <p:spPr>
          <a:xfrm>
            <a:off x="6927952" y="4782312"/>
            <a:ext cx="1653464"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Soft shadows</a:t>
            </a:r>
            <a:endParaRPr lang="en-US" sz="1200" dirty="0"/>
          </a:p>
        </p:txBody>
      </p:sp>
      <p:sp>
        <p:nvSpPr>
          <p:cNvPr id="41" name="Text 34"/>
          <p:cNvSpPr/>
          <p:nvPr/>
        </p:nvSpPr>
        <p:spPr>
          <a:xfrm>
            <a:off x="6434176" y="5193792"/>
            <a:ext cx="2147240" cy="484632"/>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Never flat, never heavy.</a:t>
            </a:r>
            <a:endParaRPr lang="en-US" sz="950" dirty="0"/>
          </a:p>
        </p:txBody>
      </p:sp>
      <p:sp>
        <p:nvSpPr>
          <p:cNvPr id="42" name="Shape 35"/>
          <p:cNvSpPr/>
          <p:nvPr/>
        </p:nvSpPr>
        <p:spPr>
          <a:xfrm>
            <a:off x="9038615" y="4562856"/>
            <a:ext cx="2586152" cy="1289304"/>
          </a:xfrm>
          <a:prstGeom prst="roundRect">
            <a:avLst>
              <a:gd name="adj" fmla="val 709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3" name="Shape 36"/>
          <p:cNvSpPr/>
          <p:nvPr/>
        </p:nvSpPr>
        <p:spPr>
          <a:xfrm>
            <a:off x="9258071" y="4782312"/>
            <a:ext cx="365760" cy="365760"/>
          </a:xfrm>
          <a:prstGeom prst="ellipse">
            <a:avLst/>
          </a:prstGeom>
          <a:solidFill>
            <a:srgbClr val="6B7A8C"/>
          </a:solidFill>
          <a:ln w="12700">
            <a:solidFill>
              <a:srgbClr val="6B7A8C"/>
            </a:solidFill>
            <a:prstDash val="solid"/>
          </a:ln>
        </p:spPr>
      </p:sp>
      <p:pic>
        <p:nvPicPr>
          <p:cNvPr id="44" name="Image 4" descr="preencoded.png">    </p:cNvPr>
          <p:cNvPicPr>
            <a:picLocks noChangeAspect="1"/>
          </p:cNvPicPr>
          <p:nvPr/>
        </p:nvPicPr>
        <p:blipFill>
          <a:blip r:embed="rId5"/>
          <a:stretch>
            <a:fillRect/>
          </a:stretch>
        </p:blipFill>
        <p:spPr>
          <a:xfrm>
            <a:off x="9349511" y="4873752"/>
            <a:ext cx="182880" cy="182880"/>
          </a:xfrm>
          <a:prstGeom prst="rect">
            <a:avLst/>
          </a:prstGeom>
        </p:spPr>
      </p:pic>
      <p:sp>
        <p:nvSpPr>
          <p:cNvPr id="45" name="Text 37"/>
          <p:cNvSpPr/>
          <p:nvPr/>
        </p:nvSpPr>
        <p:spPr>
          <a:xfrm>
            <a:off x="9751847" y="4782312"/>
            <a:ext cx="1653464"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Light mode only in v1</a:t>
            </a:r>
            <a:endParaRPr lang="en-US" sz="1200" dirty="0"/>
          </a:p>
        </p:txBody>
      </p:sp>
      <p:sp>
        <p:nvSpPr>
          <p:cNvPr id="46" name="Text 38"/>
          <p:cNvSpPr/>
          <p:nvPr/>
        </p:nvSpPr>
        <p:spPr>
          <a:xfrm>
            <a:off x="9258071" y="5193792"/>
            <a:ext cx="2147240" cy="484632"/>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Colour system built dark-mode ready.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DESIGN FOUNDATION §5–6</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One shell, one sidebar, every module</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7</a:t>
            </a:r>
            <a:endParaRPr lang="en-US" sz="950" dirty="0"/>
          </a:p>
        </p:txBody>
      </p:sp>
      <p:sp>
        <p:nvSpPr>
          <p:cNvPr id="7" name="Shape 4"/>
          <p:cNvSpPr/>
          <p:nvPr/>
        </p:nvSpPr>
        <p:spPr>
          <a:xfrm>
            <a:off x="566928" y="1417320"/>
            <a:ext cx="2697480" cy="4023360"/>
          </a:xfrm>
          <a:prstGeom prst="roundRect">
            <a:avLst>
              <a:gd name="adj" fmla="val 4068"/>
            </a:avLst>
          </a:prstGeom>
          <a:solidFill>
            <a:srgbClr val="0B2E59"/>
          </a:solidFill>
          <a:ln w="12700">
            <a:solidFill>
              <a:srgbClr val="0B2E59"/>
            </a:solidFill>
            <a:prstDash val="solid"/>
          </a:ln>
        </p:spPr>
      </p:sp>
      <p:sp>
        <p:nvSpPr>
          <p:cNvPr id="8" name="Text 5"/>
          <p:cNvSpPr/>
          <p:nvPr/>
        </p:nvSpPr>
        <p:spPr>
          <a:xfrm>
            <a:off x="786384" y="1591056"/>
            <a:ext cx="2286000" cy="237744"/>
          </a:xfrm>
          <a:prstGeom prst="rect">
            <a:avLst/>
          </a:prstGeom>
          <a:noFill/>
          <a:ln/>
        </p:spPr>
        <p:txBody>
          <a:bodyPr wrap="square" lIns="0" tIns="0" rIns="0" bIns="0" rtlCol="0" anchor="ctr"/>
          <a:lstStyle/>
          <a:p>
            <a:pPr indent="0" marL="0">
              <a:buNone/>
            </a:pPr>
            <a:r>
              <a:rPr lang="en-US" sz="850" b="1" spc="120" kern="0" dirty="0">
                <a:solidFill>
                  <a:srgbClr val="64B5F6"/>
                </a:solidFill>
                <a:latin typeface="Calibri" pitchFamily="34" charset="0"/>
                <a:ea typeface="Calibri" pitchFamily="34" charset="-122"/>
                <a:cs typeface="Calibri" pitchFamily="34" charset="-120"/>
              </a:rPr>
              <a:t>SIDEBAR — FINAL ORDER</a:t>
            </a:r>
            <a:endParaRPr lang="en-US" sz="850" dirty="0"/>
          </a:p>
        </p:txBody>
      </p:sp>
      <p:sp>
        <p:nvSpPr>
          <p:cNvPr id="9" name="Shape 6"/>
          <p:cNvSpPr/>
          <p:nvPr/>
        </p:nvSpPr>
        <p:spPr>
          <a:xfrm>
            <a:off x="713232" y="1901952"/>
            <a:ext cx="2404872" cy="365760"/>
          </a:xfrm>
          <a:prstGeom prst="roundRect">
            <a:avLst>
              <a:gd name="adj" fmla="val 20000"/>
            </a:avLst>
          </a:prstGeom>
          <a:solidFill>
            <a:srgbClr val="1D5488"/>
          </a:solidFill>
          <a:ln w="12700">
            <a:solidFill>
              <a:srgbClr val="1D5488"/>
            </a:solidFill>
            <a:prstDash val="solid"/>
          </a:ln>
        </p:spPr>
      </p:sp>
      <p:sp>
        <p:nvSpPr>
          <p:cNvPr id="10" name="Text 7"/>
          <p:cNvSpPr/>
          <p:nvPr/>
        </p:nvSpPr>
        <p:spPr>
          <a:xfrm>
            <a:off x="841248" y="1938528"/>
            <a:ext cx="228600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   Dashboard</a:t>
            </a:r>
            <a:endParaRPr lang="en-US" sz="1000" dirty="0"/>
          </a:p>
        </p:txBody>
      </p:sp>
      <p:sp>
        <p:nvSpPr>
          <p:cNvPr id="11" name="Text 8"/>
          <p:cNvSpPr/>
          <p:nvPr/>
        </p:nvSpPr>
        <p:spPr>
          <a:xfrm>
            <a:off x="841248" y="2350008"/>
            <a:ext cx="2286000" cy="292608"/>
          </a:xfrm>
          <a:prstGeom prst="rect">
            <a:avLst/>
          </a:prstGeom>
          <a:noFill/>
          <a:ln/>
        </p:spPr>
        <p:txBody>
          <a:bodyPr wrap="square" lIns="0" tIns="0" rIns="0" bIns="0" rtlCol="0" anchor="ctr"/>
          <a:lstStyle/>
          <a:p>
            <a:pPr indent="0" marL="0">
              <a:buNone/>
            </a:pPr>
            <a:r>
              <a:rPr lang="en-US" sz="1000" dirty="0">
                <a:solidFill>
                  <a:srgbClr val="90CAF9"/>
                </a:solidFill>
                <a:latin typeface="Calibri" pitchFamily="34" charset="0"/>
                <a:ea typeface="Calibri" pitchFamily="34" charset="-122"/>
                <a:cs typeface="Calibri" pitchFamily="34" charset="-120"/>
              </a:rPr>
              <a:t>2   User Management</a:t>
            </a:r>
            <a:endParaRPr lang="en-US" sz="1000" dirty="0"/>
          </a:p>
        </p:txBody>
      </p:sp>
      <p:sp>
        <p:nvSpPr>
          <p:cNvPr id="12" name="Text 9"/>
          <p:cNvSpPr/>
          <p:nvPr/>
        </p:nvSpPr>
        <p:spPr>
          <a:xfrm>
            <a:off x="841248" y="2761488"/>
            <a:ext cx="2286000" cy="292608"/>
          </a:xfrm>
          <a:prstGeom prst="rect">
            <a:avLst/>
          </a:prstGeom>
          <a:noFill/>
          <a:ln/>
        </p:spPr>
        <p:txBody>
          <a:bodyPr wrap="square" lIns="0" tIns="0" rIns="0" bIns="0" rtlCol="0" anchor="ctr"/>
          <a:lstStyle/>
          <a:p>
            <a:pPr indent="0" marL="0">
              <a:buNone/>
            </a:pPr>
            <a:r>
              <a:rPr lang="en-US" sz="1000" dirty="0">
                <a:solidFill>
                  <a:srgbClr val="90CAF9"/>
                </a:solidFill>
                <a:latin typeface="Calibri" pitchFamily="34" charset="0"/>
                <a:ea typeface="Calibri" pitchFamily="34" charset="-122"/>
                <a:cs typeface="Calibri" pitchFamily="34" charset="-120"/>
              </a:rPr>
              <a:t>3   Master Company Database</a:t>
            </a:r>
            <a:endParaRPr lang="en-US" sz="1000" dirty="0"/>
          </a:p>
        </p:txBody>
      </p:sp>
      <p:sp>
        <p:nvSpPr>
          <p:cNvPr id="13" name="Text 10"/>
          <p:cNvSpPr/>
          <p:nvPr/>
        </p:nvSpPr>
        <p:spPr>
          <a:xfrm>
            <a:off x="841248" y="3172968"/>
            <a:ext cx="2286000" cy="292608"/>
          </a:xfrm>
          <a:prstGeom prst="rect">
            <a:avLst/>
          </a:prstGeom>
          <a:noFill/>
          <a:ln/>
        </p:spPr>
        <p:txBody>
          <a:bodyPr wrap="square" lIns="0" tIns="0" rIns="0" bIns="0" rtlCol="0" anchor="ctr"/>
          <a:lstStyle/>
          <a:p>
            <a:pPr indent="0" marL="0">
              <a:buNone/>
            </a:pPr>
            <a:r>
              <a:rPr lang="en-US" sz="1000" dirty="0">
                <a:solidFill>
                  <a:srgbClr val="90CAF9"/>
                </a:solidFill>
                <a:latin typeface="Calibri" pitchFamily="34" charset="0"/>
                <a:ea typeface="Calibri" pitchFamily="34" charset="-122"/>
                <a:cs typeface="Calibri" pitchFamily="34" charset="-120"/>
              </a:rPr>
              <a:t>4   Daily Tracker</a:t>
            </a:r>
            <a:endParaRPr lang="en-US" sz="1000" dirty="0"/>
          </a:p>
        </p:txBody>
      </p:sp>
      <p:sp>
        <p:nvSpPr>
          <p:cNvPr id="14" name="Text 11"/>
          <p:cNvSpPr/>
          <p:nvPr/>
        </p:nvSpPr>
        <p:spPr>
          <a:xfrm>
            <a:off x="841248" y="3584448"/>
            <a:ext cx="2286000" cy="292608"/>
          </a:xfrm>
          <a:prstGeom prst="rect">
            <a:avLst/>
          </a:prstGeom>
          <a:noFill/>
          <a:ln/>
        </p:spPr>
        <p:txBody>
          <a:bodyPr wrap="square" lIns="0" tIns="0" rIns="0" bIns="0" rtlCol="0" anchor="ctr"/>
          <a:lstStyle/>
          <a:p>
            <a:pPr indent="0" marL="0">
              <a:buNone/>
            </a:pPr>
            <a:r>
              <a:rPr lang="en-US" sz="1000" dirty="0">
                <a:solidFill>
                  <a:srgbClr val="90CAF9"/>
                </a:solidFill>
                <a:latin typeface="Calibri" pitchFamily="34" charset="0"/>
                <a:ea typeface="Calibri" pitchFamily="34" charset="-122"/>
                <a:cs typeface="Calibri" pitchFamily="34" charset="-120"/>
              </a:rPr>
              <a:t>5   Weekly Tracker</a:t>
            </a:r>
            <a:endParaRPr lang="en-US" sz="1000" dirty="0"/>
          </a:p>
        </p:txBody>
      </p:sp>
      <p:sp>
        <p:nvSpPr>
          <p:cNvPr id="15" name="Text 12"/>
          <p:cNvSpPr/>
          <p:nvPr/>
        </p:nvSpPr>
        <p:spPr>
          <a:xfrm>
            <a:off x="841248" y="3995928"/>
            <a:ext cx="2286000" cy="292608"/>
          </a:xfrm>
          <a:prstGeom prst="rect">
            <a:avLst/>
          </a:prstGeom>
          <a:noFill/>
          <a:ln/>
        </p:spPr>
        <p:txBody>
          <a:bodyPr wrap="square" lIns="0" tIns="0" rIns="0" bIns="0" rtlCol="0" anchor="ctr"/>
          <a:lstStyle/>
          <a:p>
            <a:pPr indent="0" marL="0">
              <a:buNone/>
            </a:pPr>
            <a:r>
              <a:rPr lang="en-US" sz="1000" dirty="0">
                <a:solidFill>
                  <a:srgbClr val="90CAF9"/>
                </a:solidFill>
                <a:latin typeface="Calibri" pitchFamily="34" charset="0"/>
                <a:ea typeface="Calibri" pitchFamily="34" charset="-122"/>
                <a:cs typeface="Calibri" pitchFamily="34" charset="-120"/>
              </a:rPr>
              <a:t>6   Monthly Tracker</a:t>
            </a:r>
            <a:endParaRPr lang="en-US" sz="1000" dirty="0"/>
          </a:p>
        </p:txBody>
      </p:sp>
      <p:sp>
        <p:nvSpPr>
          <p:cNvPr id="16" name="Text 13"/>
          <p:cNvSpPr/>
          <p:nvPr/>
        </p:nvSpPr>
        <p:spPr>
          <a:xfrm>
            <a:off x="841248" y="4407408"/>
            <a:ext cx="2286000" cy="292608"/>
          </a:xfrm>
          <a:prstGeom prst="rect">
            <a:avLst/>
          </a:prstGeom>
          <a:noFill/>
          <a:ln/>
        </p:spPr>
        <p:txBody>
          <a:bodyPr wrap="square" lIns="0" tIns="0" rIns="0" bIns="0" rtlCol="0" anchor="ctr"/>
          <a:lstStyle/>
          <a:p>
            <a:pPr indent="0" marL="0">
              <a:buNone/>
            </a:pPr>
            <a:r>
              <a:rPr lang="en-US" sz="1000" dirty="0">
                <a:solidFill>
                  <a:srgbClr val="90CAF9"/>
                </a:solidFill>
                <a:latin typeface="Calibri" pitchFamily="34" charset="0"/>
                <a:ea typeface="Calibri" pitchFamily="34" charset="-122"/>
                <a:cs typeface="Calibri" pitchFamily="34" charset="-120"/>
              </a:rPr>
              <a:t>7   Reports &amp; Analytics</a:t>
            </a:r>
            <a:endParaRPr lang="en-US" sz="1000" dirty="0"/>
          </a:p>
        </p:txBody>
      </p:sp>
      <p:sp>
        <p:nvSpPr>
          <p:cNvPr id="17" name="Text 14"/>
          <p:cNvSpPr/>
          <p:nvPr/>
        </p:nvSpPr>
        <p:spPr>
          <a:xfrm>
            <a:off x="841248" y="4818888"/>
            <a:ext cx="2286000" cy="292608"/>
          </a:xfrm>
          <a:prstGeom prst="rect">
            <a:avLst/>
          </a:prstGeom>
          <a:noFill/>
          <a:ln/>
        </p:spPr>
        <p:txBody>
          <a:bodyPr wrap="square" lIns="0" tIns="0" rIns="0" bIns="0" rtlCol="0" anchor="ctr"/>
          <a:lstStyle/>
          <a:p>
            <a:pPr indent="0" marL="0">
              <a:buNone/>
            </a:pPr>
            <a:r>
              <a:rPr lang="en-US" sz="1000" dirty="0">
                <a:solidFill>
                  <a:srgbClr val="90CAF9"/>
                </a:solidFill>
                <a:latin typeface="Calibri" pitchFamily="34" charset="0"/>
                <a:ea typeface="Calibri" pitchFamily="34" charset="-122"/>
                <a:cs typeface="Calibri" pitchFamily="34" charset="-120"/>
              </a:rPr>
              <a:t>8   Settings</a:t>
            </a:r>
            <a:endParaRPr lang="en-US" sz="1000" dirty="0"/>
          </a:p>
        </p:txBody>
      </p:sp>
      <p:sp>
        <p:nvSpPr>
          <p:cNvPr id="18" name="Shape 15"/>
          <p:cNvSpPr/>
          <p:nvPr/>
        </p:nvSpPr>
        <p:spPr>
          <a:xfrm>
            <a:off x="3538728" y="1417320"/>
            <a:ext cx="8086039" cy="585216"/>
          </a:xfrm>
          <a:prstGeom prst="roundRect">
            <a:avLst>
              <a:gd name="adj" fmla="val 14063"/>
            </a:avLst>
          </a:prstGeom>
          <a:solidFill>
            <a:srgbClr val="F4F7FA"/>
          </a:solidFill>
          <a:ln w="9525">
            <a:solidFill>
              <a:srgbClr val="E1E8F0"/>
            </a:solidFill>
            <a:prstDash val="solid"/>
          </a:ln>
        </p:spPr>
      </p:sp>
      <p:sp>
        <p:nvSpPr>
          <p:cNvPr id="19" name="Text 16"/>
          <p:cNvSpPr/>
          <p:nvPr/>
        </p:nvSpPr>
        <p:spPr>
          <a:xfrm>
            <a:off x="3758184" y="1417320"/>
            <a:ext cx="2743200" cy="585216"/>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Header</a:t>
            </a:r>
            <a:endParaRPr lang="en-US" sz="1200" dirty="0"/>
          </a:p>
        </p:txBody>
      </p:sp>
      <p:sp>
        <p:nvSpPr>
          <p:cNvPr id="20" name="Text 17"/>
          <p:cNvSpPr/>
          <p:nvPr/>
        </p:nvSpPr>
        <p:spPr>
          <a:xfrm>
            <a:off x="6556248" y="1417320"/>
            <a:ext cx="4839919" cy="585216"/>
          </a:xfrm>
          <a:prstGeom prst="rect">
            <a:avLst/>
          </a:prstGeom>
          <a:noFill/>
          <a:ln/>
        </p:spPr>
        <p:txBody>
          <a:bodyPr wrap="square" lIns="0" tIns="0" rIns="0" bIns="0" rtlCol="0" anchor="ctr"/>
          <a:lstStyle/>
          <a:p>
            <a:pPr indent="0" marL="0">
              <a:buNone/>
            </a:pPr>
            <a:r>
              <a:rPr lang="en-US" sz="1050" dirty="0">
                <a:solidFill>
                  <a:srgbClr val="3E4C59"/>
                </a:solidFill>
                <a:latin typeface="Calibri" pitchFamily="34" charset="0"/>
                <a:ea typeface="Calibri" pitchFamily="34" charset="-122"/>
                <a:cs typeface="Calibri" pitchFamily="34" charset="-120"/>
              </a:rPr>
              <a:t>Branding, global search, notifications, profile menu</a:t>
            </a:r>
            <a:endParaRPr lang="en-US" sz="1050" dirty="0"/>
          </a:p>
        </p:txBody>
      </p:sp>
      <p:sp>
        <p:nvSpPr>
          <p:cNvPr id="21" name="Shape 18"/>
          <p:cNvSpPr/>
          <p:nvPr/>
        </p:nvSpPr>
        <p:spPr>
          <a:xfrm>
            <a:off x="3538728" y="2103120"/>
            <a:ext cx="8086039" cy="585216"/>
          </a:xfrm>
          <a:prstGeom prst="roundRect">
            <a:avLst>
              <a:gd name="adj" fmla="val 14063"/>
            </a:avLst>
          </a:prstGeom>
          <a:solidFill>
            <a:srgbClr val="F4F7FA"/>
          </a:solidFill>
          <a:ln w="9525">
            <a:solidFill>
              <a:srgbClr val="E1E8F0"/>
            </a:solidFill>
            <a:prstDash val="solid"/>
          </a:ln>
        </p:spPr>
      </p:sp>
      <p:sp>
        <p:nvSpPr>
          <p:cNvPr id="22" name="Text 19"/>
          <p:cNvSpPr/>
          <p:nvPr/>
        </p:nvSpPr>
        <p:spPr>
          <a:xfrm>
            <a:off x="3758184" y="2103120"/>
            <a:ext cx="2743200" cy="585216"/>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Breadcrumb + Module Title</a:t>
            </a:r>
            <a:endParaRPr lang="en-US" sz="1200" dirty="0"/>
          </a:p>
        </p:txBody>
      </p:sp>
      <p:sp>
        <p:nvSpPr>
          <p:cNvPr id="23" name="Text 20"/>
          <p:cNvSpPr/>
          <p:nvPr/>
        </p:nvSpPr>
        <p:spPr>
          <a:xfrm>
            <a:off x="6556248" y="2103120"/>
            <a:ext cx="4839919" cy="585216"/>
          </a:xfrm>
          <a:prstGeom prst="rect">
            <a:avLst/>
          </a:prstGeom>
          <a:noFill/>
          <a:ln/>
        </p:spPr>
        <p:txBody>
          <a:bodyPr wrap="square" lIns="0" tIns="0" rIns="0" bIns="0" rtlCol="0" anchor="ctr"/>
          <a:lstStyle/>
          <a:p>
            <a:pPr indent="0" marL="0">
              <a:buNone/>
            </a:pPr>
            <a:r>
              <a:rPr lang="en-US" sz="1050" dirty="0">
                <a:solidFill>
                  <a:srgbClr val="3E4C59"/>
                </a:solidFill>
                <a:latin typeface="Calibri" pitchFamily="34" charset="0"/>
                <a:ea typeface="Calibri" pitchFamily="34" charset="-122"/>
                <a:cs typeface="Calibri" pitchFamily="34" charset="-120"/>
              </a:rPr>
              <a:t>Where you are and what this screen is</a:t>
            </a:r>
            <a:endParaRPr lang="en-US" sz="1050" dirty="0"/>
          </a:p>
        </p:txBody>
      </p:sp>
      <p:sp>
        <p:nvSpPr>
          <p:cNvPr id="24" name="Shape 21"/>
          <p:cNvSpPr/>
          <p:nvPr/>
        </p:nvSpPr>
        <p:spPr>
          <a:xfrm>
            <a:off x="3538728" y="2788920"/>
            <a:ext cx="8086039" cy="585216"/>
          </a:xfrm>
          <a:prstGeom prst="roundRect">
            <a:avLst>
              <a:gd name="adj" fmla="val 14063"/>
            </a:avLst>
          </a:prstGeom>
          <a:solidFill>
            <a:srgbClr val="F4F7FA"/>
          </a:solidFill>
          <a:ln w="9525">
            <a:solidFill>
              <a:srgbClr val="E1E8F0"/>
            </a:solidFill>
            <a:prstDash val="solid"/>
          </a:ln>
        </p:spPr>
      </p:sp>
      <p:sp>
        <p:nvSpPr>
          <p:cNvPr id="25" name="Text 22"/>
          <p:cNvSpPr/>
          <p:nvPr/>
        </p:nvSpPr>
        <p:spPr>
          <a:xfrm>
            <a:off x="3758184" y="2788920"/>
            <a:ext cx="2743200" cy="585216"/>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Toolbar</a:t>
            </a:r>
            <a:endParaRPr lang="en-US" sz="1200" dirty="0"/>
          </a:p>
        </p:txBody>
      </p:sp>
      <p:sp>
        <p:nvSpPr>
          <p:cNvPr id="26" name="Text 23"/>
          <p:cNvSpPr/>
          <p:nvPr/>
        </p:nvSpPr>
        <p:spPr>
          <a:xfrm>
            <a:off x="6556248" y="2788920"/>
            <a:ext cx="4839919" cy="585216"/>
          </a:xfrm>
          <a:prstGeom prst="rect">
            <a:avLst/>
          </a:prstGeom>
          <a:noFill/>
          <a:ln/>
        </p:spPr>
        <p:txBody>
          <a:bodyPr wrap="square" lIns="0" tIns="0" rIns="0" bIns="0" rtlCol="0" anchor="ctr"/>
          <a:lstStyle/>
          <a:p>
            <a:pPr indent="0" marL="0">
              <a:buNone/>
            </a:pPr>
            <a:r>
              <a:rPr lang="en-US" sz="1050" dirty="0">
                <a:solidFill>
                  <a:srgbClr val="3E4C59"/>
                </a:solidFill>
                <a:latin typeface="Calibri" pitchFamily="34" charset="0"/>
                <a:ea typeface="Calibri" pitchFamily="34" charset="-122"/>
                <a:cs typeface="Calibri" pitchFamily="34" charset="-120"/>
              </a:rPr>
              <a:t>Actions specific to this module</a:t>
            </a:r>
            <a:endParaRPr lang="en-US" sz="1050" dirty="0"/>
          </a:p>
        </p:txBody>
      </p:sp>
      <p:sp>
        <p:nvSpPr>
          <p:cNvPr id="27" name="Shape 24"/>
          <p:cNvSpPr/>
          <p:nvPr/>
        </p:nvSpPr>
        <p:spPr>
          <a:xfrm>
            <a:off x="3538728" y="3474720"/>
            <a:ext cx="8086039" cy="585216"/>
          </a:xfrm>
          <a:prstGeom prst="roundRect">
            <a:avLst>
              <a:gd name="adj" fmla="val 14063"/>
            </a:avLst>
          </a:prstGeom>
          <a:solidFill>
            <a:srgbClr val="F4F7FA"/>
          </a:solidFill>
          <a:ln w="9525">
            <a:solidFill>
              <a:srgbClr val="E1E8F0"/>
            </a:solidFill>
            <a:prstDash val="solid"/>
          </a:ln>
        </p:spPr>
      </p:sp>
      <p:sp>
        <p:nvSpPr>
          <p:cNvPr id="28" name="Text 25"/>
          <p:cNvSpPr/>
          <p:nvPr/>
        </p:nvSpPr>
        <p:spPr>
          <a:xfrm>
            <a:off x="3758184" y="3474720"/>
            <a:ext cx="2743200" cy="585216"/>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KPI Cards</a:t>
            </a:r>
            <a:endParaRPr lang="en-US" sz="1200" dirty="0"/>
          </a:p>
        </p:txBody>
      </p:sp>
      <p:sp>
        <p:nvSpPr>
          <p:cNvPr id="29" name="Text 26"/>
          <p:cNvSpPr/>
          <p:nvPr/>
        </p:nvSpPr>
        <p:spPr>
          <a:xfrm>
            <a:off x="6556248" y="3474720"/>
            <a:ext cx="4839919" cy="585216"/>
          </a:xfrm>
          <a:prstGeom prst="rect">
            <a:avLst/>
          </a:prstGeom>
          <a:noFill/>
          <a:ln/>
        </p:spPr>
        <p:txBody>
          <a:bodyPr wrap="square" lIns="0" tIns="0" rIns="0" bIns="0" rtlCol="0" anchor="ctr"/>
          <a:lstStyle/>
          <a:p>
            <a:pPr indent="0" marL="0">
              <a:buNone/>
            </a:pPr>
            <a:r>
              <a:rPr lang="en-US" sz="1050" dirty="0">
                <a:solidFill>
                  <a:srgbClr val="3E4C59"/>
                </a:solidFill>
                <a:latin typeface="Calibri" pitchFamily="34" charset="0"/>
                <a:ea typeface="Calibri" pitchFamily="34" charset="-122"/>
                <a:cs typeface="Calibri" pitchFamily="34" charset="-120"/>
              </a:rPr>
              <a:t>Optional, module-specific</a:t>
            </a:r>
            <a:endParaRPr lang="en-US" sz="1050" dirty="0"/>
          </a:p>
        </p:txBody>
      </p:sp>
      <p:sp>
        <p:nvSpPr>
          <p:cNvPr id="30" name="Shape 27"/>
          <p:cNvSpPr/>
          <p:nvPr/>
        </p:nvSpPr>
        <p:spPr>
          <a:xfrm>
            <a:off x="3538728" y="4160520"/>
            <a:ext cx="8086039" cy="585216"/>
          </a:xfrm>
          <a:prstGeom prst="roundRect">
            <a:avLst>
              <a:gd name="adj" fmla="val 14063"/>
            </a:avLst>
          </a:prstGeom>
          <a:solidFill>
            <a:srgbClr val="E3EEFB"/>
          </a:solidFill>
          <a:ln w="9525">
            <a:solidFill>
              <a:srgbClr val="BBD4F0"/>
            </a:solidFill>
            <a:prstDash val="solid"/>
          </a:ln>
        </p:spPr>
      </p:sp>
      <p:sp>
        <p:nvSpPr>
          <p:cNvPr id="31" name="Text 28"/>
          <p:cNvSpPr/>
          <p:nvPr/>
        </p:nvSpPr>
        <p:spPr>
          <a:xfrm>
            <a:off x="3758184" y="4160520"/>
            <a:ext cx="2743200" cy="585216"/>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Main Data Grid</a:t>
            </a:r>
            <a:endParaRPr lang="en-US" sz="1200" dirty="0"/>
          </a:p>
        </p:txBody>
      </p:sp>
      <p:sp>
        <p:nvSpPr>
          <p:cNvPr id="32" name="Text 29"/>
          <p:cNvSpPr/>
          <p:nvPr/>
        </p:nvSpPr>
        <p:spPr>
          <a:xfrm>
            <a:off x="6556248" y="4160520"/>
            <a:ext cx="4839919" cy="585216"/>
          </a:xfrm>
          <a:prstGeom prst="rect">
            <a:avLst/>
          </a:prstGeom>
          <a:noFill/>
          <a:ln/>
        </p:spPr>
        <p:txBody>
          <a:bodyPr wrap="square" lIns="0" tIns="0" rIns="0" bIns="0" rtlCol="0" anchor="ctr"/>
          <a:lstStyle/>
          <a:p>
            <a:pPr indent="0" marL="0">
              <a:buNone/>
            </a:pPr>
            <a:r>
              <a:rPr lang="en-US" sz="1050" dirty="0">
                <a:solidFill>
                  <a:srgbClr val="3E4C59"/>
                </a:solidFill>
                <a:latin typeface="Calibri" pitchFamily="34" charset="0"/>
                <a:ea typeface="Calibri" pitchFamily="34" charset="-122"/>
                <a:cs typeface="Calibri" pitchFamily="34" charset="-120"/>
              </a:rPr>
              <a:t>The primary working area for most modules</a:t>
            </a:r>
            <a:endParaRPr lang="en-US" sz="1050" dirty="0"/>
          </a:p>
        </p:txBody>
      </p:sp>
      <p:sp>
        <p:nvSpPr>
          <p:cNvPr id="33" name="Shape 30"/>
          <p:cNvSpPr/>
          <p:nvPr/>
        </p:nvSpPr>
        <p:spPr>
          <a:xfrm>
            <a:off x="3538728" y="4846320"/>
            <a:ext cx="8086039" cy="585216"/>
          </a:xfrm>
          <a:prstGeom prst="roundRect">
            <a:avLst>
              <a:gd name="adj" fmla="val 14063"/>
            </a:avLst>
          </a:prstGeom>
          <a:solidFill>
            <a:srgbClr val="F4F7FA"/>
          </a:solidFill>
          <a:ln w="9525">
            <a:solidFill>
              <a:srgbClr val="E1E8F0"/>
            </a:solidFill>
            <a:prstDash val="solid"/>
          </a:ln>
        </p:spPr>
      </p:sp>
      <p:sp>
        <p:nvSpPr>
          <p:cNvPr id="34" name="Text 31"/>
          <p:cNvSpPr/>
          <p:nvPr/>
        </p:nvSpPr>
        <p:spPr>
          <a:xfrm>
            <a:off x="3758184" y="4846320"/>
            <a:ext cx="2743200" cy="585216"/>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Bottom Status Bar</a:t>
            </a:r>
            <a:endParaRPr lang="en-US" sz="1200" dirty="0"/>
          </a:p>
        </p:txBody>
      </p:sp>
      <p:sp>
        <p:nvSpPr>
          <p:cNvPr id="35" name="Text 32"/>
          <p:cNvSpPr/>
          <p:nvPr/>
        </p:nvSpPr>
        <p:spPr>
          <a:xfrm>
            <a:off x="6556248" y="4846320"/>
            <a:ext cx="4839919" cy="585216"/>
          </a:xfrm>
          <a:prstGeom prst="rect">
            <a:avLst/>
          </a:prstGeom>
          <a:noFill/>
          <a:ln/>
        </p:spPr>
        <p:txBody>
          <a:bodyPr wrap="square" lIns="0" tIns="0" rIns="0" bIns="0" rtlCol="0" anchor="ctr"/>
          <a:lstStyle/>
          <a:p>
            <a:pPr indent="0" marL="0">
              <a:buNone/>
            </a:pPr>
            <a:r>
              <a:rPr lang="en-US" sz="1050" dirty="0">
                <a:solidFill>
                  <a:srgbClr val="3E4C59"/>
                </a:solidFill>
                <a:latin typeface="Calibri" pitchFamily="34" charset="0"/>
                <a:ea typeface="Calibri" pitchFamily="34" charset="-122"/>
                <a:cs typeface="Calibri" pitchFamily="34" charset="-120"/>
              </a:rPr>
              <a:t>Save status, record counts, progress</a:t>
            </a:r>
            <a:endParaRPr lang="en-US" sz="1050" dirty="0"/>
          </a:p>
        </p:txBody>
      </p:sp>
      <p:sp>
        <p:nvSpPr>
          <p:cNvPr id="36" name="Text 33"/>
          <p:cNvSpPr/>
          <p:nvPr/>
        </p:nvSpPr>
        <p:spPr>
          <a:xfrm>
            <a:off x="566928" y="5596128"/>
            <a:ext cx="11057839" cy="365760"/>
          </a:xfrm>
          <a:prstGeom prst="rect">
            <a:avLst/>
          </a:prstGeom>
          <a:noFill/>
          <a:ln/>
        </p:spPr>
        <p:txBody>
          <a:bodyPr wrap="square" lIns="0" tIns="0" rIns="0" bIns="0" rtlCol="0" anchor="t"/>
          <a:lstStyle/>
          <a:p>
            <a:pPr indent="0" marL="0">
              <a:lnSpc>
                <a:spcPct val="110000"/>
              </a:lnSpc>
              <a:buNone/>
            </a:pPr>
            <a:r>
              <a:rPr lang="en-US" sz="1050" i="1" dirty="0">
                <a:solidFill>
                  <a:srgbClr val="7B8794"/>
                </a:solidFill>
                <a:latin typeface="Calibri" pitchFamily="34" charset="0"/>
                <a:ea typeface="Calibri" pitchFamily="34" charset="-122"/>
                <a:cs typeface="Calibri" pitchFamily="34" charset="-120"/>
              </a:rPr>
              <a:t>Sidebar collapses from ~240–260px to ~72–80px, because iPOMS is table-first — every pixel saved goes to the data grid. Ctrl+K command palette was proposed and explicitly rejected; “Recently Visited” was deferred.</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DESIGN FOUNDATION §7–9</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Authentication and dashboard strategy</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8</a:t>
            </a:r>
            <a:endParaRPr lang="en-US" sz="950" dirty="0"/>
          </a:p>
        </p:txBody>
      </p:sp>
      <p:sp>
        <p:nvSpPr>
          <p:cNvPr id="7" name="Shape 4"/>
          <p:cNvSpPr/>
          <p:nvPr/>
        </p:nvSpPr>
        <p:spPr>
          <a:xfrm>
            <a:off x="566928" y="1371600"/>
            <a:ext cx="5410048" cy="1463040"/>
          </a:xfrm>
          <a:prstGeom prst="roundRect">
            <a:avLst>
              <a:gd name="adj" fmla="val 625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Shape 5"/>
          <p:cNvSpPr/>
          <p:nvPr/>
        </p:nvSpPr>
        <p:spPr>
          <a:xfrm>
            <a:off x="786384" y="1591056"/>
            <a:ext cx="365760" cy="365760"/>
          </a:xfrm>
          <a:prstGeom prst="ellipse">
            <a:avLst/>
          </a:prstGeom>
          <a:solidFill>
            <a:srgbClr val="0B2E59"/>
          </a:solidFill>
          <a:ln w="12700">
            <a:solidFill>
              <a:srgbClr val="0B2E59"/>
            </a:solidFill>
            <a:prstDash val="solid"/>
          </a:ln>
        </p:spPr>
      </p:sp>
      <p:pic>
        <p:nvPicPr>
          <p:cNvPr id="9" name="Image 1" descr="preencoded.png">    </p:cNvPr>
          <p:cNvPicPr>
            <a:picLocks noChangeAspect="1"/>
          </p:cNvPicPr>
          <p:nvPr/>
        </p:nvPicPr>
        <p:blipFill>
          <a:blip r:embed="rId2"/>
          <a:stretch>
            <a:fillRect/>
          </a:stretch>
        </p:blipFill>
        <p:spPr>
          <a:xfrm>
            <a:off x="877824" y="1682496"/>
            <a:ext cx="182880" cy="182880"/>
          </a:xfrm>
          <a:prstGeom prst="rect">
            <a:avLst/>
          </a:prstGeom>
        </p:spPr>
      </p:pic>
      <p:sp>
        <p:nvSpPr>
          <p:cNvPr id="10" name="Text 6"/>
          <p:cNvSpPr/>
          <p:nvPr/>
        </p:nvSpPr>
        <p:spPr>
          <a:xfrm>
            <a:off x="1280160" y="1591056"/>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A two-panel login screen</a:t>
            </a:r>
            <a:endParaRPr lang="en-US" sz="1350" dirty="0"/>
          </a:p>
        </p:txBody>
      </p:sp>
      <p:sp>
        <p:nvSpPr>
          <p:cNvPr id="11" name="Text 7"/>
          <p:cNvSpPr/>
          <p:nvPr/>
        </p:nvSpPr>
        <p:spPr>
          <a:xfrm>
            <a:off x="786384" y="2002536"/>
            <a:ext cx="4971136" cy="65836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Branding left — logo, welcome, product name, tagline. Authentication right — Username, Password, Remember Me, Forgot Password, Sign In. Username and password only in v1; there is no email login.</a:t>
            </a:r>
            <a:endParaRPr lang="en-US" sz="1000" dirty="0"/>
          </a:p>
        </p:txBody>
      </p:sp>
      <p:sp>
        <p:nvSpPr>
          <p:cNvPr id="12" name="Shape 8"/>
          <p:cNvSpPr/>
          <p:nvPr/>
        </p:nvSpPr>
        <p:spPr>
          <a:xfrm>
            <a:off x="6214720" y="1371600"/>
            <a:ext cx="5410048" cy="1463040"/>
          </a:xfrm>
          <a:prstGeom prst="roundRect">
            <a:avLst>
              <a:gd name="adj" fmla="val 625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Shape 9"/>
          <p:cNvSpPr/>
          <p:nvPr/>
        </p:nvSpPr>
        <p:spPr>
          <a:xfrm>
            <a:off x="6434176" y="1591056"/>
            <a:ext cx="365760" cy="365760"/>
          </a:xfrm>
          <a:prstGeom prst="ellipse">
            <a:avLst/>
          </a:prstGeom>
          <a:solidFill>
            <a:srgbClr val="175496"/>
          </a:solidFill>
          <a:ln w="12700">
            <a:solidFill>
              <a:srgbClr val="175496"/>
            </a:solidFill>
            <a:prstDash val="solid"/>
          </a:ln>
        </p:spPr>
      </p:sp>
      <p:pic>
        <p:nvPicPr>
          <p:cNvPr id="14" name="Image 2" descr="preencoded.png">    </p:cNvPr>
          <p:cNvPicPr>
            <a:picLocks noChangeAspect="1"/>
          </p:cNvPicPr>
          <p:nvPr/>
        </p:nvPicPr>
        <p:blipFill>
          <a:blip r:embed="rId3"/>
          <a:stretch>
            <a:fillRect/>
          </a:stretch>
        </p:blipFill>
        <p:spPr>
          <a:xfrm>
            <a:off x="6525616" y="1682496"/>
            <a:ext cx="182880" cy="182880"/>
          </a:xfrm>
          <a:prstGeom prst="rect">
            <a:avLst/>
          </a:prstGeom>
        </p:spPr>
      </p:pic>
      <p:sp>
        <p:nvSpPr>
          <p:cNvPr id="15" name="Text 10"/>
          <p:cNvSpPr/>
          <p:nvPr/>
        </p:nvSpPr>
        <p:spPr>
          <a:xfrm>
            <a:off x="6927952" y="1591056"/>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Header profile card</a:t>
            </a:r>
            <a:endParaRPr lang="en-US" sz="1350" dirty="0"/>
          </a:p>
        </p:txBody>
      </p:sp>
      <p:sp>
        <p:nvSpPr>
          <p:cNvPr id="16" name="Text 11"/>
          <p:cNvSpPr/>
          <p:nvPr/>
        </p:nvSpPr>
        <p:spPr>
          <a:xfrm>
            <a:off x="6434176" y="2002536"/>
            <a:ext cx="4971136" cy="65836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Photo or initials avatar, full name, role, assigned colleges, and a 🟢 Active / 🟡 Away indicator. Uploaded profile photos are deferred — initials are the v1 fallback.</a:t>
            </a:r>
            <a:endParaRPr lang="en-US" sz="1000" dirty="0"/>
          </a:p>
        </p:txBody>
      </p:sp>
      <p:sp>
        <p:nvSpPr>
          <p:cNvPr id="17" name="Text 12"/>
          <p:cNvSpPr/>
          <p:nvPr/>
        </p:nvSpPr>
        <p:spPr>
          <a:xfrm>
            <a:off x="566928" y="298094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FORGOT PASSWORD — THE FINAL FLOW</a:t>
            </a:r>
            <a:endParaRPr lang="en-US" sz="950" dirty="0"/>
          </a:p>
        </p:txBody>
      </p:sp>
      <p:sp>
        <p:nvSpPr>
          <p:cNvPr id="18" name="Shape 13"/>
          <p:cNvSpPr/>
          <p:nvPr/>
        </p:nvSpPr>
        <p:spPr>
          <a:xfrm>
            <a:off x="566928" y="3236976"/>
            <a:ext cx="1690573" cy="530352"/>
          </a:xfrm>
          <a:prstGeom prst="roundRect">
            <a:avLst>
              <a:gd name="adj" fmla="val 86207"/>
            </a:avLst>
          </a:prstGeom>
          <a:solidFill>
            <a:srgbClr val="F4F7FA"/>
          </a:solidFill>
          <a:ln w="9525">
            <a:solidFill>
              <a:srgbClr val="E1E8F0"/>
            </a:solidFill>
            <a:prstDash val="solid"/>
          </a:ln>
        </p:spPr>
      </p:sp>
      <p:sp>
        <p:nvSpPr>
          <p:cNvPr id="19" name="Text 14"/>
          <p:cNvSpPr/>
          <p:nvPr/>
        </p:nvSpPr>
        <p:spPr>
          <a:xfrm>
            <a:off x="612648" y="3236976"/>
            <a:ext cx="1599133" cy="530352"/>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Forgot Password</a:t>
            </a:r>
            <a:endParaRPr lang="en-US" sz="900" dirty="0"/>
          </a:p>
        </p:txBody>
      </p:sp>
      <p:sp>
        <p:nvSpPr>
          <p:cNvPr id="20" name="Text 15"/>
          <p:cNvSpPr/>
          <p:nvPr/>
        </p:nvSpPr>
        <p:spPr>
          <a:xfrm>
            <a:off x="2257501" y="3236976"/>
            <a:ext cx="182880" cy="530352"/>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1" name="Shape 16"/>
          <p:cNvSpPr/>
          <p:nvPr/>
        </p:nvSpPr>
        <p:spPr>
          <a:xfrm>
            <a:off x="2440381" y="3236976"/>
            <a:ext cx="1690573" cy="530352"/>
          </a:xfrm>
          <a:prstGeom prst="roundRect">
            <a:avLst>
              <a:gd name="adj" fmla="val 86207"/>
            </a:avLst>
          </a:prstGeom>
          <a:solidFill>
            <a:srgbClr val="F4F7FA"/>
          </a:solidFill>
          <a:ln w="9525">
            <a:solidFill>
              <a:srgbClr val="E1E8F0"/>
            </a:solidFill>
            <a:prstDash val="solid"/>
          </a:ln>
        </p:spPr>
      </p:sp>
      <p:sp>
        <p:nvSpPr>
          <p:cNvPr id="22" name="Text 17"/>
          <p:cNvSpPr/>
          <p:nvPr/>
        </p:nvSpPr>
        <p:spPr>
          <a:xfrm>
            <a:off x="2486101" y="3236976"/>
            <a:ext cx="1599133" cy="530352"/>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Enter registered email</a:t>
            </a:r>
            <a:endParaRPr lang="en-US" sz="900" dirty="0"/>
          </a:p>
        </p:txBody>
      </p:sp>
      <p:sp>
        <p:nvSpPr>
          <p:cNvPr id="23" name="Text 18"/>
          <p:cNvSpPr/>
          <p:nvPr/>
        </p:nvSpPr>
        <p:spPr>
          <a:xfrm>
            <a:off x="4130954" y="3236976"/>
            <a:ext cx="182880" cy="530352"/>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4" name="Shape 19"/>
          <p:cNvSpPr/>
          <p:nvPr/>
        </p:nvSpPr>
        <p:spPr>
          <a:xfrm>
            <a:off x="4313834" y="3236976"/>
            <a:ext cx="1690573" cy="530352"/>
          </a:xfrm>
          <a:prstGeom prst="roundRect">
            <a:avLst>
              <a:gd name="adj" fmla="val 86207"/>
            </a:avLst>
          </a:prstGeom>
          <a:solidFill>
            <a:srgbClr val="F4F7FA"/>
          </a:solidFill>
          <a:ln w="9525">
            <a:solidFill>
              <a:srgbClr val="E1E8F0"/>
            </a:solidFill>
            <a:prstDash val="solid"/>
          </a:ln>
        </p:spPr>
      </p:sp>
      <p:sp>
        <p:nvSpPr>
          <p:cNvPr id="25" name="Text 20"/>
          <p:cNvSpPr/>
          <p:nvPr/>
        </p:nvSpPr>
        <p:spPr>
          <a:xfrm>
            <a:off x="4359554" y="3236976"/>
            <a:ext cx="1599133" cy="530352"/>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Send OTP</a:t>
            </a:r>
            <a:endParaRPr lang="en-US" sz="900" dirty="0"/>
          </a:p>
        </p:txBody>
      </p:sp>
      <p:sp>
        <p:nvSpPr>
          <p:cNvPr id="26" name="Text 21"/>
          <p:cNvSpPr/>
          <p:nvPr/>
        </p:nvSpPr>
        <p:spPr>
          <a:xfrm>
            <a:off x="6004408" y="3236976"/>
            <a:ext cx="182880" cy="530352"/>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7" name="Shape 22"/>
          <p:cNvSpPr/>
          <p:nvPr/>
        </p:nvSpPr>
        <p:spPr>
          <a:xfrm>
            <a:off x="6187288" y="3236976"/>
            <a:ext cx="1690573" cy="530352"/>
          </a:xfrm>
          <a:prstGeom prst="roundRect">
            <a:avLst>
              <a:gd name="adj" fmla="val 86207"/>
            </a:avLst>
          </a:prstGeom>
          <a:solidFill>
            <a:srgbClr val="F4F7FA"/>
          </a:solidFill>
          <a:ln w="9525">
            <a:solidFill>
              <a:srgbClr val="E1E8F0"/>
            </a:solidFill>
            <a:prstDash val="solid"/>
          </a:ln>
        </p:spPr>
      </p:sp>
      <p:sp>
        <p:nvSpPr>
          <p:cNvPr id="28" name="Text 23"/>
          <p:cNvSpPr/>
          <p:nvPr/>
        </p:nvSpPr>
        <p:spPr>
          <a:xfrm>
            <a:off x="6233008" y="3236976"/>
            <a:ext cx="1599133" cy="530352"/>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Verify OTP</a:t>
            </a:r>
            <a:endParaRPr lang="en-US" sz="900" dirty="0"/>
          </a:p>
        </p:txBody>
      </p:sp>
      <p:sp>
        <p:nvSpPr>
          <p:cNvPr id="29" name="Text 24"/>
          <p:cNvSpPr/>
          <p:nvPr/>
        </p:nvSpPr>
        <p:spPr>
          <a:xfrm>
            <a:off x="7877861" y="3236976"/>
            <a:ext cx="182880" cy="530352"/>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0" name="Shape 25"/>
          <p:cNvSpPr/>
          <p:nvPr/>
        </p:nvSpPr>
        <p:spPr>
          <a:xfrm>
            <a:off x="8060741" y="3236976"/>
            <a:ext cx="1690573" cy="530352"/>
          </a:xfrm>
          <a:prstGeom prst="roundRect">
            <a:avLst>
              <a:gd name="adj" fmla="val 86207"/>
            </a:avLst>
          </a:prstGeom>
          <a:solidFill>
            <a:srgbClr val="F4F7FA"/>
          </a:solidFill>
          <a:ln w="9525">
            <a:solidFill>
              <a:srgbClr val="E1E8F0"/>
            </a:solidFill>
            <a:prstDash val="solid"/>
          </a:ln>
        </p:spPr>
      </p:sp>
      <p:sp>
        <p:nvSpPr>
          <p:cNvPr id="31" name="Text 26"/>
          <p:cNvSpPr/>
          <p:nvPr/>
        </p:nvSpPr>
        <p:spPr>
          <a:xfrm>
            <a:off x="8106461" y="3236976"/>
            <a:ext cx="1599133" cy="530352"/>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Reset password</a:t>
            </a:r>
            <a:endParaRPr lang="en-US" sz="900" dirty="0"/>
          </a:p>
        </p:txBody>
      </p:sp>
      <p:sp>
        <p:nvSpPr>
          <p:cNvPr id="32" name="Text 27"/>
          <p:cNvSpPr/>
          <p:nvPr/>
        </p:nvSpPr>
        <p:spPr>
          <a:xfrm>
            <a:off x="9751314" y="3236976"/>
            <a:ext cx="182880" cy="530352"/>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3" name="Shape 28"/>
          <p:cNvSpPr/>
          <p:nvPr/>
        </p:nvSpPr>
        <p:spPr>
          <a:xfrm>
            <a:off x="9934194" y="3236976"/>
            <a:ext cx="1690573" cy="530352"/>
          </a:xfrm>
          <a:prstGeom prst="roundRect">
            <a:avLst>
              <a:gd name="adj" fmla="val 86207"/>
            </a:avLst>
          </a:prstGeom>
          <a:solidFill>
            <a:srgbClr val="F4F7FA"/>
          </a:solidFill>
          <a:ln w="9525">
            <a:solidFill>
              <a:srgbClr val="E1E8F0"/>
            </a:solidFill>
            <a:prstDash val="solid"/>
          </a:ln>
        </p:spPr>
      </p:sp>
      <p:sp>
        <p:nvSpPr>
          <p:cNvPr id="34" name="Text 29"/>
          <p:cNvSpPr/>
          <p:nvPr/>
        </p:nvSpPr>
        <p:spPr>
          <a:xfrm>
            <a:off x="9979914" y="3236976"/>
            <a:ext cx="1599133" cy="530352"/>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Auto-redirect to login</a:t>
            </a:r>
            <a:endParaRPr lang="en-US" sz="900" dirty="0"/>
          </a:p>
        </p:txBody>
      </p:sp>
      <p:sp>
        <p:nvSpPr>
          <p:cNvPr id="35" name="Text 30"/>
          <p:cNvSpPr/>
          <p:nvPr/>
        </p:nvSpPr>
        <p:spPr>
          <a:xfrm>
            <a:off x="566928" y="393192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ONE DASHBOARD FRAMEWORK, ROLE-BASED WIDGETS — A SINGLE CODEBASE, NOT TWO PRODUCTS</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4187952"/>
          <a:ext cx="11057839" cy="914400"/>
        </p:xfrm>
        <a:graphic>
          <a:graphicData uri="http://schemas.openxmlformats.org/drawingml/2006/table">
            <a:tbl>
              <a:tblPr/>
              <a:tblGrid>
                <a:gridCol w="2651760"/>
                <a:gridCol w="8406079"/>
              </a:tblGrid>
              <a:tr h="32918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Role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Widgets shown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Placement Coordinator</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Today's Calls · Positive Calls · Pending Follow-ups · Quick Actions · Daily Tracker snapshot</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Team Leader</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All of the above, plus Team Performance, Coordinator Performance, Weekly Pipeline, Pending Reviews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Administrator</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All of the above, plus User Statistics, Company Growth, Overall Analytics, System Health</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TPO</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Read-only executive dashboard — reports and placement statistics only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DESIGN FOUNDATION §10–16</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Components, grids and the governing principle</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9</a:t>
            </a:r>
            <a:endParaRPr lang="en-US" sz="950" dirty="0"/>
          </a:p>
        </p:txBody>
      </p:sp>
      <p:sp>
        <p:nvSpPr>
          <p:cNvPr id="7" name="Text 4"/>
          <p:cNvSpPr/>
          <p:nvPr/>
        </p:nvSpPr>
        <p:spPr>
          <a:xfrm>
            <a:off x="566928" y="1371600"/>
            <a:ext cx="5212080"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COMPONENT LIBRARY — DESIGNED ONCE, REUSED EVERYWHERE</a:t>
            </a:r>
            <a:endParaRPr lang="en-US" sz="950" dirty="0"/>
          </a:p>
        </p:txBody>
      </p:sp>
      <p:sp>
        <p:nvSpPr>
          <p:cNvPr id="8" name="Shape 5"/>
          <p:cNvSpPr/>
          <p:nvPr/>
        </p:nvSpPr>
        <p:spPr>
          <a:xfrm>
            <a:off x="566928" y="1627632"/>
            <a:ext cx="5212080" cy="1572768"/>
          </a:xfrm>
          <a:prstGeom prst="roundRect">
            <a:avLst>
              <a:gd name="adj" fmla="val 581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9" name="Text 6"/>
          <p:cNvSpPr/>
          <p:nvPr/>
        </p:nvSpPr>
        <p:spPr>
          <a:xfrm>
            <a:off x="786384" y="1847088"/>
            <a:ext cx="4773168" cy="117957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Buttons (Primary, Secondary, Danger, Warning, Success) · Text fields · Dropdowns · Search bars · Tables · Cards &amp; KPI cards · Dialogs (Add, Edit, Delete, Confirmation, Warning, Success) · Toast notifications · Status chips · Progress indicators · Date pickers · Empty states · Loading screens</a:t>
            </a:r>
            <a:endParaRPr lang="en-US" sz="1000" dirty="0"/>
          </a:p>
        </p:txBody>
      </p:sp>
      <p:sp>
        <p:nvSpPr>
          <p:cNvPr id="10" name="Text 7"/>
          <p:cNvSpPr/>
          <p:nvPr/>
        </p:nvSpPr>
        <p:spPr>
          <a:xfrm>
            <a:off x="6089904" y="1371600"/>
            <a:ext cx="5532120"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DATA GRID — THE SAME BASELINE BEHAVIOUR IN EVERY MODULE</a:t>
            </a:r>
            <a:endParaRPr lang="en-US" sz="950" dirty="0"/>
          </a:p>
        </p:txBody>
      </p:sp>
      <p:sp>
        <p:nvSpPr>
          <p:cNvPr id="11" name="Shape 8"/>
          <p:cNvSpPr/>
          <p:nvPr/>
        </p:nvSpPr>
        <p:spPr>
          <a:xfrm>
            <a:off x="6089904" y="1627632"/>
            <a:ext cx="5532120" cy="1572768"/>
          </a:xfrm>
          <a:prstGeom prst="roundRect">
            <a:avLst>
              <a:gd name="adj" fmla="val 581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2" name="Text 9"/>
          <p:cNvSpPr/>
          <p:nvPr/>
        </p:nvSpPr>
        <p:spPr>
          <a:xfrm>
            <a:off x="6309360" y="1847088"/>
            <a:ext cx="5093208" cy="117957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Sticky header · Sort · Filter · Column resize · Freeze first column · Keyboard navigation · Row selection · Export · Search · Pagination, used only where needed rather than forced on every grid</a:t>
            </a:r>
            <a:endParaRPr lang="en-US" sz="1000" dirty="0"/>
          </a:p>
        </p:txBody>
      </p:sp>
      <p:sp>
        <p:nvSpPr>
          <p:cNvPr id="13" name="Text 10"/>
          <p:cNvSpPr/>
          <p:nvPr/>
        </p:nvSpPr>
        <p:spPr>
          <a:xfrm>
            <a:off x="566928" y="334670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STATUS COLOUR SYSTEM — APPLIED IDENTICALLY ACROSS TRACKERS, DASHBOARD, ANALYTICS AND REPORTS</a:t>
            </a:r>
            <a:endParaRPr lang="en-US" sz="950" dirty="0"/>
          </a:p>
        </p:txBody>
      </p:sp>
      <p:sp>
        <p:nvSpPr>
          <p:cNvPr id="14" name="Shape 11"/>
          <p:cNvSpPr/>
          <p:nvPr/>
        </p:nvSpPr>
        <p:spPr>
          <a:xfrm>
            <a:off x="566928" y="3602736"/>
            <a:ext cx="1736293" cy="438912"/>
          </a:xfrm>
          <a:prstGeom prst="roundRect">
            <a:avLst>
              <a:gd name="adj" fmla="val 104167"/>
            </a:avLst>
          </a:prstGeom>
          <a:solidFill>
            <a:srgbClr val="EAF5EB"/>
          </a:solidFill>
          <a:ln w="9525">
            <a:solidFill>
              <a:srgbClr val="E1E8F0"/>
            </a:solidFill>
            <a:prstDash val="solid"/>
          </a:ln>
        </p:spPr>
      </p:sp>
      <p:sp>
        <p:nvSpPr>
          <p:cNvPr id="15" name="Text 12"/>
          <p:cNvSpPr/>
          <p:nvPr/>
        </p:nvSpPr>
        <p:spPr>
          <a:xfrm>
            <a:off x="640080" y="3602736"/>
            <a:ext cx="1589989" cy="438912"/>
          </a:xfrm>
          <a:prstGeom prst="rect">
            <a:avLst/>
          </a:prstGeom>
          <a:noFill/>
          <a:ln/>
        </p:spPr>
        <p:txBody>
          <a:bodyPr wrap="square" lIns="0" tIns="0" rIns="0" bIns="0" rtlCol="0" anchor="ctr"/>
          <a:lstStyle/>
          <a:p>
            <a:pPr algn="ctr" indent="0" marL="0">
              <a:buNone/>
            </a:pPr>
            <a:r>
              <a:rPr lang="en-US" sz="900" b="1" dirty="0">
                <a:solidFill>
                  <a:srgbClr val="2E7D32"/>
                </a:solidFill>
                <a:latin typeface="Calibri" pitchFamily="34" charset="0"/>
                <a:ea typeface="Calibri" pitchFamily="34" charset="-122"/>
                <a:cs typeface="Calibri" pitchFamily="34" charset="-120"/>
              </a:rPr>
              <a:t>Green — success / completed</a:t>
            </a:r>
            <a:endParaRPr lang="en-US" sz="900" dirty="0"/>
          </a:p>
        </p:txBody>
      </p:sp>
      <p:sp>
        <p:nvSpPr>
          <p:cNvPr id="16" name="Shape 13"/>
          <p:cNvSpPr/>
          <p:nvPr/>
        </p:nvSpPr>
        <p:spPr>
          <a:xfrm>
            <a:off x="2431237" y="3602736"/>
            <a:ext cx="1736293" cy="438912"/>
          </a:xfrm>
          <a:prstGeom prst="roundRect">
            <a:avLst>
              <a:gd name="adj" fmla="val 104167"/>
            </a:avLst>
          </a:prstGeom>
          <a:solidFill>
            <a:srgbClr val="E7F3FD"/>
          </a:solidFill>
          <a:ln w="9525">
            <a:solidFill>
              <a:srgbClr val="E1E8F0"/>
            </a:solidFill>
            <a:prstDash val="solid"/>
          </a:ln>
        </p:spPr>
      </p:sp>
      <p:sp>
        <p:nvSpPr>
          <p:cNvPr id="17" name="Text 14"/>
          <p:cNvSpPr/>
          <p:nvPr/>
        </p:nvSpPr>
        <p:spPr>
          <a:xfrm>
            <a:off x="2504389" y="3602736"/>
            <a:ext cx="1589989" cy="438912"/>
          </a:xfrm>
          <a:prstGeom prst="rect">
            <a:avLst/>
          </a:prstGeom>
          <a:noFill/>
          <a:ln/>
        </p:spPr>
        <p:txBody>
          <a:bodyPr wrap="square" lIns="0" tIns="0" rIns="0" bIns="0" rtlCol="0" anchor="ctr"/>
          <a:lstStyle/>
          <a:p>
            <a:pPr algn="ctr" indent="0" marL="0">
              <a:buNone/>
            </a:pPr>
            <a:r>
              <a:rPr lang="en-US" sz="900" b="1" dirty="0">
                <a:solidFill>
                  <a:srgbClr val="175496"/>
                </a:solidFill>
                <a:latin typeface="Calibri" pitchFamily="34" charset="0"/>
                <a:ea typeface="Calibri" pitchFamily="34" charset="-122"/>
                <a:cs typeface="Calibri" pitchFamily="34" charset="-120"/>
              </a:rPr>
              <a:t>Blue — active / in progress</a:t>
            </a:r>
            <a:endParaRPr lang="en-US" sz="900" dirty="0"/>
          </a:p>
        </p:txBody>
      </p:sp>
      <p:sp>
        <p:nvSpPr>
          <p:cNvPr id="18" name="Shape 15"/>
          <p:cNvSpPr/>
          <p:nvPr/>
        </p:nvSpPr>
        <p:spPr>
          <a:xfrm>
            <a:off x="4295546" y="3602736"/>
            <a:ext cx="1736293" cy="438912"/>
          </a:xfrm>
          <a:prstGeom prst="roundRect">
            <a:avLst>
              <a:gd name="adj" fmla="val 104167"/>
            </a:avLst>
          </a:prstGeom>
          <a:solidFill>
            <a:srgbClr val="FEF4E4"/>
          </a:solidFill>
          <a:ln w="9525">
            <a:solidFill>
              <a:srgbClr val="E1E8F0"/>
            </a:solidFill>
            <a:prstDash val="solid"/>
          </a:ln>
        </p:spPr>
      </p:sp>
      <p:sp>
        <p:nvSpPr>
          <p:cNvPr id="19" name="Text 16"/>
          <p:cNvSpPr/>
          <p:nvPr/>
        </p:nvSpPr>
        <p:spPr>
          <a:xfrm>
            <a:off x="4368698" y="3602736"/>
            <a:ext cx="1589989" cy="438912"/>
          </a:xfrm>
          <a:prstGeom prst="rect">
            <a:avLst/>
          </a:prstGeom>
          <a:noFill/>
          <a:ln/>
        </p:spPr>
        <p:txBody>
          <a:bodyPr wrap="square" lIns="0" tIns="0" rIns="0" bIns="0" rtlCol="0" anchor="ctr"/>
          <a:lstStyle/>
          <a:p>
            <a:pPr algn="ctr" indent="0" marL="0">
              <a:buNone/>
            </a:pPr>
            <a:r>
              <a:rPr lang="en-US" sz="900" b="1" dirty="0">
                <a:solidFill>
                  <a:srgbClr val="B26A00"/>
                </a:solidFill>
                <a:latin typeface="Calibri" pitchFamily="34" charset="0"/>
                <a:ea typeface="Calibri" pitchFamily="34" charset="-122"/>
                <a:cs typeface="Calibri" pitchFamily="34" charset="-120"/>
              </a:rPr>
              <a:t>Amber — pending</a:t>
            </a:r>
            <a:endParaRPr lang="en-US" sz="900" dirty="0"/>
          </a:p>
        </p:txBody>
      </p:sp>
      <p:sp>
        <p:nvSpPr>
          <p:cNvPr id="20" name="Shape 17"/>
          <p:cNvSpPr/>
          <p:nvPr/>
        </p:nvSpPr>
        <p:spPr>
          <a:xfrm>
            <a:off x="6159856" y="3602736"/>
            <a:ext cx="1736293" cy="438912"/>
          </a:xfrm>
          <a:prstGeom prst="roundRect">
            <a:avLst>
              <a:gd name="adj" fmla="val 104167"/>
            </a:avLst>
          </a:prstGeom>
          <a:solidFill>
            <a:srgbClr val="FDF0E4"/>
          </a:solidFill>
          <a:ln w="9525">
            <a:solidFill>
              <a:srgbClr val="E1E8F0"/>
            </a:solidFill>
            <a:prstDash val="solid"/>
          </a:ln>
        </p:spPr>
      </p:sp>
      <p:sp>
        <p:nvSpPr>
          <p:cNvPr id="21" name="Text 18"/>
          <p:cNvSpPr/>
          <p:nvPr/>
        </p:nvSpPr>
        <p:spPr>
          <a:xfrm>
            <a:off x="6233008" y="3602736"/>
            <a:ext cx="1589989" cy="438912"/>
          </a:xfrm>
          <a:prstGeom prst="rect">
            <a:avLst/>
          </a:prstGeom>
          <a:noFill/>
          <a:ln/>
        </p:spPr>
        <p:txBody>
          <a:bodyPr wrap="square" lIns="0" tIns="0" rIns="0" bIns="0" rtlCol="0" anchor="ctr"/>
          <a:lstStyle/>
          <a:p>
            <a:pPr algn="ctr" indent="0" marL="0">
              <a:buNone/>
            </a:pPr>
            <a:r>
              <a:rPr lang="en-US" sz="900" b="1" dirty="0">
                <a:solidFill>
                  <a:srgbClr val="E07A1F"/>
                </a:solidFill>
                <a:latin typeface="Calibri" pitchFamily="34" charset="0"/>
                <a:ea typeface="Calibri" pitchFamily="34" charset="-122"/>
                <a:cs typeface="Calibri" pitchFamily="34" charset="-120"/>
              </a:rPr>
              <a:t>Orange — follow-up</a:t>
            </a:r>
            <a:endParaRPr lang="en-US" sz="900" dirty="0"/>
          </a:p>
        </p:txBody>
      </p:sp>
      <p:sp>
        <p:nvSpPr>
          <p:cNvPr id="22" name="Shape 19"/>
          <p:cNvSpPr/>
          <p:nvPr/>
        </p:nvSpPr>
        <p:spPr>
          <a:xfrm>
            <a:off x="8024165" y="3602736"/>
            <a:ext cx="1736293" cy="438912"/>
          </a:xfrm>
          <a:prstGeom prst="roundRect">
            <a:avLst>
              <a:gd name="adj" fmla="val 104167"/>
            </a:avLst>
          </a:prstGeom>
          <a:solidFill>
            <a:srgbClr val="FBEDED"/>
          </a:solidFill>
          <a:ln w="9525">
            <a:solidFill>
              <a:srgbClr val="E1E8F0"/>
            </a:solidFill>
            <a:prstDash val="solid"/>
          </a:ln>
        </p:spPr>
      </p:sp>
      <p:sp>
        <p:nvSpPr>
          <p:cNvPr id="23" name="Text 20"/>
          <p:cNvSpPr/>
          <p:nvPr/>
        </p:nvSpPr>
        <p:spPr>
          <a:xfrm>
            <a:off x="8097317" y="3602736"/>
            <a:ext cx="1589989" cy="438912"/>
          </a:xfrm>
          <a:prstGeom prst="rect">
            <a:avLst/>
          </a:prstGeom>
          <a:noFill/>
          <a:ln/>
        </p:spPr>
        <p:txBody>
          <a:bodyPr wrap="square" lIns="0" tIns="0" rIns="0" bIns="0" rtlCol="0" anchor="ctr"/>
          <a:lstStyle/>
          <a:p>
            <a:pPr algn="ctr" indent="0" marL="0">
              <a:buNone/>
            </a:pPr>
            <a:r>
              <a:rPr lang="en-US" sz="900" b="1" dirty="0">
                <a:solidFill>
                  <a:srgbClr val="C62828"/>
                </a:solidFill>
                <a:latin typeface="Calibri" pitchFamily="34" charset="0"/>
                <a:ea typeface="Calibri" pitchFamily="34" charset="-122"/>
                <a:cs typeface="Calibri" pitchFamily="34" charset="-120"/>
              </a:rPr>
              <a:t>Red — critical / error</a:t>
            </a:r>
            <a:endParaRPr lang="en-US" sz="900" dirty="0"/>
          </a:p>
        </p:txBody>
      </p:sp>
      <p:sp>
        <p:nvSpPr>
          <p:cNvPr id="24" name="Shape 21"/>
          <p:cNvSpPr/>
          <p:nvPr/>
        </p:nvSpPr>
        <p:spPr>
          <a:xfrm>
            <a:off x="9888474" y="3602736"/>
            <a:ext cx="1736293" cy="438912"/>
          </a:xfrm>
          <a:prstGeom prst="roundRect">
            <a:avLst>
              <a:gd name="adj" fmla="val 104167"/>
            </a:avLst>
          </a:prstGeom>
          <a:solidFill>
            <a:srgbClr val="F1F4F8"/>
          </a:solidFill>
          <a:ln w="9525">
            <a:solidFill>
              <a:srgbClr val="E1E8F0"/>
            </a:solidFill>
            <a:prstDash val="solid"/>
          </a:ln>
        </p:spPr>
      </p:sp>
      <p:sp>
        <p:nvSpPr>
          <p:cNvPr id="25" name="Text 22"/>
          <p:cNvSpPr/>
          <p:nvPr/>
        </p:nvSpPr>
        <p:spPr>
          <a:xfrm>
            <a:off x="9961626" y="3602736"/>
            <a:ext cx="1589989" cy="438912"/>
          </a:xfrm>
          <a:prstGeom prst="rect">
            <a:avLst/>
          </a:prstGeom>
          <a:noFill/>
          <a:ln/>
        </p:spPr>
        <p:txBody>
          <a:bodyPr wrap="square" lIns="0" tIns="0" rIns="0" bIns="0" rtlCol="0" anchor="ctr"/>
          <a:lstStyle/>
          <a:p>
            <a:pPr algn="ctr" indent="0" marL="0">
              <a:buNone/>
            </a:pPr>
            <a:r>
              <a:rPr lang="en-US" sz="900" b="1" dirty="0">
                <a:solidFill>
                  <a:srgbClr val="6B7A8C"/>
                </a:solidFill>
                <a:latin typeface="Calibri" pitchFamily="34" charset="0"/>
                <a:ea typeface="Calibri" pitchFamily="34" charset="-122"/>
                <a:cs typeface="Calibri" pitchFamily="34" charset="-120"/>
              </a:rPr>
              <a:t>Grey — inactive</a:t>
            </a:r>
            <a:endParaRPr lang="en-US" sz="900" dirty="0"/>
          </a:p>
        </p:txBody>
      </p:sp>
      <p:sp>
        <p:nvSpPr>
          <p:cNvPr id="26" name="Text 23"/>
          <p:cNvSpPr/>
          <p:nvPr/>
        </p:nvSpPr>
        <p:spPr>
          <a:xfrm>
            <a:off x="566928" y="4224528"/>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SIX UX PRINCIPLES, NO EXCEPTIONS</a:t>
            </a:r>
            <a:endParaRPr lang="en-US" sz="950" dirty="0"/>
          </a:p>
        </p:txBody>
      </p:sp>
      <p:sp>
        <p:nvSpPr>
          <p:cNvPr id="27" name="Shape 24"/>
          <p:cNvSpPr/>
          <p:nvPr/>
        </p:nvSpPr>
        <p:spPr>
          <a:xfrm>
            <a:off x="566928" y="4480560"/>
            <a:ext cx="1736293" cy="438912"/>
          </a:xfrm>
          <a:prstGeom prst="roundRect">
            <a:avLst>
              <a:gd name="adj" fmla="val 104167"/>
            </a:avLst>
          </a:prstGeom>
          <a:solidFill>
            <a:srgbClr val="F4F7FA"/>
          </a:solidFill>
          <a:ln w="9525">
            <a:solidFill>
              <a:srgbClr val="E1E8F0"/>
            </a:solidFill>
            <a:prstDash val="solid"/>
          </a:ln>
        </p:spPr>
      </p:sp>
      <p:sp>
        <p:nvSpPr>
          <p:cNvPr id="28" name="Text 25"/>
          <p:cNvSpPr/>
          <p:nvPr/>
        </p:nvSpPr>
        <p:spPr>
          <a:xfrm>
            <a:off x="640080" y="4480560"/>
            <a:ext cx="1589989" cy="438912"/>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Minimise clicks</a:t>
            </a:r>
            <a:endParaRPr lang="en-US" sz="900" dirty="0"/>
          </a:p>
        </p:txBody>
      </p:sp>
      <p:sp>
        <p:nvSpPr>
          <p:cNvPr id="29" name="Shape 26"/>
          <p:cNvSpPr/>
          <p:nvPr/>
        </p:nvSpPr>
        <p:spPr>
          <a:xfrm>
            <a:off x="2431237" y="4480560"/>
            <a:ext cx="1736293" cy="438912"/>
          </a:xfrm>
          <a:prstGeom prst="roundRect">
            <a:avLst>
              <a:gd name="adj" fmla="val 104167"/>
            </a:avLst>
          </a:prstGeom>
          <a:solidFill>
            <a:srgbClr val="F4F7FA"/>
          </a:solidFill>
          <a:ln w="9525">
            <a:solidFill>
              <a:srgbClr val="E1E8F0"/>
            </a:solidFill>
            <a:prstDash val="solid"/>
          </a:ln>
        </p:spPr>
      </p:sp>
      <p:sp>
        <p:nvSpPr>
          <p:cNvPr id="30" name="Text 27"/>
          <p:cNvSpPr/>
          <p:nvPr/>
        </p:nvSpPr>
        <p:spPr>
          <a:xfrm>
            <a:off x="2504389" y="4480560"/>
            <a:ext cx="1589989" cy="438912"/>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Keyboard-first where appropriate</a:t>
            </a:r>
            <a:endParaRPr lang="en-US" sz="900" dirty="0"/>
          </a:p>
        </p:txBody>
      </p:sp>
      <p:sp>
        <p:nvSpPr>
          <p:cNvPr id="31" name="Shape 28"/>
          <p:cNvSpPr/>
          <p:nvPr/>
        </p:nvSpPr>
        <p:spPr>
          <a:xfrm>
            <a:off x="4295546" y="4480560"/>
            <a:ext cx="1736293" cy="438912"/>
          </a:xfrm>
          <a:prstGeom prst="roundRect">
            <a:avLst>
              <a:gd name="adj" fmla="val 104167"/>
            </a:avLst>
          </a:prstGeom>
          <a:solidFill>
            <a:srgbClr val="F4F7FA"/>
          </a:solidFill>
          <a:ln w="9525">
            <a:solidFill>
              <a:srgbClr val="E1E8F0"/>
            </a:solidFill>
            <a:prstDash val="solid"/>
          </a:ln>
        </p:spPr>
      </p:sp>
      <p:sp>
        <p:nvSpPr>
          <p:cNvPr id="32" name="Text 29"/>
          <p:cNvSpPr/>
          <p:nvPr/>
        </p:nvSpPr>
        <p:spPr>
          <a:xfrm>
            <a:off x="4368698" y="4480560"/>
            <a:ext cx="1589989" cy="438912"/>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Warn, don't block</a:t>
            </a:r>
            <a:endParaRPr lang="en-US" sz="900" dirty="0"/>
          </a:p>
        </p:txBody>
      </p:sp>
      <p:sp>
        <p:nvSpPr>
          <p:cNvPr id="33" name="Shape 30"/>
          <p:cNvSpPr/>
          <p:nvPr/>
        </p:nvSpPr>
        <p:spPr>
          <a:xfrm>
            <a:off x="6159856" y="4480560"/>
            <a:ext cx="1736293" cy="438912"/>
          </a:xfrm>
          <a:prstGeom prst="roundRect">
            <a:avLst>
              <a:gd name="adj" fmla="val 104167"/>
            </a:avLst>
          </a:prstGeom>
          <a:solidFill>
            <a:srgbClr val="F4F7FA"/>
          </a:solidFill>
          <a:ln w="9525">
            <a:solidFill>
              <a:srgbClr val="E1E8F0"/>
            </a:solidFill>
            <a:prstDash val="solid"/>
          </a:ln>
        </p:spPr>
      </p:sp>
      <p:sp>
        <p:nvSpPr>
          <p:cNvPr id="34" name="Text 31"/>
          <p:cNvSpPr/>
          <p:nvPr/>
        </p:nvSpPr>
        <p:spPr>
          <a:xfrm>
            <a:off x="6233008" y="4480560"/>
            <a:ext cx="1589989" cy="438912"/>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Readable at high density</a:t>
            </a:r>
            <a:endParaRPr lang="en-US" sz="900" dirty="0"/>
          </a:p>
        </p:txBody>
      </p:sp>
      <p:sp>
        <p:nvSpPr>
          <p:cNvPr id="35" name="Shape 32"/>
          <p:cNvSpPr/>
          <p:nvPr/>
        </p:nvSpPr>
        <p:spPr>
          <a:xfrm>
            <a:off x="8024165" y="4480560"/>
            <a:ext cx="1736293" cy="438912"/>
          </a:xfrm>
          <a:prstGeom prst="roundRect">
            <a:avLst>
              <a:gd name="adj" fmla="val 104167"/>
            </a:avLst>
          </a:prstGeom>
          <a:solidFill>
            <a:srgbClr val="F4F7FA"/>
          </a:solidFill>
          <a:ln w="9525">
            <a:solidFill>
              <a:srgbClr val="E1E8F0"/>
            </a:solidFill>
            <a:prstDash val="solid"/>
          </a:ln>
        </p:spPr>
      </p:sp>
      <p:sp>
        <p:nvSpPr>
          <p:cNvPr id="36" name="Text 33"/>
          <p:cNvSpPr/>
          <p:nvPr/>
        </p:nvSpPr>
        <p:spPr>
          <a:xfrm>
            <a:off x="8097317" y="4480560"/>
            <a:ext cx="1589989" cy="438912"/>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Consistent button placement</a:t>
            </a:r>
            <a:endParaRPr lang="en-US" sz="900" dirty="0"/>
          </a:p>
        </p:txBody>
      </p:sp>
      <p:sp>
        <p:nvSpPr>
          <p:cNvPr id="37" name="Shape 34"/>
          <p:cNvSpPr/>
          <p:nvPr/>
        </p:nvSpPr>
        <p:spPr>
          <a:xfrm>
            <a:off x="9888474" y="4480560"/>
            <a:ext cx="1736293" cy="438912"/>
          </a:xfrm>
          <a:prstGeom prst="roundRect">
            <a:avLst>
              <a:gd name="adj" fmla="val 104167"/>
            </a:avLst>
          </a:prstGeom>
          <a:solidFill>
            <a:srgbClr val="F4F7FA"/>
          </a:solidFill>
          <a:ln w="9525">
            <a:solidFill>
              <a:srgbClr val="E1E8F0"/>
            </a:solidFill>
            <a:prstDash val="solid"/>
          </a:ln>
        </p:spPr>
      </p:sp>
      <p:sp>
        <p:nvSpPr>
          <p:cNvPr id="38" name="Text 35"/>
          <p:cNvSpPr/>
          <p:nvPr/>
        </p:nvSpPr>
        <p:spPr>
          <a:xfrm>
            <a:off x="9961626" y="4480560"/>
            <a:ext cx="1589989" cy="438912"/>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Always show save status</a:t>
            </a:r>
            <a:endParaRPr lang="en-US" sz="900" dirty="0"/>
          </a:p>
        </p:txBody>
      </p:sp>
      <p:sp>
        <p:nvSpPr>
          <p:cNvPr id="39" name="Shape 36"/>
          <p:cNvSpPr/>
          <p:nvPr/>
        </p:nvSpPr>
        <p:spPr>
          <a:xfrm>
            <a:off x="566928" y="5102352"/>
            <a:ext cx="11057839" cy="822960"/>
          </a:xfrm>
          <a:prstGeom prst="roundRect">
            <a:avLst>
              <a:gd name="adj" fmla="val 11111"/>
            </a:avLst>
          </a:prstGeom>
          <a:solidFill>
            <a:srgbClr val="EEF4FB"/>
          </a:solidFill>
          <a:ln w="9525">
            <a:solidFill>
              <a:srgbClr val="D6E4F5"/>
            </a:solidFill>
            <a:prstDash val="solid"/>
          </a:ln>
        </p:spPr>
      </p:sp>
      <p:sp>
        <p:nvSpPr>
          <p:cNvPr id="40" name="Text 37"/>
          <p:cNvSpPr/>
          <p:nvPr/>
        </p:nvSpPr>
        <p:spPr>
          <a:xfrm>
            <a:off x="877824" y="5266944"/>
            <a:ext cx="10436047" cy="256032"/>
          </a:xfrm>
          <a:prstGeom prst="rect">
            <a:avLst/>
          </a:prstGeom>
          <a:noFill/>
          <a:ln/>
        </p:spPr>
        <p:txBody>
          <a:bodyPr wrap="square" lIns="0" tIns="0" rIns="0" bIns="0" rtlCol="0" anchor="ctr"/>
          <a:lstStyle/>
          <a:p>
            <a:pPr indent="0" marL="0">
              <a:lnSpc>
                <a:spcPct val="112000"/>
              </a:lnSpc>
              <a:buNone/>
            </a:pPr>
            <a:r>
              <a:rPr lang="en-US" sz="1500" i="1" dirty="0">
                <a:solidFill>
                  <a:srgbClr val="0B2E59"/>
                </a:solidFill>
                <a:latin typeface="Calibri" pitchFamily="34" charset="0"/>
                <a:ea typeface="Calibri" pitchFamily="34" charset="-122"/>
                <a:cs typeface="Calibri" pitchFamily="34" charset="-120"/>
              </a:rPr>
              <a:t>“The UI is never allowed to force users to adapt to the software; the software adapts to how the placement team actually works.”</a:t>
            </a:r>
            <a:endParaRPr lang="en-US" sz="1500" dirty="0"/>
          </a:p>
        </p:txBody>
      </p:sp>
      <p:sp>
        <p:nvSpPr>
          <p:cNvPr id="41" name="Text 38"/>
          <p:cNvSpPr/>
          <p:nvPr/>
        </p:nvSpPr>
        <p:spPr>
          <a:xfrm>
            <a:off x="877824" y="5504688"/>
            <a:ext cx="10436047" cy="274320"/>
          </a:xfrm>
          <a:prstGeom prst="rect">
            <a:avLst/>
          </a:prstGeom>
          <a:noFill/>
          <a:ln/>
        </p:spPr>
        <p:txBody>
          <a:bodyPr wrap="square" lIns="0" tIns="0" rIns="0" bIns="0" rtlCol="0" anchor="ctr"/>
          <a:lstStyle/>
          <a:p>
            <a:pPr indent="0" marL="0">
              <a:buNone/>
            </a:pPr>
            <a:r>
              <a:rPr lang="en-US" sz="1000" dirty="0">
                <a:solidFill>
                  <a:srgbClr val="7B8794"/>
                </a:solidFill>
                <a:latin typeface="Calibri" pitchFamily="34" charset="0"/>
                <a:ea typeface="Calibri" pitchFamily="34" charset="-122"/>
                <a:cs typeface="Calibri" pitchFamily="34" charset="-120"/>
              </a:rPr>
              <a:t>§16 — Governing Principle for Future Modules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1572768"/>
            <a:ext cx="11057839" cy="3401568"/>
          </a:xfrm>
          <a:prstGeom prst="roundRect">
            <a:avLst>
              <a:gd name="adj" fmla="val 4301"/>
            </a:avLst>
          </a:prstGeom>
          <a:solidFill>
            <a:srgbClr val="EEF4FB"/>
          </a:solidFill>
          <a:ln w="9525">
            <a:solidFill>
              <a:srgbClr val="D6E4F5"/>
            </a:solidFill>
            <a:prstDash val="solid"/>
          </a:ln>
        </p:spPr>
      </p:sp>
      <p:pic>
        <p:nvPicPr>
          <p:cNvPr id="3"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4" name="Text 1"/>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2"/>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10</a:t>
            </a:r>
            <a:endParaRPr lang="en-US" sz="950" dirty="0"/>
          </a:p>
        </p:txBody>
      </p:sp>
      <p:sp>
        <p:nvSpPr>
          <p:cNvPr id="6" name="Text 3"/>
          <p:cNvSpPr/>
          <p:nvPr/>
        </p:nvSpPr>
        <p:spPr>
          <a:xfrm>
            <a:off x="1115568" y="2148840"/>
            <a:ext cx="7315200" cy="292608"/>
          </a:xfrm>
          <a:prstGeom prst="rect">
            <a:avLst/>
          </a:prstGeom>
          <a:noFill/>
          <a:ln/>
        </p:spPr>
        <p:txBody>
          <a:bodyPr wrap="square" lIns="0" tIns="0" rIns="0" bIns="0" rtlCol="0" anchor="ctr"/>
          <a:lstStyle/>
          <a:p>
            <a:pPr indent="0" marL="0">
              <a:buNone/>
            </a:pPr>
            <a:r>
              <a:rPr lang="en-US" sz="1200" b="1" spc="350" kern="0" dirty="0">
                <a:solidFill>
                  <a:srgbClr val="00ACC1"/>
                </a:solidFill>
                <a:latin typeface="Calibri" pitchFamily="34" charset="0"/>
                <a:ea typeface="Calibri" pitchFamily="34" charset="-122"/>
                <a:cs typeface="Calibri" pitchFamily="34" charset="-120"/>
              </a:rPr>
              <a:t>MODULES 01 – 10</a:t>
            </a:r>
            <a:endParaRPr lang="en-US" sz="1200" dirty="0"/>
          </a:p>
        </p:txBody>
      </p:sp>
      <p:sp>
        <p:nvSpPr>
          <p:cNvPr id="7" name="Text 4"/>
          <p:cNvSpPr/>
          <p:nvPr/>
        </p:nvSpPr>
        <p:spPr>
          <a:xfrm>
            <a:off x="1115568" y="2560320"/>
            <a:ext cx="9692640" cy="960120"/>
          </a:xfrm>
          <a:prstGeom prst="rect">
            <a:avLst/>
          </a:prstGeom>
          <a:noFill/>
          <a:ln/>
        </p:spPr>
        <p:txBody>
          <a:bodyPr wrap="square" lIns="0" tIns="0" rIns="0" bIns="0" rtlCol="0" anchor="ctr"/>
          <a:lstStyle/>
          <a:p>
            <a:pPr indent="0" marL="0">
              <a:buNone/>
            </a:pPr>
            <a:r>
              <a:rPr lang="en-US" sz="5000" b="1" dirty="0">
                <a:solidFill>
                  <a:srgbClr val="0B2E59"/>
                </a:solidFill>
                <a:latin typeface="Calibri" pitchFamily="34" charset="0"/>
                <a:ea typeface="Calibri" pitchFamily="34" charset="-122"/>
                <a:cs typeface="Calibri" pitchFamily="34" charset="-120"/>
              </a:rPr>
              <a:t>The Module Specifications</a:t>
            </a:r>
            <a:endParaRPr lang="en-US" sz="5000" dirty="0"/>
          </a:p>
        </p:txBody>
      </p:sp>
      <p:sp>
        <p:nvSpPr>
          <p:cNvPr id="8" name="Text 5"/>
          <p:cNvSpPr/>
          <p:nvPr/>
        </p:nvSpPr>
        <p:spPr>
          <a:xfrm>
            <a:off x="1115568" y="3611880"/>
            <a:ext cx="9509760" cy="822960"/>
          </a:xfrm>
          <a:prstGeom prst="rect">
            <a:avLst/>
          </a:prstGeom>
          <a:noFill/>
          <a:ln/>
        </p:spPr>
        <p:txBody>
          <a:bodyPr wrap="square" lIns="0" tIns="0" rIns="0" bIns="0" rtlCol="0" anchor="t"/>
          <a:lstStyle/>
          <a:p>
            <a:pPr indent="0" marL="0">
              <a:lnSpc>
                <a:spcPct val="115000"/>
              </a:lnSpc>
              <a:buNone/>
            </a:pPr>
            <a:r>
              <a:rPr lang="en-US" sz="1500" dirty="0">
                <a:solidFill>
                  <a:srgbClr val="3E4C59"/>
                </a:solidFill>
                <a:latin typeface="Calibri" pitchFamily="34" charset="0"/>
                <a:ea typeface="Calibri" pitchFamily="34" charset="-122"/>
                <a:cs typeface="Calibri" pitchFamily="34" charset="-120"/>
              </a:rPr>
              <a:t>Ten documents, taken in the order they were written — each with its purpose, data model, business rules, permission matrix and deferred scope.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01</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01 — USER MANAGEMENT</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The security foundation</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11</a:t>
            </a:r>
            <a:endParaRPr lang="en-US" sz="950" dirty="0"/>
          </a:p>
        </p:txBody>
      </p:sp>
      <p:sp>
        <p:nvSpPr>
          <p:cNvPr id="9" name="Shape 6"/>
          <p:cNvSpPr/>
          <p:nvPr/>
        </p:nvSpPr>
        <p:spPr>
          <a:xfrm>
            <a:off x="566928" y="1371600"/>
            <a:ext cx="11057839" cy="841248"/>
          </a:xfrm>
          <a:prstGeom prst="roundRect">
            <a:avLst>
              <a:gd name="adj" fmla="val 10870"/>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Text 7"/>
          <p:cNvSpPr/>
          <p:nvPr/>
        </p:nvSpPr>
        <p:spPr>
          <a:xfrm>
            <a:off x="786384" y="1591056"/>
            <a:ext cx="10618927" cy="448056"/>
          </a:xfrm>
          <a:prstGeom prst="rect">
            <a:avLst/>
          </a:prstGeom>
          <a:noFill/>
          <a:ln/>
        </p:spPr>
        <p:txBody>
          <a:bodyPr wrap="square" lIns="0" tIns="0" rIns="0" bIns="0" rtlCol="0" anchor="t"/>
          <a:lstStyle/>
          <a:p>
            <a:pPr indent="0" marL="0">
              <a:lnSpc>
                <a:spcPct val="114000"/>
              </a:lnSpc>
              <a:buNone/>
            </a:pPr>
            <a:r>
              <a:rPr lang="en-US" sz="1100" dirty="0">
                <a:solidFill>
                  <a:srgbClr val="3E4C59"/>
                </a:solidFill>
                <a:latin typeface="Calibri" pitchFamily="34" charset="0"/>
                <a:ea typeface="Calibri" pitchFamily="34" charset="-122"/>
                <a:cs typeface="Calibri" pitchFamily="34" charset="-120"/>
              </a:rPr>
              <a:t>Establishes how each of the 20+ employees logs in, what each role may see and do, how accounts are created and managed, and how activity is tracked. Every other module inherits its access control from here.</a:t>
            </a:r>
            <a:endParaRPr lang="en-US" sz="1100" dirty="0"/>
          </a:p>
        </p:txBody>
      </p:sp>
      <p:sp>
        <p:nvSpPr>
          <p:cNvPr id="11" name="Text 8"/>
          <p:cNvSpPr/>
          <p:nvPr/>
        </p:nvSpPr>
        <p:spPr>
          <a:xfrm>
            <a:off x="566928" y="237744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FOUR ROLES, FOUR LEVELS OF ACCESS</a:t>
            </a:r>
            <a:endParaRPr lang="en-US" sz="950" dirty="0"/>
          </a:p>
        </p:txBody>
      </p:sp>
      <p:sp>
        <p:nvSpPr>
          <p:cNvPr id="12" name="Shape 9"/>
          <p:cNvSpPr/>
          <p:nvPr/>
        </p:nvSpPr>
        <p:spPr>
          <a:xfrm>
            <a:off x="566928" y="2633472"/>
            <a:ext cx="2586152" cy="1691640"/>
          </a:xfrm>
          <a:prstGeom prst="roundRect">
            <a:avLst>
              <a:gd name="adj" fmla="val 540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Shape 10"/>
          <p:cNvSpPr/>
          <p:nvPr/>
        </p:nvSpPr>
        <p:spPr>
          <a:xfrm>
            <a:off x="786384" y="2852928"/>
            <a:ext cx="365760" cy="365760"/>
          </a:xfrm>
          <a:prstGeom prst="ellipse">
            <a:avLst/>
          </a:prstGeom>
          <a:solidFill>
            <a:srgbClr val="175496"/>
          </a:solidFill>
          <a:ln w="12700">
            <a:solidFill>
              <a:srgbClr val="175496"/>
            </a:solidFill>
            <a:prstDash val="solid"/>
          </a:ln>
        </p:spPr>
      </p:sp>
      <p:pic>
        <p:nvPicPr>
          <p:cNvPr id="14" name="Image 1" descr="preencoded.png">    </p:cNvPr>
          <p:cNvPicPr>
            <a:picLocks noChangeAspect="1"/>
          </p:cNvPicPr>
          <p:nvPr/>
        </p:nvPicPr>
        <p:blipFill>
          <a:blip r:embed="rId2"/>
          <a:stretch>
            <a:fillRect/>
          </a:stretch>
        </p:blipFill>
        <p:spPr>
          <a:xfrm>
            <a:off x="877824" y="2944368"/>
            <a:ext cx="182880" cy="182880"/>
          </a:xfrm>
          <a:prstGeom prst="rect">
            <a:avLst/>
          </a:prstGeom>
        </p:spPr>
      </p:pic>
      <p:sp>
        <p:nvSpPr>
          <p:cNvPr id="15" name="Text 11"/>
          <p:cNvSpPr/>
          <p:nvPr/>
        </p:nvSpPr>
        <p:spPr>
          <a:xfrm>
            <a:off x="1280160" y="2852928"/>
            <a:ext cx="1653464" cy="365760"/>
          </a:xfrm>
          <a:prstGeom prst="rect">
            <a:avLst/>
          </a:prstGeom>
          <a:noFill/>
          <a:ln/>
        </p:spPr>
        <p:txBody>
          <a:bodyPr wrap="square" lIns="0" tIns="0" rIns="0" bIns="0" rtlCol="0" anchor="ctr"/>
          <a:lstStyle/>
          <a:p>
            <a:pPr indent="0" marL="0">
              <a:buNone/>
            </a:pPr>
            <a:r>
              <a:rPr lang="en-US" sz="1150" b="1" dirty="0">
                <a:solidFill>
                  <a:srgbClr val="0B2E59"/>
                </a:solidFill>
                <a:latin typeface="Calibri" pitchFamily="34" charset="0"/>
                <a:ea typeface="Calibri" pitchFamily="34" charset="-122"/>
                <a:cs typeface="Calibri" pitchFamily="34" charset="-120"/>
              </a:rPr>
              <a:t>Placement Coordinator</a:t>
            </a:r>
            <a:endParaRPr lang="en-US" sz="1150" dirty="0"/>
          </a:p>
        </p:txBody>
      </p:sp>
      <p:sp>
        <p:nvSpPr>
          <p:cNvPr id="16" name="Text 12"/>
          <p:cNvSpPr/>
          <p:nvPr/>
        </p:nvSpPr>
        <p:spPr>
          <a:xfrm>
            <a:off x="786384" y="3264408"/>
            <a:ext cx="2147240" cy="88696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Company calling · daily tracker · recall management · positive leads · weekly progress · company database updates, operational fields only.</a:t>
            </a:r>
            <a:endParaRPr lang="en-US" sz="950" dirty="0"/>
          </a:p>
        </p:txBody>
      </p:sp>
      <p:sp>
        <p:nvSpPr>
          <p:cNvPr id="17" name="Shape 13"/>
          <p:cNvSpPr/>
          <p:nvPr/>
        </p:nvSpPr>
        <p:spPr>
          <a:xfrm>
            <a:off x="3390824" y="2633472"/>
            <a:ext cx="2586152" cy="1691640"/>
          </a:xfrm>
          <a:prstGeom prst="roundRect">
            <a:avLst>
              <a:gd name="adj" fmla="val 540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Shape 14"/>
          <p:cNvSpPr/>
          <p:nvPr/>
        </p:nvSpPr>
        <p:spPr>
          <a:xfrm>
            <a:off x="3610280" y="2852928"/>
            <a:ext cx="365760" cy="365760"/>
          </a:xfrm>
          <a:prstGeom prst="ellipse">
            <a:avLst/>
          </a:prstGeom>
          <a:solidFill>
            <a:srgbClr val="00ACC1"/>
          </a:solidFill>
          <a:ln w="12700">
            <a:solidFill>
              <a:srgbClr val="00ACC1"/>
            </a:solidFill>
            <a:prstDash val="solid"/>
          </a:ln>
        </p:spPr>
      </p:sp>
      <p:pic>
        <p:nvPicPr>
          <p:cNvPr id="19" name="Image 2" descr="preencoded.png">    </p:cNvPr>
          <p:cNvPicPr>
            <a:picLocks noChangeAspect="1"/>
          </p:cNvPicPr>
          <p:nvPr/>
        </p:nvPicPr>
        <p:blipFill>
          <a:blip r:embed="rId3"/>
          <a:stretch>
            <a:fillRect/>
          </a:stretch>
        </p:blipFill>
        <p:spPr>
          <a:xfrm>
            <a:off x="3701720" y="2944368"/>
            <a:ext cx="182880" cy="182880"/>
          </a:xfrm>
          <a:prstGeom prst="rect">
            <a:avLst/>
          </a:prstGeom>
        </p:spPr>
      </p:pic>
      <p:sp>
        <p:nvSpPr>
          <p:cNvPr id="20" name="Text 15"/>
          <p:cNvSpPr/>
          <p:nvPr/>
        </p:nvSpPr>
        <p:spPr>
          <a:xfrm>
            <a:off x="4104056" y="2852928"/>
            <a:ext cx="1653464" cy="365760"/>
          </a:xfrm>
          <a:prstGeom prst="rect">
            <a:avLst/>
          </a:prstGeom>
          <a:noFill/>
          <a:ln/>
        </p:spPr>
        <p:txBody>
          <a:bodyPr wrap="square" lIns="0" tIns="0" rIns="0" bIns="0" rtlCol="0" anchor="ctr"/>
          <a:lstStyle/>
          <a:p>
            <a:pPr indent="0" marL="0">
              <a:buNone/>
            </a:pPr>
            <a:r>
              <a:rPr lang="en-US" sz="1150" b="1" dirty="0">
                <a:solidFill>
                  <a:srgbClr val="0B2E59"/>
                </a:solidFill>
                <a:latin typeface="Calibri" pitchFamily="34" charset="0"/>
                <a:ea typeface="Calibri" pitchFamily="34" charset="-122"/>
                <a:cs typeface="Calibri" pitchFamily="34" charset="-120"/>
              </a:rPr>
              <a:t>Team Leader</a:t>
            </a:r>
            <a:endParaRPr lang="en-US" sz="1150" dirty="0"/>
          </a:p>
        </p:txBody>
      </p:sp>
      <p:sp>
        <p:nvSpPr>
          <p:cNvPr id="21" name="Text 16"/>
          <p:cNvSpPr/>
          <p:nvPr/>
        </p:nvSpPr>
        <p:spPr>
          <a:xfrm>
            <a:off x="3610280" y="3264408"/>
            <a:ext cx="2147240" cy="88696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Monitor coordinators · verify data · correct records · manage the company database · import and export · monitor reports.</a:t>
            </a:r>
            <a:endParaRPr lang="en-US" sz="950" dirty="0"/>
          </a:p>
        </p:txBody>
      </p:sp>
      <p:sp>
        <p:nvSpPr>
          <p:cNvPr id="22" name="Shape 17"/>
          <p:cNvSpPr/>
          <p:nvPr/>
        </p:nvSpPr>
        <p:spPr>
          <a:xfrm>
            <a:off x="6214720" y="2633472"/>
            <a:ext cx="2586152" cy="1691640"/>
          </a:xfrm>
          <a:prstGeom prst="roundRect">
            <a:avLst>
              <a:gd name="adj" fmla="val 540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Shape 18"/>
          <p:cNvSpPr/>
          <p:nvPr/>
        </p:nvSpPr>
        <p:spPr>
          <a:xfrm>
            <a:off x="6434176" y="2852928"/>
            <a:ext cx="365760" cy="365760"/>
          </a:xfrm>
          <a:prstGeom prst="ellipse">
            <a:avLst/>
          </a:prstGeom>
          <a:solidFill>
            <a:srgbClr val="0B2E59"/>
          </a:solidFill>
          <a:ln w="12700">
            <a:solidFill>
              <a:srgbClr val="0B2E59"/>
            </a:solidFill>
            <a:prstDash val="solid"/>
          </a:ln>
        </p:spPr>
      </p:sp>
      <p:pic>
        <p:nvPicPr>
          <p:cNvPr id="24" name="Image 3" descr="preencoded.png">    </p:cNvPr>
          <p:cNvPicPr>
            <a:picLocks noChangeAspect="1"/>
          </p:cNvPicPr>
          <p:nvPr/>
        </p:nvPicPr>
        <p:blipFill>
          <a:blip r:embed="rId4"/>
          <a:stretch>
            <a:fillRect/>
          </a:stretch>
        </p:blipFill>
        <p:spPr>
          <a:xfrm>
            <a:off x="6525616" y="2944368"/>
            <a:ext cx="182880" cy="182880"/>
          </a:xfrm>
          <a:prstGeom prst="rect">
            <a:avLst/>
          </a:prstGeom>
        </p:spPr>
      </p:pic>
      <p:sp>
        <p:nvSpPr>
          <p:cNvPr id="25" name="Text 19"/>
          <p:cNvSpPr/>
          <p:nvPr/>
        </p:nvSpPr>
        <p:spPr>
          <a:xfrm>
            <a:off x="6927952" y="2852928"/>
            <a:ext cx="1653464" cy="365760"/>
          </a:xfrm>
          <a:prstGeom prst="rect">
            <a:avLst/>
          </a:prstGeom>
          <a:noFill/>
          <a:ln/>
        </p:spPr>
        <p:txBody>
          <a:bodyPr wrap="square" lIns="0" tIns="0" rIns="0" bIns="0" rtlCol="0" anchor="ctr"/>
          <a:lstStyle/>
          <a:p>
            <a:pPr indent="0" marL="0">
              <a:buNone/>
            </a:pPr>
            <a:r>
              <a:rPr lang="en-US" sz="1150" b="1" dirty="0">
                <a:solidFill>
                  <a:srgbClr val="0B2E59"/>
                </a:solidFill>
                <a:latin typeface="Calibri" pitchFamily="34" charset="0"/>
                <a:ea typeface="Calibri" pitchFamily="34" charset="-122"/>
                <a:cs typeface="Calibri" pitchFamily="34" charset="-120"/>
              </a:rPr>
              <a:t>Administrator (CEO / Director)</a:t>
            </a:r>
            <a:endParaRPr lang="en-US" sz="1150" dirty="0"/>
          </a:p>
        </p:txBody>
      </p:sp>
      <p:sp>
        <p:nvSpPr>
          <p:cNvPr id="26" name="Text 20"/>
          <p:cNvSpPr/>
          <p:nvPr/>
        </p:nvSpPr>
        <p:spPr>
          <a:xfrm>
            <a:off x="6434176" y="3264408"/>
            <a:ext cx="2147240" cy="88696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User management · system configuration · analytics · database administration · security · application settings. Unrestricted.</a:t>
            </a:r>
            <a:endParaRPr lang="en-US" sz="950" dirty="0"/>
          </a:p>
        </p:txBody>
      </p:sp>
      <p:sp>
        <p:nvSpPr>
          <p:cNvPr id="27" name="Shape 21"/>
          <p:cNvSpPr/>
          <p:nvPr/>
        </p:nvSpPr>
        <p:spPr>
          <a:xfrm>
            <a:off x="9038615" y="2633472"/>
            <a:ext cx="2586152" cy="1691640"/>
          </a:xfrm>
          <a:prstGeom prst="roundRect">
            <a:avLst>
              <a:gd name="adj" fmla="val 540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8" name="Shape 22"/>
          <p:cNvSpPr/>
          <p:nvPr/>
        </p:nvSpPr>
        <p:spPr>
          <a:xfrm>
            <a:off x="9258071" y="2852928"/>
            <a:ext cx="365760" cy="365760"/>
          </a:xfrm>
          <a:prstGeom prst="ellipse">
            <a:avLst/>
          </a:prstGeom>
          <a:solidFill>
            <a:srgbClr val="6B7A8C"/>
          </a:solidFill>
          <a:ln w="12700">
            <a:solidFill>
              <a:srgbClr val="6B7A8C"/>
            </a:solidFill>
            <a:prstDash val="solid"/>
          </a:ln>
        </p:spPr>
      </p:sp>
      <p:pic>
        <p:nvPicPr>
          <p:cNvPr id="29" name="Image 4" descr="preencoded.png">    </p:cNvPr>
          <p:cNvPicPr>
            <a:picLocks noChangeAspect="1"/>
          </p:cNvPicPr>
          <p:nvPr/>
        </p:nvPicPr>
        <p:blipFill>
          <a:blip r:embed="rId5"/>
          <a:stretch>
            <a:fillRect/>
          </a:stretch>
        </p:blipFill>
        <p:spPr>
          <a:xfrm>
            <a:off x="9349511" y="2944368"/>
            <a:ext cx="182880" cy="182880"/>
          </a:xfrm>
          <a:prstGeom prst="rect">
            <a:avLst/>
          </a:prstGeom>
        </p:spPr>
      </p:pic>
      <p:sp>
        <p:nvSpPr>
          <p:cNvPr id="30" name="Text 23"/>
          <p:cNvSpPr/>
          <p:nvPr/>
        </p:nvSpPr>
        <p:spPr>
          <a:xfrm>
            <a:off x="9751847" y="2852928"/>
            <a:ext cx="1653464" cy="365760"/>
          </a:xfrm>
          <a:prstGeom prst="rect">
            <a:avLst/>
          </a:prstGeom>
          <a:noFill/>
          <a:ln/>
        </p:spPr>
        <p:txBody>
          <a:bodyPr wrap="square" lIns="0" tIns="0" rIns="0" bIns="0" rtlCol="0" anchor="ctr"/>
          <a:lstStyle/>
          <a:p>
            <a:pPr indent="0" marL="0">
              <a:buNone/>
            </a:pPr>
            <a:r>
              <a:rPr lang="en-US" sz="1150" b="1" dirty="0">
                <a:solidFill>
                  <a:srgbClr val="0B2E59"/>
                </a:solidFill>
                <a:latin typeface="Calibri" pitchFamily="34" charset="0"/>
                <a:ea typeface="Calibri" pitchFamily="34" charset="-122"/>
                <a:cs typeface="Calibri" pitchFamily="34" charset="-120"/>
              </a:rPr>
              <a:t>Training &amp; Placement Officer</a:t>
            </a:r>
            <a:endParaRPr lang="en-US" sz="1150" dirty="0"/>
          </a:p>
        </p:txBody>
      </p:sp>
      <p:sp>
        <p:nvSpPr>
          <p:cNvPr id="31" name="Text 24"/>
          <p:cNvSpPr/>
          <p:nvPr/>
        </p:nvSpPr>
        <p:spPr>
          <a:xfrm>
            <a:off x="9258071" y="3264408"/>
            <a:ext cx="2147240" cy="88696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Read-only. Weekly reports · monthly reports · placement statistics · dashboard monitoring. Nothing else.</a:t>
            </a:r>
            <a:endParaRPr lang="en-US" sz="950" dirty="0"/>
          </a:p>
        </p:txBody>
      </p:sp>
      <p:sp>
        <p:nvSpPr>
          <p:cNvPr id="32" name="Text 25"/>
          <p:cNvSpPr/>
          <p:nvPr/>
        </p:nvSpPr>
        <p:spPr>
          <a:xfrm>
            <a:off x="566928" y="448056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ONE LOGIN SCREEN FOR EVERY ROLE</a:t>
            </a:r>
            <a:endParaRPr lang="en-US" sz="950" dirty="0"/>
          </a:p>
        </p:txBody>
      </p:sp>
      <p:sp>
        <p:nvSpPr>
          <p:cNvPr id="33" name="Shape 26"/>
          <p:cNvSpPr/>
          <p:nvPr/>
        </p:nvSpPr>
        <p:spPr>
          <a:xfrm>
            <a:off x="566928" y="4736592"/>
            <a:ext cx="11057839" cy="1097280"/>
          </a:xfrm>
          <a:prstGeom prst="roundRect">
            <a:avLst>
              <a:gd name="adj" fmla="val 833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4" name="Text 27"/>
          <p:cNvSpPr/>
          <p:nvPr/>
        </p:nvSpPr>
        <p:spPr>
          <a:xfrm>
            <a:off x="786384" y="4956048"/>
            <a:ext cx="10618927" cy="70408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There is no separate login page per role. After authentication the system detects the assigned role and redirects to the matching dashboard. Fields: Username · Password · Remember Me · Forgot Password · Login — with a motivational line beneath the button: “Every positive call creates a new opportunity for our students.”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01</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01 §8</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The 22-row permission matrix</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12</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3742639"/>
                <a:gridCol w="1828800"/>
                <a:gridCol w="1828800"/>
                <a:gridCol w="1828800"/>
                <a:gridCol w="1828800"/>
              </a:tblGrid>
              <a:tr h="27432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Feature / action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Coordinator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Team Leader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Administrator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TPO</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274320">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Daily Call Tracker</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dirty="0">
                          <a:solidFill>
                            <a:srgbClr val="175496"/>
                          </a:solidFill>
                          <a:latin typeface="Calibri" pitchFamily="34" charset="0"/>
                          <a:ea typeface="Calibri" pitchFamily="34" charset="-122"/>
                          <a:cs typeface="Calibri" pitchFamily="34" charset="-120"/>
                        </a:rPr>
                        <a:t>Monitor</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dirty="0">
                          <a:solidFill>
                            <a:srgbClr val="175496"/>
                          </a:solidFill>
                          <a:latin typeface="Calibri" pitchFamily="34" charset="0"/>
                          <a:ea typeface="Calibri" pitchFamily="34" charset="-122"/>
                          <a:cs typeface="Calibri" pitchFamily="34" charset="-120"/>
                        </a:rPr>
                        <a:t>Monitor</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274320">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Positive Leads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75496"/>
                          </a:solidFill>
                          <a:latin typeface="Calibri" pitchFamily="34" charset="0"/>
                          <a:ea typeface="Calibri" pitchFamily="34" charset="-122"/>
                          <a:cs typeface="Calibri" pitchFamily="34" charset="-120"/>
                        </a:rPr>
                        <a:t>Monitor</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75496"/>
                          </a:solidFill>
                          <a:latin typeface="Calibri" pitchFamily="34" charset="0"/>
                          <a:ea typeface="Calibri" pitchFamily="34" charset="-122"/>
                          <a:cs typeface="Calibri" pitchFamily="34" charset="-120"/>
                        </a:rPr>
                        <a:t>Monitor</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75496"/>
                          </a:solidFill>
                          <a:latin typeface="Calibri" pitchFamily="34" charset="0"/>
                          <a:ea typeface="Calibri" pitchFamily="34" charset="-122"/>
                          <a:cs typeface="Calibri" pitchFamily="34" charset="-120"/>
                        </a:rPr>
                        <a:t>View</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Export reports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274320">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Edit company contact info (operational)</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Edit master company info (protected)</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274320">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View other coordinators' trackers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75496"/>
                          </a:solidFill>
                          <a:latin typeface="Calibri" pitchFamily="34" charset="0"/>
                          <a:ea typeface="Calibri" pitchFamily="34" charset="-122"/>
                          <a:cs typeface="Calibri" pitchFamily="34" charset="-120"/>
                        </a:rPr>
                        <a:t>Read-only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Delete company records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274320">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Import / export master database</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Create coordinator accounts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274320">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Create Team Leader / Admin / TPO accounts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Delete or disable users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274320">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System / application configuration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View audit logs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
        <p:nvSpPr>
          <p:cNvPr id="10" name="Text 6"/>
          <p:cNvSpPr/>
          <p:nvPr/>
        </p:nvSpPr>
        <p:spPr>
          <a:xfrm>
            <a:off x="566928" y="5358384"/>
            <a:ext cx="11057839" cy="256032"/>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13 of the 22 rows.   Y* = permitted only where company policy allows.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01</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01 §9–16</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Data classification, lifecycle and journeys</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13</a:t>
            </a:r>
            <a:endParaRPr lang="en-US" sz="950" dirty="0"/>
          </a:p>
        </p:txBody>
      </p:sp>
      <p:sp>
        <p:nvSpPr>
          <p:cNvPr id="9" name="Shape 6"/>
          <p:cNvSpPr/>
          <p:nvPr/>
        </p:nvSpPr>
        <p:spPr>
          <a:xfrm>
            <a:off x="566928" y="1371600"/>
            <a:ext cx="5410048" cy="1554480"/>
          </a:xfrm>
          <a:prstGeom prst="roundRect">
            <a:avLst>
              <a:gd name="adj" fmla="val 588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Shape 7"/>
          <p:cNvSpPr/>
          <p:nvPr/>
        </p:nvSpPr>
        <p:spPr>
          <a:xfrm>
            <a:off x="786384" y="1591056"/>
            <a:ext cx="365760" cy="365760"/>
          </a:xfrm>
          <a:prstGeom prst="ellipse">
            <a:avLst/>
          </a:prstGeom>
          <a:solidFill>
            <a:srgbClr val="0B2E59"/>
          </a:solidFill>
          <a:ln w="12700">
            <a:solidFill>
              <a:srgbClr val="0B2E59"/>
            </a:solidFill>
            <a:prstDash val="solid"/>
          </a:ln>
        </p:spPr>
      </p:sp>
      <p:pic>
        <p:nvPicPr>
          <p:cNvPr id="11" name="Image 1" descr="preencoded.png">    </p:cNvPr>
          <p:cNvPicPr>
            <a:picLocks noChangeAspect="1"/>
          </p:cNvPicPr>
          <p:nvPr/>
        </p:nvPicPr>
        <p:blipFill>
          <a:blip r:embed="rId2"/>
          <a:stretch>
            <a:fillRect/>
          </a:stretch>
        </p:blipFill>
        <p:spPr>
          <a:xfrm>
            <a:off x="877824" y="1682496"/>
            <a:ext cx="182880" cy="182880"/>
          </a:xfrm>
          <a:prstGeom prst="rect">
            <a:avLst/>
          </a:prstGeom>
        </p:spPr>
      </p:pic>
      <p:sp>
        <p:nvSpPr>
          <p:cNvPr id="12" name="Text 8"/>
          <p:cNvSpPr/>
          <p:nvPr/>
        </p:nvSpPr>
        <p:spPr>
          <a:xfrm>
            <a:off x="1280160" y="1591056"/>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Master company data — protected</a:t>
            </a:r>
            <a:endParaRPr lang="en-US" sz="1350" dirty="0"/>
          </a:p>
        </p:txBody>
      </p:sp>
      <p:sp>
        <p:nvSpPr>
          <p:cNvPr id="13" name="Text 9"/>
          <p:cNvSpPr/>
          <p:nvPr/>
        </p:nvSpPr>
        <p:spPr>
          <a:xfrm>
            <a:off x="786384" y="2002536"/>
            <a:ext cx="4971136" cy="74980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Company Name · Website · Industry · Address · Company ID.</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Editable only by Team Leader and Administrator.</a:t>
            </a:r>
            <a:endParaRPr lang="en-US" sz="1000" dirty="0"/>
          </a:p>
        </p:txBody>
      </p:sp>
      <p:sp>
        <p:nvSpPr>
          <p:cNvPr id="14" name="Shape 10"/>
          <p:cNvSpPr/>
          <p:nvPr/>
        </p:nvSpPr>
        <p:spPr>
          <a:xfrm>
            <a:off x="6214720" y="1371600"/>
            <a:ext cx="5410048" cy="1554480"/>
          </a:xfrm>
          <a:prstGeom prst="roundRect">
            <a:avLst>
              <a:gd name="adj" fmla="val 588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5" name="Shape 11"/>
          <p:cNvSpPr/>
          <p:nvPr/>
        </p:nvSpPr>
        <p:spPr>
          <a:xfrm>
            <a:off x="6434176" y="1591056"/>
            <a:ext cx="365760" cy="365760"/>
          </a:xfrm>
          <a:prstGeom prst="ellipse">
            <a:avLst/>
          </a:prstGeom>
          <a:solidFill>
            <a:srgbClr val="00ACC1"/>
          </a:solidFill>
          <a:ln w="12700">
            <a:solidFill>
              <a:srgbClr val="00ACC1"/>
            </a:solidFill>
            <a:prstDash val="solid"/>
          </a:ln>
        </p:spPr>
      </p:sp>
      <p:pic>
        <p:nvPicPr>
          <p:cNvPr id="16" name="Image 2" descr="preencoded.png">    </p:cNvPr>
          <p:cNvPicPr>
            <a:picLocks noChangeAspect="1"/>
          </p:cNvPicPr>
          <p:nvPr/>
        </p:nvPicPr>
        <p:blipFill>
          <a:blip r:embed="rId3"/>
          <a:stretch>
            <a:fillRect/>
          </a:stretch>
        </p:blipFill>
        <p:spPr>
          <a:xfrm>
            <a:off x="6525616" y="1682496"/>
            <a:ext cx="182880" cy="182880"/>
          </a:xfrm>
          <a:prstGeom prst="rect">
            <a:avLst/>
          </a:prstGeom>
        </p:spPr>
      </p:pic>
      <p:sp>
        <p:nvSpPr>
          <p:cNvPr id="17" name="Text 12"/>
          <p:cNvSpPr/>
          <p:nvPr/>
        </p:nvSpPr>
        <p:spPr>
          <a:xfrm>
            <a:off x="6927952" y="1591056"/>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Contact data — operational</a:t>
            </a:r>
            <a:endParaRPr lang="en-US" sz="1350" dirty="0"/>
          </a:p>
        </p:txBody>
      </p:sp>
      <p:sp>
        <p:nvSpPr>
          <p:cNvPr id="18" name="Text 13"/>
          <p:cNvSpPr/>
          <p:nvPr/>
        </p:nvSpPr>
        <p:spPr>
          <a:xfrm>
            <a:off x="6434176" y="2002536"/>
            <a:ext cx="4971136" cy="74980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HR Name · Mobile · Email · Designation · Remarks.</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Editable by coordinators, who discover these while calling.</a:t>
            </a:r>
            <a:endParaRPr lang="en-US" sz="1000" dirty="0"/>
          </a:p>
        </p:txBody>
      </p:sp>
      <p:sp>
        <p:nvSpPr>
          <p:cNvPr id="19" name="Text 14"/>
          <p:cNvSpPr/>
          <p:nvPr/>
        </p:nvSpPr>
        <p:spPr>
          <a:xfrm>
            <a:off x="566928" y="3054096"/>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ACCOUNT STATUS LIFECYCLE — EXACTLY ONE STATUS AT A TIME</a:t>
            </a:r>
            <a:endParaRPr lang="en-US" sz="950" dirty="0"/>
          </a:p>
        </p:txBody>
      </p:sp>
      <p:sp>
        <p:nvSpPr>
          <p:cNvPr id="20" name="Shape 15"/>
          <p:cNvSpPr/>
          <p:nvPr/>
        </p:nvSpPr>
        <p:spPr>
          <a:xfrm>
            <a:off x="566928" y="3310128"/>
            <a:ext cx="2668448" cy="438912"/>
          </a:xfrm>
          <a:prstGeom prst="roundRect">
            <a:avLst>
              <a:gd name="adj" fmla="val 104167"/>
            </a:avLst>
          </a:prstGeom>
          <a:solidFill>
            <a:srgbClr val="EAF5EB"/>
          </a:solidFill>
          <a:ln w="9525">
            <a:solidFill>
              <a:srgbClr val="E1E8F0"/>
            </a:solidFill>
            <a:prstDash val="solid"/>
          </a:ln>
        </p:spPr>
      </p:sp>
      <p:sp>
        <p:nvSpPr>
          <p:cNvPr id="21" name="Text 16"/>
          <p:cNvSpPr/>
          <p:nvPr/>
        </p:nvSpPr>
        <p:spPr>
          <a:xfrm>
            <a:off x="640080" y="3310128"/>
            <a:ext cx="2522144" cy="438912"/>
          </a:xfrm>
          <a:prstGeom prst="rect">
            <a:avLst/>
          </a:prstGeom>
          <a:noFill/>
          <a:ln/>
        </p:spPr>
        <p:txBody>
          <a:bodyPr wrap="square" lIns="0" tIns="0" rIns="0" bIns="0" rtlCol="0" anchor="ctr"/>
          <a:lstStyle/>
          <a:p>
            <a:pPr algn="ctr" indent="0" marL="0">
              <a:buNone/>
            </a:pPr>
            <a:r>
              <a:rPr lang="en-US" sz="1100" b="1" dirty="0">
                <a:solidFill>
                  <a:srgbClr val="2E7D32"/>
                </a:solidFill>
                <a:latin typeface="Calibri" pitchFamily="34" charset="0"/>
                <a:ea typeface="Calibri" pitchFamily="34" charset="-122"/>
                <a:cs typeface="Calibri" pitchFamily="34" charset="-120"/>
              </a:rPr>
              <a:t>Active</a:t>
            </a:r>
            <a:endParaRPr lang="en-US" sz="1100" dirty="0"/>
          </a:p>
        </p:txBody>
      </p:sp>
      <p:sp>
        <p:nvSpPr>
          <p:cNvPr id="22" name="Shape 17"/>
          <p:cNvSpPr/>
          <p:nvPr/>
        </p:nvSpPr>
        <p:spPr>
          <a:xfrm>
            <a:off x="3363392" y="3310128"/>
            <a:ext cx="2668448" cy="438912"/>
          </a:xfrm>
          <a:prstGeom prst="roundRect">
            <a:avLst>
              <a:gd name="adj" fmla="val 104167"/>
            </a:avLst>
          </a:prstGeom>
          <a:solidFill>
            <a:srgbClr val="F1F4F8"/>
          </a:solidFill>
          <a:ln w="9525">
            <a:solidFill>
              <a:srgbClr val="E1E8F0"/>
            </a:solidFill>
            <a:prstDash val="solid"/>
          </a:ln>
        </p:spPr>
      </p:sp>
      <p:sp>
        <p:nvSpPr>
          <p:cNvPr id="23" name="Text 18"/>
          <p:cNvSpPr/>
          <p:nvPr/>
        </p:nvSpPr>
        <p:spPr>
          <a:xfrm>
            <a:off x="3436544" y="3310128"/>
            <a:ext cx="2522144" cy="438912"/>
          </a:xfrm>
          <a:prstGeom prst="rect">
            <a:avLst/>
          </a:prstGeom>
          <a:noFill/>
          <a:ln/>
        </p:spPr>
        <p:txBody>
          <a:bodyPr wrap="square" lIns="0" tIns="0" rIns="0" bIns="0" rtlCol="0" anchor="ctr"/>
          <a:lstStyle/>
          <a:p>
            <a:pPr algn="ctr" indent="0" marL="0">
              <a:buNone/>
            </a:pPr>
            <a:r>
              <a:rPr lang="en-US" sz="1100" b="1" dirty="0">
                <a:solidFill>
                  <a:srgbClr val="6B7A8C"/>
                </a:solidFill>
                <a:latin typeface="Calibri" pitchFamily="34" charset="0"/>
                <a:ea typeface="Calibri" pitchFamily="34" charset="-122"/>
                <a:cs typeface="Calibri" pitchFamily="34" charset="-120"/>
              </a:rPr>
              <a:t>Inactive</a:t>
            </a:r>
            <a:endParaRPr lang="en-US" sz="1100" dirty="0"/>
          </a:p>
        </p:txBody>
      </p:sp>
      <p:sp>
        <p:nvSpPr>
          <p:cNvPr id="24" name="Shape 19"/>
          <p:cNvSpPr/>
          <p:nvPr/>
        </p:nvSpPr>
        <p:spPr>
          <a:xfrm>
            <a:off x="6159856" y="3310128"/>
            <a:ext cx="2668448" cy="438912"/>
          </a:xfrm>
          <a:prstGeom prst="roundRect">
            <a:avLst>
              <a:gd name="adj" fmla="val 104167"/>
            </a:avLst>
          </a:prstGeom>
          <a:solidFill>
            <a:srgbClr val="E7F3FD"/>
          </a:solidFill>
          <a:ln w="9525">
            <a:solidFill>
              <a:srgbClr val="E1E8F0"/>
            </a:solidFill>
            <a:prstDash val="solid"/>
          </a:ln>
        </p:spPr>
      </p:sp>
      <p:sp>
        <p:nvSpPr>
          <p:cNvPr id="25" name="Text 20"/>
          <p:cNvSpPr/>
          <p:nvPr/>
        </p:nvSpPr>
        <p:spPr>
          <a:xfrm>
            <a:off x="6233008" y="3310128"/>
            <a:ext cx="2522144" cy="438912"/>
          </a:xfrm>
          <a:prstGeom prst="rect">
            <a:avLst/>
          </a:prstGeom>
          <a:noFill/>
          <a:ln/>
        </p:spPr>
        <p:txBody>
          <a:bodyPr wrap="square" lIns="0" tIns="0" rIns="0" bIns="0" rtlCol="0" anchor="ctr"/>
          <a:lstStyle/>
          <a:p>
            <a:pPr algn="ctr" indent="0" marL="0">
              <a:buNone/>
            </a:pPr>
            <a:r>
              <a:rPr lang="en-US" sz="1100" b="1" dirty="0">
                <a:solidFill>
                  <a:srgbClr val="175496"/>
                </a:solidFill>
                <a:latin typeface="Calibri" pitchFamily="34" charset="0"/>
                <a:ea typeface="Calibri" pitchFamily="34" charset="-122"/>
                <a:cs typeface="Calibri" pitchFamily="34" charset="-120"/>
              </a:rPr>
              <a:t>On Leave</a:t>
            </a:r>
            <a:endParaRPr lang="en-US" sz="1100" dirty="0"/>
          </a:p>
        </p:txBody>
      </p:sp>
      <p:sp>
        <p:nvSpPr>
          <p:cNvPr id="26" name="Shape 21"/>
          <p:cNvSpPr/>
          <p:nvPr/>
        </p:nvSpPr>
        <p:spPr>
          <a:xfrm>
            <a:off x="8956319" y="3310128"/>
            <a:ext cx="2668448" cy="438912"/>
          </a:xfrm>
          <a:prstGeom prst="roundRect">
            <a:avLst>
              <a:gd name="adj" fmla="val 104167"/>
            </a:avLst>
          </a:prstGeom>
          <a:solidFill>
            <a:srgbClr val="FBEDED"/>
          </a:solidFill>
          <a:ln w="9525">
            <a:solidFill>
              <a:srgbClr val="E1E8F0"/>
            </a:solidFill>
            <a:prstDash val="solid"/>
          </a:ln>
        </p:spPr>
      </p:sp>
      <p:sp>
        <p:nvSpPr>
          <p:cNvPr id="27" name="Text 22"/>
          <p:cNvSpPr/>
          <p:nvPr/>
        </p:nvSpPr>
        <p:spPr>
          <a:xfrm>
            <a:off x="9029471" y="3310128"/>
            <a:ext cx="2522144" cy="438912"/>
          </a:xfrm>
          <a:prstGeom prst="rect">
            <a:avLst/>
          </a:prstGeom>
          <a:noFill/>
          <a:ln/>
        </p:spPr>
        <p:txBody>
          <a:bodyPr wrap="square" lIns="0" tIns="0" rIns="0" bIns="0" rtlCol="0" anchor="ctr"/>
          <a:lstStyle/>
          <a:p>
            <a:pPr algn="ctr" indent="0" marL="0">
              <a:buNone/>
            </a:pPr>
            <a:r>
              <a:rPr lang="en-US" sz="1100" b="1" dirty="0">
                <a:solidFill>
                  <a:srgbClr val="C62828"/>
                </a:solidFill>
                <a:latin typeface="Calibri" pitchFamily="34" charset="0"/>
                <a:ea typeface="Calibri" pitchFamily="34" charset="-122"/>
                <a:cs typeface="Calibri" pitchFamily="34" charset="-120"/>
              </a:rPr>
              <a:t>Resigned</a:t>
            </a:r>
            <a:endParaRPr lang="en-US" sz="1100" dirty="0"/>
          </a:p>
        </p:txBody>
      </p:sp>
      <p:sp>
        <p:nvSpPr>
          <p:cNvPr id="28" name="Text 23"/>
          <p:cNvSpPr/>
          <p:nvPr/>
        </p:nvSpPr>
        <p:spPr>
          <a:xfrm>
            <a:off x="566928" y="3822192"/>
            <a:ext cx="11057839" cy="237744"/>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Historical data associated with a user is never deleted when their account becomes inactive — it is retained for audit and continuity.</a:t>
            </a:r>
            <a:endParaRPr lang="en-US" sz="1000" dirty="0"/>
          </a:p>
        </p:txBody>
      </p:sp>
      <p:sp>
        <p:nvSpPr>
          <p:cNvPr id="29" name="Text 24"/>
          <p:cNvSpPr/>
          <p:nvPr/>
        </p:nvSpPr>
        <p:spPr>
          <a:xfrm>
            <a:off x="566928" y="416966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USER JOURNEYS, AS SPECIFIED</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4425696"/>
          <a:ext cx="11057839" cy="914400"/>
        </p:xfrm>
        <a:graphic>
          <a:graphicData uri="http://schemas.openxmlformats.org/drawingml/2006/table">
            <a:tbl>
              <a:tblPr/>
              <a:tblGrid>
                <a:gridCol w="2194560"/>
                <a:gridCol w="8863279"/>
              </a:tblGrid>
              <a:tr h="301752">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Role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Journey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01752">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Coordinator</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Login → Dashboard → Daily Tracker → Recall → Positive Leads → Weekly Report → Logout</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01752">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Team Leader</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Login → Dashboard → Coordinator Monitoring → Company Database → Reports → Analytics → Logout</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01752">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Administrator</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Login → System Dashboard → User Management → Database → Reports → Settings → Logout</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01752">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TPO</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Login → Placement Dashboard → Reports → Analytics → Logout</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02</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02 — MASTER COMPANY DATABASE</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Deliberately not a CRM</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14</a:t>
            </a:r>
            <a:endParaRPr lang="en-US" sz="950" dirty="0"/>
          </a:p>
        </p:txBody>
      </p:sp>
      <p:sp>
        <p:nvSpPr>
          <p:cNvPr id="9" name="Shape 6"/>
          <p:cNvSpPr/>
          <p:nvPr/>
        </p:nvSpPr>
        <p:spPr>
          <a:xfrm>
            <a:off x="566928" y="1371600"/>
            <a:ext cx="11057839" cy="868680"/>
          </a:xfrm>
          <a:prstGeom prst="roundRect">
            <a:avLst>
              <a:gd name="adj" fmla="val 10526"/>
            </a:avLst>
          </a:prstGeom>
          <a:solidFill>
            <a:srgbClr val="EEF4FB"/>
          </a:solidFill>
          <a:ln w="9525">
            <a:solidFill>
              <a:srgbClr val="D6E4F5"/>
            </a:solidFill>
            <a:prstDash val="solid"/>
          </a:ln>
        </p:spPr>
      </p:sp>
      <p:sp>
        <p:nvSpPr>
          <p:cNvPr id="10" name="Text 7"/>
          <p:cNvSpPr/>
          <p:nvPr/>
        </p:nvSpPr>
        <p:spPr>
          <a:xfrm>
            <a:off x="877824" y="1536192"/>
            <a:ext cx="10436047" cy="539496"/>
          </a:xfrm>
          <a:prstGeom prst="rect">
            <a:avLst/>
          </a:prstGeom>
          <a:noFill/>
          <a:ln/>
        </p:spPr>
        <p:txBody>
          <a:bodyPr wrap="square" lIns="0" tIns="0" rIns="0" bIns="0" rtlCol="0" anchor="ctr"/>
          <a:lstStyle/>
          <a:p>
            <a:pPr indent="0" marL="0">
              <a:lnSpc>
                <a:spcPct val="112000"/>
              </a:lnSpc>
              <a:buNone/>
            </a:pPr>
            <a:r>
              <a:rPr lang="en-US" sz="1500" i="1" dirty="0">
                <a:solidFill>
                  <a:srgbClr val="0B2E59"/>
                </a:solidFill>
                <a:latin typeface="Calibri" pitchFamily="34" charset="0"/>
                <a:ea typeface="Calibri" pitchFamily="34" charset="-122"/>
                <a:cs typeface="Calibri" pitchFamily="34" charset="-120"/>
              </a:rPr>
              <a:t>A live, Excel-like operational repository that coordinators search before making calls, and that quietly stays in sync with the Daily Tracker as they work.</a:t>
            </a:r>
            <a:endParaRPr lang="en-US" sz="1500" dirty="0"/>
          </a:p>
        </p:txBody>
      </p:sp>
      <p:sp>
        <p:nvSpPr>
          <p:cNvPr id="11" name="Shape 8"/>
          <p:cNvSpPr/>
          <p:nvPr/>
        </p:nvSpPr>
        <p:spPr>
          <a:xfrm>
            <a:off x="566928" y="2395728"/>
            <a:ext cx="2627300" cy="1097280"/>
          </a:xfrm>
          <a:prstGeom prst="roundRect">
            <a:avLst>
              <a:gd name="adj" fmla="val 833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2" name="Text 9"/>
          <p:cNvSpPr/>
          <p:nvPr/>
        </p:nvSpPr>
        <p:spPr>
          <a:xfrm>
            <a:off x="566928" y="2514600"/>
            <a:ext cx="2627300" cy="475488"/>
          </a:xfrm>
          <a:prstGeom prst="rect">
            <a:avLst/>
          </a:prstGeom>
          <a:noFill/>
          <a:ln/>
        </p:spPr>
        <p:txBody>
          <a:bodyPr wrap="square" lIns="0" tIns="0" rIns="0" bIns="0" rtlCol="0" anchor="ctr"/>
          <a:lstStyle/>
          <a:p>
            <a:pPr algn="ctr" indent="0" marL="0">
              <a:buNone/>
            </a:pPr>
            <a:r>
              <a:rPr lang="en-US" sz="2400" b="1" dirty="0">
                <a:solidFill>
                  <a:srgbClr val="0B2E59"/>
                </a:solidFill>
                <a:latin typeface="Calibri" pitchFamily="34" charset="0"/>
                <a:ea typeface="Calibri" pitchFamily="34" charset="-122"/>
                <a:cs typeface="Calibri" pitchFamily="34" charset="-120"/>
              </a:rPr>
              <a:t>5,000–8,000</a:t>
            </a:r>
            <a:endParaRPr lang="en-US" sz="2400" dirty="0"/>
          </a:p>
        </p:txBody>
      </p:sp>
      <p:sp>
        <p:nvSpPr>
          <p:cNvPr id="13" name="Text 10"/>
          <p:cNvSpPr/>
          <p:nvPr/>
        </p:nvSpPr>
        <p:spPr>
          <a:xfrm>
            <a:off x="621792" y="2999232"/>
            <a:ext cx="2517572" cy="43891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Companies today</a:t>
            </a:r>
            <a:endParaRPr lang="en-US" sz="950" dirty="0"/>
          </a:p>
        </p:txBody>
      </p:sp>
      <p:sp>
        <p:nvSpPr>
          <p:cNvPr id="14" name="Shape 11"/>
          <p:cNvSpPr/>
          <p:nvPr/>
        </p:nvSpPr>
        <p:spPr>
          <a:xfrm>
            <a:off x="3377108" y="2395728"/>
            <a:ext cx="2627300" cy="1097280"/>
          </a:xfrm>
          <a:prstGeom prst="roundRect">
            <a:avLst>
              <a:gd name="adj" fmla="val 833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5" name="Text 12"/>
          <p:cNvSpPr/>
          <p:nvPr/>
        </p:nvSpPr>
        <p:spPr>
          <a:xfrm>
            <a:off x="3377108" y="2514600"/>
            <a:ext cx="2627300" cy="475488"/>
          </a:xfrm>
          <a:prstGeom prst="rect">
            <a:avLst/>
          </a:prstGeom>
          <a:noFill/>
          <a:ln/>
        </p:spPr>
        <p:txBody>
          <a:bodyPr wrap="square" lIns="0" tIns="0" rIns="0" bIns="0" rtlCol="0" anchor="ctr"/>
          <a:lstStyle/>
          <a:p>
            <a:pPr algn="ctr" indent="0" marL="0">
              <a:buNone/>
            </a:pPr>
            <a:r>
              <a:rPr lang="en-US" sz="2400" b="1" dirty="0">
                <a:solidFill>
                  <a:srgbClr val="0B2E59"/>
                </a:solidFill>
                <a:latin typeface="Calibri" pitchFamily="34" charset="0"/>
                <a:ea typeface="Calibri" pitchFamily="34" charset="-122"/>
                <a:cs typeface="Calibri" pitchFamily="34" charset="-120"/>
              </a:rPr>
              <a:t>10,000+</a:t>
            </a:r>
            <a:endParaRPr lang="en-US" sz="2400" dirty="0"/>
          </a:p>
        </p:txBody>
      </p:sp>
      <p:sp>
        <p:nvSpPr>
          <p:cNvPr id="16" name="Text 13"/>
          <p:cNvSpPr/>
          <p:nvPr/>
        </p:nvSpPr>
        <p:spPr>
          <a:xfrm>
            <a:off x="3431972" y="2999232"/>
            <a:ext cx="2517572" cy="43891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Expected growth</a:t>
            </a:r>
            <a:endParaRPr lang="en-US" sz="950" dirty="0"/>
          </a:p>
        </p:txBody>
      </p:sp>
      <p:sp>
        <p:nvSpPr>
          <p:cNvPr id="17" name="Shape 14"/>
          <p:cNvSpPr/>
          <p:nvPr/>
        </p:nvSpPr>
        <p:spPr>
          <a:xfrm>
            <a:off x="6187288" y="2395728"/>
            <a:ext cx="2627300" cy="1097280"/>
          </a:xfrm>
          <a:prstGeom prst="roundRect">
            <a:avLst>
              <a:gd name="adj" fmla="val 833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Text 15"/>
          <p:cNvSpPr/>
          <p:nvPr/>
        </p:nvSpPr>
        <p:spPr>
          <a:xfrm>
            <a:off x="6187288" y="2514600"/>
            <a:ext cx="2627300" cy="475488"/>
          </a:xfrm>
          <a:prstGeom prst="rect">
            <a:avLst/>
          </a:prstGeom>
          <a:noFill/>
          <a:ln/>
        </p:spPr>
        <p:txBody>
          <a:bodyPr wrap="square" lIns="0" tIns="0" rIns="0" bIns="0" rtlCol="0" anchor="ctr"/>
          <a:lstStyle/>
          <a:p>
            <a:pPr algn="ctr" indent="0" marL="0">
              <a:buNone/>
            </a:pPr>
            <a:r>
              <a:rPr lang="en-US" sz="2400" b="1" dirty="0">
                <a:solidFill>
                  <a:srgbClr val="6B7A8C"/>
                </a:solidFill>
                <a:latin typeface="Calibri" pitchFamily="34" charset="0"/>
                <a:ea typeface="Calibri" pitchFamily="34" charset="-122"/>
                <a:cs typeface="Calibri" pitchFamily="34" charset="-120"/>
              </a:rPr>
              <a:t>~40,000</a:t>
            </a:r>
            <a:endParaRPr lang="en-US" sz="2400" dirty="0"/>
          </a:p>
        </p:txBody>
      </p:sp>
      <p:sp>
        <p:nvSpPr>
          <p:cNvPr id="19" name="Text 16"/>
          <p:cNvSpPr/>
          <p:nvPr/>
        </p:nvSpPr>
        <p:spPr>
          <a:xfrm>
            <a:off x="6242152" y="2999232"/>
            <a:ext cx="2517572" cy="43891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Records in the wider meta database</a:t>
            </a:r>
            <a:endParaRPr lang="en-US" sz="950" dirty="0"/>
          </a:p>
        </p:txBody>
      </p:sp>
      <p:sp>
        <p:nvSpPr>
          <p:cNvPr id="20" name="Shape 17"/>
          <p:cNvSpPr/>
          <p:nvPr/>
        </p:nvSpPr>
        <p:spPr>
          <a:xfrm>
            <a:off x="8997467" y="2395728"/>
            <a:ext cx="2627300" cy="1097280"/>
          </a:xfrm>
          <a:prstGeom prst="roundRect">
            <a:avLst>
              <a:gd name="adj" fmla="val 833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1" name="Text 18"/>
          <p:cNvSpPr/>
          <p:nvPr/>
        </p:nvSpPr>
        <p:spPr>
          <a:xfrm>
            <a:off x="8997467" y="2514600"/>
            <a:ext cx="2627300" cy="475488"/>
          </a:xfrm>
          <a:prstGeom prst="rect">
            <a:avLst/>
          </a:prstGeom>
          <a:noFill/>
          <a:ln/>
        </p:spPr>
        <p:txBody>
          <a:bodyPr wrap="square" lIns="0" tIns="0" rIns="0" bIns="0" rtlCol="0" anchor="ctr"/>
          <a:lstStyle/>
          <a:p>
            <a:pPr algn="ctr" indent="0" marL="0">
              <a:buNone/>
            </a:pPr>
            <a:r>
              <a:rPr lang="en-US" sz="2400" b="1" dirty="0">
                <a:solidFill>
                  <a:srgbClr val="175496"/>
                </a:solidFill>
                <a:latin typeface="Calibri" pitchFamily="34" charset="0"/>
                <a:ea typeface="Calibri" pitchFamily="34" charset="-122"/>
                <a:cs typeface="Calibri" pitchFamily="34" charset="-120"/>
              </a:rPr>
              <a:t>50–70</a:t>
            </a:r>
            <a:endParaRPr lang="en-US" sz="2400" dirty="0"/>
          </a:p>
        </p:txBody>
      </p:sp>
      <p:sp>
        <p:nvSpPr>
          <p:cNvPr id="22" name="Text 19"/>
          <p:cNvSpPr/>
          <p:nvPr/>
        </p:nvSpPr>
        <p:spPr>
          <a:xfrm>
            <a:off x="9052331" y="2999232"/>
            <a:ext cx="2517572" cy="43891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Calls per coordinator, per day</a:t>
            </a:r>
            <a:endParaRPr lang="en-US" sz="950" dirty="0"/>
          </a:p>
        </p:txBody>
      </p:sp>
      <p:sp>
        <p:nvSpPr>
          <p:cNvPr id="23" name="Shape 20"/>
          <p:cNvSpPr/>
          <p:nvPr/>
        </p:nvSpPr>
        <p:spPr>
          <a:xfrm>
            <a:off x="566928" y="3712464"/>
            <a:ext cx="3527450" cy="1536192"/>
          </a:xfrm>
          <a:prstGeom prst="roundRect">
            <a:avLst>
              <a:gd name="adj" fmla="val 595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4" name="Shape 21"/>
          <p:cNvSpPr/>
          <p:nvPr/>
        </p:nvSpPr>
        <p:spPr>
          <a:xfrm>
            <a:off x="786384" y="3931920"/>
            <a:ext cx="365760" cy="365760"/>
          </a:xfrm>
          <a:prstGeom prst="ellipse">
            <a:avLst/>
          </a:prstGeom>
          <a:solidFill>
            <a:srgbClr val="0B2E59"/>
          </a:solidFill>
          <a:ln w="12700">
            <a:solidFill>
              <a:srgbClr val="0B2E59"/>
            </a:solidFill>
            <a:prstDash val="solid"/>
          </a:ln>
        </p:spPr>
      </p:sp>
      <p:pic>
        <p:nvPicPr>
          <p:cNvPr id="25" name="Image 1" descr="preencoded.png">    </p:cNvPr>
          <p:cNvPicPr>
            <a:picLocks noChangeAspect="1"/>
          </p:cNvPicPr>
          <p:nvPr/>
        </p:nvPicPr>
        <p:blipFill>
          <a:blip r:embed="rId2"/>
          <a:stretch>
            <a:fillRect/>
          </a:stretch>
        </p:blipFill>
        <p:spPr>
          <a:xfrm>
            <a:off x="877824" y="4023360"/>
            <a:ext cx="182880" cy="182880"/>
          </a:xfrm>
          <a:prstGeom prst="rect">
            <a:avLst/>
          </a:prstGeom>
        </p:spPr>
      </p:pic>
      <p:sp>
        <p:nvSpPr>
          <p:cNvPr id="26" name="Text 22"/>
          <p:cNvSpPr/>
          <p:nvPr/>
        </p:nvSpPr>
        <p:spPr>
          <a:xfrm>
            <a:off x="1280160" y="3931920"/>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Identity is the company name</a:t>
            </a:r>
            <a:endParaRPr lang="en-US" sz="1200" dirty="0"/>
          </a:p>
        </p:txBody>
      </p:sp>
      <p:sp>
        <p:nvSpPr>
          <p:cNvPr id="27" name="Text 23"/>
          <p:cNvSpPr/>
          <p:nvPr/>
        </p:nvSpPr>
        <p:spPr>
          <a:xfrm>
            <a:off x="786384" y="4343400"/>
            <a:ext cx="3088538" cy="731520"/>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No Company ID, no Website ID, no internal identifier. The same name may legitimately appear many times — once per distinct HR contact.</a:t>
            </a:r>
            <a:endParaRPr lang="en-US" sz="950" dirty="0"/>
          </a:p>
        </p:txBody>
      </p:sp>
      <p:sp>
        <p:nvSpPr>
          <p:cNvPr id="28" name="Shape 24"/>
          <p:cNvSpPr/>
          <p:nvPr/>
        </p:nvSpPr>
        <p:spPr>
          <a:xfrm>
            <a:off x="4332122" y="3712464"/>
            <a:ext cx="3527450" cy="1536192"/>
          </a:xfrm>
          <a:prstGeom prst="roundRect">
            <a:avLst>
              <a:gd name="adj" fmla="val 595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9" name="Shape 25"/>
          <p:cNvSpPr/>
          <p:nvPr/>
        </p:nvSpPr>
        <p:spPr>
          <a:xfrm>
            <a:off x="4551578" y="3931920"/>
            <a:ext cx="365760" cy="365760"/>
          </a:xfrm>
          <a:prstGeom prst="ellipse">
            <a:avLst/>
          </a:prstGeom>
          <a:solidFill>
            <a:srgbClr val="175496"/>
          </a:solidFill>
          <a:ln w="12700">
            <a:solidFill>
              <a:srgbClr val="175496"/>
            </a:solidFill>
            <a:prstDash val="solid"/>
          </a:ln>
        </p:spPr>
      </p:sp>
      <p:pic>
        <p:nvPicPr>
          <p:cNvPr id="30" name="Image 2" descr="preencoded.png">    </p:cNvPr>
          <p:cNvPicPr>
            <a:picLocks noChangeAspect="1"/>
          </p:cNvPicPr>
          <p:nvPr/>
        </p:nvPicPr>
        <p:blipFill>
          <a:blip r:embed="rId3"/>
          <a:stretch>
            <a:fillRect/>
          </a:stretch>
        </p:blipFill>
        <p:spPr>
          <a:xfrm>
            <a:off x="4643018" y="4023360"/>
            <a:ext cx="182880" cy="182880"/>
          </a:xfrm>
          <a:prstGeom prst="rect">
            <a:avLst/>
          </a:prstGeom>
        </p:spPr>
      </p:pic>
      <p:sp>
        <p:nvSpPr>
          <p:cNvPr id="31" name="Text 26"/>
          <p:cNvSpPr/>
          <p:nvPr/>
        </p:nvSpPr>
        <p:spPr>
          <a:xfrm>
            <a:off x="5045354" y="3931920"/>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Unlimited HR contacts</a:t>
            </a:r>
            <a:endParaRPr lang="en-US" sz="1200" dirty="0"/>
          </a:p>
        </p:txBody>
      </p:sp>
      <p:sp>
        <p:nvSpPr>
          <p:cNvPr id="32" name="Text 27"/>
          <p:cNvSpPr/>
          <p:nvPr/>
        </p:nvSpPr>
        <p:spPr>
          <a:xfrm>
            <a:off x="4551578" y="4343400"/>
            <a:ext cx="3088538" cy="731520"/>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Infosys → HR 1, HR 2, HR 3 is one company with three contacts, not three company records. Driven by what the business receives, not a system limit.</a:t>
            </a:r>
            <a:endParaRPr lang="en-US" sz="950" dirty="0"/>
          </a:p>
        </p:txBody>
      </p:sp>
      <p:sp>
        <p:nvSpPr>
          <p:cNvPr id="33" name="Shape 28"/>
          <p:cNvSpPr/>
          <p:nvPr/>
        </p:nvSpPr>
        <p:spPr>
          <a:xfrm>
            <a:off x="8097317" y="3712464"/>
            <a:ext cx="3527450" cy="1536192"/>
          </a:xfrm>
          <a:prstGeom prst="roundRect">
            <a:avLst>
              <a:gd name="adj" fmla="val 595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4" name="Shape 29"/>
          <p:cNvSpPr/>
          <p:nvPr/>
        </p:nvSpPr>
        <p:spPr>
          <a:xfrm>
            <a:off x="8316773" y="3931920"/>
            <a:ext cx="365760" cy="365760"/>
          </a:xfrm>
          <a:prstGeom prst="ellipse">
            <a:avLst/>
          </a:prstGeom>
          <a:solidFill>
            <a:srgbClr val="00ACC1"/>
          </a:solidFill>
          <a:ln w="12700">
            <a:solidFill>
              <a:srgbClr val="00ACC1"/>
            </a:solidFill>
            <a:prstDash val="solid"/>
          </a:ln>
        </p:spPr>
      </p:sp>
      <p:pic>
        <p:nvPicPr>
          <p:cNvPr id="35" name="Image 3" descr="preencoded.png">    </p:cNvPr>
          <p:cNvPicPr>
            <a:picLocks noChangeAspect="1"/>
          </p:cNvPicPr>
          <p:nvPr/>
        </p:nvPicPr>
        <p:blipFill>
          <a:blip r:embed="rId4"/>
          <a:stretch>
            <a:fillRect/>
          </a:stretch>
        </p:blipFill>
        <p:spPr>
          <a:xfrm>
            <a:off x="8408213" y="4023360"/>
            <a:ext cx="182880" cy="182880"/>
          </a:xfrm>
          <a:prstGeom prst="rect">
            <a:avLst/>
          </a:prstGeom>
        </p:spPr>
      </p:pic>
      <p:sp>
        <p:nvSpPr>
          <p:cNvPr id="36" name="Text 30"/>
          <p:cNvSpPr/>
          <p:nvPr/>
        </p:nvSpPr>
        <p:spPr>
          <a:xfrm>
            <a:off x="8810549" y="3931920"/>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Five mandatory fields</a:t>
            </a:r>
            <a:endParaRPr lang="en-US" sz="1200" dirty="0"/>
          </a:p>
        </p:txBody>
      </p:sp>
      <p:sp>
        <p:nvSpPr>
          <p:cNvPr id="37" name="Text 31"/>
          <p:cNvSpPr/>
          <p:nvPr/>
        </p:nvSpPr>
        <p:spPr>
          <a:xfrm>
            <a:off x="8316773" y="4343400"/>
            <a:ext cx="3088538" cy="731520"/>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Company Name · HR Name · HR Mobile · HR Email, all mandatory, plus Company Type as an optional controlled list.</a:t>
            </a:r>
            <a:endParaRPr lang="en-US" sz="950" dirty="0"/>
          </a:p>
        </p:txBody>
      </p:sp>
      <p:sp>
        <p:nvSpPr>
          <p:cNvPr id="38" name="Text 32"/>
          <p:cNvSpPr/>
          <p:nvPr/>
        </p:nvSpPr>
        <p:spPr>
          <a:xfrm>
            <a:off x="566928" y="5413248"/>
            <a:ext cx="11057839" cy="274320"/>
          </a:xfrm>
          <a:prstGeom prst="rect">
            <a:avLst/>
          </a:prstGeom>
          <a:noFill/>
          <a:ln/>
        </p:spPr>
        <p:txBody>
          <a:bodyPr wrap="square" lIns="0" tIns="0" rIns="0" bIns="0" rtlCol="0" anchor="ctr"/>
          <a:lstStyle/>
          <a:p>
            <a:pPr indent="0" marL="0">
              <a:buNone/>
            </a:pPr>
            <a:r>
              <a:rPr lang="en-US" sz="1050" i="1" dirty="0">
                <a:solidFill>
                  <a:srgbClr val="7B8794"/>
                </a:solidFill>
                <a:latin typeface="Calibri" pitchFamily="34" charset="0"/>
                <a:ea typeface="Calibri" pitchFamily="34" charset="-122"/>
                <a:cs typeface="Calibri" pitchFamily="34" charset="-120"/>
              </a:rPr>
              <a:t>Explicitly out of scope for v1.0: Industry · Website · Headquarters · Company Size · Hiring Category · Remarks.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02</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02 §7 &amp; §11</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The duplicate rules, in full</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15</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1371600"/>
                <a:gridCol w="1554480"/>
                <a:gridCol w="1371600"/>
                <a:gridCol w="1371600"/>
                <a:gridCol w="5388559"/>
              </a:tblGrid>
              <a:tr h="402336">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Company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HR Name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Mobile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Email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System behaviour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402336">
                <a:tc>
                  <a:txBody>
                    <a:bodyPr/>
                    <a:lstStyle/>
                    <a:p>
                      <a:pPr algn="ctr" indent="0" marL="0">
                        <a:buNone/>
                      </a:pPr>
                      <a:r>
                        <a:rPr lang="en-US" sz="1050" b="1" dirty="0">
                          <a:solidFill>
                            <a:srgbClr val="3E4C59"/>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Different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Different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2E7D32"/>
                          </a:solidFill>
                          <a:latin typeface="Calibri" pitchFamily="34" charset="0"/>
                          <a:ea typeface="Calibri" pitchFamily="34" charset="-122"/>
                          <a:cs typeface="Calibri" pitchFamily="34" charset="-120"/>
                        </a:rPr>
                        <a:t>Allowed — a new HR contact for the same company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402336">
                <a:tc>
                  <a:txBody>
                    <a:bodyPr/>
                    <a:lstStyle/>
                    <a:p>
                      <a:pPr algn="ctr" indent="0" marL="0">
                        <a:buNone/>
                      </a:pPr>
                      <a:r>
                        <a:rPr lang="en-US" sz="1050" b="1" dirty="0">
                          <a:solidFill>
                            <a:srgbClr val="3E4C59"/>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Different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E7D32"/>
                          </a:solidFill>
                          <a:latin typeface="Calibri" pitchFamily="34" charset="0"/>
                          <a:ea typeface="Calibri" pitchFamily="34" charset="-122"/>
                          <a:cs typeface="Calibri" pitchFamily="34" charset="-120"/>
                        </a:rPr>
                        <a:t>Allowed — different HR may share a mobile or extension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402336">
                <a:tc>
                  <a:txBody>
                    <a:bodyPr/>
                    <a:lstStyle/>
                    <a:p>
                      <a:pPr algn="ctr" indent="0" marL="0">
                        <a:buNone/>
                      </a:pPr>
                      <a:r>
                        <a:rPr lang="en-US" sz="1050" b="1" dirty="0">
                          <a:solidFill>
                            <a:srgbClr val="3E4C59"/>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b="1" dirty="0">
                          <a:solidFill>
                            <a:srgbClr val="C62828"/>
                          </a:solidFill>
                          <a:latin typeface="Calibri" pitchFamily="34" charset="0"/>
                          <a:ea typeface="Calibri" pitchFamily="34" charset="-122"/>
                          <a:cs typeface="Calibri" pitchFamily="34" charset="-120"/>
                        </a:rPr>
                        <a:t>Duplicate — save blocked, warning shown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402336">
                <a:tc>
                  <a:txBody>
                    <a:bodyPr/>
                    <a:lstStyle/>
                    <a:p>
                      <a:pPr algn="ctr" indent="0" marL="0">
                        <a:buNone/>
                      </a:pPr>
                      <a:r>
                        <a:rPr lang="en-US" sz="1050" b="1" dirty="0">
                          <a:solidFill>
                            <a:srgbClr val="3E4C59"/>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Different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B26A00"/>
                          </a:solidFill>
                          <a:latin typeface="Calibri" pitchFamily="34" charset="0"/>
                          <a:ea typeface="Calibri" pitchFamily="34" charset="-122"/>
                          <a:cs typeface="Calibri" pitchFamily="34" charset="-120"/>
                        </a:rPr>
                        <a:t>Possible duplicate — allowed only after confirmation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bl>
          </a:graphicData>
        </a:graphic>
      </p:graphicFrame>
      <p:sp>
        <p:nvSpPr>
          <p:cNvPr id="10" name="Shape 6"/>
          <p:cNvSpPr/>
          <p:nvPr/>
        </p:nvSpPr>
        <p:spPr>
          <a:xfrm>
            <a:off x="566928" y="3364992"/>
            <a:ext cx="11057839" cy="1133856"/>
          </a:xfrm>
          <a:prstGeom prst="roundRect">
            <a:avLst>
              <a:gd name="adj" fmla="val 8065"/>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1" name="Text 7"/>
          <p:cNvSpPr/>
          <p:nvPr/>
        </p:nvSpPr>
        <p:spPr>
          <a:xfrm>
            <a:off x="786384" y="3584448"/>
            <a:ext cx="10618927"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The dialog explains rather than simply refusing</a:t>
            </a:r>
            <a:endParaRPr lang="en-US" sz="1350" dirty="0"/>
          </a:p>
        </p:txBody>
      </p:sp>
      <p:sp>
        <p:nvSpPr>
          <p:cNvPr id="12" name="Text 8"/>
          <p:cNvSpPr/>
          <p:nvPr/>
        </p:nvSpPr>
        <p:spPr>
          <a:xfrm>
            <a:off x="786384" y="3904488"/>
            <a:ext cx="10618927" cy="420624"/>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A “Possible Duplicate Found” popup shows the company, HR and mobile being saved alongside the existing matching record and its row reference, then offers three choices: View Existing · Continue Save · Cancel. An exact match on all four fields blocks the save until the user has reviewed it.</a:t>
            </a:r>
            <a:endParaRPr lang="en-US" sz="1050" dirty="0"/>
          </a:p>
        </p:txBody>
      </p:sp>
      <p:sp>
        <p:nvSpPr>
          <p:cNvPr id="13" name="Shape 9"/>
          <p:cNvSpPr/>
          <p:nvPr/>
        </p:nvSpPr>
        <p:spPr>
          <a:xfrm>
            <a:off x="566928" y="4626864"/>
            <a:ext cx="5410048" cy="1225296"/>
          </a:xfrm>
          <a:prstGeom prst="roundRect">
            <a:avLst>
              <a:gd name="adj" fmla="val 746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4" name="Shape 10"/>
          <p:cNvSpPr/>
          <p:nvPr/>
        </p:nvSpPr>
        <p:spPr>
          <a:xfrm>
            <a:off x="786384" y="4846320"/>
            <a:ext cx="365760" cy="365760"/>
          </a:xfrm>
          <a:prstGeom prst="ellipse">
            <a:avLst/>
          </a:prstGeom>
          <a:solidFill>
            <a:srgbClr val="175496"/>
          </a:solidFill>
          <a:ln w="12700">
            <a:solidFill>
              <a:srgbClr val="175496"/>
            </a:solidFill>
            <a:prstDash val="solid"/>
          </a:ln>
        </p:spPr>
      </p:sp>
      <p:pic>
        <p:nvPicPr>
          <p:cNvPr id="15" name="Image 1" descr="preencoded.png">    </p:cNvPr>
          <p:cNvPicPr>
            <a:picLocks noChangeAspect="1"/>
          </p:cNvPicPr>
          <p:nvPr/>
        </p:nvPicPr>
        <p:blipFill>
          <a:blip r:embed="rId2"/>
          <a:stretch>
            <a:fillRect/>
          </a:stretch>
        </p:blipFill>
        <p:spPr>
          <a:xfrm>
            <a:off x="877824" y="4937760"/>
            <a:ext cx="182880" cy="182880"/>
          </a:xfrm>
          <a:prstGeom prst="rect">
            <a:avLst/>
          </a:prstGeom>
        </p:spPr>
      </p:pic>
      <p:sp>
        <p:nvSpPr>
          <p:cNvPr id="16" name="Text 11"/>
          <p:cNvSpPr/>
          <p:nvPr/>
        </p:nvSpPr>
        <p:spPr>
          <a:xfrm>
            <a:off x="1280160" y="4846320"/>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Search by name or mobile only</a:t>
            </a:r>
            <a:endParaRPr lang="en-US" sz="1350" dirty="0"/>
          </a:p>
        </p:txBody>
      </p:sp>
      <p:sp>
        <p:nvSpPr>
          <p:cNvPr id="17" name="Text 12"/>
          <p:cNvSpPr/>
          <p:nvPr/>
        </p:nvSpPr>
        <p:spPr>
          <a:xfrm>
            <a:off x="786384" y="5257800"/>
            <a:ext cx="4971136" cy="420624"/>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Starts-with autocomplete — typing “ACC” lists Accenture, ACC Limited, Accops. Live filtering as you type, not on Enter. Never by HR name, email or industry.</a:t>
            </a:r>
            <a:endParaRPr lang="en-US" sz="1000" dirty="0"/>
          </a:p>
        </p:txBody>
      </p:sp>
      <p:sp>
        <p:nvSpPr>
          <p:cNvPr id="18" name="Shape 13"/>
          <p:cNvSpPr/>
          <p:nvPr/>
        </p:nvSpPr>
        <p:spPr>
          <a:xfrm>
            <a:off x="6214720" y="4626864"/>
            <a:ext cx="5410048" cy="1225296"/>
          </a:xfrm>
          <a:prstGeom prst="roundRect">
            <a:avLst>
              <a:gd name="adj" fmla="val 746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9" name="Shape 14"/>
          <p:cNvSpPr/>
          <p:nvPr/>
        </p:nvSpPr>
        <p:spPr>
          <a:xfrm>
            <a:off x="6434176" y="4846320"/>
            <a:ext cx="365760" cy="365760"/>
          </a:xfrm>
          <a:prstGeom prst="ellipse">
            <a:avLst/>
          </a:prstGeom>
          <a:solidFill>
            <a:srgbClr val="00ACC1"/>
          </a:solidFill>
          <a:ln w="12700">
            <a:solidFill>
              <a:srgbClr val="00ACC1"/>
            </a:solidFill>
            <a:prstDash val="solid"/>
          </a:ln>
        </p:spPr>
      </p:sp>
      <p:pic>
        <p:nvPicPr>
          <p:cNvPr id="20" name="Image 2" descr="preencoded.png">    </p:cNvPr>
          <p:cNvPicPr>
            <a:picLocks noChangeAspect="1"/>
          </p:cNvPicPr>
          <p:nvPr/>
        </p:nvPicPr>
        <p:blipFill>
          <a:blip r:embed="rId3"/>
          <a:stretch>
            <a:fillRect/>
          </a:stretch>
        </p:blipFill>
        <p:spPr>
          <a:xfrm>
            <a:off x="6525616" y="4937760"/>
            <a:ext cx="182880" cy="182880"/>
          </a:xfrm>
          <a:prstGeom prst="rect">
            <a:avLst/>
          </a:prstGeom>
        </p:spPr>
      </p:pic>
      <p:sp>
        <p:nvSpPr>
          <p:cNvPr id="21" name="Text 15"/>
          <p:cNvSpPr/>
          <p:nvPr/>
        </p:nvSpPr>
        <p:spPr>
          <a:xfrm>
            <a:off x="6927952" y="4846320"/>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One row per contact</a:t>
            </a:r>
            <a:endParaRPr lang="en-US" sz="1350" dirty="0"/>
          </a:p>
        </p:txBody>
      </p:sp>
      <p:sp>
        <p:nvSpPr>
          <p:cNvPr id="22" name="Text 16"/>
          <p:cNvSpPr/>
          <p:nvPr/>
        </p:nvSpPr>
        <p:spPr>
          <a:xfrm>
            <a:off x="6434176" y="5257800"/>
            <a:ext cx="4971136" cy="420624"/>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Results are never grouped under a collapsible company, because coordinators call people, not companies — grouping would add a click to every one of 70+ daily lookups.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02</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02 §9–16</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How the database stays clean</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16</a:t>
            </a:r>
            <a:endParaRPr lang="en-US" sz="950" dirty="0"/>
          </a:p>
        </p:txBody>
      </p:sp>
      <p:sp>
        <p:nvSpPr>
          <p:cNvPr id="9" name="Shape 6"/>
          <p:cNvSpPr/>
          <p:nvPr/>
        </p:nvSpPr>
        <p:spPr>
          <a:xfrm>
            <a:off x="566928" y="1371600"/>
            <a:ext cx="2586152" cy="2286000"/>
          </a:xfrm>
          <a:prstGeom prst="roundRect">
            <a:avLst>
              <a:gd name="adj" fmla="val 4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Shape 7"/>
          <p:cNvSpPr/>
          <p:nvPr/>
        </p:nvSpPr>
        <p:spPr>
          <a:xfrm>
            <a:off x="786384" y="1591056"/>
            <a:ext cx="420624" cy="420624"/>
          </a:xfrm>
          <a:prstGeom prst="ellipse">
            <a:avLst/>
          </a:prstGeom>
          <a:solidFill>
            <a:srgbClr val="0B2E59"/>
          </a:solidFill>
          <a:ln w="12700">
            <a:solidFill>
              <a:srgbClr val="0B2E59"/>
            </a:solidFill>
            <a:prstDash val="solid"/>
          </a:ln>
        </p:spPr>
      </p:sp>
      <p:pic>
        <p:nvPicPr>
          <p:cNvPr id="11" name="Image 1" descr="preencoded.png">    </p:cNvPr>
          <p:cNvPicPr>
            <a:picLocks noChangeAspect="1"/>
          </p:cNvPicPr>
          <p:nvPr/>
        </p:nvPicPr>
        <p:blipFill>
          <a:blip r:embed="rId2"/>
          <a:stretch>
            <a:fillRect/>
          </a:stretch>
        </p:blipFill>
        <p:spPr>
          <a:xfrm>
            <a:off x="891540" y="1696212"/>
            <a:ext cx="210312" cy="210312"/>
          </a:xfrm>
          <a:prstGeom prst="rect">
            <a:avLst/>
          </a:prstGeom>
        </p:spPr>
      </p:pic>
      <p:sp>
        <p:nvSpPr>
          <p:cNvPr id="12" name="Text 8"/>
          <p:cNvSpPr/>
          <p:nvPr/>
        </p:nvSpPr>
        <p:spPr>
          <a:xfrm>
            <a:off x="786384" y="2139696"/>
            <a:ext cx="2147240" cy="274320"/>
          </a:xfrm>
          <a:prstGeom prst="rect">
            <a:avLst/>
          </a:prstGeom>
          <a:noFill/>
          <a:ln/>
        </p:spPr>
        <p:txBody>
          <a:bodyPr wrap="square" lIns="0" tIns="0" rIns="0" bIns="0" rtlCol="0" anchor="t"/>
          <a:lstStyle/>
          <a:p>
            <a:pPr indent="0" marL="0">
              <a:buNone/>
            </a:pPr>
            <a:r>
              <a:rPr lang="en-US" sz="1150" b="1" dirty="0">
                <a:solidFill>
                  <a:srgbClr val="0B2E59"/>
                </a:solidFill>
                <a:latin typeface="Calibri" pitchFamily="34" charset="0"/>
                <a:ea typeface="Calibri" pitchFamily="34" charset="-122"/>
                <a:cs typeface="Calibri" pitchFamily="34" charset="-120"/>
              </a:rPr>
              <a:t>Edit by popup, not inline</a:t>
            </a:r>
            <a:endParaRPr lang="en-US" sz="1150" dirty="0"/>
          </a:p>
        </p:txBody>
      </p:sp>
      <p:sp>
        <p:nvSpPr>
          <p:cNvPr id="13" name="Text 9"/>
          <p:cNvSpPr/>
          <p:nvPr/>
        </p:nvSpPr>
        <p:spPr>
          <a:xfrm>
            <a:off x="786384" y="2459736"/>
            <a:ext cx="2147240" cy="102412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Chosen for better validation, a cleaner UI, easier mistake prevention, and a duplicate check that runs before anything is saved.</a:t>
            </a:r>
            <a:endParaRPr lang="en-US" sz="950" dirty="0"/>
          </a:p>
        </p:txBody>
      </p:sp>
      <p:sp>
        <p:nvSpPr>
          <p:cNvPr id="14" name="Shape 10"/>
          <p:cNvSpPr/>
          <p:nvPr/>
        </p:nvSpPr>
        <p:spPr>
          <a:xfrm>
            <a:off x="3390824" y="1371600"/>
            <a:ext cx="2586152" cy="2286000"/>
          </a:xfrm>
          <a:prstGeom prst="roundRect">
            <a:avLst>
              <a:gd name="adj" fmla="val 4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5" name="Shape 11"/>
          <p:cNvSpPr/>
          <p:nvPr/>
        </p:nvSpPr>
        <p:spPr>
          <a:xfrm>
            <a:off x="3610280" y="1591056"/>
            <a:ext cx="420624" cy="420624"/>
          </a:xfrm>
          <a:prstGeom prst="ellipse">
            <a:avLst/>
          </a:prstGeom>
          <a:solidFill>
            <a:srgbClr val="C62828"/>
          </a:solidFill>
          <a:ln w="12700">
            <a:solidFill>
              <a:srgbClr val="C62828"/>
            </a:solidFill>
            <a:prstDash val="solid"/>
          </a:ln>
        </p:spPr>
      </p:sp>
      <p:pic>
        <p:nvPicPr>
          <p:cNvPr id="16" name="Image 2" descr="preencoded.png">    </p:cNvPr>
          <p:cNvPicPr>
            <a:picLocks noChangeAspect="1"/>
          </p:cNvPicPr>
          <p:nvPr/>
        </p:nvPicPr>
        <p:blipFill>
          <a:blip r:embed="rId3"/>
          <a:stretch>
            <a:fillRect/>
          </a:stretch>
        </p:blipFill>
        <p:spPr>
          <a:xfrm>
            <a:off x="3715436" y="1696212"/>
            <a:ext cx="210312" cy="210312"/>
          </a:xfrm>
          <a:prstGeom prst="rect">
            <a:avLst/>
          </a:prstGeom>
        </p:spPr>
      </p:pic>
      <p:sp>
        <p:nvSpPr>
          <p:cNvPr id="17" name="Text 12"/>
          <p:cNvSpPr/>
          <p:nvPr/>
        </p:nvSpPr>
        <p:spPr>
          <a:xfrm>
            <a:off x="3610280" y="2139696"/>
            <a:ext cx="2147240" cy="274320"/>
          </a:xfrm>
          <a:prstGeom prst="rect">
            <a:avLst/>
          </a:prstGeom>
          <a:noFill/>
          <a:ln/>
        </p:spPr>
        <p:txBody>
          <a:bodyPr wrap="square" lIns="0" tIns="0" rIns="0" bIns="0" rtlCol="0" anchor="t"/>
          <a:lstStyle/>
          <a:p>
            <a:pPr indent="0" marL="0">
              <a:buNone/>
            </a:pPr>
            <a:r>
              <a:rPr lang="en-US" sz="1150" b="1" dirty="0">
                <a:solidFill>
                  <a:srgbClr val="0B2E59"/>
                </a:solidFill>
                <a:latin typeface="Calibri" pitchFamily="34" charset="0"/>
                <a:ea typeface="Calibri" pitchFamily="34" charset="-122"/>
                <a:cs typeface="Calibri" pitchFamily="34" charset="-120"/>
              </a:rPr>
              <a:t>Recycle Bin, never a purge</a:t>
            </a:r>
            <a:endParaRPr lang="en-US" sz="1150" dirty="0"/>
          </a:p>
        </p:txBody>
      </p:sp>
      <p:sp>
        <p:nvSpPr>
          <p:cNvPr id="18" name="Text 13"/>
          <p:cNvSpPr/>
          <p:nvPr/>
        </p:nvSpPr>
        <p:spPr>
          <a:xfrm>
            <a:off x="3610280" y="2459736"/>
            <a:ext cx="2147240" cy="102412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Deletion always asks for confirmation, then moves the record to a Recycle Bin. Only Team Leaders and Administrators can restore; only Administrators can purge.</a:t>
            </a:r>
            <a:endParaRPr lang="en-US" sz="950" dirty="0"/>
          </a:p>
        </p:txBody>
      </p:sp>
      <p:sp>
        <p:nvSpPr>
          <p:cNvPr id="19" name="Shape 14"/>
          <p:cNvSpPr/>
          <p:nvPr/>
        </p:nvSpPr>
        <p:spPr>
          <a:xfrm>
            <a:off x="6214720" y="1371600"/>
            <a:ext cx="2586152" cy="2286000"/>
          </a:xfrm>
          <a:prstGeom prst="roundRect">
            <a:avLst>
              <a:gd name="adj" fmla="val 4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0" name="Shape 15"/>
          <p:cNvSpPr/>
          <p:nvPr/>
        </p:nvSpPr>
        <p:spPr>
          <a:xfrm>
            <a:off x="6434176" y="1591056"/>
            <a:ext cx="420624" cy="420624"/>
          </a:xfrm>
          <a:prstGeom prst="ellipse">
            <a:avLst/>
          </a:prstGeom>
          <a:solidFill>
            <a:srgbClr val="00ACC1"/>
          </a:solidFill>
          <a:ln w="12700">
            <a:solidFill>
              <a:srgbClr val="00ACC1"/>
            </a:solidFill>
            <a:prstDash val="solid"/>
          </a:ln>
        </p:spPr>
      </p:sp>
      <p:pic>
        <p:nvPicPr>
          <p:cNvPr id="21" name="Image 3" descr="preencoded.png">    </p:cNvPr>
          <p:cNvPicPr>
            <a:picLocks noChangeAspect="1"/>
          </p:cNvPicPr>
          <p:nvPr/>
        </p:nvPicPr>
        <p:blipFill>
          <a:blip r:embed="rId4"/>
          <a:stretch>
            <a:fillRect/>
          </a:stretch>
        </p:blipFill>
        <p:spPr>
          <a:xfrm>
            <a:off x="6539332" y="1696212"/>
            <a:ext cx="210312" cy="210312"/>
          </a:xfrm>
          <a:prstGeom prst="rect">
            <a:avLst/>
          </a:prstGeom>
        </p:spPr>
      </p:pic>
      <p:sp>
        <p:nvSpPr>
          <p:cNvPr id="22" name="Text 16"/>
          <p:cNvSpPr/>
          <p:nvPr/>
        </p:nvSpPr>
        <p:spPr>
          <a:xfrm>
            <a:off x="6434176" y="2139696"/>
            <a:ext cx="2147240" cy="274320"/>
          </a:xfrm>
          <a:prstGeom prst="rect">
            <a:avLst/>
          </a:prstGeom>
          <a:noFill/>
          <a:ln/>
        </p:spPr>
        <p:txBody>
          <a:bodyPr wrap="square" lIns="0" tIns="0" rIns="0" bIns="0" rtlCol="0" anchor="t"/>
          <a:lstStyle/>
          <a:p>
            <a:pPr indent="0" marL="0">
              <a:buNone/>
            </a:pPr>
            <a:r>
              <a:rPr lang="en-US" sz="1150" b="1" dirty="0">
                <a:solidFill>
                  <a:srgbClr val="0B2E59"/>
                </a:solidFill>
                <a:latin typeface="Calibri" pitchFamily="34" charset="0"/>
                <a:ea typeface="Calibri" pitchFamily="34" charset="-122"/>
                <a:cs typeface="Calibri" pitchFamily="34" charset="-120"/>
              </a:rPr>
              <a:t>Simultaneous editing, never locked</a:t>
            </a:r>
            <a:endParaRPr lang="en-US" sz="1150" dirty="0"/>
          </a:p>
        </p:txBody>
      </p:sp>
      <p:sp>
        <p:nvSpPr>
          <p:cNvPr id="23" name="Text 17"/>
          <p:cNvSpPr/>
          <p:nvPr/>
        </p:nvSpPr>
        <p:spPr>
          <a:xfrm>
            <a:off x="6434176" y="2459736"/>
            <a:ext cx="2147240" cy="102412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Active presence is listed by name — green for viewing, purple for editing a specific record, in the spirit of Excel Online.</a:t>
            </a:r>
            <a:endParaRPr lang="en-US" sz="950" dirty="0"/>
          </a:p>
        </p:txBody>
      </p:sp>
      <p:sp>
        <p:nvSpPr>
          <p:cNvPr id="24" name="Shape 18"/>
          <p:cNvSpPr/>
          <p:nvPr/>
        </p:nvSpPr>
        <p:spPr>
          <a:xfrm>
            <a:off x="9038615" y="1371600"/>
            <a:ext cx="2586152" cy="2286000"/>
          </a:xfrm>
          <a:prstGeom prst="roundRect">
            <a:avLst>
              <a:gd name="adj" fmla="val 4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5" name="Shape 19"/>
          <p:cNvSpPr/>
          <p:nvPr/>
        </p:nvSpPr>
        <p:spPr>
          <a:xfrm>
            <a:off x="9258071" y="1591056"/>
            <a:ext cx="420624" cy="420624"/>
          </a:xfrm>
          <a:prstGeom prst="ellipse">
            <a:avLst/>
          </a:prstGeom>
          <a:solidFill>
            <a:srgbClr val="175496"/>
          </a:solidFill>
          <a:ln w="12700">
            <a:solidFill>
              <a:srgbClr val="175496"/>
            </a:solidFill>
            <a:prstDash val="solid"/>
          </a:ln>
        </p:spPr>
      </p:sp>
      <p:pic>
        <p:nvPicPr>
          <p:cNvPr id="26" name="Image 4" descr="preencoded.png">    </p:cNvPr>
          <p:cNvPicPr>
            <a:picLocks noChangeAspect="1"/>
          </p:cNvPicPr>
          <p:nvPr/>
        </p:nvPicPr>
        <p:blipFill>
          <a:blip r:embed="rId5"/>
          <a:stretch>
            <a:fillRect/>
          </a:stretch>
        </p:blipFill>
        <p:spPr>
          <a:xfrm>
            <a:off x="9363227" y="1696212"/>
            <a:ext cx="210312" cy="210312"/>
          </a:xfrm>
          <a:prstGeom prst="rect">
            <a:avLst/>
          </a:prstGeom>
        </p:spPr>
      </p:pic>
      <p:sp>
        <p:nvSpPr>
          <p:cNvPr id="27" name="Text 20"/>
          <p:cNvSpPr/>
          <p:nvPr/>
        </p:nvSpPr>
        <p:spPr>
          <a:xfrm>
            <a:off x="9258071" y="2139696"/>
            <a:ext cx="2147240" cy="274320"/>
          </a:xfrm>
          <a:prstGeom prst="rect">
            <a:avLst/>
          </a:prstGeom>
          <a:noFill/>
          <a:ln/>
        </p:spPr>
        <p:txBody>
          <a:bodyPr wrap="square" lIns="0" tIns="0" rIns="0" bIns="0" rtlCol="0" anchor="t"/>
          <a:lstStyle/>
          <a:p>
            <a:pPr indent="0" marL="0">
              <a:buNone/>
            </a:pPr>
            <a:r>
              <a:rPr lang="en-US" sz="1150" b="1" dirty="0">
                <a:solidFill>
                  <a:srgbClr val="0B2E59"/>
                </a:solidFill>
                <a:latin typeface="Calibri" pitchFamily="34" charset="0"/>
                <a:ea typeface="Calibri" pitchFamily="34" charset="-122"/>
                <a:cs typeface="Calibri" pitchFamily="34" charset="-120"/>
              </a:rPr>
              <a:t>Audit trail always visible</a:t>
            </a:r>
            <a:endParaRPr lang="en-US" sz="1150" dirty="0"/>
          </a:p>
        </p:txBody>
      </p:sp>
      <p:sp>
        <p:nvSpPr>
          <p:cNvPr id="28" name="Text 21"/>
          <p:cNvSpPr/>
          <p:nvPr/>
        </p:nvSpPr>
        <p:spPr>
          <a:xfrm>
            <a:off x="9258071" y="2459736"/>
            <a:ext cx="2147240" cy="102412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Created By · Created On · Last Updated By · Last Updated On are displayed on every record, not merely stored.</a:t>
            </a:r>
            <a:endParaRPr lang="en-US" sz="950" dirty="0"/>
          </a:p>
        </p:txBody>
      </p:sp>
      <p:sp>
        <p:nvSpPr>
          <p:cNvPr id="29" name="Shape 22"/>
          <p:cNvSpPr/>
          <p:nvPr/>
        </p:nvSpPr>
        <p:spPr>
          <a:xfrm>
            <a:off x="566928" y="3803904"/>
            <a:ext cx="11057839" cy="896112"/>
          </a:xfrm>
          <a:prstGeom prst="roundRect">
            <a:avLst>
              <a:gd name="adj" fmla="val 10204"/>
            </a:avLst>
          </a:prstGeom>
          <a:solidFill>
            <a:srgbClr val="FEF8EC"/>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0" name="Text 23"/>
          <p:cNvSpPr/>
          <p:nvPr/>
        </p:nvSpPr>
        <p:spPr>
          <a:xfrm>
            <a:off x="786384" y="4023360"/>
            <a:ext cx="10618927" cy="502920"/>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Conflict handling is a manual business decision, never an automatic merge: “This record was updated by Radha at 10:42 AM. Please review the latest changes before saving.” The user then decides whether to overwrite or skip.</a:t>
            </a:r>
            <a:endParaRPr lang="en-US" sz="1050" dirty="0"/>
          </a:p>
        </p:txBody>
      </p:sp>
      <p:sp>
        <p:nvSpPr>
          <p:cNvPr id="31" name="Text 24"/>
          <p:cNvSpPr/>
          <p:nvPr/>
        </p:nvSpPr>
        <p:spPr>
          <a:xfrm>
            <a:off x="566928" y="484632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COMPANY TYPE — THE CONTROLLED LIST FOR V1.0</a:t>
            </a:r>
            <a:endParaRPr lang="en-US" sz="950" dirty="0"/>
          </a:p>
        </p:txBody>
      </p:sp>
      <p:sp>
        <p:nvSpPr>
          <p:cNvPr id="32" name="Shape 25"/>
          <p:cNvSpPr/>
          <p:nvPr/>
        </p:nvSpPr>
        <p:spPr>
          <a:xfrm>
            <a:off x="566928" y="5102352"/>
            <a:ext cx="1736293" cy="420624"/>
          </a:xfrm>
          <a:prstGeom prst="roundRect">
            <a:avLst>
              <a:gd name="adj" fmla="val 108696"/>
            </a:avLst>
          </a:prstGeom>
          <a:solidFill>
            <a:srgbClr val="F4F7FA"/>
          </a:solidFill>
          <a:ln w="9525">
            <a:solidFill>
              <a:srgbClr val="E1E8F0"/>
            </a:solidFill>
            <a:prstDash val="solid"/>
          </a:ln>
        </p:spPr>
      </p:sp>
      <p:sp>
        <p:nvSpPr>
          <p:cNvPr id="33" name="Text 26"/>
          <p:cNvSpPr/>
          <p:nvPr/>
        </p:nvSpPr>
        <p:spPr>
          <a:xfrm>
            <a:off x="640080" y="5102352"/>
            <a:ext cx="1589989" cy="420624"/>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Software</a:t>
            </a:r>
            <a:endParaRPr lang="en-US" sz="1050" dirty="0"/>
          </a:p>
        </p:txBody>
      </p:sp>
      <p:sp>
        <p:nvSpPr>
          <p:cNvPr id="34" name="Shape 27"/>
          <p:cNvSpPr/>
          <p:nvPr/>
        </p:nvSpPr>
        <p:spPr>
          <a:xfrm>
            <a:off x="2431237" y="5102352"/>
            <a:ext cx="1736293" cy="420624"/>
          </a:xfrm>
          <a:prstGeom prst="roundRect">
            <a:avLst>
              <a:gd name="adj" fmla="val 108696"/>
            </a:avLst>
          </a:prstGeom>
          <a:solidFill>
            <a:srgbClr val="F4F7FA"/>
          </a:solidFill>
          <a:ln w="9525">
            <a:solidFill>
              <a:srgbClr val="E1E8F0"/>
            </a:solidFill>
            <a:prstDash val="solid"/>
          </a:ln>
        </p:spPr>
      </p:sp>
      <p:sp>
        <p:nvSpPr>
          <p:cNvPr id="35" name="Text 28"/>
          <p:cNvSpPr/>
          <p:nvPr/>
        </p:nvSpPr>
        <p:spPr>
          <a:xfrm>
            <a:off x="2504389" y="5102352"/>
            <a:ext cx="1589989" cy="420624"/>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AI</a:t>
            </a:r>
            <a:endParaRPr lang="en-US" sz="1050" dirty="0"/>
          </a:p>
        </p:txBody>
      </p:sp>
      <p:sp>
        <p:nvSpPr>
          <p:cNvPr id="36" name="Shape 29"/>
          <p:cNvSpPr/>
          <p:nvPr/>
        </p:nvSpPr>
        <p:spPr>
          <a:xfrm>
            <a:off x="4295546" y="5102352"/>
            <a:ext cx="1736293" cy="420624"/>
          </a:xfrm>
          <a:prstGeom prst="roundRect">
            <a:avLst>
              <a:gd name="adj" fmla="val 108696"/>
            </a:avLst>
          </a:prstGeom>
          <a:solidFill>
            <a:srgbClr val="F4F7FA"/>
          </a:solidFill>
          <a:ln w="9525">
            <a:solidFill>
              <a:srgbClr val="E1E8F0"/>
            </a:solidFill>
            <a:prstDash val="solid"/>
          </a:ln>
        </p:spPr>
      </p:sp>
      <p:sp>
        <p:nvSpPr>
          <p:cNvPr id="37" name="Text 30"/>
          <p:cNvSpPr/>
          <p:nvPr/>
        </p:nvSpPr>
        <p:spPr>
          <a:xfrm>
            <a:off x="4368698" y="5102352"/>
            <a:ext cx="1589989" cy="420624"/>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BPO</a:t>
            </a:r>
            <a:endParaRPr lang="en-US" sz="1050" dirty="0"/>
          </a:p>
        </p:txBody>
      </p:sp>
      <p:sp>
        <p:nvSpPr>
          <p:cNvPr id="38" name="Shape 31"/>
          <p:cNvSpPr/>
          <p:nvPr/>
        </p:nvSpPr>
        <p:spPr>
          <a:xfrm>
            <a:off x="6159856" y="5102352"/>
            <a:ext cx="1736293" cy="420624"/>
          </a:xfrm>
          <a:prstGeom prst="roundRect">
            <a:avLst>
              <a:gd name="adj" fmla="val 108696"/>
            </a:avLst>
          </a:prstGeom>
          <a:solidFill>
            <a:srgbClr val="F4F7FA"/>
          </a:solidFill>
          <a:ln w="9525">
            <a:solidFill>
              <a:srgbClr val="E1E8F0"/>
            </a:solidFill>
            <a:prstDash val="solid"/>
          </a:ln>
        </p:spPr>
      </p:sp>
      <p:sp>
        <p:nvSpPr>
          <p:cNvPr id="39" name="Text 32"/>
          <p:cNvSpPr/>
          <p:nvPr/>
        </p:nvSpPr>
        <p:spPr>
          <a:xfrm>
            <a:off x="6233008" y="5102352"/>
            <a:ext cx="1589989" cy="420624"/>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Banking</a:t>
            </a:r>
            <a:endParaRPr lang="en-US" sz="1050" dirty="0"/>
          </a:p>
        </p:txBody>
      </p:sp>
      <p:sp>
        <p:nvSpPr>
          <p:cNvPr id="40" name="Shape 33"/>
          <p:cNvSpPr/>
          <p:nvPr/>
        </p:nvSpPr>
        <p:spPr>
          <a:xfrm>
            <a:off x="8024165" y="5102352"/>
            <a:ext cx="1736293" cy="420624"/>
          </a:xfrm>
          <a:prstGeom prst="roundRect">
            <a:avLst>
              <a:gd name="adj" fmla="val 108696"/>
            </a:avLst>
          </a:prstGeom>
          <a:solidFill>
            <a:srgbClr val="F4F7FA"/>
          </a:solidFill>
          <a:ln w="9525">
            <a:solidFill>
              <a:srgbClr val="E1E8F0"/>
            </a:solidFill>
            <a:prstDash val="solid"/>
          </a:ln>
        </p:spPr>
      </p:sp>
      <p:sp>
        <p:nvSpPr>
          <p:cNvPr id="41" name="Text 34"/>
          <p:cNvSpPr/>
          <p:nvPr/>
        </p:nvSpPr>
        <p:spPr>
          <a:xfrm>
            <a:off x="8097317" y="5102352"/>
            <a:ext cx="1589989" cy="420624"/>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Education</a:t>
            </a:r>
            <a:endParaRPr lang="en-US" sz="1050" dirty="0"/>
          </a:p>
        </p:txBody>
      </p:sp>
      <p:sp>
        <p:nvSpPr>
          <p:cNvPr id="42" name="Shape 35"/>
          <p:cNvSpPr/>
          <p:nvPr/>
        </p:nvSpPr>
        <p:spPr>
          <a:xfrm>
            <a:off x="9888474" y="5102352"/>
            <a:ext cx="1736293" cy="420624"/>
          </a:xfrm>
          <a:prstGeom prst="roundRect">
            <a:avLst>
              <a:gd name="adj" fmla="val 108696"/>
            </a:avLst>
          </a:prstGeom>
          <a:solidFill>
            <a:srgbClr val="F4F7FA"/>
          </a:solidFill>
          <a:ln w="9525">
            <a:solidFill>
              <a:srgbClr val="E1E8F0"/>
            </a:solidFill>
            <a:prstDash val="solid"/>
          </a:ln>
        </p:spPr>
      </p:sp>
      <p:sp>
        <p:nvSpPr>
          <p:cNvPr id="43" name="Text 36"/>
          <p:cNvSpPr/>
          <p:nvPr/>
        </p:nvSpPr>
        <p:spPr>
          <a:xfrm>
            <a:off x="9961626" y="5102352"/>
            <a:ext cx="1589989" cy="420624"/>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Finance</a:t>
            </a:r>
            <a:endParaRPr lang="en-US" sz="1050" dirty="0"/>
          </a:p>
        </p:txBody>
      </p:sp>
      <p:sp>
        <p:nvSpPr>
          <p:cNvPr id="44" name="Text 37"/>
          <p:cNvSpPr/>
          <p:nvPr/>
        </p:nvSpPr>
        <p:spPr>
          <a:xfrm>
            <a:off x="566928" y="5614416"/>
            <a:ext cx="11057839" cy="27432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One-time initial Excel import only; afterwards records are added in the application. Bulk Paste of copied Excel rows is a documented future enhancement, not a v1.0 feature.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03</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03 — DAILY TRACKER</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The coordinator's daily workspace</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17</a:t>
            </a:r>
            <a:endParaRPr lang="en-US" sz="950" dirty="0"/>
          </a:p>
        </p:txBody>
      </p:sp>
      <p:sp>
        <p:nvSpPr>
          <p:cNvPr id="9" name="Shape 6"/>
          <p:cNvSpPr/>
          <p:nvPr/>
        </p:nvSpPr>
        <p:spPr>
          <a:xfrm>
            <a:off x="566928" y="1371600"/>
            <a:ext cx="11057839" cy="960120"/>
          </a:xfrm>
          <a:prstGeom prst="roundRect">
            <a:avLst>
              <a:gd name="adj" fmla="val 9524"/>
            </a:avLst>
          </a:prstGeom>
          <a:solidFill>
            <a:srgbClr val="EEF4FB"/>
          </a:solidFill>
          <a:ln w="9525">
            <a:solidFill>
              <a:srgbClr val="D6E4F5"/>
            </a:solidFill>
            <a:prstDash val="solid"/>
          </a:ln>
        </p:spPr>
      </p:sp>
      <p:sp>
        <p:nvSpPr>
          <p:cNvPr id="10" name="Text 7"/>
          <p:cNvSpPr/>
          <p:nvPr/>
        </p:nvSpPr>
        <p:spPr>
          <a:xfrm>
            <a:off x="877824" y="1536192"/>
            <a:ext cx="10436047" cy="393192"/>
          </a:xfrm>
          <a:prstGeom prst="rect">
            <a:avLst/>
          </a:prstGeom>
          <a:noFill/>
          <a:ln/>
        </p:spPr>
        <p:txBody>
          <a:bodyPr wrap="square" lIns="0" tIns="0" rIns="0" bIns="0" rtlCol="0" anchor="ctr"/>
          <a:lstStyle/>
          <a:p>
            <a:pPr indent="0" marL="0">
              <a:lnSpc>
                <a:spcPct val="112000"/>
              </a:lnSpc>
              <a:buNone/>
            </a:pPr>
            <a:r>
              <a:rPr lang="en-US" sz="1700" i="1" dirty="0">
                <a:solidFill>
                  <a:srgbClr val="0B2E59"/>
                </a:solidFill>
                <a:latin typeface="Calibri" pitchFamily="34" charset="0"/>
                <a:ea typeface="Calibri" pitchFamily="34" charset="-122"/>
                <a:cs typeface="Calibri" pitchFamily="34" charset="-120"/>
              </a:rPr>
              <a:t>“If Module 02 is the brain of the system, the Daily Tracker is its heartbeat.”</a:t>
            </a:r>
            <a:endParaRPr lang="en-US" sz="1700" dirty="0"/>
          </a:p>
        </p:txBody>
      </p:sp>
      <p:sp>
        <p:nvSpPr>
          <p:cNvPr id="11" name="Text 8"/>
          <p:cNvSpPr/>
          <p:nvPr/>
        </p:nvSpPr>
        <p:spPr>
          <a:xfrm>
            <a:off x="877824" y="1911096"/>
            <a:ext cx="10436047" cy="274320"/>
          </a:xfrm>
          <a:prstGeom prst="rect">
            <a:avLst/>
          </a:prstGeom>
          <a:noFill/>
          <a:ln/>
        </p:spPr>
        <p:txBody>
          <a:bodyPr wrap="square" lIns="0" tIns="0" rIns="0" bIns="0" rtlCol="0" anchor="ctr"/>
          <a:lstStyle/>
          <a:p>
            <a:pPr indent="0" marL="0">
              <a:buNone/>
            </a:pPr>
            <a:r>
              <a:rPr lang="en-US" sz="1000" dirty="0">
                <a:solidFill>
                  <a:srgbClr val="7B8794"/>
                </a:solidFill>
                <a:latin typeface="Calibri" pitchFamily="34" charset="0"/>
                <a:ea typeface="Calibri" pitchFamily="34" charset="-122"/>
                <a:cs typeface="Calibri" pitchFamily="34" charset="-120"/>
              </a:rPr>
              <a:t>Used every working day; every reporting module ultimately depends on it. Nine rounds of workflow discussion.</a:t>
            </a:r>
            <a:endParaRPr lang="en-US" sz="1000" dirty="0"/>
          </a:p>
        </p:txBody>
      </p:sp>
      <p:sp>
        <p:nvSpPr>
          <p:cNvPr id="12" name="Text 9"/>
          <p:cNvSpPr/>
          <p:nvPr/>
        </p:nvSpPr>
        <p:spPr>
          <a:xfrm>
            <a:off x="566928" y="2487168"/>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LOADING TODAY'S CONTACTS — THE MOST-DEBATED DECISION, RESOLVED ON THE THIRD ATTEMPT</a:t>
            </a:r>
            <a:endParaRPr lang="en-US" sz="950" dirty="0"/>
          </a:p>
        </p:txBody>
      </p:sp>
      <p:sp>
        <p:nvSpPr>
          <p:cNvPr id="13" name="Shape 10"/>
          <p:cNvSpPr/>
          <p:nvPr/>
        </p:nvSpPr>
        <p:spPr>
          <a:xfrm>
            <a:off x="566928" y="2743200"/>
            <a:ext cx="3527450" cy="1600200"/>
          </a:xfrm>
          <a:prstGeom prst="roundRect">
            <a:avLst>
              <a:gd name="adj" fmla="val 5714"/>
            </a:avLst>
          </a:prstGeom>
          <a:solidFill>
            <a:srgbClr val="FDF1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4" name="Text 11"/>
          <p:cNvSpPr/>
          <p:nvPr/>
        </p:nvSpPr>
        <p:spPr>
          <a:xfrm>
            <a:off x="786384" y="2962656"/>
            <a:ext cx="3088538" cy="274320"/>
          </a:xfrm>
          <a:prstGeom prst="rect">
            <a:avLst/>
          </a:prstGeom>
          <a:noFill/>
          <a:ln/>
        </p:spPr>
        <p:txBody>
          <a:bodyPr wrap="square" lIns="0" tIns="0" rIns="0" bIns="0" rtlCol="0" anchor="t"/>
          <a:lstStyle/>
          <a:p>
            <a:pPr indent="0" marL="0">
              <a:buNone/>
            </a:pPr>
            <a:r>
              <a:rPr lang="en-US" sz="1350" b="1" dirty="0">
                <a:solidFill>
                  <a:srgbClr val="C62828"/>
                </a:solidFill>
                <a:latin typeface="Calibri" pitchFamily="34" charset="0"/>
                <a:ea typeface="Calibri" pitchFamily="34" charset="-122"/>
                <a:cs typeface="Calibri" pitchFamily="34" charset="-120"/>
              </a:rPr>
              <a:t>✗  Rejected — type company names</a:t>
            </a:r>
            <a:endParaRPr lang="en-US" sz="1350" dirty="0"/>
          </a:p>
        </p:txBody>
      </p:sp>
      <p:sp>
        <p:nvSpPr>
          <p:cNvPr id="15" name="Text 12"/>
          <p:cNvSpPr/>
          <p:nvPr/>
        </p:nvSpPr>
        <p:spPr>
          <a:xfrm>
            <a:off x="786384" y="3282696"/>
            <a:ext cx="3088538" cy="88696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Coordinators do not know in advance which companies they will call. They pick a working set at the start of the day, so name-based search does not fit.</a:t>
            </a:r>
            <a:endParaRPr lang="en-US" sz="1000" dirty="0"/>
          </a:p>
        </p:txBody>
      </p:sp>
      <p:sp>
        <p:nvSpPr>
          <p:cNvPr id="16" name="Shape 13"/>
          <p:cNvSpPr/>
          <p:nvPr/>
        </p:nvSpPr>
        <p:spPr>
          <a:xfrm>
            <a:off x="4332122" y="2743200"/>
            <a:ext cx="3527450" cy="1600200"/>
          </a:xfrm>
          <a:prstGeom prst="roundRect">
            <a:avLst>
              <a:gd name="adj" fmla="val 5714"/>
            </a:avLst>
          </a:prstGeom>
          <a:solidFill>
            <a:srgbClr val="FDF1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7" name="Text 14"/>
          <p:cNvSpPr/>
          <p:nvPr/>
        </p:nvSpPr>
        <p:spPr>
          <a:xfrm>
            <a:off x="4551578" y="2962656"/>
            <a:ext cx="3088538" cy="274320"/>
          </a:xfrm>
          <a:prstGeom prst="rect">
            <a:avLst/>
          </a:prstGeom>
          <a:noFill/>
          <a:ln/>
        </p:spPr>
        <p:txBody>
          <a:bodyPr wrap="square" lIns="0" tIns="0" rIns="0" bIns="0" rtlCol="0" anchor="t"/>
          <a:lstStyle/>
          <a:p>
            <a:pPr indent="0" marL="0">
              <a:buNone/>
            </a:pPr>
            <a:r>
              <a:rPr lang="en-US" sz="1350" b="1" dirty="0">
                <a:solidFill>
                  <a:srgbClr val="C62828"/>
                </a:solidFill>
                <a:latin typeface="Calibri" pitchFamily="34" charset="0"/>
                <a:ea typeface="Calibri" pitchFamily="34" charset="-122"/>
                <a:cs typeface="Calibri" pitchFamily="34" charset="-120"/>
              </a:rPr>
              <a:t>✗  Rejected — open the full database</a:t>
            </a:r>
            <a:endParaRPr lang="en-US" sz="1350" dirty="0"/>
          </a:p>
        </p:txBody>
      </p:sp>
      <p:sp>
        <p:nvSpPr>
          <p:cNvPr id="18" name="Text 15"/>
          <p:cNvSpPr/>
          <p:nvPr/>
        </p:nvSpPr>
        <p:spPr>
          <a:xfrm>
            <a:off x="4551578" y="3282696"/>
            <a:ext cx="3088538" cy="88696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Opening the entire Master Company Database screen would let coordinators accidentally edit or delete master records while merely preparing today's calls.</a:t>
            </a:r>
            <a:endParaRPr lang="en-US" sz="1000" dirty="0"/>
          </a:p>
        </p:txBody>
      </p:sp>
      <p:sp>
        <p:nvSpPr>
          <p:cNvPr id="19" name="Shape 16"/>
          <p:cNvSpPr/>
          <p:nvPr/>
        </p:nvSpPr>
        <p:spPr>
          <a:xfrm>
            <a:off x="8097317" y="2743200"/>
            <a:ext cx="3527450" cy="1600200"/>
          </a:xfrm>
          <a:prstGeom prst="roundRect">
            <a:avLst>
              <a:gd name="adj" fmla="val 5714"/>
            </a:avLst>
          </a:prstGeom>
          <a:solidFill>
            <a:srgbClr val="F0F8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0" name="Text 17"/>
          <p:cNvSpPr/>
          <p:nvPr/>
        </p:nvSpPr>
        <p:spPr>
          <a:xfrm>
            <a:off x="8316773" y="2962656"/>
            <a:ext cx="3088538" cy="274320"/>
          </a:xfrm>
          <a:prstGeom prst="rect">
            <a:avLst/>
          </a:prstGeom>
          <a:noFill/>
          <a:ln/>
        </p:spPr>
        <p:txBody>
          <a:bodyPr wrap="square" lIns="0" tIns="0" rIns="0" bIns="0" rtlCol="0" anchor="t"/>
          <a:lstStyle/>
          <a:p>
            <a:pPr indent="0" marL="0">
              <a:buNone/>
            </a:pPr>
            <a:r>
              <a:rPr lang="en-US" sz="1350" b="1" dirty="0">
                <a:solidFill>
                  <a:srgbClr val="2E7D32"/>
                </a:solidFill>
                <a:latin typeface="Calibri" pitchFamily="34" charset="0"/>
                <a:ea typeface="Calibri" pitchFamily="34" charset="-122"/>
                <a:cs typeface="Calibri" pitchFamily="34" charset="-120"/>
              </a:rPr>
              <a:t>✓  Final — a read-only picker</a:t>
            </a:r>
            <a:endParaRPr lang="en-US" sz="1350" dirty="0"/>
          </a:p>
        </p:txBody>
      </p:sp>
      <p:sp>
        <p:nvSpPr>
          <p:cNvPr id="21" name="Text 18"/>
          <p:cNvSpPr/>
          <p:nvPr/>
        </p:nvSpPr>
        <p:spPr>
          <a:xfrm>
            <a:off x="8316773" y="3282696"/>
            <a:ext cx="3088538" cy="88696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Checkbox selection, Select All, Load Selected Contacts. No Add, Edit, Delete or Export — those stay exclusive to Module 02.</a:t>
            </a:r>
            <a:endParaRPr lang="en-US" sz="1000" dirty="0"/>
          </a:p>
        </p:txBody>
      </p:sp>
      <p:sp>
        <p:nvSpPr>
          <p:cNvPr id="22" name="Shape 19"/>
          <p:cNvSpPr/>
          <p:nvPr/>
        </p:nvSpPr>
        <p:spPr>
          <a:xfrm>
            <a:off x="566928" y="4480560"/>
            <a:ext cx="11057839" cy="1371600"/>
          </a:xfrm>
          <a:prstGeom prst="roundRect">
            <a:avLst>
              <a:gd name="adj" fmla="val 666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Text 20"/>
          <p:cNvSpPr/>
          <p:nvPr/>
        </p:nvSpPr>
        <p:spPr>
          <a:xfrm>
            <a:off x="786384" y="4700016"/>
            <a:ext cx="10618927"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What the picker fills in</a:t>
            </a:r>
            <a:endParaRPr lang="en-US" sz="1350" dirty="0"/>
          </a:p>
        </p:txBody>
      </p:sp>
      <p:sp>
        <p:nvSpPr>
          <p:cNvPr id="24" name="Text 21"/>
          <p:cNvSpPr/>
          <p:nvPr/>
        </p:nvSpPr>
        <p:spPr>
          <a:xfrm>
            <a:off x="786384" y="5020056"/>
            <a:ext cx="10618927" cy="65836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Selected contacts populate the grid with Company Name, HR Name, Mobile Number and Email ID pre-filled. Start Time, End Time, Duration, Call Outcome and Comments stay empty and fully editable. A coordinator commonly loads around 70 contacts, entirely at their own discretion — there is no forced assignment and no system-assigned calling order.</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03</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03 §9–11</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The grid, the clock and the keyboard</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18</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3108960"/>
                <a:gridCol w="7948879"/>
              </a:tblGrid>
              <a:tr h="32918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Column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Behaviour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Serial No.</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System-generated, sequential for the day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Start Time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Manual entry, or Spacebar / ⏱ Now to insert the current system time — always editable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End Time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Automatic — captured the moment Call Outcome is selected, then locked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Duration</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Automatic — End minus Start, shown readably as “01m 53s”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Company / HR / Mobile / Email</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Pre-filled from the picker; Mobile mandatory, Email optional</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Call Outcome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Mandatory before a row counts as complete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Comments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Optional free text</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
        <p:nvSpPr>
          <p:cNvPr id="10" name="Text 6"/>
          <p:cNvSpPr/>
          <p:nvPr/>
        </p:nvSpPr>
        <p:spPr>
          <a:xfrm>
            <a:off x="566928" y="416966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KEYBOARD SHORTCUTS — THE HANDS-ON-KEYBOARD CYCLE, REPEATED 70+ TIMES A DAY</a:t>
            </a:r>
            <a:endParaRPr lang="en-US" sz="950" dirty="0"/>
          </a:p>
        </p:txBody>
      </p:sp>
      <p:sp>
        <p:nvSpPr>
          <p:cNvPr id="11" name="Shape 7"/>
          <p:cNvSpPr/>
          <p:nvPr/>
        </p:nvSpPr>
        <p:spPr>
          <a:xfrm>
            <a:off x="566928" y="4425696"/>
            <a:ext cx="2109155" cy="420624"/>
          </a:xfrm>
          <a:prstGeom prst="roundRect">
            <a:avLst>
              <a:gd name="adj" fmla="val 108696"/>
            </a:avLst>
          </a:prstGeom>
          <a:solidFill>
            <a:srgbClr val="F4F7FA"/>
          </a:solidFill>
          <a:ln w="9525">
            <a:solidFill>
              <a:srgbClr val="E1E8F0"/>
            </a:solidFill>
            <a:prstDash val="solid"/>
          </a:ln>
        </p:spPr>
      </p:sp>
      <p:sp>
        <p:nvSpPr>
          <p:cNvPr id="12" name="Text 8"/>
          <p:cNvSpPr/>
          <p:nvPr/>
        </p:nvSpPr>
        <p:spPr>
          <a:xfrm>
            <a:off x="640080" y="4425696"/>
            <a:ext cx="1962851" cy="420624"/>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Space — insert start time</a:t>
            </a:r>
            <a:endParaRPr lang="en-US" sz="950" dirty="0"/>
          </a:p>
        </p:txBody>
      </p:sp>
      <p:sp>
        <p:nvSpPr>
          <p:cNvPr id="13" name="Shape 9"/>
          <p:cNvSpPr/>
          <p:nvPr/>
        </p:nvSpPr>
        <p:spPr>
          <a:xfrm>
            <a:off x="2804099" y="4425696"/>
            <a:ext cx="2109155" cy="420624"/>
          </a:xfrm>
          <a:prstGeom prst="roundRect">
            <a:avLst>
              <a:gd name="adj" fmla="val 108696"/>
            </a:avLst>
          </a:prstGeom>
          <a:solidFill>
            <a:srgbClr val="F4F7FA"/>
          </a:solidFill>
          <a:ln w="9525">
            <a:solidFill>
              <a:srgbClr val="E1E8F0"/>
            </a:solidFill>
            <a:prstDash val="solid"/>
          </a:ln>
        </p:spPr>
      </p:sp>
      <p:sp>
        <p:nvSpPr>
          <p:cNvPr id="14" name="Text 10"/>
          <p:cNvSpPr/>
          <p:nvPr/>
        </p:nvSpPr>
        <p:spPr>
          <a:xfrm>
            <a:off x="2877251" y="4425696"/>
            <a:ext cx="1962851" cy="420624"/>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Tab — next cell</a:t>
            </a:r>
            <a:endParaRPr lang="en-US" sz="950" dirty="0"/>
          </a:p>
        </p:txBody>
      </p:sp>
      <p:sp>
        <p:nvSpPr>
          <p:cNvPr id="15" name="Shape 11"/>
          <p:cNvSpPr/>
          <p:nvPr/>
        </p:nvSpPr>
        <p:spPr>
          <a:xfrm>
            <a:off x="5041270" y="4425696"/>
            <a:ext cx="2109155" cy="420624"/>
          </a:xfrm>
          <a:prstGeom prst="roundRect">
            <a:avLst>
              <a:gd name="adj" fmla="val 108696"/>
            </a:avLst>
          </a:prstGeom>
          <a:solidFill>
            <a:srgbClr val="F4F7FA"/>
          </a:solidFill>
          <a:ln w="9525">
            <a:solidFill>
              <a:srgbClr val="E1E8F0"/>
            </a:solidFill>
            <a:prstDash val="solid"/>
          </a:ln>
        </p:spPr>
      </p:sp>
      <p:sp>
        <p:nvSpPr>
          <p:cNvPr id="16" name="Text 12"/>
          <p:cNvSpPr/>
          <p:nvPr/>
        </p:nvSpPr>
        <p:spPr>
          <a:xfrm>
            <a:off x="5114422" y="4425696"/>
            <a:ext cx="1962851" cy="420624"/>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Enter — save row, drop down</a:t>
            </a:r>
            <a:endParaRPr lang="en-US" sz="950" dirty="0"/>
          </a:p>
        </p:txBody>
      </p:sp>
      <p:sp>
        <p:nvSpPr>
          <p:cNvPr id="17" name="Shape 13"/>
          <p:cNvSpPr/>
          <p:nvPr/>
        </p:nvSpPr>
        <p:spPr>
          <a:xfrm>
            <a:off x="7278441" y="4425696"/>
            <a:ext cx="2109155" cy="420624"/>
          </a:xfrm>
          <a:prstGeom prst="roundRect">
            <a:avLst>
              <a:gd name="adj" fmla="val 108696"/>
            </a:avLst>
          </a:prstGeom>
          <a:solidFill>
            <a:srgbClr val="F4F7FA"/>
          </a:solidFill>
          <a:ln w="9525">
            <a:solidFill>
              <a:srgbClr val="E1E8F0"/>
            </a:solidFill>
            <a:prstDash val="solid"/>
          </a:ln>
        </p:spPr>
      </p:sp>
      <p:sp>
        <p:nvSpPr>
          <p:cNvPr id="18" name="Text 14"/>
          <p:cNvSpPr/>
          <p:nvPr/>
        </p:nvSpPr>
        <p:spPr>
          <a:xfrm>
            <a:off x="7351593" y="4425696"/>
            <a:ext cx="1962851" cy="420624"/>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Ctrl+S — manual save</a:t>
            </a:r>
            <a:endParaRPr lang="en-US" sz="950" dirty="0"/>
          </a:p>
        </p:txBody>
      </p:sp>
      <p:sp>
        <p:nvSpPr>
          <p:cNvPr id="19" name="Shape 15"/>
          <p:cNvSpPr/>
          <p:nvPr/>
        </p:nvSpPr>
        <p:spPr>
          <a:xfrm>
            <a:off x="9515612" y="4425696"/>
            <a:ext cx="2109155" cy="420624"/>
          </a:xfrm>
          <a:prstGeom prst="roundRect">
            <a:avLst>
              <a:gd name="adj" fmla="val 108696"/>
            </a:avLst>
          </a:prstGeom>
          <a:solidFill>
            <a:srgbClr val="F4F7FA"/>
          </a:solidFill>
          <a:ln w="9525">
            <a:solidFill>
              <a:srgbClr val="E1E8F0"/>
            </a:solidFill>
            <a:prstDash val="solid"/>
          </a:ln>
        </p:spPr>
      </p:sp>
      <p:sp>
        <p:nvSpPr>
          <p:cNvPr id="20" name="Text 16"/>
          <p:cNvSpPr/>
          <p:nvPr/>
        </p:nvSpPr>
        <p:spPr>
          <a:xfrm>
            <a:off x="9588764" y="4425696"/>
            <a:ext cx="1962851" cy="420624"/>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Delete — clear cell</a:t>
            </a:r>
            <a:endParaRPr lang="en-US" sz="950" dirty="0"/>
          </a:p>
        </p:txBody>
      </p:sp>
      <p:sp>
        <p:nvSpPr>
          <p:cNvPr id="21" name="Shape 17"/>
          <p:cNvSpPr/>
          <p:nvPr/>
        </p:nvSpPr>
        <p:spPr>
          <a:xfrm>
            <a:off x="566928" y="4956048"/>
            <a:ext cx="5410048" cy="1078992"/>
          </a:xfrm>
          <a:prstGeom prst="roundRect">
            <a:avLst>
              <a:gd name="adj" fmla="val 847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2" name="Shape 18"/>
          <p:cNvSpPr/>
          <p:nvPr/>
        </p:nvSpPr>
        <p:spPr>
          <a:xfrm>
            <a:off x="786384" y="5175504"/>
            <a:ext cx="365760" cy="365760"/>
          </a:xfrm>
          <a:prstGeom prst="ellipse">
            <a:avLst/>
          </a:prstGeom>
          <a:solidFill>
            <a:srgbClr val="00ACC1"/>
          </a:solidFill>
          <a:ln w="12700">
            <a:solidFill>
              <a:srgbClr val="00ACC1"/>
            </a:solidFill>
            <a:prstDash val="solid"/>
          </a:ln>
        </p:spPr>
      </p:sp>
      <p:pic>
        <p:nvPicPr>
          <p:cNvPr id="23" name="Image 1" descr="preencoded.png">    </p:cNvPr>
          <p:cNvPicPr>
            <a:picLocks noChangeAspect="1"/>
          </p:cNvPicPr>
          <p:nvPr/>
        </p:nvPicPr>
        <p:blipFill>
          <a:blip r:embed="rId2"/>
          <a:stretch>
            <a:fillRect/>
          </a:stretch>
        </p:blipFill>
        <p:spPr>
          <a:xfrm>
            <a:off x="877824" y="5266944"/>
            <a:ext cx="182880" cy="182880"/>
          </a:xfrm>
          <a:prstGeom prst="rect">
            <a:avLst/>
          </a:prstGeom>
        </p:spPr>
      </p:pic>
      <p:sp>
        <p:nvSpPr>
          <p:cNvPr id="24" name="Text 19"/>
          <p:cNvSpPr/>
          <p:nvPr/>
        </p:nvSpPr>
        <p:spPr>
          <a:xfrm>
            <a:off x="1280160" y="5175504"/>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Two timing models were rejected</a:t>
            </a:r>
            <a:endParaRPr lang="en-US" sz="1350" dirty="0"/>
          </a:p>
        </p:txBody>
      </p:sp>
      <p:sp>
        <p:nvSpPr>
          <p:cNvPr id="25" name="Text 20"/>
          <p:cNvSpPr/>
          <p:nvPr/>
        </p:nvSpPr>
        <p:spPr>
          <a:xfrm>
            <a:off x="786384" y="5586984"/>
            <a:ext cx="4971136" cy="274320"/>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Auto-starting on row click (coordinators pause before dialing) and carrying the previous End Time forward (breaks and interruptions make it wrong).</a:t>
            </a:r>
            <a:endParaRPr lang="en-US" sz="1000" dirty="0"/>
          </a:p>
        </p:txBody>
      </p:sp>
      <p:sp>
        <p:nvSpPr>
          <p:cNvPr id="26" name="Shape 21"/>
          <p:cNvSpPr/>
          <p:nvPr/>
        </p:nvSpPr>
        <p:spPr>
          <a:xfrm>
            <a:off x="6214720" y="4956048"/>
            <a:ext cx="5410048" cy="1078992"/>
          </a:xfrm>
          <a:prstGeom prst="roundRect">
            <a:avLst>
              <a:gd name="adj" fmla="val 847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7" name="Shape 22"/>
          <p:cNvSpPr/>
          <p:nvPr/>
        </p:nvSpPr>
        <p:spPr>
          <a:xfrm>
            <a:off x="6434176" y="5175504"/>
            <a:ext cx="365760" cy="365760"/>
          </a:xfrm>
          <a:prstGeom prst="ellipse">
            <a:avLst/>
          </a:prstGeom>
          <a:solidFill>
            <a:srgbClr val="F59E0B"/>
          </a:solidFill>
          <a:ln w="12700">
            <a:solidFill>
              <a:srgbClr val="F59E0B"/>
            </a:solidFill>
            <a:prstDash val="solid"/>
          </a:ln>
        </p:spPr>
      </p:sp>
      <p:pic>
        <p:nvPicPr>
          <p:cNvPr id="28" name="Image 2" descr="preencoded.png">    </p:cNvPr>
          <p:cNvPicPr>
            <a:picLocks noChangeAspect="1"/>
          </p:cNvPicPr>
          <p:nvPr/>
        </p:nvPicPr>
        <p:blipFill>
          <a:blip r:embed="rId3"/>
          <a:stretch>
            <a:fillRect/>
          </a:stretch>
        </p:blipFill>
        <p:spPr>
          <a:xfrm>
            <a:off x="6525616" y="5266944"/>
            <a:ext cx="182880" cy="182880"/>
          </a:xfrm>
          <a:prstGeom prst="rect">
            <a:avLst/>
          </a:prstGeom>
        </p:spPr>
      </p:pic>
      <p:sp>
        <p:nvSpPr>
          <p:cNvPr id="29" name="Text 23"/>
          <p:cNvSpPr/>
          <p:nvPr/>
        </p:nvSpPr>
        <p:spPr>
          <a:xfrm>
            <a:off x="6927952" y="5175504"/>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Duration means activity, not talk time</a:t>
            </a:r>
            <a:endParaRPr lang="en-US" sz="1350" dirty="0"/>
          </a:p>
        </p:txBody>
      </p:sp>
      <p:sp>
        <p:nvSpPr>
          <p:cNvPr id="30" name="Text 24"/>
          <p:cNvSpPr/>
          <p:nvPr/>
        </p:nvSpPr>
        <p:spPr>
          <a:xfrm>
            <a:off x="6434176" y="5586984"/>
            <a:ext cx="4971136" cy="274320"/>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Coordinators dial from personal mobiles outside the software. True talk-time needs telephony integration — out of scope for v1.0.</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03</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03 §12–15</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One outcome field, and soft validation</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19</a:t>
            </a:r>
            <a:endParaRPr lang="en-US" sz="950" dirty="0"/>
          </a:p>
        </p:txBody>
      </p:sp>
      <p:sp>
        <p:nvSpPr>
          <p:cNvPr id="9" name="Shape 6"/>
          <p:cNvSpPr/>
          <p:nvPr/>
        </p:nvSpPr>
        <p:spPr>
          <a:xfrm>
            <a:off x="566928" y="1371600"/>
            <a:ext cx="11057839" cy="960120"/>
          </a:xfrm>
          <a:prstGeom prst="roundRect">
            <a:avLst>
              <a:gd name="adj" fmla="val 9524"/>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Text 7"/>
          <p:cNvSpPr/>
          <p:nvPr/>
        </p:nvSpPr>
        <p:spPr>
          <a:xfrm>
            <a:off x="786384" y="1591056"/>
            <a:ext cx="10618927"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Why “Response 2” was removed entirely</a:t>
            </a:r>
            <a:endParaRPr lang="en-US" sz="1350" dirty="0"/>
          </a:p>
        </p:txBody>
      </p:sp>
      <p:sp>
        <p:nvSpPr>
          <p:cNvPr id="11" name="Text 8"/>
          <p:cNvSpPr/>
          <p:nvPr/>
        </p:nvSpPr>
        <p:spPr>
          <a:xfrm>
            <a:off x="786384" y="1911096"/>
            <a:ext cx="10618927" cy="24688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Response 1 and Response 2 were originally designed together as Primary Call Outcome and Secondary Business Status. Walking through a real case — Invite Mail → Invite Sent → Awaiting JD, spanning days after Submit Day had been clicked — showed Response 2 does not belong here at all. The Daily Tracker records what happened on today's call; it never reopens a submitted day. The full lifecycle moved to Module 04.</a:t>
            </a:r>
            <a:endParaRPr lang="en-US" sz="1050" dirty="0"/>
          </a:p>
        </p:txBody>
      </p:sp>
      <p:sp>
        <p:nvSpPr>
          <p:cNvPr id="12" name="Text 9"/>
          <p:cNvSpPr/>
          <p:nvPr/>
        </p:nvSpPr>
        <p:spPr>
          <a:xfrm>
            <a:off x="566928" y="2505456"/>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CALL OUTCOME — THE ONLY OUTCOME FIELD RETAINED</a:t>
            </a:r>
            <a:endParaRPr lang="en-US" sz="950" dirty="0"/>
          </a:p>
        </p:txBody>
      </p:sp>
      <p:sp>
        <p:nvSpPr>
          <p:cNvPr id="13" name="Shape 10"/>
          <p:cNvSpPr/>
          <p:nvPr/>
        </p:nvSpPr>
        <p:spPr>
          <a:xfrm>
            <a:off x="566928" y="2761488"/>
            <a:ext cx="1469963" cy="420624"/>
          </a:xfrm>
          <a:prstGeom prst="roundRect">
            <a:avLst>
              <a:gd name="adj" fmla="val 108696"/>
            </a:avLst>
          </a:prstGeom>
          <a:solidFill>
            <a:srgbClr val="F1F4F8"/>
          </a:solidFill>
          <a:ln w="9525">
            <a:solidFill>
              <a:srgbClr val="E1E8F0"/>
            </a:solidFill>
            <a:prstDash val="solid"/>
          </a:ln>
        </p:spPr>
      </p:sp>
      <p:sp>
        <p:nvSpPr>
          <p:cNvPr id="14" name="Text 11"/>
          <p:cNvSpPr/>
          <p:nvPr/>
        </p:nvSpPr>
        <p:spPr>
          <a:xfrm>
            <a:off x="640080" y="2761488"/>
            <a:ext cx="1323659" cy="420624"/>
          </a:xfrm>
          <a:prstGeom prst="rect">
            <a:avLst/>
          </a:prstGeom>
          <a:noFill/>
          <a:ln/>
        </p:spPr>
        <p:txBody>
          <a:bodyPr wrap="square" lIns="0" tIns="0" rIns="0" bIns="0" rtlCol="0" anchor="ctr"/>
          <a:lstStyle/>
          <a:p>
            <a:pPr algn="ctr" indent="0" marL="0">
              <a:buNone/>
            </a:pPr>
            <a:r>
              <a:rPr lang="en-US" sz="900" b="1" dirty="0">
                <a:solidFill>
                  <a:srgbClr val="6B7A8C"/>
                </a:solidFill>
                <a:latin typeface="Calibri" pitchFamily="34" charset="0"/>
                <a:ea typeface="Calibri" pitchFamily="34" charset="-122"/>
                <a:cs typeface="Calibri" pitchFamily="34" charset="-120"/>
              </a:rPr>
              <a:t>No Response</a:t>
            </a:r>
            <a:endParaRPr lang="en-US" sz="900" dirty="0"/>
          </a:p>
        </p:txBody>
      </p:sp>
      <p:sp>
        <p:nvSpPr>
          <p:cNvPr id="15" name="Shape 12"/>
          <p:cNvSpPr/>
          <p:nvPr/>
        </p:nvSpPr>
        <p:spPr>
          <a:xfrm>
            <a:off x="2164907" y="2761488"/>
            <a:ext cx="1469963" cy="420624"/>
          </a:xfrm>
          <a:prstGeom prst="roundRect">
            <a:avLst>
              <a:gd name="adj" fmla="val 108696"/>
            </a:avLst>
          </a:prstGeom>
          <a:solidFill>
            <a:srgbClr val="F1F4F8"/>
          </a:solidFill>
          <a:ln w="9525">
            <a:solidFill>
              <a:srgbClr val="E1E8F0"/>
            </a:solidFill>
            <a:prstDash val="solid"/>
          </a:ln>
        </p:spPr>
      </p:sp>
      <p:sp>
        <p:nvSpPr>
          <p:cNvPr id="16" name="Text 13"/>
          <p:cNvSpPr/>
          <p:nvPr/>
        </p:nvSpPr>
        <p:spPr>
          <a:xfrm>
            <a:off x="2238059" y="2761488"/>
            <a:ext cx="1323659" cy="420624"/>
          </a:xfrm>
          <a:prstGeom prst="rect">
            <a:avLst/>
          </a:prstGeom>
          <a:noFill/>
          <a:ln/>
        </p:spPr>
        <p:txBody>
          <a:bodyPr wrap="square" lIns="0" tIns="0" rIns="0" bIns="0" rtlCol="0" anchor="ctr"/>
          <a:lstStyle/>
          <a:p>
            <a:pPr algn="ctr" indent="0" marL="0">
              <a:buNone/>
            </a:pPr>
            <a:r>
              <a:rPr lang="en-US" sz="900" b="1" dirty="0">
                <a:solidFill>
                  <a:srgbClr val="6B7A8C"/>
                </a:solidFill>
                <a:latin typeface="Calibri" pitchFamily="34" charset="0"/>
                <a:ea typeface="Calibri" pitchFamily="34" charset="-122"/>
                <a:cs typeface="Calibri" pitchFamily="34" charset="-120"/>
              </a:rPr>
              <a:t>Invalid</a:t>
            </a:r>
            <a:endParaRPr lang="en-US" sz="900" dirty="0"/>
          </a:p>
        </p:txBody>
      </p:sp>
      <p:sp>
        <p:nvSpPr>
          <p:cNvPr id="17" name="Shape 14"/>
          <p:cNvSpPr/>
          <p:nvPr/>
        </p:nvSpPr>
        <p:spPr>
          <a:xfrm>
            <a:off x="3762887" y="2761488"/>
            <a:ext cx="1469963" cy="420624"/>
          </a:xfrm>
          <a:prstGeom prst="roundRect">
            <a:avLst>
              <a:gd name="adj" fmla="val 108696"/>
            </a:avLst>
          </a:prstGeom>
          <a:solidFill>
            <a:srgbClr val="FBEDED"/>
          </a:solidFill>
          <a:ln w="9525">
            <a:solidFill>
              <a:srgbClr val="E1E8F0"/>
            </a:solidFill>
            <a:prstDash val="solid"/>
          </a:ln>
        </p:spPr>
      </p:sp>
      <p:sp>
        <p:nvSpPr>
          <p:cNvPr id="18" name="Text 15"/>
          <p:cNvSpPr/>
          <p:nvPr/>
        </p:nvSpPr>
        <p:spPr>
          <a:xfrm>
            <a:off x="3836039" y="2761488"/>
            <a:ext cx="1323659" cy="420624"/>
          </a:xfrm>
          <a:prstGeom prst="rect">
            <a:avLst/>
          </a:prstGeom>
          <a:noFill/>
          <a:ln/>
        </p:spPr>
        <p:txBody>
          <a:bodyPr wrap="square" lIns="0" tIns="0" rIns="0" bIns="0" rtlCol="0" anchor="ctr"/>
          <a:lstStyle/>
          <a:p>
            <a:pPr algn="ctr" indent="0" marL="0">
              <a:buNone/>
            </a:pPr>
            <a:r>
              <a:rPr lang="en-US" sz="900" b="1" dirty="0">
                <a:solidFill>
                  <a:srgbClr val="C62828"/>
                </a:solidFill>
                <a:latin typeface="Calibri" pitchFamily="34" charset="0"/>
                <a:ea typeface="Calibri" pitchFamily="34" charset="-122"/>
                <a:cs typeface="Calibri" pitchFamily="34" charset="-120"/>
              </a:rPr>
              <a:t>Not Hiring</a:t>
            </a:r>
            <a:endParaRPr lang="en-US" sz="900" dirty="0"/>
          </a:p>
        </p:txBody>
      </p:sp>
      <p:sp>
        <p:nvSpPr>
          <p:cNvPr id="19" name="Shape 16"/>
          <p:cNvSpPr/>
          <p:nvPr/>
        </p:nvSpPr>
        <p:spPr>
          <a:xfrm>
            <a:off x="5360866" y="2761488"/>
            <a:ext cx="1469963" cy="420624"/>
          </a:xfrm>
          <a:prstGeom prst="roundRect">
            <a:avLst>
              <a:gd name="adj" fmla="val 108696"/>
            </a:avLst>
          </a:prstGeom>
          <a:solidFill>
            <a:srgbClr val="F1F4F8"/>
          </a:solidFill>
          <a:ln w="9525">
            <a:solidFill>
              <a:srgbClr val="E1E8F0"/>
            </a:solidFill>
            <a:prstDash val="solid"/>
          </a:ln>
        </p:spPr>
      </p:sp>
      <p:sp>
        <p:nvSpPr>
          <p:cNvPr id="20" name="Text 17"/>
          <p:cNvSpPr/>
          <p:nvPr/>
        </p:nvSpPr>
        <p:spPr>
          <a:xfrm>
            <a:off x="5434018" y="2761488"/>
            <a:ext cx="1323659" cy="420624"/>
          </a:xfrm>
          <a:prstGeom prst="rect">
            <a:avLst/>
          </a:prstGeom>
          <a:noFill/>
          <a:ln/>
        </p:spPr>
        <p:txBody>
          <a:bodyPr wrap="square" lIns="0" tIns="0" rIns="0" bIns="0" rtlCol="0" anchor="ctr"/>
          <a:lstStyle/>
          <a:p>
            <a:pPr algn="ctr" indent="0" marL="0">
              <a:buNone/>
            </a:pPr>
            <a:r>
              <a:rPr lang="en-US" sz="900" b="1" dirty="0">
                <a:solidFill>
                  <a:srgbClr val="6B7A8C"/>
                </a:solidFill>
                <a:latin typeface="Calibri" pitchFamily="34" charset="0"/>
                <a:ea typeface="Calibri" pitchFamily="34" charset="-122"/>
                <a:cs typeface="Calibri" pitchFamily="34" charset="-120"/>
              </a:rPr>
              <a:t>Already Connected</a:t>
            </a:r>
            <a:endParaRPr lang="en-US" sz="900" dirty="0"/>
          </a:p>
        </p:txBody>
      </p:sp>
      <p:sp>
        <p:nvSpPr>
          <p:cNvPr id="21" name="Shape 18"/>
          <p:cNvSpPr/>
          <p:nvPr/>
        </p:nvSpPr>
        <p:spPr>
          <a:xfrm>
            <a:off x="6958845" y="2761488"/>
            <a:ext cx="1469963" cy="420624"/>
          </a:xfrm>
          <a:prstGeom prst="roundRect">
            <a:avLst>
              <a:gd name="adj" fmla="val 108696"/>
            </a:avLst>
          </a:prstGeom>
          <a:solidFill>
            <a:srgbClr val="FEF4E4"/>
          </a:solidFill>
          <a:ln w="9525">
            <a:solidFill>
              <a:srgbClr val="E1E8F0"/>
            </a:solidFill>
            <a:prstDash val="solid"/>
          </a:ln>
        </p:spPr>
      </p:sp>
      <p:sp>
        <p:nvSpPr>
          <p:cNvPr id="22" name="Text 19"/>
          <p:cNvSpPr/>
          <p:nvPr/>
        </p:nvSpPr>
        <p:spPr>
          <a:xfrm>
            <a:off x="7031997" y="2761488"/>
            <a:ext cx="1323659" cy="420624"/>
          </a:xfrm>
          <a:prstGeom prst="rect">
            <a:avLst/>
          </a:prstGeom>
          <a:noFill/>
          <a:ln/>
        </p:spPr>
        <p:txBody>
          <a:bodyPr wrap="square" lIns="0" tIns="0" rIns="0" bIns="0" rtlCol="0" anchor="ctr"/>
          <a:lstStyle/>
          <a:p>
            <a:pPr algn="ctr" indent="0" marL="0">
              <a:buNone/>
            </a:pPr>
            <a:r>
              <a:rPr lang="en-US" sz="900" b="1" dirty="0">
                <a:solidFill>
                  <a:srgbClr val="B26A00"/>
                </a:solidFill>
                <a:latin typeface="Calibri" pitchFamily="34" charset="0"/>
                <a:ea typeface="Calibri" pitchFamily="34" charset="-122"/>
                <a:cs typeface="Calibri" pitchFamily="34" charset="-120"/>
              </a:rPr>
              <a:t>Follow Up</a:t>
            </a:r>
            <a:endParaRPr lang="en-US" sz="900" dirty="0"/>
          </a:p>
        </p:txBody>
      </p:sp>
      <p:sp>
        <p:nvSpPr>
          <p:cNvPr id="23" name="Shape 20"/>
          <p:cNvSpPr/>
          <p:nvPr/>
        </p:nvSpPr>
        <p:spPr>
          <a:xfrm>
            <a:off x="8556825" y="2761488"/>
            <a:ext cx="1469963" cy="420624"/>
          </a:xfrm>
          <a:prstGeom prst="roundRect">
            <a:avLst>
              <a:gd name="adj" fmla="val 108696"/>
            </a:avLst>
          </a:prstGeom>
          <a:solidFill>
            <a:srgbClr val="E7F3FD"/>
          </a:solidFill>
          <a:ln w="9525">
            <a:solidFill>
              <a:srgbClr val="E1E8F0"/>
            </a:solidFill>
            <a:prstDash val="solid"/>
          </a:ln>
        </p:spPr>
      </p:sp>
      <p:sp>
        <p:nvSpPr>
          <p:cNvPr id="24" name="Text 21"/>
          <p:cNvSpPr/>
          <p:nvPr/>
        </p:nvSpPr>
        <p:spPr>
          <a:xfrm>
            <a:off x="8629977" y="2761488"/>
            <a:ext cx="1323659" cy="420624"/>
          </a:xfrm>
          <a:prstGeom prst="rect">
            <a:avLst/>
          </a:prstGeom>
          <a:noFill/>
          <a:ln/>
        </p:spPr>
        <p:txBody>
          <a:bodyPr wrap="square" lIns="0" tIns="0" rIns="0" bIns="0" rtlCol="0" anchor="ctr"/>
          <a:lstStyle/>
          <a:p>
            <a:pPr algn="ctr" indent="0" marL="0">
              <a:buNone/>
            </a:pPr>
            <a:r>
              <a:rPr lang="en-US" sz="900" b="1" dirty="0">
                <a:solidFill>
                  <a:srgbClr val="175496"/>
                </a:solidFill>
                <a:latin typeface="Calibri" pitchFamily="34" charset="0"/>
                <a:ea typeface="Calibri" pitchFamily="34" charset="-122"/>
                <a:cs typeface="Calibri" pitchFamily="34" charset="-120"/>
              </a:rPr>
              <a:t>Invite Mail</a:t>
            </a:r>
            <a:endParaRPr lang="en-US" sz="900" dirty="0"/>
          </a:p>
        </p:txBody>
      </p:sp>
      <p:sp>
        <p:nvSpPr>
          <p:cNvPr id="25" name="Shape 22"/>
          <p:cNvSpPr/>
          <p:nvPr/>
        </p:nvSpPr>
        <p:spPr>
          <a:xfrm>
            <a:off x="10154804" y="2761488"/>
            <a:ext cx="1469963" cy="420624"/>
          </a:xfrm>
          <a:prstGeom prst="roundRect">
            <a:avLst>
              <a:gd name="adj" fmla="val 108696"/>
            </a:avLst>
          </a:prstGeom>
          <a:solidFill>
            <a:srgbClr val="EAF5EB"/>
          </a:solidFill>
          <a:ln w="9525">
            <a:solidFill>
              <a:srgbClr val="E1E8F0"/>
            </a:solidFill>
            <a:prstDash val="solid"/>
          </a:ln>
        </p:spPr>
      </p:sp>
      <p:sp>
        <p:nvSpPr>
          <p:cNvPr id="26" name="Text 23"/>
          <p:cNvSpPr/>
          <p:nvPr/>
        </p:nvSpPr>
        <p:spPr>
          <a:xfrm>
            <a:off x="10227956" y="2761488"/>
            <a:ext cx="1323659" cy="420624"/>
          </a:xfrm>
          <a:prstGeom prst="rect">
            <a:avLst/>
          </a:prstGeom>
          <a:noFill/>
          <a:ln/>
        </p:spPr>
        <p:txBody>
          <a:bodyPr wrap="square" lIns="0" tIns="0" rIns="0" bIns="0" rtlCol="0" anchor="ctr"/>
          <a:lstStyle/>
          <a:p>
            <a:pPr algn="ctr" indent="0" marL="0">
              <a:buNone/>
            </a:pPr>
            <a:r>
              <a:rPr lang="en-US" sz="900" b="1" dirty="0">
                <a:solidFill>
                  <a:srgbClr val="2E7D32"/>
                </a:solidFill>
                <a:latin typeface="Calibri" pitchFamily="34" charset="0"/>
                <a:ea typeface="Calibri" pitchFamily="34" charset="-122"/>
                <a:cs typeface="Calibri" pitchFamily="34" charset="-120"/>
              </a:rPr>
              <a:t>Drive Scheduled</a:t>
            </a:r>
            <a:endParaRPr lang="en-US" sz="900" dirty="0"/>
          </a:p>
        </p:txBody>
      </p:sp>
      <p:sp>
        <p:nvSpPr>
          <p:cNvPr id="27" name="Text 24"/>
          <p:cNvSpPr/>
          <p:nvPr/>
        </p:nvSpPr>
        <p:spPr>
          <a:xfrm>
            <a:off x="566928" y="338328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SUBMIT DAY — VALIDATION WARNS, BUT NEVER BLOCKS</a:t>
            </a:r>
            <a:endParaRPr lang="en-US" sz="950" dirty="0"/>
          </a:p>
        </p:txBody>
      </p:sp>
      <p:sp>
        <p:nvSpPr>
          <p:cNvPr id="28" name="Shape 25"/>
          <p:cNvSpPr/>
          <p:nvPr/>
        </p:nvSpPr>
        <p:spPr>
          <a:xfrm>
            <a:off x="566928" y="3639312"/>
            <a:ext cx="11057839" cy="1170432"/>
          </a:xfrm>
          <a:prstGeom prst="roundRect">
            <a:avLst>
              <a:gd name="adj" fmla="val 7813"/>
            </a:avLst>
          </a:prstGeom>
          <a:solidFill>
            <a:srgbClr val="FEF8EC"/>
          </a:solidFill>
          <a:ln w="9525">
            <a:solidFill>
              <a:srgbClr val="F3DFB4"/>
            </a:solidFill>
            <a:prstDash val="solid"/>
          </a:ln>
        </p:spPr>
      </p:sp>
      <p:sp>
        <p:nvSpPr>
          <p:cNvPr id="29" name="Text 26"/>
          <p:cNvSpPr/>
          <p:nvPr/>
        </p:nvSpPr>
        <p:spPr>
          <a:xfrm>
            <a:off x="841248" y="3785616"/>
            <a:ext cx="7863840" cy="841248"/>
          </a:xfrm>
          <a:prstGeom prst="rect">
            <a:avLst/>
          </a:prstGeom>
          <a:noFill/>
          <a:ln/>
        </p:spPr>
        <p:txBody>
          <a:bodyPr wrap="square" lIns="0" tIns="0" rIns="0" bIns="0" rtlCol="0" anchor="t"/>
          <a:lstStyle/>
          <a:p>
            <a:pPr indent="0" marL="0">
              <a:lnSpc>
                <a:spcPct val="120000"/>
              </a:lnSpc>
              <a:buNone/>
            </a:pPr>
            <a:r>
              <a:rPr lang="en-US" sz="1100" b="1" dirty="0">
                <a:solidFill>
                  <a:srgbClr val="B26A00"/>
                </a:solidFill>
                <a:latin typeface="Calibri" pitchFamily="34" charset="0"/>
                <a:ea typeface="Calibri" pitchFamily="34" charset="-122"/>
                <a:cs typeface="Calibri" pitchFamily="34" charset="-120"/>
              </a:rPr>
              <a:t>“68 rows completed. 2 companies require Email ID.</a:t>
            </a:r>
            <a:endParaRPr lang="en-US" sz="1100" dirty="0"/>
          </a:p>
          <a:p>
            <a:pPr indent="0" marL="0">
              <a:lnSpc>
                <a:spcPct val="120000"/>
              </a:lnSpc>
              <a:buNone/>
            </a:pPr>
            <a:r>
              <a:rPr lang="en-US" sz="1100" b="1" dirty="0">
                <a:solidFill>
                  <a:srgbClr val="B26A00"/>
                </a:solidFill>
                <a:latin typeface="Calibri" pitchFamily="34" charset="0"/>
                <a:ea typeface="Calibri" pitchFamily="34" charset="-122"/>
                <a:cs typeface="Calibri" pitchFamily="34" charset="-120"/>
              </a:rPr>
              <a:t>You can submit now — these records will appear tomorrow as Pending Information.”</a:t>
            </a:r>
            <a:endParaRPr lang="en-US" sz="1100" dirty="0"/>
          </a:p>
          <a:p>
            <a:pPr indent="0" marL="0">
              <a:lnSpc>
                <a:spcPct val="120000"/>
              </a:lnSpc>
              <a:buNone/>
            </a:pPr>
            <a:r>
              <a:rPr lang="en-US" sz="1100" dirty="0">
                <a:solidFill>
                  <a:srgbClr val="3E4C59"/>
                </a:solidFill>
                <a:latin typeface="Calibri" pitchFamily="34" charset="0"/>
                <a:ea typeface="Calibri" pitchFamily="34" charset="-122"/>
                <a:cs typeface="Calibri" pitchFamily="34" charset="-120"/>
              </a:rPr>
              <a:t>One reminder is given at next login. Start Time, End Time and Call Outcome are enforced at row level; Comments are always optional.</a:t>
            </a:r>
            <a:endParaRPr lang="en-US" sz="1100" dirty="0"/>
          </a:p>
        </p:txBody>
      </p:sp>
      <p:sp>
        <p:nvSpPr>
          <p:cNvPr id="30" name="Shape 27"/>
          <p:cNvSpPr/>
          <p:nvPr/>
        </p:nvSpPr>
        <p:spPr>
          <a:xfrm>
            <a:off x="566928" y="4919472"/>
            <a:ext cx="5410048" cy="1115568"/>
          </a:xfrm>
          <a:prstGeom prst="roundRect">
            <a:avLst>
              <a:gd name="adj" fmla="val 819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1" name="Shape 28"/>
          <p:cNvSpPr/>
          <p:nvPr/>
        </p:nvSpPr>
        <p:spPr>
          <a:xfrm>
            <a:off x="786384" y="5138928"/>
            <a:ext cx="365760" cy="365760"/>
          </a:xfrm>
          <a:prstGeom prst="ellipse">
            <a:avLst/>
          </a:prstGeom>
          <a:solidFill>
            <a:srgbClr val="175496"/>
          </a:solidFill>
          <a:ln w="12700">
            <a:solidFill>
              <a:srgbClr val="175496"/>
            </a:solidFill>
            <a:prstDash val="solid"/>
          </a:ln>
        </p:spPr>
      </p:sp>
      <p:pic>
        <p:nvPicPr>
          <p:cNvPr id="32" name="Image 1" descr="preencoded.png">    </p:cNvPr>
          <p:cNvPicPr>
            <a:picLocks noChangeAspect="1"/>
          </p:cNvPicPr>
          <p:nvPr/>
        </p:nvPicPr>
        <p:blipFill>
          <a:blip r:embed="rId2"/>
          <a:stretch>
            <a:fillRect/>
          </a:stretch>
        </p:blipFill>
        <p:spPr>
          <a:xfrm>
            <a:off x="877824" y="5230368"/>
            <a:ext cx="182880" cy="182880"/>
          </a:xfrm>
          <a:prstGeom prst="rect">
            <a:avLst/>
          </a:prstGeom>
        </p:spPr>
      </p:pic>
      <p:sp>
        <p:nvSpPr>
          <p:cNvPr id="33" name="Text 29"/>
          <p:cNvSpPr/>
          <p:nvPr/>
        </p:nvSpPr>
        <p:spPr>
          <a:xfrm>
            <a:off x="1280160" y="5138928"/>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Carry-forward</a:t>
            </a:r>
            <a:endParaRPr lang="en-US" sz="1350" dirty="0"/>
          </a:p>
        </p:txBody>
      </p:sp>
      <p:sp>
        <p:nvSpPr>
          <p:cNvPr id="34" name="Text 30"/>
          <p:cNvSpPr/>
          <p:nvPr/>
        </p:nvSpPr>
        <p:spPr>
          <a:xfrm>
            <a:off x="786384" y="5550408"/>
            <a:ext cx="4971136" cy="31089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No Response and Follow Up contacts are never force-closed — they are available to continue the next day, at the coordinator's discretion.</a:t>
            </a:r>
            <a:endParaRPr lang="en-US" sz="1000" dirty="0"/>
          </a:p>
        </p:txBody>
      </p:sp>
      <p:sp>
        <p:nvSpPr>
          <p:cNvPr id="35" name="Shape 31"/>
          <p:cNvSpPr/>
          <p:nvPr/>
        </p:nvSpPr>
        <p:spPr>
          <a:xfrm>
            <a:off x="6214720" y="4919472"/>
            <a:ext cx="5410048" cy="1115568"/>
          </a:xfrm>
          <a:prstGeom prst="roundRect">
            <a:avLst>
              <a:gd name="adj" fmla="val 819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6" name="Shape 32"/>
          <p:cNvSpPr/>
          <p:nvPr/>
        </p:nvSpPr>
        <p:spPr>
          <a:xfrm>
            <a:off x="6434176" y="5138928"/>
            <a:ext cx="365760" cy="365760"/>
          </a:xfrm>
          <a:prstGeom prst="ellipse">
            <a:avLst/>
          </a:prstGeom>
          <a:solidFill>
            <a:srgbClr val="6B7A8C"/>
          </a:solidFill>
          <a:ln w="12700">
            <a:solidFill>
              <a:srgbClr val="6B7A8C"/>
            </a:solidFill>
            <a:prstDash val="solid"/>
          </a:ln>
        </p:spPr>
      </p:sp>
      <p:pic>
        <p:nvPicPr>
          <p:cNvPr id="37" name="Image 2" descr="preencoded.png">    </p:cNvPr>
          <p:cNvPicPr>
            <a:picLocks noChangeAspect="1"/>
          </p:cNvPicPr>
          <p:nvPr/>
        </p:nvPicPr>
        <p:blipFill>
          <a:blip r:embed="rId3"/>
          <a:stretch>
            <a:fillRect/>
          </a:stretch>
        </p:blipFill>
        <p:spPr>
          <a:xfrm>
            <a:off x="6525616" y="5230368"/>
            <a:ext cx="182880" cy="182880"/>
          </a:xfrm>
          <a:prstGeom prst="rect">
            <a:avLst/>
          </a:prstGeom>
        </p:spPr>
      </p:pic>
      <p:sp>
        <p:nvSpPr>
          <p:cNvPr id="38" name="Text 33"/>
          <p:cNvSpPr/>
          <p:nvPr/>
        </p:nvSpPr>
        <p:spPr>
          <a:xfrm>
            <a:off x="6927952" y="5138928"/>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Skip is tracker-only</a:t>
            </a:r>
            <a:endParaRPr lang="en-US" sz="1350" dirty="0"/>
          </a:p>
        </p:txBody>
      </p:sp>
      <p:sp>
        <p:nvSpPr>
          <p:cNvPr id="39" name="Text 34"/>
          <p:cNvSpPr/>
          <p:nvPr/>
        </p:nvSpPr>
        <p:spPr>
          <a:xfrm>
            <a:off x="6434176" y="5550408"/>
            <a:ext cx="4971136" cy="31089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Skip removes a contact from today's list. It never deletes the record from the Master Company Database.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04</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04 — WEEKLY TRACKER</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One master table, six views</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20</a:t>
            </a:r>
            <a:endParaRPr lang="en-US" sz="950" dirty="0"/>
          </a:p>
        </p:txBody>
      </p:sp>
      <p:sp>
        <p:nvSpPr>
          <p:cNvPr id="9" name="Shape 6"/>
          <p:cNvSpPr/>
          <p:nvPr/>
        </p:nvSpPr>
        <p:spPr>
          <a:xfrm>
            <a:off x="566928" y="1371600"/>
            <a:ext cx="11057839" cy="896112"/>
          </a:xfrm>
          <a:prstGeom prst="roundRect">
            <a:avLst>
              <a:gd name="adj" fmla="val 10204"/>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Text 7"/>
          <p:cNvSpPr/>
          <p:nvPr/>
        </p:nvSpPr>
        <p:spPr>
          <a:xfrm>
            <a:off x="786384" y="1591056"/>
            <a:ext cx="10618927" cy="502920"/>
          </a:xfrm>
          <a:prstGeom prst="rect">
            <a:avLst/>
          </a:prstGeom>
          <a:noFill/>
          <a:ln/>
        </p:spPr>
        <p:txBody>
          <a:bodyPr wrap="square" lIns="0" tIns="0" rIns="0" bIns="0" rtlCol="0" anchor="t"/>
          <a:lstStyle/>
          <a:p>
            <a:pPr indent="0" marL="0">
              <a:lnSpc>
                <a:spcPct val="114000"/>
              </a:lnSpc>
              <a:buNone/>
            </a:pPr>
            <a:r>
              <a:rPr lang="en-US" sz="1100" dirty="0">
                <a:solidFill>
                  <a:srgbClr val="3E4C59"/>
                </a:solidFill>
                <a:latin typeface="Calibri" pitchFamily="34" charset="0"/>
                <a:ea typeface="Calibri" pitchFamily="34" charset="-122"/>
                <a:cs typeface="Calibri" pitchFamily="34" charset="-120"/>
              </a:rPr>
              <a:t>Where the Daily Tracker answers “what calls did we make today?”, the Weekly Tracker answers “where does every company stand — from first positive response until the drive is completed and offers are received?” Despite the name, it is used every working day, not once a week.</a:t>
            </a:r>
            <a:endParaRPr lang="en-US" sz="1100" dirty="0"/>
          </a:p>
        </p:txBody>
      </p:sp>
      <p:sp>
        <p:nvSpPr>
          <p:cNvPr id="11" name="Shape 8"/>
          <p:cNvSpPr/>
          <p:nvPr/>
        </p:nvSpPr>
        <p:spPr>
          <a:xfrm>
            <a:off x="566928" y="2432304"/>
            <a:ext cx="5410048" cy="1325880"/>
          </a:xfrm>
          <a:prstGeom prst="roundRect">
            <a:avLst>
              <a:gd name="adj" fmla="val 6897"/>
            </a:avLst>
          </a:prstGeom>
          <a:solidFill>
            <a:srgbClr val="FDF1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2" name="Text 9"/>
          <p:cNvSpPr/>
          <p:nvPr/>
        </p:nvSpPr>
        <p:spPr>
          <a:xfrm>
            <a:off x="786384" y="2651760"/>
            <a:ext cx="4971136" cy="274320"/>
          </a:xfrm>
          <a:prstGeom prst="rect">
            <a:avLst/>
          </a:prstGeom>
          <a:noFill/>
          <a:ln/>
        </p:spPr>
        <p:txBody>
          <a:bodyPr wrap="square" lIns="0" tIns="0" rIns="0" bIns="0" rtlCol="0" anchor="t"/>
          <a:lstStyle/>
          <a:p>
            <a:pPr indent="0" marL="0">
              <a:buNone/>
            </a:pPr>
            <a:r>
              <a:rPr lang="en-US" sz="1350" b="1" dirty="0">
                <a:solidFill>
                  <a:srgbClr val="C62828"/>
                </a:solidFill>
                <a:latin typeface="Calibri" pitchFamily="34" charset="0"/>
                <a:ea typeface="Calibri" pitchFamily="34" charset="-122"/>
                <a:cs typeface="Calibri" pitchFamily="34" charset="-120"/>
              </a:rPr>
              <a:t>Today, in Excel</a:t>
            </a:r>
            <a:endParaRPr lang="en-US" sz="1350" dirty="0"/>
          </a:p>
        </p:txBody>
      </p:sp>
      <p:sp>
        <p:nvSpPr>
          <p:cNvPr id="13" name="Text 10"/>
          <p:cNvSpPr/>
          <p:nvPr/>
        </p:nvSpPr>
        <p:spPr>
          <a:xfrm>
            <a:off x="786384" y="2971800"/>
            <a:ext cx="4971136" cy="61264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Six separate tables — Pipeline, In Progress, Completed, Top Companies, Rejected by HR, Rejected by College — with rows manually cut and pasted between them. This is where mistakes happen.</a:t>
            </a:r>
            <a:endParaRPr lang="en-US" sz="1000" dirty="0"/>
          </a:p>
        </p:txBody>
      </p:sp>
      <p:sp>
        <p:nvSpPr>
          <p:cNvPr id="14" name="Shape 11"/>
          <p:cNvSpPr/>
          <p:nvPr/>
        </p:nvSpPr>
        <p:spPr>
          <a:xfrm>
            <a:off x="6214720" y="2432304"/>
            <a:ext cx="5410048" cy="1325880"/>
          </a:xfrm>
          <a:prstGeom prst="roundRect">
            <a:avLst>
              <a:gd name="adj" fmla="val 6897"/>
            </a:avLst>
          </a:prstGeom>
          <a:solidFill>
            <a:srgbClr val="F0F8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5" name="Text 12"/>
          <p:cNvSpPr/>
          <p:nvPr/>
        </p:nvSpPr>
        <p:spPr>
          <a:xfrm>
            <a:off x="6434176" y="2651760"/>
            <a:ext cx="4971136" cy="274320"/>
          </a:xfrm>
          <a:prstGeom prst="rect">
            <a:avLst/>
          </a:prstGeom>
          <a:noFill/>
          <a:ln/>
        </p:spPr>
        <p:txBody>
          <a:bodyPr wrap="square" lIns="0" tIns="0" rIns="0" bIns="0" rtlCol="0" anchor="t"/>
          <a:lstStyle/>
          <a:p>
            <a:pPr indent="0" marL="0">
              <a:buNone/>
            </a:pPr>
            <a:r>
              <a:rPr lang="en-US" sz="1350" b="1" dirty="0">
                <a:solidFill>
                  <a:srgbClr val="2E7D32"/>
                </a:solidFill>
                <a:latin typeface="Calibri" pitchFamily="34" charset="0"/>
                <a:ea typeface="Calibri" pitchFamily="34" charset="-122"/>
                <a:cs typeface="Calibri" pitchFamily="34" charset="-120"/>
              </a:rPr>
              <a:t>In iPOMS</a:t>
            </a:r>
            <a:endParaRPr lang="en-US" sz="1350" dirty="0"/>
          </a:p>
        </p:txBody>
      </p:sp>
      <p:sp>
        <p:nvSpPr>
          <p:cNvPr id="16" name="Text 13"/>
          <p:cNvSpPr/>
          <p:nvPr/>
        </p:nvSpPr>
        <p:spPr>
          <a:xfrm>
            <a:off x="6434176" y="2971800"/>
            <a:ext cx="4971136" cy="61264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One master dataset per coordinator per college. The coordinator edits one record; the system decides which section displays it, from that record's Status. Nobody cuts, pastes or re-sorts anything.</a:t>
            </a:r>
            <a:endParaRPr lang="en-US" sz="1000" dirty="0"/>
          </a:p>
        </p:txBody>
      </p:sp>
      <p:sp>
        <p:nvSpPr>
          <p:cNvPr id="17" name="Text 14"/>
          <p:cNvSpPr/>
          <p:nvPr/>
        </p:nvSpPr>
        <p:spPr>
          <a:xfrm>
            <a:off x="566928" y="389534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TWO WAYS A COMPANY ENTERS THE TRACKER</a:t>
            </a:r>
            <a:endParaRPr lang="en-US" sz="950" dirty="0"/>
          </a:p>
        </p:txBody>
      </p:sp>
      <p:sp>
        <p:nvSpPr>
          <p:cNvPr id="18" name="Shape 15"/>
          <p:cNvSpPr/>
          <p:nvPr/>
        </p:nvSpPr>
        <p:spPr>
          <a:xfrm>
            <a:off x="566928" y="4151376"/>
            <a:ext cx="5410048" cy="1225296"/>
          </a:xfrm>
          <a:prstGeom prst="roundRect">
            <a:avLst>
              <a:gd name="adj" fmla="val 746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9" name="Shape 16"/>
          <p:cNvSpPr/>
          <p:nvPr/>
        </p:nvSpPr>
        <p:spPr>
          <a:xfrm>
            <a:off x="786384" y="4370832"/>
            <a:ext cx="365760" cy="365760"/>
          </a:xfrm>
          <a:prstGeom prst="ellipse">
            <a:avLst/>
          </a:prstGeom>
          <a:solidFill>
            <a:srgbClr val="2E7D32"/>
          </a:solidFill>
          <a:ln w="12700">
            <a:solidFill>
              <a:srgbClr val="2E7D32"/>
            </a:solidFill>
            <a:prstDash val="solid"/>
          </a:ln>
        </p:spPr>
      </p:sp>
      <p:pic>
        <p:nvPicPr>
          <p:cNvPr id="20" name="Image 1" descr="preencoded.png">    </p:cNvPr>
          <p:cNvPicPr>
            <a:picLocks noChangeAspect="1"/>
          </p:cNvPicPr>
          <p:nvPr/>
        </p:nvPicPr>
        <p:blipFill>
          <a:blip r:embed="rId2"/>
          <a:stretch>
            <a:fillRect/>
          </a:stretch>
        </p:blipFill>
        <p:spPr>
          <a:xfrm>
            <a:off x="877824" y="4462272"/>
            <a:ext cx="182880" cy="182880"/>
          </a:xfrm>
          <a:prstGeom prst="rect">
            <a:avLst/>
          </a:prstGeom>
        </p:spPr>
      </p:pic>
      <p:sp>
        <p:nvSpPr>
          <p:cNvPr id="21" name="Text 17"/>
          <p:cNvSpPr/>
          <p:nvPr/>
        </p:nvSpPr>
        <p:spPr>
          <a:xfrm>
            <a:off x="1280160" y="4370832"/>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Automatically</a:t>
            </a:r>
            <a:endParaRPr lang="en-US" sz="1350" dirty="0"/>
          </a:p>
        </p:txBody>
      </p:sp>
      <p:sp>
        <p:nvSpPr>
          <p:cNvPr id="22" name="Text 18"/>
          <p:cNvSpPr/>
          <p:nvPr/>
        </p:nvSpPr>
        <p:spPr>
          <a:xfrm>
            <a:off x="786384" y="4782312"/>
            <a:ext cx="4971136" cy="420624"/>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Daily Tracker → Call Outcome = Invite Mail (or another positive) → Submit Day → the company appears in Companies in Pipeline.</a:t>
            </a:r>
            <a:endParaRPr lang="en-US" sz="1000" dirty="0"/>
          </a:p>
        </p:txBody>
      </p:sp>
      <p:sp>
        <p:nvSpPr>
          <p:cNvPr id="23" name="Shape 19"/>
          <p:cNvSpPr/>
          <p:nvPr/>
        </p:nvSpPr>
        <p:spPr>
          <a:xfrm>
            <a:off x="6214720" y="4151376"/>
            <a:ext cx="5410048" cy="1225296"/>
          </a:xfrm>
          <a:prstGeom prst="roundRect">
            <a:avLst>
              <a:gd name="adj" fmla="val 746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4" name="Shape 20"/>
          <p:cNvSpPr/>
          <p:nvPr/>
        </p:nvSpPr>
        <p:spPr>
          <a:xfrm>
            <a:off x="6434176" y="4370832"/>
            <a:ext cx="365760" cy="365760"/>
          </a:xfrm>
          <a:prstGeom prst="ellipse">
            <a:avLst/>
          </a:prstGeom>
          <a:solidFill>
            <a:srgbClr val="175496"/>
          </a:solidFill>
          <a:ln w="12700">
            <a:solidFill>
              <a:srgbClr val="175496"/>
            </a:solidFill>
            <a:prstDash val="solid"/>
          </a:ln>
        </p:spPr>
      </p:sp>
      <p:pic>
        <p:nvPicPr>
          <p:cNvPr id="25" name="Image 2" descr="preencoded.png">    </p:cNvPr>
          <p:cNvPicPr>
            <a:picLocks noChangeAspect="1"/>
          </p:cNvPicPr>
          <p:nvPr/>
        </p:nvPicPr>
        <p:blipFill>
          <a:blip r:embed="rId3"/>
          <a:stretch>
            <a:fillRect/>
          </a:stretch>
        </p:blipFill>
        <p:spPr>
          <a:xfrm>
            <a:off x="6525616" y="4462272"/>
            <a:ext cx="182880" cy="182880"/>
          </a:xfrm>
          <a:prstGeom prst="rect">
            <a:avLst/>
          </a:prstGeom>
        </p:spPr>
      </p:pic>
      <p:sp>
        <p:nvSpPr>
          <p:cNvPr id="26" name="Text 21"/>
          <p:cNvSpPr/>
          <p:nvPr/>
        </p:nvSpPr>
        <p:spPr>
          <a:xfrm>
            <a:off x="6927952" y="4370832"/>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Manually</a:t>
            </a:r>
            <a:endParaRPr lang="en-US" sz="1350" dirty="0"/>
          </a:p>
        </p:txBody>
      </p:sp>
      <p:sp>
        <p:nvSpPr>
          <p:cNvPr id="27" name="Text 22"/>
          <p:cNvSpPr/>
          <p:nvPr/>
        </p:nvSpPr>
        <p:spPr>
          <a:xfrm>
            <a:off x="6434176" y="4782312"/>
            <a:ext cx="4971136" cy="420624"/>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Leads arriving via LinkedIn, HR WhatsApp, personal contact, college management or an earlier email thread are added through + Add Company.</a:t>
            </a:r>
            <a:endParaRPr lang="en-US" sz="1000" dirty="0"/>
          </a:p>
        </p:txBody>
      </p:sp>
      <p:sp>
        <p:nvSpPr>
          <p:cNvPr id="28" name="Text 23"/>
          <p:cNvSpPr/>
          <p:nvPr/>
        </p:nvSpPr>
        <p:spPr>
          <a:xfrm>
            <a:off x="566928" y="5504688"/>
            <a:ext cx="11057839" cy="274320"/>
          </a:xfrm>
          <a:prstGeom prst="rect">
            <a:avLst/>
          </a:prstGeom>
          <a:noFill/>
          <a:ln/>
        </p:spPr>
        <p:txBody>
          <a:bodyPr wrap="square" lIns="0" tIns="0" rIns="0" bIns="0" rtlCol="0" anchor="ctr"/>
          <a:lstStyle/>
          <a:p>
            <a:pPr indent="0" marL="0">
              <a:buNone/>
            </a:pPr>
            <a:r>
              <a:rPr lang="en-US" sz="1050" i="1" dirty="0">
                <a:solidFill>
                  <a:srgbClr val="7B8794"/>
                </a:solidFill>
                <a:latin typeface="Calibri" pitchFamily="34" charset="0"/>
                <a:ea typeface="Calibri" pitchFamily="34" charset="-122"/>
                <a:cs typeface="Calibri" pitchFamily="34" charset="-120"/>
              </a:rPr>
              <a:t>The visual experience deliberately preserves the same named sections coordinators already use in Excel — only the manual row-shuffling is removed.</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04</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04 §5–6</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Nine columns, and one reversed decision</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21</a:t>
            </a:r>
            <a:endParaRPr lang="en-US" sz="9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2377440"/>
                <a:gridCol w="1920240"/>
                <a:gridCol w="6760159"/>
              </a:tblGrid>
              <a:tr h="32918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Column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Notes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S.No</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Auto</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Sequential within its section</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Company Name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Editable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Auto-suggested from Daily Tracker entries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Role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Editable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Multiple roles in one cell, comma-separated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CDC</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Editable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Campus / college placement coordinator reference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Company Type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Editable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Software, BPO, Banking, AI, Education, Finance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CTC</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Editable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Feeds the Top Companies automation rule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Follow-up Date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Editable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Drives sorting and the Follow-up Due Today section</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Editable — free text</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A single rich field; drives automatic section placement</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Offers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Editable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Number placed; appears only once a company reaches Completed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
        <p:nvSpPr>
          <p:cNvPr id="10" name="Shape 6"/>
          <p:cNvSpPr/>
          <p:nvPr/>
        </p:nvSpPr>
        <p:spPr>
          <a:xfrm>
            <a:off x="566928" y="4590288"/>
            <a:ext cx="11057839" cy="1261872"/>
          </a:xfrm>
          <a:prstGeom prst="roundRect">
            <a:avLst>
              <a:gd name="adj" fmla="val 7246"/>
            </a:avLst>
          </a:prstGeom>
          <a:solidFill>
            <a:srgbClr val="FEF8EC"/>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1" name="Text 7"/>
          <p:cNvSpPr/>
          <p:nvPr/>
        </p:nvSpPr>
        <p:spPr>
          <a:xfrm>
            <a:off x="786384" y="4809744"/>
            <a:ext cx="10618927"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The proposal that was rejected after seeing real data</a:t>
            </a:r>
            <a:endParaRPr lang="en-US" sz="1350" dirty="0"/>
          </a:p>
        </p:txBody>
      </p:sp>
      <p:sp>
        <p:nvSpPr>
          <p:cNvPr id="12" name="Text 8"/>
          <p:cNvSpPr/>
          <p:nvPr/>
        </p:nvSpPr>
        <p:spPr>
          <a:xfrm>
            <a:off x="786384" y="5129784"/>
            <a:ext cx="10618927" cy="548640"/>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An earlier design split Status into a dropdown “Current Stage” plus a separate free-text “Status / Remarks”. Reviewing the team's actual entries killed it — real statuses read “Invite email sent, awaiting JD, follow up on July 22” or “HR said they currently hire from Andhra regions, soon they will reach Tamil Nadu”. A rigid stage dropdown would strip exactly the context that makes those notes useful. v1.0 uses one free-text Status plus a separate Follow-up Date. A per-change history log was also proposed and deferred.</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04</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04 §8 &amp; §12</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The status decides the section</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22</a:t>
            </a:r>
            <a:endParaRPr lang="en-US" sz="9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6949440"/>
                <a:gridCol w="4108399"/>
              </a:tblGrid>
              <a:tr h="347472">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When the Status says…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The record moves to</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47472">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“Invite sent” · no JD yet · newly added with no other signal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Companies in Pipeline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7472">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“JD received” · “Student DB shared” · “Drive scheduled” · round progress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Companies In Progress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“Drive Completed” and the Offers field is filled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b="1" dirty="0">
                          <a:solidFill>
                            <a:srgbClr val="2E7D32"/>
                          </a:solidFill>
                          <a:latin typeface="Calibri" pitchFamily="34" charset="0"/>
                          <a:ea typeface="Calibri" pitchFamily="34" charset="-122"/>
                          <a:cs typeface="Calibri" pitchFamily="34" charset="-120"/>
                        </a:rPr>
                        <a:t>Companies Completed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7472">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Marked rejected by HR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C62828"/>
                          </a:solidFill>
                          <a:latin typeface="Calibri" pitchFamily="34" charset="0"/>
                          <a:ea typeface="Calibri" pitchFamily="34" charset="-122"/>
                          <a:cs typeface="Calibri" pitchFamily="34" charset="-120"/>
                        </a:rPr>
                        <a:t>Rejected by HR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Marked rejected by College / TPO</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b="1" dirty="0">
                          <a:solidFill>
                            <a:srgbClr val="C62828"/>
                          </a:solidFill>
                          <a:latin typeface="Calibri" pitchFamily="34" charset="0"/>
                          <a:ea typeface="Calibri" pitchFamily="34" charset="-122"/>
                          <a:cs typeface="Calibri" pitchFamily="34" charset="-120"/>
                        </a:rPr>
                        <a:t>Rejected by College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7472">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Pinned manually, or CTC ≥ 3–4 LPA in a technical role and still active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00ACC1"/>
                          </a:solidFill>
                          <a:latin typeface="Calibri" pitchFamily="34" charset="0"/>
                          <a:ea typeface="Calibri" pitchFamily="34" charset="-122"/>
                          <a:cs typeface="Calibri" pitchFamily="34" charset="-120"/>
                        </a:rPr>
                        <a:t>Top Companies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bl>
          </a:graphicData>
        </a:graphic>
      </p:graphicFrame>
      <p:sp>
        <p:nvSpPr>
          <p:cNvPr id="10" name="Text 6"/>
          <p:cNvSpPr/>
          <p:nvPr/>
        </p:nvSpPr>
        <p:spPr>
          <a:xfrm>
            <a:off x="566928" y="393192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SEVEN SECTIONS, IN THE ORDER A COORDINATOR WORKS THROUGH THEIR DAY</a:t>
            </a:r>
            <a:endParaRPr lang="en-US" sz="950" dirty="0"/>
          </a:p>
        </p:txBody>
      </p:sp>
      <p:sp>
        <p:nvSpPr>
          <p:cNvPr id="11" name="Shape 7"/>
          <p:cNvSpPr/>
          <p:nvPr/>
        </p:nvSpPr>
        <p:spPr>
          <a:xfrm>
            <a:off x="566928" y="4187952"/>
            <a:ext cx="2668448" cy="420624"/>
          </a:xfrm>
          <a:prstGeom prst="roundRect">
            <a:avLst>
              <a:gd name="adj" fmla="val 108696"/>
            </a:avLst>
          </a:prstGeom>
          <a:solidFill>
            <a:srgbClr val="FEF4E4"/>
          </a:solidFill>
          <a:ln w="9525">
            <a:solidFill>
              <a:srgbClr val="E1E8F0"/>
            </a:solidFill>
            <a:prstDash val="solid"/>
          </a:ln>
        </p:spPr>
      </p:sp>
      <p:sp>
        <p:nvSpPr>
          <p:cNvPr id="12" name="Text 8"/>
          <p:cNvSpPr/>
          <p:nvPr/>
        </p:nvSpPr>
        <p:spPr>
          <a:xfrm>
            <a:off x="640080" y="4187952"/>
            <a:ext cx="2522144" cy="420624"/>
          </a:xfrm>
          <a:prstGeom prst="rect">
            <a:avLst/>
          </a:prstGeom>
          <a:noFill/>
          <a:ln/>
        </p:spPr>
        <p:txBody>
          <a:bodyPr wrap="square" lIns="0" tIns="0" rIns="0" bIns="0" rtlCol="0" anchor="ctr"/>
          <a:lstStyle/>
          <a:p>
            <a:pPr algn="ctr" indent="0" marL="0">
              <a:buNone/>
            </a:pPr>
            <a:r>
              <a:rPr lang="en-US" sz="950" b="1" dirty="0">
                <a:solidFill>
                  <a:srgbClr val="B26A00"/>
                </a:solidFill>
                <a:latin typeface="Calibri" pitchFamily="34" charset="0"/>
                <a:ea typeface="Calibri" pitchFamily="34" charset="-122"/>
                <a:cs typeface="Calibri" pitchFamily="34" charset="-120"/>
              </a:rPr>
              <a:t>1  Follow-up Due Today</a:t>
            </a:r>
            <a:endParaRPr lang="en-US" sz="950" dirty="0"/>
          </a:p>
        </p:txBody>
      </p:sp>
      <p:sp>
        <p:nvSpPr>
          <p:cNvPr id="13" name="Shape 9"/>
          <p:cNvSpPr/>
          <p:nvPr/>
        </p:nvSpPr>
        <p:spPr>
          <a:xfrm>
            <a:off x="3363392" y="4187952"/>
            <a:ext cx="2668448" cy="420624"/>
          </a:xfrm>
          <a:prstGeom prst="roundRect">
            <a:avLst>
              <a:gd name="adj" fmla="val 108696"/>
            </a:avLst>
          </a:prstGeom>
          <a:solidFill>
            <a:srgbClr val="EAF5EB"/>
          </a:solidFill>
          <a:ln w="9525">
            <a:solidFill>
              <a:srgbClr val="E1E8F0"/>
            </a:solidFill>
            <a:prstDash val="solid"/>
          </a:ln>
        </p:spPr>
      </p:sp>
      <p:sp>
        <p:nvSpPr>
          <p:cNvPr id="14" name="Text 10"/>
          <p:cNvSpPr/>
          <p:nvPr/>
        </p:nvSpPr>
        <p:spPr>
          <a:xfrm>
            <a:off x="3436544" y="4187952"/>
            <a:ext cx="2522144" cy="420624"/>
          </a:xfrm>
          <a:prstGeom prst="rect">
            <a:avLst/>
          </a:prstGeom>
          <a:noFill/>
          <a:ln/>
        </p:spPr>
        <p:txBody>
          <a:bodyPr wrap="square" lIns="0" tIns="0" rIns="0" bIns="0" rtlCol="0" anchor="ctr"/>
          <a:lstStyle/>
          <a:p>
            <a:pPr algn="ctr" indent="0" marL="0">
              <a:buNone/>
            </a:pPr>
            <a:r>
              <a:rPr lang="en-US" sz="950" b="1" dirty="0">
                <a:solidFill>
                  <a:srgbClr val="2E7D32"/>
                </a:solidFill>
                <a:latin typeface="Calibri" pitchFamily="34" charset="0"/>
                <a:ea typeface="Calibri" pitchFamily="34" charset="-122"/>
                <a:cs typeface="Calibri" pitchFamily="34" charset="-120"/>
              </a:rPr>
              <a:t>2  Completed</a:t>
            </a:r>
            <a:endParaRPr lang="en-US" sz="950" dirty="0"/>
          </a:p>
        </p:txBody>
      </p:sp>
      <p:sp>
        <p:nvSpPr>
          <p:cNvPr id="15" name="Shape 11"/>
          <p:cNvSpPr/>
          <p:nvPr/>
        </p:nvSpPr>
        <p:spPr>
          <a:xfrm>
            <a:off x="6159856" y="4187952"/>
            <a:ext cx="2668448" cy="420624"/>
          </a:xfrm>
          <a:prstGeom prst="roundRect">
            <a:avLst>
              <a:gd name="adj" fmla="val 108696"/>
            </a:avLst>
          </a:prstGeom>
          <a:solidFill>
            <a:srgbClr val="E7F3FD"/>
          </a:solidFill>
          <a:ln w="9525">
            <a:solidFill>
              <a:srgbClr val="E1E8F0"/>
            </a:solidFill>
            <a:prstDash val="solid"/>
          </a:ln>
        </p:spPr>
      </p:sp>
      <p:sp>
        <p:nvSpPr>
          <p:cNvPr id="16" name="Text 12"/>
          <p:cNvSpPr/>
          <p:nvPr/>
        </p:nvSpPr>
        <p:spPr>
          <a:xfrm>
            <a:off x="6233008" y="4187952"/>
            <a:ext cx="2522144" cy="420624"/>
          </a:xfrm>
          <a:prstGeom prst="rect">
            <a:avLst/>
          </a:prstGeom>
          <a:noFill/>
          <a:ln/>
        </p:spPr>
        <p:txBody>
          <a:bodyPr wrap="square" lIns="0" tIns="0" rIns="0" bIns="0" rtlCol="0" anchor="ctr"/>
          <a:lstStyle/>
          <a:p>
            <a:pPr algn="ctr" indent="0" marL="0">
              <a:buNone/>
            </a:pPr>
            <a:r>
              <a:rPr lang="en-US" sz="950" b="1" dirty="0">
                <a:solidFill>
                  <a:srgbClr val="175496"/>
                </a:solidFill>
                <a:latin typeface="Calibri" pitchFamily="34" charset="0"/>
                <a:ea typeface="Calibri" pitchFamily="34" charset="-122"/>
                <a:cs typeface="Calibri" pitchFamily="34" charset="-120"/>
              </a:rPr>
              <a:t>3  In Progress</a:t>
            </a:r>
            <a:endParaRPr lang="en-US" sz="950" dirty="0"/>
          </a:p>
        </p:txBody>
      </p:sp>
      <p:sp>
        <p:nvSpPr>
          <p:cNvPr id="17" name="Shape 13"/>
          <p:cNvSpPr/>
          <p:nvPr/>
        </p:nvSpPr>
        <p:spPr>
          <a:xfrm>
            <a:off x="8956319" y="4187952"/>
            <a:ext cx="2668448" cy="420624"/>
          </a:xfrm>
          <a:prstGeom prst="roundRect">
            <a:avLst>
              <a:gd name="adj" fmla="val 108696"/>
            </a:avLst>
          </a:prstGeom>
          <a:solidFill>
            <a:srgbClr val="EEF4FB"/>
          </a:solidFill>
          <a:ln w="9525">
            <a:solidFill>
              <a:srgbClr val="E1E8F0"/>
            </a:solidFill>
            <a:prstDash val="solid"/>
          </a:ln>
        </p:spPr>
      </p:sp>
      <p:sp>
        <p:nvSpPr>
          <p:cNvPr id="18" name="Text 14"/>
          <p:cNvSpPr/>
          <p:nvPr/>
        </p:nvSpPr>
        <p:spPr>
          <a:xfrm>
            <a:off x="9029471" y="4187952"/>
            <a:ext cx="2522144" cy="420624"/>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4  In Pipeline</a:t>
            </a:r>
            <a:endParaRPr lang="en-US" sz="950" dirty="0"/>
          </a:p>
        </p:txBody>
      </p:sp>
      <p:sp>
        <p:nvSpPr>
          <p:cNvPr id="19" name="Shape 15"/>
          <p:cNvSpPr/>
          <p:nvPr/>
        </p:nvSpPr>
        <p:spPr>
          <a:xfrm>
            <a:off x="566928" y="4663440"/>
            <a:ext cx="2668448" cy="420624"/>
          </a:xfrm>
          <a:prstGeom prst="roundRect">
            <a:avLst>
              <a:gd name="adj" fmla="val 108696"/>
            </a:avLst>
          </a:prstGeom>
          <a:solidFill>
            <a:srgbClr val="E0F5F7"/>
          </a:solidFill>
          <a:ln w="9525">
            <a:solidFill>
              <a:srgbClr val="E1E8F0"/>
            </a:solidFill>
            <a:prstDash val="solid"/>
          </a:ln>
        </p:spPr>
      </p:sp>
      <p:sp>
        <p:nvSpPr>
          <p:cNvPr id="20" name="Text 16"/>
          <p:cNvSpPr/>
          <p:nvPr/>
        </p:nvSpPr>
        <p:spPr>
          <a:xfrm>
            <a:off x="640080" y="4663440"/>
            <a:ext cx="2522144" cy="420624"/>
          </a:xfrm>
          <a:prstGeom prst="rect">
            <a:avLst/>
          </a:prstGeom>
          <a:noFill/>
          <a:ln/>
        </p:spPr>
        <p:txBody>
          <a:bodyPr wrap="square" lIns="0" tIns="0" rIns="0" bIns="0" rtlCol="0" anchor="ctr"/>
          <a:lstStyle/>
          <a:p>
            <a:pPr algn="ctr" indent="0" marL="0">
              <a:buNone/>
            </a:pPr>
            <a:r>
              <a:rPr lang="en-US" sz="950" b="1" dirty="0">
                <a:solidFill>
                  <a:srgbClr val="00ACC1"/>
                </a:solidFill>
                <a:latin typeface="Calibri" pitchFamily="34" charset="0"/>
                <a:ea typeface="Calibri" pitchFamily="34" charset="-122"/>
                <a:cs typeface="Calibri" pitchFamily="34" charset="-120"/>
              </a:rPr>
              <a:t>5  Top Companies</a:t>
            </a:r>
            <a:endParaRPr lang="en-US" sz="950" dirty="0"/>
          </a:p>
        </p:txBody>
      </p:sp>
      <p:sp>
        <p:nvSpPr>
          <p:cNvPr id="21" name="Shape 17"/>
          <p:cNvSpPr/>
          <p:nvPr/>
        </p:nvSpPr>
        <p:spPr>
          <a:xfrm>
            <a:off x="3363392" y="4663440"/>
            <a:ext cx="2668448" cy="420624"/>
          </a:xfrm>
          <a:prstGeom prst="roundRect">
            <a:avLst>
              <a:gd name="adj" fmla="val 108696"/>
            </a:avLst>
          </a:prstGeom>
          <a:solidFill>
            <a:srgbClr val="FBEDED"/>
          </a:solidFill>
          <a:ln w="9525">
            <a:solidFill>
              <a:srgbClr val="E1E8F0"/>
            </a:solidFill>
            <a:prstDash val="solid"/>
          </a:ln>
        </p:spPr>
      </p:sp>
      <p:sp>
        <p:nvSpPr>
          <p:cNvPr id="22" name="Text 18"/>
          <p:cNvSpPr/>
          <p:nvPr/>
        </p:nvSpPr>
        <p:spPr>
          <a:xfrm>
            <a:off x="3436544" y="4663440"/>
            <a:ext cx="2522144" cy="420624"/>
          </a:xfrm>
          <a:prstGeom prst="rect">
            <a:avLst/>
          </a:prstGeom>
          <a:noFill/>
          <a:ln/>
        </p:spPr>
        <p:txBody>
          <a:bodyPr wrap="square" lIns="0" tIns="0" rIns="0" bIns="0" rtlCol="0" anchor="ctr"/>
          <a:lstStyle/>
          <a:p>
            <a:pPr algn="ctr" indent="0" marL="0">
              <a:buNone/>
            </a:pPr>
            <a:r>
              <a:rPr lang="en-US" sz="950" b="1" dirty="0">
                <a:solidFill>
                  <a:srgbClr val="C62828"/>
                </a:solidFill>
                <a:latin typeface="Calibri" pitchFamily="34" charset="0"/>
                <a:ea typeface="Calibri" pitchFamily="34" charset="-122"/>
                <a:cs typeface="Calibri" pitchFamily="34" charset="-120"/>
              </a:rPr>
              <a:t>6  Rejected by HR</a:t>
            </a:r>
            <a:endParaRPr lang="en-US" sz="950" dirty="0"/>
          </a:p>
        </p:txBody>
      </p:sp>
      <p:sp>
        <p:nvSpPr>
          <p:cNvPr id="23" name="Shape 19"/>
          <p:cNvSpPr/>
          <p:nvPr/>
        </p:nvSpPr>
        <p:spPr>
          <a:xfrm>
            <a:off x="6159856" y="4663440"/>
            <a:ext cx="2668448" cy="420624"/>
          </a:xfrm>
          <a:prstGeom prst="roundRect">
            <a:avLst>
              <a:gd name="adj" fmla="val 108696"/>
            </a:avLst>
          </a:prstGeom>
          <a:solidFill>
            <a:srgbClr val="FBEDED"/>
          </a:solidFill>
          <a:ln w="9525">
            <a:solidFill>
              <a:srgbClr val="E1E8F0"/>
            </a:solidFill>
            <a:prstDash val="solid"/>
          </a:ln>
        </p:spPr>
      </p:sp>
      <p:sp>
        <p:nvSpPr>
          <p:cNvPr id="24" name="Text 20"/>
          <p:cNvSpPr/>
          <p:nvPr/>
        </p:nvSpPr>
        <p:spPr>
          <a:xfrm>
            <a:off x="6233008" y="4663440"/>
            <a:ext cx="2522144" cy="420624"/>
          </a:xfrm>
          <a:prstGeom prst="rect">
            <a:avLst/>
          </a:prstGeom>
          <a:noFill/>
          <a:ln/>
        </p:spPr>
        <p:txBody>
          <a:bodyPr wrap="square" lIns="0" tIns="0" rIns="0" bIns="0" rtlCol="0" anchor="ctr"/>
          <a:lstStyle/>
          <a:p>
            <a:pPr algn="ctr" indent="0" marL="0">
              <a:buNone/>
            </a:pPr>
            <a:r>
              <a:rPr lang="en-US" sz="950" b="1" dirty="0">
                <a:solidFill>
                  <a:srgbClr val="C62828"/>
                </a:solidFill>
                <a:latin typeface="Calibri" pitchFamily="34" charset="0"/>
                <a:ea typeface="Calibri" pitchFamily="34" charset="-122"/>
                <a:cs typeface="Calibri" pitchFamily="34" charset="-120"/>
              </a:rPr>
              <a:t>7  Rejected by College</a:t>
            </a:r>
            <a:endParaRPr lang="en-US" sz="950" dirty="0"/>
          </a:p>
        </p:txBody>
      </p:sp>
      <p:sp>
        <p:nvSpPr>
          <p:cNvPr id="25" name="Shape 21"/>
          <p:cNvSpPr/>
          <p:nvPr/>
        </p:nvSpPr>
        <p:spPr>
          <a:xfrm>
            <a:off x="8956319" y="4663440"/>
            <a:ext cx="2668448" cy="420624"/>
          </a:xfrm>
          <a:prstGeom prst="roundRect">
            <a:avLst>
              <a:gd name="adj" fmla="val 108696"/>
            </a:avLst>
          </a:prstGeom>
          <a:solidFill>
            <a:srgbClr val="FFFFFF"/>
          </a:solidFill>
          <a:ln w="9525">
            <a:solidFill>
              <a:srgbClr val="FFFFFF"/>
            </a:solidFill>
            <a:prstDash val="solid"/>
          </a:ln>
        </p:spPr>
      </p:sp>
      <p:sp>
        <p:nvSpPr>
          <p:cNvPr id="26" name="Text 22"/>
          <p:cNvSpPr/>
          <p:nvPr/>
        </p:nvSpPr>
        <p:spPr>
          <a:xfrm>
            <a:off x="9029471" y="4663440"/>
            <a:ext cx="2522144" cy="420624"/>
          </a:xfrm>
          <a:prstGeom prst="rect">
            <a:avLst/>
          </a:prstGeom>
          <a:noFill/>
          <a:ln/>
        </p:spPr>
        <p:txBody>
          <a:bodyPr wrap="square" lIns="0" tIns="0" rIns="0" bIns="0" rtlCol="0" anchor="ctr"/>
          <a:lstStyle/>
          <a:p>
            <a:pPr algn="ctr" indent="0" marL="0">
              <a:buNone/>
            </a:pPr>
            <a:endParaRPr lang="en-US" sz="950" dirty="0"/>
          </a:p>
        </p:txBody>
      </p:sp>
      <p:sp>
        <p:nvSpPr>
          <p:cNvPr id="27" name="Shape 23"/>
          <p:cNvSpPr/>
          <p:nvPr/>
        </p:nvSpPr>
        <p:spPr>
          <a:xfrm>
            <a:off x="566928" y="5120640"/>
            <a:ext cx="5410048" cy="914400"/>
          </a:xfrm>
          <a:prstGeom prst="roundRect">
            <a:avLst>
              <a:gd name="adj" fmla="val 10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8" name="Text 24"/>
          <p:cNvSpPr/>
          <p:nvPr/>
        </p:nvSpPr>
        <p:spPr>
          <a:xfrm>
            <a:off x="786384" y="5340096"/>
            <a:ext cx="4971136"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Per-section summary lines</a:t>
            </a:r>
            <a:endParaRPr lang="en-US" sz="1200" dirty="0"/>
          </a:p>
        </p:txBody>
      </p:sp>
      <p:sp>
        <p:nvSpPr>
          <p:cNvPr id="29" name="Text 25"/>
          <p:cNvSpPr/>
          <p:nvPr/>
        </p:nvSpPr>
        <p:spPr>
          <a:xfrm>
            <a:off x="786384" y="5660136"/>
            <a:ext cx="4971136" cy="20116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“9 Companies • Total Offers 84” · “18 Companies • 6 Follow-ups Due This Week” · “10 Companies • Avg CTC 7.2 LPA”.</a:t>
            </a:r>
            <a:endParaRPr lang="en-US" sz="950" dirty="0"/>
          </a:p>
        </p:txBody>
      </p:sp>
      <p:sp>
        <p:nvSpPr>
          <p:cNvPr id="30" name="Shape 26"/>
          <p:cNvSpPr/>
          <p:nvPr/>
        </p:nvSpPr>
        <p:spPr>
          <a:xfrm>
            <a:off x="6214720" y="5120640"/>
            <a:ext cx="5410048" cy="914400"/>
          </a:xfrm>
          <a:prstGeom prst="roundRect">
            <a:avLst>
              <a:gd name="adj" fmla="val 10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1" name="Text 27"/>
          <p:cNvSpPr/>
          <p:nvPr/>
        </p:nvSpPr>
        <p:spPr>
          <a:xfrm>
            <a:off x="6434176" y="5340096"/>
            <a:ext cx="4971136"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Follow-up colour indicator</a:t>
            </a:r>
            <a:endParaRPr lang="en-US" sz="1200" dirty="0"/>
          </a:p>
        </p:txBody>
      </p:sp>
      <p:sp>
        <p:nvSpPr>
          <p:cNvPr id="32" name="Text 28"/>
          <p:cNvSpPr/>
          <p:nvPr/>
        </p:nvSpPr>
        <p:spPr>
          <a:xfrm>
            <a:off x="6434176" y="5660136"/>
            <a:ext cx="4971136" cy="20116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Green — over 7 days away · Yellow — within 3 days · Red — due today or overdue. Urgency without opening the Status text.</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04</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04 §9–17</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Working the tracker</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23</a:t>
            </a:r>
            <a:endParaRPr lang="en-US" sz="950" dirty="0"/>
          </a:p>
        </p:txBody>
      </p:sp>
      <p:sp>
        <p:nvSpPr>
          <p:cNvPr id="9" name="Shape 6"/>
          <p:cNvSpPr/>
          <p:nvPr/>
        </p:nvSpPr>
        <p:spPr>
          <a:xfrm>
            <a:off x="566928" y="1371600"/>
            <a:ext cx="3527450" cy="1783080"/>
          </a:xfrm>
          <a:prstGeom prst="roundRect">
            <a:avLst>
              <a:gd name="adj" fmla="val 512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Shape 7"/>
          <p:cNvSpPr/>
          <p:nvPr/>
        </p:nvSpPr>
        <p:spPr>
          <a:xfrm>
            <a:off x="786384" y="1591056"/>
            <a:ext cx="420624" cy="420624"/>
          </a:xfrm>
          <a:prstGeom prst="ellipse">
            <a:avLst/>
          </a:prstGeom>
          <a:solidFill>
            <a:srgbClr val="0B2E59"/>
          </a:solidFill>
          <a:ln w="12700">
            <a:solidFill>
              <a:srgbClr val="0B2E59"/>
            </a:solidFill>
            <a:prstDash val="solid"/>
          </a:ln>
        </p:spPr>
      </p:sp>
      <p:pic>
        <p:nvPicPr>
          <p:cNvPr id="11" name="Image 1" descr="preencoded.png">    </p:cNvPr>
          <p:cNvPicPr>
            <a:picLocks noChangeAspect="1"/>
          </p:cNvPicPr>
          <p:nvPr/>
        </p:nvPicPr>
        <p:blipFill>
          <a:blip r:embed="rId2"/>
          <a:stretch>
            <a:fillRect/>
          </a:stretch>
        </p:blipFill>
        <p:spPr>
          <a:xfrm>
            <a:off x="891540" y="1696212"/>
            <a:ext cx="210312" cy="210312"/>
          </a:xfrm>
          <a:prstGeom prst="rect">
            <a:avLst/>
          </a:prstGeom>
        </p:spPr>
      </p:pic>
      <p:sp>
        <p:nvSpPr>
          <p:cNvPr id="12" name="Text 8"/>
          <p:cNvSpPr/>
          <p:nvPr/>
        </p:nvSpPr>
        <p:spPr>
          <a:xfrm>
            <a:off x="786384" y="2139696"/>
            <a:ext cx="3088538"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Friday to Friday</a:t>
            </a:r>
            <a:endParaRPr lang="en-US" sz="1200" dirty="0"/>
          </a:p>
        </p:txBody>
      </p:sp>
      <p:sp>
        <p:nvSpPr>
          <p:cNvPr id="13" name="Text 9"/>
          <p:cNvSpPr/>
          <p:nvPr/>
        </p:nvSpPr>
        <p:spPr>
          <a:xfrm>
            <a:off x="786384" y="2459736"/>
            <a:ext cx="3088538" cy="52120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The week selector follows the organization's actual reporting cycle, not a rolling seven days: “◀ Previous — 18 Jul 2026 – 24 Jul 2026 — Next ▶”. Any previous week can be reviewed and updated.</a:t>
            </a:r>
            <a:endParaRPr lang="en-US" sz="1000" dirty="0"/>
          </a:p>
        </p:txBody>
      </p:sp>
      <p:sp>
        <p:nvSpPr>
          <p:cNvPr id="14" name="Shape 10"/>
          <p:cNvSpPr/>
          <p:nvPr/>
        </p:nvSpPr>
        <p:spPr>
          <a:xfrm>
            <a:off x="4332122" y="1371600"/>
            <a:ext cx="3527450" cy="1783080"/>
          </a:xfrm>
          <a:prstGeom prst="roundRect">
            <a:avLst>
              <a:gd name="adj" fmla="val 512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5" name="Shape 11"/>
          <p:cNvSpPr/>
          <p:nvPr/>
        </p:nvSpPr>
        <p:spPr>
          <a:xfrm>
            <a:off x="4551578" y="1591056"/>
            <a:ext cx="420624" cy="420624"/>
          </a:xfrm>
          <a:prstGeom prst="ellipse">
            <a:avLst/>
          </a:prstGeom>
          <a:solidFill>
            <a:srgbClr val="175496"/>
          </a:solidFill>
          <a:ln w="12700">
            <a:solidFill>
              <a:srgbClr val="175496"/>
            </a:solidFill>
            <a:prstDash val="solid"/>
          </a:ln>
        </p:spPr>
      </p:sp>
      <p:pic>
        <p:nvPicPr>
          <p:cNvPr id="16" name="Image 2" descr="preencoded.png">    </p:cNvPr>
          <p:cNvPicPr>
            <a:picLocks noChangeAspect="1"/>
          </p:cNvPicPr>
          <p:nvPr/>
        </p:nvPicPr>
        <p:blipFill>
          <a:blip r:embed="rId3"/>
          <a:stretch>
            <a:fillRect/>
          </a:stretch>
        </p:blipFill>
        <p:spPr>
          <a:xfrm>
            <a:off x="4656734" y="1696212"/>
            <a:ext cx="210312" cy="210312"/>
          </a:xfrm>
          <a:prstGeom prst="rect">
            <a:avLst/>
          </a:prstGeom>
        </p:spPr>
      </p:pic>
      <p:sp>
        <p:nvSpPr>
          <p:cNvPr id="17" name="Text 12"/>
          <p:cNvSpPr/>
          <p:nvPr/>
        </p:nvSpPr>
        <p:spPr>
          <a:xfrm>
            <a:off x="4551578" y="2139696"/>
            <a:ext cx="3088538"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Sorted by urgency</a:t>
            </a:r>
            <a:endParaRPr lang="en-US" sz="1200" dirty="0"/>
          </a:p>
        </p:txBody>
      </p:sp>
      <p:sp>
        <p:nvSpPr>
          <p:cNvPr id="18" name="Text 13"/>
          <p:cNvSpPr/>
          <p:nvPr/>
        </p:nvSpPr>
        <p:spPr>
          <a:xfrm>
            <a:off x="4551578" y="2459736"/>
            <a:ext cx="3088538" cy="52120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Every section defaults to Follow-up Date ascending, then Company Name. Manual sort by CTC, Company, Role, CDC or Type; filters by College, Company Type, Date and Coordinator.</a:t>
            </a:r>
            <a:endParaRPr lang="en-US" sz="1000" dirty="0"/>
          </a:p>
        </p:txBody>
      </p:sp>
      <p:sp>
        <p:nvSpPr>
          <p:cNvPr id="19" name="Shape 14"/>
          <p:cNvSpPr/>
          <p:nvPr/>
        </p:nvSpPr>
        <p:spPr>
          <a:xfrm>
            <a:off x="8097317" y="1371600"/>
            <a:ext cx="3527450" cy="1783080"/>
          </a:xfrm>
          <a:prstGeom prst="roundRect">
            <a:avLst>
              <a:gd name="adj" fmla="val 512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0" name="Shape 15"/>
          <p:cNvSpPr/>
          <p:nvPr/>
        </p:nvSpPr>
        <p:spPr>
          <a:xfrm>
            <a:off x="8316773" y="1591056"/>
            <a:ext cx="420624" cy="420624"/>
          </a:xfrm>
          <a:prstGeom prst="ellipse">
            <a:avLst/>
          </a:prstGeom>
          <a:solidFill>
            <a:srgbClr val="00ACC1"/>
          </a:solidFill>
          <a:ln w="12700">
            <a:solidFill>
              <a:srgbClr val="00ACC1"/>
            </a:solidFill>
            <a:prstDash val="solid"/>
          </a:ln>
        </p:spPr>
      </p:sp>
      <p:pic>
        <p:nvPicPr>
          <p:cNvPr id="21" name="Image 3" descr="preencoded.png">    </p:cNvPr>
          <p:cNvPicPr>
            <a:picLocks noChangeAspect="1"/>
          </p:cNvPicPr>
          <p:nvPr/>
        </p:nvPicPr>
        <p:blipFill>
          <a:blip r:embed="rId4"/>
          <a:stretch>
            <a:fillRect/>
          </a:stretch>
        </p:blipFill>
        <p:spPr>
          <a:xfrm>
            <a:off x="8421929" y="1696212"/>
            <a:ext cx="210312" cy="210312"/>
          </a:xfrm>
          <a:prstGeom prst="rect">
            <a:avLst/>
          </a:prstGeom>
        </p:spPr>
      </p:pic>
      <p:sp>
        <p:nvSpPr>
          <p:cNvPr id="22" name="Text 16"/>
          <p:cNvSpPr/>
          <p:nvPr/>
        </p:nvSpPr>
        <p:spPr>
          <a:xfrm>
            <a:off x="8316773" y="2139696"/>
            <a:ext cx="3088538"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Sticky section headers</a:t>
            </a:r>
            <a:endParaRPr lang="en-US" sz="1200" dirty="0"/>
          </a:p>
        </p:txBody>
      </p:sp>
      <p:sp>
        <p:nvSpPr>
          <p:cNvPr id="23" name="Text 17"/>
          <p:cNvSpPr/>
          <p:nvPr/>
        </p:nvSpPr>
        <p:spPr>
          <a:xfrm>
            <a:off x="8316773" y="2459736"/>
            <a:ext cx="3088538" cy="52120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The section header stays pinned while scrolling its rows — necessary once a section holds dozens of companies.</a:t>
            </a:r>
            <a:endParaRPr lang="en-US" sz="1000" dirty="0"/>
          </a:p>
        </p:txBody>
      </p:sp>
      <p:sp>
        <p:nvSpPr>
          <p:cNvPr id="24" name="Text 18"/>
          <p:cNvSpPr/>
          <p:nvPr/>
        </p:nvSpPr>
        <p:spPr>
          <a:xfrm>
            <a:off x="566928" y="334670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EVERY ROW'S QUICK ACTION MENU</a:t>
            </a:r>
            <a:endParaRPr lang="en-US" sz="9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3602736"/>
          <a:ext cx="11057839" cy="914400"/>
        </p:xfrm>
        <a:graphic>
          <a:graphicData uri="http://schemas.openxmlformats.org/drawingml/2006/table">
            <a:tbl>
              <a:tblPr/>
              <a:tblGrid>
                <a:gridCol w="3108960"/>
                <a:gridCol w="7948879"/>
              </a:tblGrid>
              <a:tr h="32918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Action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Behaviour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Edit</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Opens the row — every column is editable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Insert Row Above / Below</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Excel-like insertion; replaced the idea of a permanent “+” on every row, which was rejected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Duplicate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Copies the row, e.g. when the same company recruits for another role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Move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Moves the record to another section when the automatic rule has not yet triggered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Pin to Top Companies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Forces the record into Top Companies regardless of the CTC / role rule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
        <p:nvSpPr>
          <p:cNvPr id="26" name="Text 19"/>
          <p:cNvSpPr/>
          <p:nvPr/>
        </p:nvSpPr>
        <p:spPr>
          <a:xfrm>
            <a:off x="566928" y="5632704"/>
            <a:ext cx="11057839" cy="27432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Every column is fully editable by both Coordinator and Team Leader — reaffirmed as the most important rule in this module. Completed records are not locked in v1.0.</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05</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05 — DAILY LEADS</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Two questions, every day</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24</a:t>
            </a:r>
            <a:endParaRPr lang="en-US" sz="950" dirty="0"/>
          </a:p>
        </p:txBody>
      </p:sp>
      <p:sp>
        <p:nvSpPr>
          <p:cNvPr id="9" name="Shape 6"/>
          <p:cNvSpPr/>
          <p:nvPr/>
        </p:nvSpPr>
        <p:spPr>
          <a:xfrm>
            <a:off x="566928" y="1371600"/>
            <a:ext cx="5410048" cy="1188720"/>
          </a:xfrm>
          <a:prstGeom prst="roundRect">
            <a:avLst>
              <a:gd name="adj" fmla="val 769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Shape 7"/>
          <p:cNvSpPr/>
          <p:nvPr/>
        </p:nvSpPr>
        <p:spPr>
          <a:xfrm>
            <a:off x="786384" y="1591056"/>
            <a:ext cx="365760" cy="365760"/>
          </a:xfrm>
          <a:prstGeom prst="ellipse">
            <a:avLst/>
          </a:prstGeom>
          <a:solidFill>
            <a:srgbClr val="2E7D32"/>
          </a:solidFill>
          <a:ln w="12700">
            <a:solidFill>
              <a:srgbClr val="2E7D32"/>
            </a:solidFill>
            <a:prstDash val="solid"/>
          </a:ln>
        </p:spPr>
      </p:sp>
      <p:pic>
        <p:nvPicPr>
          <p:cNvPr id="11" name="Image 1" descr="preencoded.png">    </p:cNvPr>
          <p:cNvPicPr>
            <a:picLocks noChangeAspect="1"/>
          </p:cNvPicPr>
          <p:nvPr/>
        </p:nvPicPr>
        <p:blipFill>
          <a:blip r:embed="rId2"/>
          <a:stretch>
            <a:fillRect/>
          </a:stretch>
        </p:blipFill>
        <p:spPr>
          <a:xfrm>
            <a:off x="877824" y="1682496"/>
            <a:ext cx="182880" cy="182880"/>
          </a:xfrm>
          <a:prstGeom prst="rect">
            <a:avLst/>
          </a:prstGeom>
        </p:spPr>
      </p:pic>
      <p:sp>
        <p:nvSpPr>
          <p:cNvPr id="12" name="Text 8"/>
          <p:cNvSpPr/>
          <p:nvPr/>
        </p:nvSpPr>
        <p:spPr>
          <a:xfrm>
            <a:off x="1280160" y="1591056"/>
            <a:ext cx="4477360"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What positive opportunities did we receive today?</a:t>
            </a:r>
            <a:endParaRPr lang="en-US" sz="1200" dirty="0"/>
          </a:p>
        </p:txBody>
      </p:sp>
      <p:sp>
        <p:nvSpPr>
          <p:cNvPr id="13" name="Text 9"/>
          <p:cNvSpPr/>
          <p:nvPr/>
        </p:nvSpPr>
        <p:spPr>
          <a:xfrm>
            <a:off x="786384" y="2002536"/>
            <a:ext cx="4971136" cy="38404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Every positive response generated for the day, across all active colleges.</a:t>
            </a:r>
            <a:endParaRPr lang="en-US" sz="1000" dirty="0"/>
          </a:p>
        </p:txBody>
      </p:sp>
      <p:sp>
        <p:nvSpPr>
          <p:cNvPr id="14" name="Shape 10"/>
          <p:cNvSpPr/>
          <p:nvPr/>
        </p:nvSpPr>
        <p:spPr>
          <a:xfrm>
            <a:off x="6214720" y="1371600"/>
            <a:ext cx="5410048" cy="1188720"/>
          </a:xfrm>
          <a:prstGeom prst="roundRect">
            <a:avLst>
              <a:gd name="adj" fmla="val 769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5" name="Shape 11"/>
          <p:cNvSpPr/>
          <p:nvPr/>
        </p:nvSpPr>
        <p:spPr>
          <a:xfrm>
            <a:off x="6434176" y="1591056"/>
            <a:ext cx="365760" cy="365760"/>
          </a:xfrm>
          <a:prstGeom prst="ellipse">
            <a:avLst/>
          </a:prstGeom>
          <a:solidFill>
            <a:srgbClr val="175496"/>
          </a:solidFill>
          <a:ln w="12700">
            <a:solidFill>
              <a:srgbClr val="175496"/>
            </a:solidFill>
            <a:prstDash val="solid"/>
          </a:ln>
        </p:spPr>
      </p:sp>
      <p:pic>
        <p:nvPicPr>
          <p:cNvPr id="16" name="Image 2" descr="preencoded.png">    </p:cNvPr>
          <p:cNvPicPr>
            <a:picLocks noChangeAspect="1"/>
          </p:cNvPicPr>
          <p:nvPr/>
        </p:nvPicPr>
        <p:blipFill>
          <a:blip r:embed="rId3"/>
          <a:stretch>
            <a:fillRect/>
          </a:stretch>
        </p:blipFill>
        <p:spPr>
          <a:xfrm>
            <a:off x="6525616" y="1682496"/>
            <a:ext cx="182880" cy="182880"/>
          </a:xfrm>
          <a:prstGeom prst="rect">
            <a:avLst/>
          </a:prstGeom>
        </p:spPr>
      </p:pic>
      <p:sp>
        <p:nvSpPr>
          <p:cNvPr id="17" name="Text 12"/>
          <p:cNvSpPr/>
          <p:nvPr/>
        </p:nvSpPr>
        <p:spPr>
          <a:xfrm>
            <a:off x="6927952" y="1591056"/>
            <a:ext cx="4477360"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What Job Descriptions did we receive today?</a:t>
            </a:r>
            <a:endParaRPr lang="en-US" sz="1200" dirty="0"/>
          </a:p>
        </p:txBody>
      </p:sp>
      <p:sp>
        <p:nvSpPr>
          <p:cNvPr id="18" name="Text 13"/>
          <p:cNvSpPr/>
          <p:nvPr/>
        </p:nvSpPr>
        <p:spPr>
          <a:xfrm>
            <a:off x="6434176" y="2002536"/>
            <a:ext cx="4971136" cy="38404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Companies from whom the JD has actually arrived — typically around ten days after the initial request.</a:t>
            </a:r>
            <a:endParaRPr lang="en-US" sz="1000" dirty="0"/>
          </a:p>
        </p:txBody>
      </p:sp>
      <p:sp>
        <p:nvSpPr>
          <p:cNvPr id="19" name="Text 14"/>
          <p:cNvSpPr/>
          <p:nvPr/>
        </p:nvSpPr>
        <p:spPr>
          <a:xfrm>
            <a:off x="566928" y="2724912"/>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THREE REGISTERS, THREE DIFFERENT BUSINESS PROCESSES — DELIBERATELY KEPT APART</a:t>
            </a:r>
            <a:endParaRPr lang="en-US" sz="9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2980944"/>
          <a:ext cx="11057839" cy="914400"/>
        </p:xfrm>
        <a:graphic>
          <a:graphicData uri="http://schemas.openxmlformats.org/drawingml/2006/table">
            <a:tbl>
              <a:tblPr/>
              <a:tblGrid>
                <a:gridCol w="2926080"/>
                <a:gridCol w="8131759"/>
              </a:tblGrid>
              <a:tr h="38404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Module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Tracks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84048">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Daily Tracker (03)</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Communication activities — calls made, call outcomes, remarks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84048">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Weekly Tracker (04)</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The lifecycle of companies — pipeline, in progress, completed, rejected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Daily Leads (05)</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The positive opportunities generated each day and the JDs received each day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
        <p:nvSpPr>
          <p:cNvPr id="21" name="Text 15"/>
          <p:cNvSpPr/>
          <p:nvPr/>
        </p:nvSpPr>
        <p:spPr>
          <a:xfrm>
            <a:off x="566928" y="4590288"/>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IDENTICAL COLUMNS ON BOTH TABS, SO ENTRY FEELS THE SAME EITHER WAY</a:t>
            </a:r>
            <a:endParaRPr lang="en-US" sz="950" dirty="0"/>
          </a:p>
        </p:txBody>
      </p:sp>
      <p:sp>
        <p:nvSpPr>
          <p:cNvPr id="22" name="Shape 16"/>
          <p:cNvSpPr/>
          <p:nvPr/>
        </p:nvSpPr>
        <p:spPr>
          <a:xfrm>
            <a:off x="566928" y="4846320"/>
            <a:ext cx="1270216" cy="420624"/>
          </a:xfrm>
          <a:prstGeom prst="roundRect">
            <a:avLst>
              <a:gd name="adj" fmla="val 108696"/>
            </a:avLst>
          </a:prstGeom>
          <a:solidFill>
            <a:srgbClr val="F4F7FA"/>
          </a:solidFill>
          <a:ln w="9525">
            <a:solidFill>
              <a:srgbClr val="E1E8F0"/>
            </a:solidFill>
            <a:prstDash val="solid"/>
          </a:ln>
        </p:spPr>
      </p:sp>
      <p:sp>
        <p:nvSpPr>
          <p:cNvPr id="23" name="Text 17"/>
          <p:cNvSpPr/>
          <p:nvPr/>
        </p:nvSpPr>
        <p:spPr>
          <a:xfrm>
            <a:off x="640080" y="4846320"/>
            <a:ext cx="1123912" cy="420624"/>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S.No</a:t>
            </a:r>
            <a:endParaRPr lang="en-US" sz="1000" dirty="0"/>
          </a:p>
        </p:txBody>
      </p:sp>
      <p:sp>
        <p:nvSpPr>
          <p:cNvPr id="24" name="Shape 18"/>
          <p:cNvSpPr/>
          <p:nvPr/>
        </p:nvSpPr>
        <p:spPr>
          <a:xfrm>
            <a:off x="1965160" y="4846320"/>
            <a:ext cx="1270216" cy="420624"/>
          </a:xfrm>
          <a:prstGeom prst="roundRect">
            <a:avLst>
              <a:gd name="adj" fmla="val 108696"/>
            </a:avLst>
          </a:prstGeom>
          <a:solidFill>
            <a:srgbClr val="F4F7FA"/>
          </a:solidFill>
          <a:ln w="9525">
            <a:solidFill>
              <a:srgbClr val="E1E8F0"/>
            </a:solidFill>
            <a:prstDash val="solid"/>
          </a:ln>
        </p:spPr>
      </p:sp>
      <p:sp>
        <p:nvSpPr>
          <p:cNvPr id="25" name="Text 19"/>
          <p:cNvSpPr/>
          <p:nvPr/>
        </p:nvSpPr>
        <p:spPr>
          <a:xfrm>
            <a:off x="2038312" y="4846320"/>
            <a:ext cx="1123912" cy="420624"/>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Time</a:t>
            </a:r>
            <a:endParaRPr lang="en-US" sz="1000" dirty="0"/>
          </a:p>
        </p:txBody>
      </p:sp>
      <p:sp>
        <p:nvSpPr>
          <p:cNvPr id="26" name="Shape 20"/>
          <p:cNvSpPr/>
          <p:nvPr/>
        </p:nvSpPr>
        <p:spPr>
          <a:xfrm>
            <a:off x="3363392" y="4846320"/>
            <a:ext cx="1270216" cy="420624"/>
          </a:xfrm>
          <a:prstGeom prst="roundRect">
            <a:avLst>
              <a:gd name="adj" fmla="val 108696"/>
            </a:avLst>
          </a:prstGeom>
          <a:solidFill>
            <a:srgbClr val="F4F7FA"/>
          </a:solidFill>
          <a:ln w="9525">
            <a:solidFill>
              <a:srgbClr val="E1E8F0"/>
            </a:solidFill>
            <a:prstDash val="solid"/>
          </a:ln>
        </p:spPr>
      </p:sp>
      <p:sp>
        <p:nvSpPr>
          <p:cNvPr id="27" name="Text 21"/>
          <p:cNvSpPr/>
          <p:nvPr/>
        </p:nvSpPr>
        <p:spPr>
          <a:xfrm>
            <a:off x="3436544" y="4846320"/>
            <a:ext cx="1123912" cy="420624"/>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Date</a:t>
            </a:r>
            <a:endParaRPr lang="en-US" sz="1000" dirty="0"/>
          </a:p>
        </p:txBody>
      </p:sp>
      <p:sp>
        <p:nvSpPr>
          <p:cNvPr id="28" name="Shape 22"/>
          <p:cNvSpPr/>
          <p:nvPr/>
        </p:nvSpPr>
        <p:spPr>
          <a:xfrm>
            <a:off x="4761624" y="4846320"/>
            <a:ext cx="1270216" cy="420624"/>
          </a:xfrm>
          <a:prstGeom prst="roundRect">
            <a:avLst>
              <a:gd name="adj" fmla="val 108696"/>
            </a:avLst>
          </a:prstGeom>
          <a:solidFill>
            <a:srgbClr val="F4F7FA"/>
          </a:solidFill>
          <a:ln w="9525">
            <a:solidFill>
              <a:srgbClr val="E1E8F0"/>
            </a:solidFill>
            <a:prstDash val="solid"/>
          </a:ln>
        </p:spPr>
      </p:sp>
      <p:sp>
        <p:nvSpPr>
          <p:cNvPr id="29" name="Text 23"/>
          <p:cNvSpPr/>
          <p:nvPr/>
        </p:nvSpPr>
        <p:spPr>
          <a:xfrm>
            <a:off x="4834776" y="4846320"/>
            <a:ext cx="1123912" cy="420624"/>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Company</a:t>
            </a:r>
            <a:endParaRPr lang="en-US" sz="1000" dirty="0"/>
          </a:p>
        </p:txBody>
      </p:sp>
      <p:sp>
        <p:nvSpPr>
          <p:cNvPr id="30" name="Shape 24"/>
          <p:cNvSpPr/>
          <p:nvPr/>
        </p:nvSpPr>
        <p:spPr>
          <a:xfrm>
            <a:off x="6159856" y="4846320"/>
            <a:ext cx="1270216" cy="420624"/>
          </a:xfrm>
          <a:prstGeom prst="roundRect">
            <a:avLst>
              <a:gd name="adj" fmla="val 108696"/>
            </a:avLst>
          </a:prstGeom>
          <a:solidFill>
            <a:srgbClr val="F4F7FA"/>
          </a:solidFill>
          <a:ln w="9525">
            <a:solidFill>
              <a:srgbClr val="E1E8F0"/>
            </a:solidFill>
            <a:prstDash val="solid"/>
          </a:ln>
        </p:spPr>
      </p:sp>
      <p:sp>
        <p:nvSpPr>
          <p:cNvPr id="31" name="Text 25"/>
          <p:cNvSpPr/>
          <p:nvPr/>
        </p:nvSpPr>
        <p:spPr>
          <a:xfrm>
            <a:off x="6233008" y="4846320"/>
            <a:ext cx="1123912" cy="420624"/>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Role</a:t>
            </a:r>
            <a:endParaRPr lang="en-US" sz="1000" dirty="0"/>
          </a:p>
        </p:txBody>
      </p:sp>
      <p:sp>
        <p:nvSpPr>
          <p:cNvPr id="32" name="Shape 26"/>
          <p:cNvSpPr/>
          <p:nvPr/>
        </p:nvSpPr>
        <p:spPr>
          <a:xfrm>
            <a:off x="7558088" y="4846320"/>
            <a:ext cx="1270216" cy="420624"/>
          </a:xfrm>
          <a:prstGeom prst="roundRect">
            <a:avLst>
              <a:gd name="adj" fmla="val 108696"/>
            </a:avLst>
          </a:prstGeom>
          <a:solidFill>
            <a:srgbClr val="F4F7FA"/>
          </a:solidFill>
          <a:ln w="9525">
            <a:solidFill>
              <a:srgbClr val="E1E8F0"/>
            </a:solidFill>
            <a:prstDash val="solid"/>
          </a:ln>
        </p:spPr>
      </p:sp>
      <p:sp>
        <p:nvSpPr>
          <p:cNvPr id="33" name="Text 27"/>
          <p:cNvSpPr/>
          <p:nvPr/>
        </p:nvSpPr>
        <p:spPr>
          <a:xfrm>
            <a:off x="7631240" y="4846320"/>
            <a:ext cx="1123912" cy="420624"/>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CTC</a:t>
            </a:r>
            <a:endParaRPr lang="en-US" sz="1000" dirty="0"/>
          </a:p>
        </p:txBody>
      </p:sp>
      <p:sp>
        <p:nvSpPr>
          <p:cNvPr id="34" name="Shape 28"/>
          <p:cNvSpPr/>
          <p:nvPr/>
        </p:nvSpPr>
        <p:spPr>
          <a:xfrm>
            <a:off x="8956319" y="4846320"/>
            <a:ext cx="1270216" cy="420624"/>
          </a:xfrm>
          <a:prstGeom prst="roundRect">
            <a:avLst>
              <a:gd name="adj" fmla="val 108696"/>
            </a:avLst>
          </a:prstGeom>
          <a:solidFill>
            <a:srgbClr val="F4F7FA"/>
          </a:solidFill>
          <a:ln w="9525">
            <a:solidFill>
              <a:srgbClr val="E1E8F0"/>
            </a:solidFill>
            <a:prstDash val="solid"/>
          </a:ln>
        </p:spPr>
      </p:sp>
      <p:sp>
        <p:nvSpPr>
          <p:cNvPr id="35" name="Text 29"/>
          <p:cNvSpPr/>
          <p:nvPr/>
        </p:nvSpPr>
        <p:spPr>
          <a:xfrm>
            <a:off x="9029471" y="4846320"/>
            <a:ext cx="1123912" cy="420624"/>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College</a:t>
            </a:r>
            <a:endParaRPr lang="en-US" sz="1000" dirty="0"/>
          </a:p>
        </p:txBody>
      </p:sp>
      <p:sp>
        <p:nvSpPr>
          <p:cNvPr id="36" name="Shape 30"/>
          <p:cNvSpPr/>
          <p:nvPr/>
        </p:nvSpPr>
        <p:spPr>
          <a:xfrm>
            <a:off x="10354551" y="4846320"/>
            <a:ext cx="1270216" cy="420624"/>
          </a:xfrm>
          <a:prstGeom prst="roundRect">
            <a:avLst>
              <a:gd name="adj" fmla="val 108696"/>
            </a:avLst>
          </a:prstGeom>
          <a:solidFill>
            <a:srgbClr val="F4F7FA"/>
          </a:solidFill>
          <a:ln w="9525">
            <a:solidFill>
              <a:srgbClr val="E1E8F0"/>
            </a:solidFill>
            <a:prstDash val="solid"/>
          </a:ln>
        </p:spPr>
      </p:sp>
      <p:sp>
        <p:nvSpPr>
          <p:cNvPr id="37" name="Text 31"/>
          <p:cNvSpPr/>
          <p:nvPr/>
        </p:nvSpPr>
        <p:spPr>
          <a:xfrm>
            <a:off x="10427703" y="4846320"/>
            <a:ext cx="1123912" cy="420624"/>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Eligible Batch</a:t>
            </a:r>
            <a:endParaRPr lang="en-US" sz="1000" dirty="0"/>
          </a:p>
        </p:txBody>
      </p:sp>
      <p:sp>
        <p:nvSpPr>
          <p:cNvPr id="38" name="Text 32"/>
          <p:cNvSpPr/>
          <p:nvPr/>
        </p:nvSpPr>
        <p:spPr>
          <a:xfrm>
            <a:off x="566928" y="5394960"/>
            <a:ext cx="11057839" cy="402336"/>
          </a:xfrm>
          <a:prstGeom prst="rect">
            <a:avLst/>
          </a:prstGeom>
          <a:noFill/>
          <a:ln/>
        </p:spPr>
        <p:txBody>
          <a:bodyPr wrap="square" lIns="0" tIns="0" rIns="0" bIns="0" rtlCol="0" anchor="t"/>
          <a:lstStyle/>
          <a:p>
            <a:pPr indent="0" marL="0">
              <a:lnSpc>
                <a:spcPct val="110000"/>
              </a:lnSpc>
              <a:buNone/>
            </a:pPr>
            <a:r>
              <a:rPr lang="en-US" sz="1050" i="1" dirty="0">
                <a:solidFill>
                  <a:srgbClr val="7B8794"/>
                </a:solidFill>
                <a:latin typeface="Calibri" pitchFamily="34" charset="0"/>
                <a:ea typeface="Calibri" pitchFamily="34" charset="-122"/>
                <a:cs typeface="Calibri" pitchFamily="34" charset="-120"/>
              </a:rPr>
              <a:t>Time and Date are kept as two separate columns, not one combined field — so a JD received late at night against an email sent days earlier stays readable at a glance.</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05</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05 §6 &amp; §14–17</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Two tabs, and a deliberate refusal to automate</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25</a:t>
            </a:r>
            <a:endParaRPr lang="en-US" sz="950" dirty="0"/>
          </a:p>
        </p:txBody>
      </p:sp>
      <p:sp>
        <p:nvSpPr>
          <p:cNvPr id="9" name="Text 6"/>
          <p:cNvSpPr/>
          <p:nvPr/>
        </p:nvSpPr>
        <p:spPr>
          <a:xfrm>
            <a:off x="566928" y="13716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MOST-DEBATED DECISION: HOW THE TWO REGISTERS APPEAR ON SCREEN</a:t>
            </a:r>
            <a:endParaRPr lang="en-US" sz="950" dirty="0"/>
          </a:p>
        </p:txBody>
      </p:sp>
      <p:sp>
        <p:nvSpPr>
          <p:cNvPr id="10" name="Shape 7"/>
          <p:cNvSpPr/>
          <p:nvPr/>
        </p:nvSpPr>
        <p:spPr>
          <a:xfrm>
            <a:off x="566928" y="1591056"/>
            <a:ext cx="3527450" cy="1353312"/>
          </a:xfrm>
          <a:prstGeom prst="roundRect">
            <a:avLst>
              <a:gd name="adj" fmla="val 6757"/>
            </a:avLst>
          </a:prstGeom>
          <a:solidFill>
            <a:srgbClr val="FDF1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1" name="Text 8"/>
          <p:cNvSpPr/>
          <p:nvPr/>
        </p:nvSpPr>
        <p:spPr>
          <a:xfrm>
            <a:off x="786384" y="1810512"/>
            <a:ext cx="3088538" cy="274320"/>
          </a:xfrm>
          <a:prstGeom prst="rect">
            <a:avLst/>
          </a:prstGeom>
          <a:noFill/>
          <a:ln/>
        </p:spPr>
        <p:txBody>
          <a:bodyPr wrap="square" lIns="0" tIns="0" rIns="0" bIns="0" rtlCol="0" anchor="t"/>
          <a:lstStyle/>
          <a:p>
            <a:pPr indent="0" marL="0">
              <a:buNone/>
            </a:pPr>
            <a:r>
              <a:rPr lang="en-US" sz="1350" b="1" dirty="0">
                <a:solidFill>
                  <a:srgbClr val="C62828"/>
                </a:solidFill>
                <a:latin typeface="Calibri" pitchFamily="34" charset="0"/>
                <a:ea typeface="Calibri" pitchFamily="34" charset="-122"/>
                <a:cs typeface="Calibri" pitchFamily="34" charset="-120"/>
              </a:rPr>
              <a:t>✗  Two separate buttons</a:t>
            </a:r>
            <a:endParaRPr lang="en-US" sz="1350" dirty="0"/>
          </a:p>
        </p:txBody>
      </p:sp>
      <p:sp>
        <p:nvSpPr>
          <p:cNvPr id="12" name="Text 9"/>
          <p:cNvSpPr/>
          <p:nvPr/>
        </p:nvSpPr>
        <p:spPr>
          <a:xfrm>
            <a:off x="786384" y="2130552"/>
            <a:ext cx="3088538" cy="640080"/>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Each navigating to its own screen. Rejected — it feels like moving between two pages and does not feel like one module.</a:t>
            </a:r>
            <a:endParaRPr lang="en-US" sz="1000" dirty="0"/>
          </a:p>
        </p:txBody>
      </p:sp>
      <p:sp>
        <p:nvSpPr>
          <p:cNvPr id="13" name="Shape 10"/>
          <p:cNvSpPr/>
          <p:nvPr/>
        </p:nvSpPr>
        <p:spPr>
          <a:xfrm>
            <a:off x="4332122" y="1591056"/>
            <a:ext cx="3527450" cy="1353312"/>
          </a:xfrm>
          <a:prstGeom prst="roundRect">
            <a:avLst>
              <a:gd name="adj" fmla="val 6757"/>
            </a:avLst>
          </a:prstGeom>
          <a:solidFill>
            <a:srgbClr val="FDF1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4" name="Text 11"/>
          <p:cNvSpPr/>
          <p:nvPr/>
        </p:nvSpPr>
        <p:spPr>
          <a:xfrm>
            <a:off x="4551578" y="1810512"/>
            <a:ext cx="3088538" cy="274320"/>
          </a:xfrm>
          <a:prstGeom prst="rect">
            <a:avLst/>
          </a:prstGeom>
          <a:noFill/>
          <a:ln/>
        </p:spPr>
        <p:txBody>
          <a:bodyPr wrap="square" lIns="0" tIns="0" rIns="0" bIns="0" rtlCol="0" anchor="t"/>
          <a:lstStyle/>
          <a:p>
            <a:pPr indent="0" marL="0">
              <a:buNone/>
            </a:pPr>
            <a:r>
              <a:rPr lang="en-US" sz="1350" b="1" dirty="0">
                <a:solidFill>
                  <a:srgbClr val="C62828"/>
                </a:solidFill>
                <a:latin typeface="Calibri" pitchFamily="34" charset="0"/>
                <a:ea typeface="Calibri" pitchFamily="34" charset="-122"/>
                <a:cs typeface="Calibri" pitchFamily="34" charset="-120"/>
              </a:rPr>
              <a:t>✗  Two tables stacked</a:t>
            </a:r>
            <a:endParaRPr lang="en-US" sz="1350" dirty="0"/>
          </a:p>
        </p:txBody>
      </p:sp>
      <p:sp>
        <p:nvSpPr>
          <p:cNvPr id="15" name="Text 12"/>
          <p:cNvSpPr/>
          <p:nvPr/>
        </p:nvSpPr>
        <p:spPr>
          <a:xfrm>
            <a:off x="4551578" y="2130552"/>
            <a:ext cx="3088538" cy="640080"/>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Both on one long page. Rejected — with 20–30 rows each the page becomes very long and hard to focus in.</a:t>
            </a:r>
            <a:endParaRPr lang="en-US" sz="1000" dirty="0"/>
          </a:p>
        </p:txBody>
      </p:sp>
      <p:sp>
        <p:nvSpPr>
          <p:cNvPr id="16" name="Shape 13"/>
          <p:cNvSpPr/>
          <p:nvPr/>
        </p:nvSpPr>
        <p:spPr>
          <a:xfrm>
            <a:off x="8097317" y="1591056"/>
            <a:ext cx="3527450" cy="1353312"/>
          </a:xfrm>
          <a:prstGeom prst="roundRect">
            <a:avLst>
              <a:gd name="adj" fmla="val 6757"/>
            </a:avLst>
          </a:prstGeom>
          <a:solidFill>
            <a:srgbClr val="F0F8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7" name="Text 14"/>
          <p:cNvSpPr/>
          <p:nvPr/>
        </p:nvSpPr>
        <p:spPr>
          <a:xfrm>
            <a:off x="8316773" y="1810512"/>
            <a:ext cx="3088538" cy="274320"/>
          </a:xfrm>
          <a:prstGeom prst="rect">
            <a:avLst/>
          </a:prstGeom>
          <a:noFill/>
          <a:ln/>
        </p:spPr>
        <p:txBody>
          <a:bodyPr wrap="square" lIns="0" tIns="0" rIns="0" bIns="0" rtlCol="0" anchor="t"/>
          <a:lstStyle/>
          <a:p>
            <a:pPr indent="0" marL="0">
              <a:buNone/>
            </a:pPr>
            <a:r>
              <a:rPr lang="en-US" sz="1350" b="1" dirty="0">
                <a:solidFill>
                  <a:srgbClr val="2E7D32"/>
                </a:solidFill>
                <a:latin typeface="Calibri" pitchFamily="34" charset="0"/>
                <a:ea typeface="Calibri" pitchFamily="34" charset="-122"/>
                <a:cs typeface="Calibri" pitchFamily="34" charset="-120"/>
              </a:rPr>
              <a:t>✓  Excel-style tabs</a:t>
            </a:r>
            <a:endParaRPr lang="en-US" sz="1350" dirty="0"/>
          </a:p>
        </p:txBody>
      </p:sp>
      <p:sp>
        <p:nvSpPr>
          <p:cNvPr id="18" name="Text 15"/>
          <p:cNvSpPr/>
          <p:nvPr/>
        </p:nvSpPr>
        <p:spPr>
          <a:xfrm>
            <a:off x="8316773" y="2130552"/>
            <a:ext cx="3088538" cy="640080"/>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Positives and JD Received inside one workspace. Clicking swaps the table in place; the page never navigates. 150–250ms, no refresh, no spinner.</a:t>
            </a:r>
            <a:endParaRPr lang="en-US" sz="1000" dirty="0"/>
          </a:p>
        </p:txBody>
      </p:sp>
      <p:sp>
        <p:nvSpPr>
          <p:cNvPr id="19" name="Shape 16"/>
          <p:cNvSpPr/>
          <p:nvPr/>
        </p:nvSpPr>
        <p:spPr>
          <a:xfrm>
            <a:off x="566928" y="3090672"/>
            <a:ext cx="11057839" cy="1243584"/>
          </a:xfrm>
          <a:prstGeom prst="roundRect">
            <a:avLst>
              <a:gd name="adj" fmla="val 7353"/>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0" name="Text 17"/>
          <p:cNvSpPr/>
          <p:nvPr/>
        </p:nvSpPr>
        <p:spPr>
          <a:xfrm>
            <a:off x="786384" y="3310128"/>
            <a:ext cx="10618927"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Why this module stays manual</a:t>
            </a:r>
            <a:endParaRPr lang="en-US" sz="1350" dirty="0"/>
          </a:p>
        </p:txBody>
      </p:sp>
      <p:sp>
        <p:nvSpPr>
          <p:cNvPr id="21" name="Text 18"/>
          <p:cNvSpPr/>
          <p:nvPr/>
        </p:nvSpPr>
        <p:spPr>
          <a:xfrm>
            <a:off x="786384" y="3630168"/>
            <a:ext cx="10618927" cy="530352"/>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Positives and JDs arrive by call, email and WhatsApp at inconsistent times, and the timestamp is part of the coordinator's manual process. Automating entry would make the record less reliable, not more, because the system cannot detect when a lead actually arrived. Daily Leads is a manual register first and a data source second.</a:t>
            </a:r>
            <a:endParaRPr lang="en-US" sz="1050" dirty="0"/>
          </a:p>
        </p:txBody>
      </p:sp>
      <p:sp>
        <p:nvSpPr>
          <p:cNvPr id="22" name="Text 19"/>
          <p:cNvSpPr/>
          <p:nvPr/>
        </p:nvSpPr>
        <p:spPr>
          <a:xfrm>
            <a:off x="566928" y="444398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PERMISSIONS — ONE ROLE WRITES, EVERYONE ELSE READS</a:t>
            </a:r>
            <a:endParaRPr lang="en-US" sz="9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4700016"/>
          <a:ext cx="11057839" cy="914400"/>
        </p:xfrm>
        <a:graphic>
          <a:graphicData uri="http://schemas.openxmlformats.org/drawingml/2006/table">
            <a:tbl>
              <a:tblPr/>
              <a:tblGrid>
                <a:gridCol w="3742639"/>
                <a:gridCol w="1828800"/>
                <a:gridCol w="1828800"/>
                <a:gridCol w="1828800"/>
                <a:gridCol w="1828800"/>
              </a:tblGrid>
              <a:tr h="310896">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Action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Coordinator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Team Leader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Administrator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TPO</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10896">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View both tabs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10896">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Add · Edit · Delete an entry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Filter by date / college · Export to Excel</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06</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06 — REPORTS &amp; ANALYTICS</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Three sections, no data of its own</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26</a:t>
            </a:r>
            <a:endParaRPr lang="en-US" sz="950" dirty="0"/>
          </a:p>
        </p:txBody>
      </p:sp>
      <p:sp>
        <p:nvSpPr>
          <p:cNvPr id="9" name="Shape 6"/>
          <p:cNvSpPr/>
          <p:nvPr/>
        </p:nvSpPr>
        <p:spPr>
          <a:xfrm>
            <a:off x="566928" y="1371600"/>
            <a:ext cx="3527450" cy="1143000"/>
          </a:xfrm>
          <a:prstGeom prst="roundRect">
            <a:avLst>
              <a:gd name="adj" fmla="val 8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Shape 7"/>
          <p:cNvSpPr/>
          <p:nvPr/>
        </p:nvSpPr>
        <p:spPr>
          <a:xfrm>
            <a:off x="786384" y="1591056"/>
            <a:ext cx="365760" cy="365760"/>
          </a:xfrm>
          <a:prstGeom prst="ellipse">
            <a:avLst/>
          </a:prstGeom>
          <a:solidFill>
            <a:srgbClr val="175496"/>
          </a:solidFill>
          <a:ln w="12700">
            <a:solidFill>
              <a:srgbClr val="175496"/>
            </a:solidFill>
            <a:prstDash val="solid"/>
          </a:ln>
        </p:spPr>
      </p:sp>
      <p:pic>
        <p:nvPicPr>
          <p:cNvPr id="11" name="Image 1" descr="preencoded.png">    </p:cNvPr>
          <p:cNvPicPr>
            <a:picLocks noChangeAspect="1"/>
          </p:cNvPicPr>
          <p:nvPr/>
        </p:nvPicPr>
        <p:blipFill>
          <a:blip r:embed="rId2"/>
          <a:stretch>
            <a:fillRect/>
          </a:stretch>
        </p:blipFill>
        <p:spPr>
          <a:xfrm>
            <a:off x="877824" y="1682496"/>
            <a:ext cx="182880" cy="182880"/>
          </a:xfrm>
          <a:prstGeom prst="rect">
            <a:avLst/>
          </a:prstGeom>
        </p:spPr>
      </p:pic>
      <p:sp>
        <p:nvSpPr>
          <p:cNvPr id="12" name="Text 8"/>
          <p:cNvSpPr/>
          <p:nvPr/>
        </p:nvSpPr>
        <p:spPr>
          <a:xfrm>
            <a:off x="1280160" y="1591056"/>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Analytics</a:t>
            </a:r>
            <a:endParaRPr lang="en-US" sz="1350" dirty="0"/>
          </a:p>
        </p:txBody>
      </p:sp>
      <p:sp>
        <p:nvSpPr>
          <p:cNvPr id="13" name="Text 9"/>
          <p:cNvSpPr/>
          <p:nvPr/>
        </p:nvSpPr>
        <p:spPr>
          <a:xfrm>
            <a:off x="786384" y="2002536"/>
            <a:ext cx="3088538" cy="33832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Interactive exploration of live data. Never exported as a document.</a:t>
            </a:r>
            <a:endParaRPr lang="en-US" sz="1000" dirty="0"/>
          </a:p>
        </p:txBody>
      </p:sp>
      <p:sp>
        <p:nvSpPr>
          <p:cNvPr id="14" name="Shape 10"/>
          <p:cNvSpPr/>
          <p:nvPr/>
        </p:nvSpPr>
        <p:spPr>
          <a:xfrm>
            <a:off x="4332122" y="1371600"/>
            <a:ext cx="3527450" cy="1143000"/>
          </a:xfrm>
          <a:prstGeom prst="roundRect">
            <a:avLst>
              <a:gd name="adj" fmla="val 8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5" name="Shape 11"/>
          <p:cNvSpPr/>
          <p:nvPr/>
        </p:nvSpPr>
        <p:spPr>
          <a:xfrm>
            <a:off x="4551578" y="1591056"/>
            <a:ext cx="365760" cy="365760"/>
          </a:xfrm>
          <a:prstGeom prst="ellipse">
            <a:avLst/>
          </a:prstGeom>
          <a:solidFill>
            <a:srgbClr val="0B2E59"/>
          </a:solidFill>
          <a:ln w="12700">
            <a:solidFill>
              <a:srgbClr val="0B2E59"/>
            </a:solidFill>
            <a:prstDash val="solid"/>
          </a:ln>
        </p:spPr>
      </p:sp>
      <p:pic>
        <p:nvPicPr>
          <p:cNvPr id="16" name="Image 2" descr="preencoded.png">    </p:cNvPr>
          <p:cNvPicPr>
            <a:picLocks noChangeAspect="1"/>
          </p:cNvPicPr>
          <p:nvPr/>
        </p:nvPicPr>
        <p:blipFill>
          <a:blip r:embed="rId3"/>
          <a:stretch>
            <a:fillRect/>
          </a:stretch>
        </p:blipFill>
        <p:spPr>
          <a:xfrm>
            <a:off x="4643018" y="1682496"/>
            <a:ext cx="182880" cy="182880"/>
          </a:xfrm>
          <a:prstGeom prst="rect">
            <a:avLst/>
          </a:prstGeom>
        </p:spPr>
      </p:pic>
      <p:sp>
        <p:nvSpPr>
          <p:cNvPr id="17" name="Text 12"/>
          <p:cNvSpPr/>
          <p:nvPr/>
        </p:nvSpPr>
        <p:spPr>
          <a:xfrm>
            <a:off x="5045354" y="1591056"/>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Reports</a:t>
            </a:r>
            <a:endParaRPr lang="en-US" sz="1350" dirty="0"/>
          </a:p>
        </p:txBody>
      </p:sp>
      <p:sp>
        <p:nvSpPr>
          <p:cNvPr id="18" name="Text 13"/>
          <p:cNvSpPr/>
          <p:nvPr/>
        </p:nvSpPr>
        <p:spPr>
          <a:xfrm>
            <a:off x="4551578" y="2002536"/>
            <a:ext cx="3088538" cy="33832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A library of the four finalized templates — a library, not a design surface.</a:t>
            </a:r>
            <a:endParaRPr lang="en-US" sz="1000" dirty="0"/>
          </a:p>
        </p:txBody>
      </p:sp>
      <p:sp>
        <p:nvSpPr>
          <p:cNvPr id="19" name="Shape 14"/>
          <p:cNvSpPr/>
          <p:nvPr/>
        </p:nvSpPr>
        <p:spPr>
          <a:xfrm>
            <a:off x="8097317" y="1371600"/>
            <a:ext cx="3527450" cy="1143000"/>
          </a:xfrm>
          <a:prstGeom prst="roundRect">
            <a:avLst>
              <a:gd name="adj" fmla="val 8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0" name="Shape 15"/>
          <p:cNvSpPr/>
          <p:nvPr/>
        </p:nvSpPr>
        <p:spPr>
          <a:xfrm>
            <a:off x="8316773" y="1591056"/>
            <a:ext cx="365760" cy="365760"/>
          </a:xfrm>
          <a:prstGeom prst="ellipse">
            <a:avLst/>
          </a:prstGeom>
          <a:solidFill>
            <a:srgbClr val="00ACC1"/>
          </a:solidFill>
          <a:ln w="12700">
            <a:solidFill>
              <a:srgbClr val="00ACC1"/>
            </a:solidFill>
            <a:prstDash val="solid"/>
          </a:ln>
        </p:spPr>
      </p:sp>
      <p:pic>
        <p:nvPicPr>
          <p:cNvPr id="21" name="Image 3" descr="preencoded.png">    </p:cNvPr>
          <p:cNvPicPr>
            <a:picLocks noChangeAspect="1"/>
          </p:cNvPicPr>
          <p:nvPr/>
        </p:nvPicPr>
        <p:blipFill>
          <a:blip r:embed="rId4"/>
          <a:stretch>
            <a:fillRect/>
          </a:stretch>
        </p:blipFill>
        <p:spPr>
          <a:xfrm>
            <a:off x="8408213" y="1682496"/>
            <a:ext cx="182880" cy="182880"/>
          </a:xfrm>
          <a:prstGeom prst="rect">
            <a:avLst/>
          </a:prstGeom>
        </p:spPr>
      </p:pic>
      <p:sp>
        <p:nvSpPr>
          <p:cNvPr id="22" name="Text 16"/>
          <p:cNvSpPr/>
          <p:nvPr/>
        </p:nvSpPr>
        <p:spPr>
          <a:xfrm>
            <a:off x="8810549" y="1591056"/>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Report Builder</a:t>
            </a:r>
            <a:endParaRPr lang="en-US" sz="1350" dirty="0"/>
          </a:p>
        </p:txBody>
      </p:sp>
      <p:sp>
        <p:nvSpPr>
          <p:cNvPr id="23" name="Text 17"/>
          <p:cNvSpPr/>
          <p:nvPr/>
        </p:nvSpPr>
        <p:spPr>
          <a:xfrm>
            <a:off x="8316773" y="2002536"/>
            <a:ext cx="3088538" cy="33832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Generates a branded, editable report from live data through one guided wizard.</a:t>
            </a:r>
            <a:endParaRPr lang="en-US" sz="1000" dirty="0"/>
          </a:p>
        </p:txBody>
      </p:sp>
      <p:sp>
        <p:nvSpPr>
          <p:cNvPr id="24" name="Text 18"/>
          <p:cNvSpPr/>
          <p:nvPr/>
        </p:nvSpPr>
        <p:spPr>
          <a:xfrm>
            <a:off x="566928" y="265176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DATA SOURCES — EVERYTHING IS READ, NOTHING IS RE-KEYED</a:t>
            </a:r>
            <a:endParaRPr lang="en-US" sz="9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2907792"/>
          <a:ext cx="11057839" cy="914400"/>
        </p:xfrm>
        <a:graphic>
          <a:graphicData uri="http://schemas.openxmlformats.org/drawingml/2006/table">
            <a:tbl>
              <a:tblPr/>
              <a:tblGrid>
                <a:gridCol w="3108960"/>
                <a:gridCol w="7948879"/>
              </a:tblGrid>
              <a:tr h="32918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Source module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Provides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User Management</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Coordinator and Team Leader names, assigned colleges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Master Company Database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Company details, HR details, company categories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Daily Tracker (03)</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Calls, follow-ups, daily activity, call outcomes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Weekly Tracker (04)</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Completed, In Progress, Pipeline and Rejected companies; follow-up status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Daily Leads (05)</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Positive responses, JD received, company opportunities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
        <p:nvSpPr>
          <p:cNvPr id="26" name="Text 19"/>
          <p:cNvSpPr/>
          <p:nvPr/>
        </p:nvSpPr>
        <p:spPr>
          <a:xfrm>
            <a:off x="566928" y="50292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INSIGHTS PANEL — OBSERVATIONS, NOT JUST NUMBERS</a:t>
            </a:r>
            <a:endParaRPr lang="en-US" sz="950" dirty="0"/>
          </a:p>
        </p:txBody>
      </p:sp>
      <p:sp>
        <p:nvSpPr>
          <p:cNvPr id="27" name="Shape 20"/>
          <p:cNvSpPr/>
          <p:nvPr/>
        </p:nvSpPr>
        <p:spPr>
          <a:xfrm>
            <a:off x="566928" y="5285232"/>
            <a:ext cx="2668448" cy="438912"/>
          </a:xfrm>
          <a:prstGeom prst="roundRect">
            <a:avLst>
              <a:gd name="adj" fmla="val 104167"/>
            </a:avLst>
          </a:prstGeom>
          <a:solidFill>
            <a:srgbClr val="EEF4FB"/>
          </a:solidFill>
          <a:ln w="9525">
            <a:solidFill>
              <a:srgbClr val="D6E4F5"/>
            </a:solidFill>
            <a:prstDash val="solid"/>
          </a:ln>
        </p:spPr>
      </p:sp>
      <p:sp>
        <p:nvSpPr>
          <p:cNvPr id="28" name="Text 21"/>
          <p:cNvSpPr/>
          <p:nvPr/>
        </p:nvSpPr>
        <p:spPr>
          <a:xfrm>
            <a:off x="640080" y="5285232"/>
            <a:ext cx="2522144" cy="438912"/>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Coordinator — highest call completion this week</a:t>
            </a:r>
            <a:endParaRPr lang="en-US" sz="900" dirty="0"/>
          </a:p>
        </p:txBody>
      </p:sp>
      <p:sp>
        <p:nvSpPr>
          <p:cNvPr id="29" name="Shape 22"/>
          <p:cNvSpPr/>
          <p:nvPr/>
        </p:nvSpPr>
        <p:spPr>
          <a:xfrm>
            <a:off x="3363392" y="5285232"/>
            <a:ext cx="2668448" cy="438912"/>
          </a:xfrm>
          <a:prstGeom prst="roundRect">
            <a:avLst>
              <a:gd name="adj" fmla="val 104167"/>
            </a:avLst>
          </a:prstGeom>
          <a:solidFill>
            <a:srgbClr val="EEF4FB"/>
          </a:solidFill>
          <a:ln w="9525">
            <a:solidFill>
              <a:srgbClr val="D6E4F5"/>
            </a:solidFill>
            <a:prstDash val="solid"/>
          </a:ln>
        </p:spPr>
      </p:sp>
      <p:sp>
        <p:nvSpPr>
          <p:cNvPr id="30" name="Text 23"/>
          <p:cNvSpPr/>
          <p:nvPr/>
        </p:nvSpPr>
        <p:spPr>
          <a:xfrm>
            <a:off x="3436544" y="5285232"/>
            <a:ext cx="2522144" cy="438912"/>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Company — pending follow-up for 12 days</a:t>
            </a:r>
            <a:endParaRPr lang="en-US" sz="900" dirty="0"/>
          </a:p>
        </p:txBody>
      </p:sp>
      <p:sp>
        <p:nvSpPr>
          <p:cNvPr id="31" name="Shape 24"/>
          <p:cNvSpPr/>
          <p:nvPr/>
        </p:nvSpPr>
        <p:spPr>
          <a:xfrm>
            <a:off x="6159856" y="5285232"/>
            <a:ext cx="2668448" cy="438912"/>
          </a:xfrm>
          <a:prstGeom prst="roundRect">
            <a:avLst>
              <a:gd name="adj" fmla="val 104167"/>
            </a:avLst>
          </a:prstGeom>
          <a:solidFill>
            <a:srgbClr val="EEF4FB"/>
          </a:solidFill>
          <a:ln w="9525">
            <a:solidFill>
              <a:srgbClr val="D6E4F5"/>
            </a:solidFill>
            <a:prstDash val="solid"/>
          </a:ln>
        </p:spPr>
      </p:sp>
      <p:sp>
        <p:nvSpPr>
          <p:cNvPr id="32" name="Text 25"/>
          <p:cNvSpPr/>
          <p:nvPr/>
        </p:nvSpPr>
        <p:spPr>
          <a:xfrm>
            <a:off x="6233008" y="5285232"/>
            <a:ext cx="2522144" cy="438912"/>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College — most active, most offers</a:t>
            </a:r>
            <a:endParaRPr lang="en-US" sz="900" dirty="0"/>
          </a:p>
        </p:txBody>
      </p:sp>
      <p:sp>
        <p:nvSpPr>
          <p:cNvPr id="33" name="Shape 26"/>
          <p:cNvSpPr/>
          <p:nvPr/>
        </p:nvSpPr>
        <p:spPr>
          <a:xfrm>
            <a:off x="8956319" y="5285232"/>
            <a:ext cx="2668448" cy="438912"/>
          </a:xfrm>
          <a:prstGeom prst="roundRect">
            <a:avLst>
              <a:gd name="adj" fmla="val 104167"/>
            </a:avLst>
          </a:prstGeom>
          <a:solidFill>
            <a:srgbClr val="EEF4FB"/>
          </a:solidFill>
          <a:ln w="9525">
            <a:solidFill>
              <a:srgbClr val="D6E4F5"/>
            </a:solidFill>
            <a:prstDash val="solid"/>
          </a:ln>
        </p:spPr>
      </p:sp>
      <p:sp>
        <p:nvSpPr>
          <p:cNvPr id="34" name="Text 27"/>
          <p:cNvSpPr/>
          <p:nvPr/>
        </p:nvSpPr>
        <p:spPr>
          <a:xfrm>
            <a:off x="9029471" y="5285232"/>
            <a:ext cx="2522144" cy="438912"/>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Trend — calls up 18%, positives up 10%</a:t>
            </a:r>
            <a:endParaRPr lang="en-US" sz="900" dirty="0"/>
          </a:p>
        </p:txBody>
      </p:sp>
      <p:sp>
        <p:nvSpPr>
          <p:cNvPr id="35" name="Text 28"/>
          <p:cNvSpPr/>
          <p:nvPr/>
        </p:nvSpPr>
        <p:spPr>
          <a:xfrm>
            <a:off x="566928" y="5779008"/>
            <a:ext cx="11057839" cy="256032"/>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Access: Coordinator, Team Leader and Administrator all use the module. The TPO has no direct access — they receive exported reports.</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06</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06 §8–9</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Four templates, down from eight to ten</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27</a:t>
            </a:r>
            <a:endParaRPr lang="en-US" sz="9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2651760"/>
                <a:gridCol w="2468880"/>
                <a:gridCol w="5937199"/>
              </a:tblGrid>
              <a:tr h="438912">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Report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Audience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Key contents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438912">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1 · Weekly Placement</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College management, internal</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Completed, In Progress, Pipeline, follow-up summary, insights, logos, generated by / date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438912">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2 · Monthly Placement</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Management review</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Monthly KPIs, company / college / coordinator summary, month-on-month comparison, charts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438912">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3 · College Performance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One specific college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Companies contacted, positives, drives, offers, highest and average package, coordinator</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438912">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4 · Coordinator Performance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Internal management</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Colleges handled, companies, calls, positives, JDs, drives — no ranking in v1.0</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bl>
          </a:graphicData>
        </a:graphic>
      </p:graphicFrame>
      <p:sp>
        <p:nvSpPr>
          <p:cNvPr id="10" name="Text 6"/>
          <p:cNvSpPr/>
          <p:nvPr/>
        </p:nvSpPr>
        <p:spPr>
          <a:xfrm>
            <a:off x="566928" y="3675888"/>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REJECTED REPORT CATEGORIES, AND WHY</a:t>
            </a:r>
            <a:endParaRPr lang="en-US" sz="950" dirty="0"/>
          </a:p>
        </p:txBody>
      </p:sp>
      <p:sp>
        <p:nvSpPr>
          <p:cNvPr id="11" name="Shape 7"/>
          <p:cNvSpPr/>
          <p:nvPr/>
        </p:nvSpPr>
        <p:spPr>
          <a:xfrm>
            <a:off x="566928" y="3931920"/>
            <a:ext cx="2109155" cy="420624"/>
          </a:xfrm>
          <a:prstGeom prst="roundRect">
            <a:avLst>
              <a:gd name="adj" fmla="val 108696"/>
            </a:avLst>
          </a:prstGeom>
          <a:solidFill>
            <a:srgbClr val="F1F4F8"/>
          </a:solidFill>
          <a:ln w="9525">
            <a:solidFill>
              <a:srgbClr val="E1E8F0"/>
            </a:solidFill>
            <a:prstDash val="solid"/>
          </a:ln>
        </p:spPr>
      </p:sp>
      <p:sp>
        <p:nvSpPr>
          <p:cNvPr id="12" name="Text 8"/>
          <p:cNvSpPr/>
          <p:nvPr/>
        </p:nvSpPr>
        <p:spPr>
          <a:xfrm>
            <a:off x="640080" y="3931920"/>
            <a:ext cx="1962851" cy="420624"/>
          </a:xfrm>
          <a:prstGeom prst="rect">
            <a:avLst/>
          </a:prstGeom>
          <a:noFill/>
          <a:ln/>
        </p:spPr>
        <p:txBody>
          <a:bodyPr wrap="square" lIns="0" tIns="0" rIns="0" bIns="0" rtlCol="0" anchor="ctr"/>
          <a:lstStyle/>
          <a:p>
            <a:pPr algn="ctr" indent="0" marL="0">
              <a:buNone/>
            </a:pPr>
            <a:r>
              <a:rPr lang="en-US" sz="900" dirty="0">
                <a:solidFill>
                  <a:srgbClr val="6B7A8C"/>
                </a:solidFill>
                <a:latin typeface="Calibri" pitchFamily="34" charset="0"/>
                <a:ea typeface="Calibri" pitchFamily="34" charset="-122"/>
                <a:cs typeface="Calibri" pitchFamily="34" charset="-120"/>
              </a:rPr>
              <a:t>Daily — covered by the Dashboard</a:t>
            </a:r>
            <a:endParaRPr lang="en-US" sz="900" dirty="0"/>
          </a:p>
        </p:txBody>
      </p:sp>
      <p:sp>
        <p:nvSpPr>
          <p:cNvPr id="13" name="Shape 9"/>
          <p:cNvSpPr/>
          <p:nvPr/>
        </p:nvSpPr>
        <p:spPr>
          <a:xfrm>
            <a:off x="2804099" y="3931920"/>
            <a:ext cx="2109155" cy="420624"/>
          </a:xfrm>
          <a:prstGeom prst="roundRect">
            <a:avLst>
              <a:gd name="adj" fmla="val 108696"/>
            </a:avLst>
          </a:prstGeom>
          <a:solidFill>
            <a:srgbClr val="F1F4F8"/>
          </a:solidFill>
          <a:ln w="9525">
            <a:solidFill>
              <a:srgbClr val="E1E8F0"/>
            </a:solidFill>
            <a:prstDash val="solid"/>
          </a:ln>
        </p:spPr>
      </p:sp>
      <p:sp>
        <p:nvSpPr>
          <p:cNvPr id="14" name="Text 10"/>
          <p:cNvSpPr/>
          <p:nvPr/>
        </p:nvSpPr>
        <p:spPr>
          <a:xfrm>
            <a:off x="2877251" y="3931920"/>
            <a:ext cx="1962851" cy="420624"/>
          </a:xfrm>
          <a:prstGeom prst="rect">
            <a:avLst/>
          </a:prstGeom>
          <a:noFill/>
          <a:ln/>
        </p:spPr>
        <p:txBody>
          <a:bodyPr wrap="square" lIns="0" tIns="0" rIns="0" bIns="0" rtlCol="0" anchor="ctr"/>
          <a:lstStyle/>
          <a:p>
            <a:pPr algn="ctr" indent="0" marL="0">
              <a:buNone/>
            </a:pPr>
            <a:r>
              <a:rPr lang="en-US" sz="900" dirty="0">
                <a:solidFill>
                  <a:srgbClr val="6B7A8C"/>
                </a:solidFill>
                <a:latin typeface="Calibri" pitchFamily="34" charset="0"/>
                <a:ea typeface="Calibri" pitchFamily="34" charset="-122"/>
                <a:cs typeface="Calibri" pitchFamily="34" charset="-120"/>
              </a:rPr>
              <a:t>Company — covered by Company Analytics</a:t>
            </a:r>
            <a:endParaRPr lang="en-US" sz="900" dirty="0"/>
          </a:p>
        </p:txBody>
      </p:sp>
      <p:sp>
        <p:nvSpPr>
          <p:cNvPr id="15" name="Shape 11"/>
          <p:cNvSpPr/>
          <p:nvPr/>
        </p:nvSpPr>
        <p:spPr>
          <a:xfrm>
            <a:off x="5041270" y="3931920"/>
            <a:ext cx="2109155" cy="420624"/>
          </a:xfrm>
          <a:prstGeom prst="roundRect">
            <a:avLst>
              <a:gd name="adj" fmla="val 108696"/>
            </a:avLst>
          </a:prstGeom>
          <a:solidFill>
            <a:srgbClr val="F1F4F8"/>
          </a:solidFill>
          <a:ln w="9525">
            <a:solidFill>
              <a:srgbClr val="E1E8F0"/>
            </a:solidFill>
            <a:prstDash val="solid"/>
          </a:ln>
        </p:spPr>
      </p:sp>
      <p:sp>
        <p:nvSpPr>
          <p:cNvPr id="16" name="Text 12"/>
          <p:cNvSpPr/>
          <p:nvPr/>
        </p:nvSpPr>
        <p:spPr>
          <a:xfrm>
            <a:off x="5114422" y="3931920"/>
            <a:ext cx="1962851" cy="420624"/>
          </a:xfrm>
          <a:prstGeom prst="rect">
            <a:avLst/>
          </a:prstGeom>
          <a:noFill/>
          <a:ln/>
        </p:spPr>
        <p:txBody>
          <a:bodyPr wrap="square" lIns="0" tIns="0" rIns="0" bIns="0" rtlCol="0" anchor="ctr"/>
          <a:lstStyle/>
          <a:p>
            <a:pPr algn="ctr" indent="0" marL="0">
              <a:buNone/>
            </a:pPr>
            <a:r>
              <a:rPr lang="en-US" sz="900" dirty="0">
                <a:solidFill>
                  <a:srgbClr val="6B7A8C"/>
                </a:solidFill>
                <a:latin typeface="Calibri" pitchFamily="34" charset="0"/>
                <a:ea typeface="Calibri" pitchFamily="34" charset="-122"/>
                <a:cs typeface="Calibri" pitchFamily="34" charset="-120"/>
              </a:rPr>
              <a:t>Pipeline — covered by the Weekly Tracker</a:t>
            </a:r>
            <a:endParaRPr lang="en-US" sz="900" dirty="0"/>
          </a:p>
        </p:txBody>
      </p:sp>
      <p:sp>
        <p:nvSpPr>
          <p:cNvPr id="17" name="Shape 13"/>
          <p:cNvSpPr/>
          <p:nvPr/>
        </p:nvSpPr>
        <p:spPr>
          <a:xfrm>
            <a:off x="7278441" y="3931920"/>
            <a:ext cx="2109155" cy="420624"/>
          </a:xfrm>
          <a:prstGeom prst="roundRect">
            <a:avLst>
              <a:gd name="adj" fmla="val 108696"/>
            </a:avLst>
          </a:prstGeom>
          <a:solidFill>
            <a:srgbClr val="F1F4F8"/>
          </a:solidFill>
          <a:ln w="9525">
            <a:solidFill>
              <a:srgbClr val="E1E8F0"/>
            </a:solidFill>
            <a:prstDash val="solid"/>
          </a:ln>
        </p:spPr>
      </p:sp>
      <p:sp>
        <p:nvSpPr>
          <p:cNvPr id="18" name="Text 14"/>
          <p:cNvSpPr/>
          <p:nvPr/>
        </p:nvSpPr>
        <p:spPr>
          <a:xfrm>
            <a:off x="7351593" y="3931920"/>
            <a:ext cx="1962851" cy="420624"/>
          </a:xfrm>
          <a:prstGeom prst="rect">
            <a:avLst/>
          </a:prstGeom>
          <a:noFill/>
          <a:ln/>
        </p:spPr>
        <p:txBody>
          <a:bodyPr wrap="square" lIns="0" tIns="0" rIns="0" bIns="0" rtlCol="0" anchor="ctr"/>
          <a:lstStyle/>
          <a:p>
            <a:pPr algn="ctr" indent="0" marL="0">
              <a:buNone/>
            </a:pPr>
            <a:r>
              <a:rPr lang="en-US" sz="900" dirty="0">
                <a:solidFill>
                  <a:srgbClr val="6B7A8C"/>
                </a:solidFill>
                <a:latin typeface="Calibri" pitchFamily="34" charset="0"/>
                <a:ea typeface="Calibri" pitchFamily="34" charset="-122"/>
                <a:cs typeface="Calibri" pitchFamily="34" charset="-120"/>
              </a:rPr>
              <a:t>Conversion — better as KPI cards</a:t>
            </a:r>
            <a:endParaRPr lang="en-US" sz="900" dirty="0"/>
          </a:p>
        </p:txBody>
      </p:sp>
      <p:sp>
        <p:nvSpPr>
          <p:cNvPr id="19" name="Shape 15"/>
          <p:cNvSpPr/>
          <p:nvPr/>
        </p:nvSpPr>
        <p:spPr>
          <a:xfrm>
            <a:off x="9515612" y="3931920"/>
            <a:ext cx="2109155" cy="420624"/>
          </a:xfrm>
          <a:prstGeom prst="roundRect">
            <a:avLst>
              <a:gd name="adj" fmla="val 108696"/>
            </a:avLst>
          </a:prstGeom>
          <a:solidFill>
            <a:srgbClr val="F1F4F8"/>
          </a:solidFill>
          <a:ln w="9525">
            <a:solidFill>
              <a:srgbClr val="E1E8F0"/>
            </a:solidFill>
            <a:prstDash val="solid"/>
          </a:ln>
        </p:spPr>
      </p:sp>
      <p:sp>
        <p:nvSpPr>
          <p:cNvPr id="20" name="Text 16"/>
          <p:cNvSpPr/>
          <p:nvPr/>
        </p:nvSpPr>
        <p:spPr>
          <a:xfrm>
            <a:off x="9588764" y="3931920"/>
            <a:ext cx="1962851" cy="420624"/>
          </a:xfrm>
          <a:prstGeom prst="rect">
            <a:avLst/>
          </a:prstGeom>
          <a:noFill/>
          <a:ln/>
        </p:spPr>
        <p:txBody>
          <a:bodyPr wrap="square" lIns="0" tIns="0" rIns="0" bIns="0" rtlCol="0" anchor="ctr"/>
          <a:lstStyle/>
          <a:p>
            <a:pPr algn="ctr" indent="0" marL="0">
              <a:buNone/>
            </a:pPr>
            <a:r>
              <a:rPr lang="en-US" sz="900" dirty="0">
                <a:solidFill>
                  <a:srgbClr val="6B7A8C"/>
                </a:solidFill>
                <a:latin typeface="Calibri" pitchFamily="34" charset="0"/>
                <a:ea typeface="Calibri" pitchFamily="34" charset="-122"/>
                <a:cs typeface="Calibri" pitchFamily="34" charset="-120"/>
              </a:rPr>
              <a:t>Custom — deferred</a:t>
            </a:r>
            <a:endParaRPr lang="en-US" sz="900" dirty="0"/>
          </a:p>
        </p:txBody>
      </p:sp>
      <p:sp>
        <p:nvSpPr>
          <p:cNvPr id="21" name="Text 17"/>
          <p:cNvSpPr/>
          <p:nvPr/>
        </p:nvSpPr>
        <p:spPr>
          <a:xfrm>
            <a:off x="566928" y="4517136"/>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REPORT BUILDER WIZARD</a:t>
            </a:r>
            <a:endParaRPr lang="en-US" sz="950" dirty="0"/>
          </a:p>
        </p:txBody>
      </p:sp>
      <p:sp>
        <p:nvSpPr>
          <p:cNvPr id="22" name="Shape 18"/>
          <p:cNvSpPr/>
          <p:nvPr/>
        </p:nvSpPr>
        <p:spPr>
          <a:xfrm>
            <a:off x="566928" y="4773168"/>
            <a:ext cx="1422937" cy="493776"/>
          </a:xfrm>
          <a:prstGeom prst="roundRect">
            <a:avLst>
              <a:gd name="adj" fmla="val 92593"/>
            </a:avLst>
          </a:prstGeom>
          <a:solidFill>
            <a:srgbClr val="F4F7FA"/>
          </a:solidFill>
          <a:ln w="9525">
            <a:solidFill>
              <a:srgbClr val="E1E8F0"/>
            </a:solidFill>
            <a:prstDash val="solid"/>
          </a:ln>
        </p:spPr>
      </p:sp>
      <p:sp>
        <p:nvSpPr>
          <p:cNvPr id="23" name="Text 19"/>
          <p:cNvSpPr/>
          <p:nvPr/>
        </p:nvSpPr>
        <p:spPr>
          <a:xfrm>
            <a:off x="612648" y="4773168"/>
            <a:ext cx="1331497" cy="493776"/>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Select type</a:t>
            </a:r>
            <a:endParaRPr lang="en-US" sz="950" dirty="0"/>
          </a:p>
        </p:txBody>
      </p:sp>
      <p:sp>
        <p:nvSpPr>
          <p:cNvPr id="24" name="Text 20"/>
          <p:cNvSpPr/>
          <p:nvPr/>
        </p:nvSpPr>
        <p:spPr>
          <a:xfrm>
            <a:off x="1989865" y="4773168"/>
            <a:ext cx="182880" cy="493776"/>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5" name="Shape 21"/>
          <p:cNvSpPr/>
          <p:nvPr/>
        </p:nvSpPr>
        <p:spPr>
          <a:xfrm>
            <a:off x="2172745" y="4773168"/>
            <a:ext cx="1422937" cy="493776"/>
          </a:xfrm>
          <a:prstGeom prst="roundRect">
            <a:avLst>
              <a:gd name="adj" fmla="val 92593"/>
            </a:avLst>
          </a:prstGeom>
          <a:solidFill>
            <a:srgbClr val="F4F7FA"/>
          </a:solidFill>
          <a:ln w="9525">
            <a:solidFill>
              <a:srgbClr val="E1E8F0"/>
            </a:solidFill>
            <a:prstDash val="solid"/>
          </a:ln>
        </p:spPr>
      </p:sp>
      <p:sp>
        <p:nvSpPr>
          <p:cNvPr id="26" name="Text 22"/>
          <p:cNvSpPr/>
          <p:nvPr/>
        </p:nvSpPr>
        <p:spPr>
          <a:xfrm>
            <a:off x="2218465" y="4773168"/>
            <a:ext cx="1331497" cy="493776"/>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Choose filters</a:t>
            </a:r>
            <a:endParaRPr lang="en-US" sz="950" dirty="0"/>
          </a:p>
        </p:txBody>
      </p:sp>
      <p:sp>
        <p:nvSpPr>
          <p:cNvPr id="27" name="Text 23"/>
          <p:cNvSpPr/>
          <p:nvPr/>
        </p:nvSpPr>
        <p:spPr>
          <a:xfrm>
            <a:off x="3595682" y="4773168"/>
            <a:ext cx="182880" cy="493776"/>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8" name="Shape 24"/>
          <p:cNvSpPr/>
          <p:nvPr/>
        </p:nvSpPr>
        <p:spPr>
          <a:xfrm>
            <a:off x="3778562" y="4773168"/>
            <a:ext cx="1422937" cy="493776"/>
          </a:xfrm>
          <a:prstGeom prst="roundRect">
            <a:avLst>
              <a:gd name="adj" fmla="val 92593"/>
            </a:avLst>
          </a:prstGeom>
          <a:solidFill>
            <a:srgbClr val="F4F7FA"/>
          </a:solidFill>
          <a:ln w="9525">
            <a:solidFill>
              <a:srgbClr val="E1E8F0"/>
            </a:solidFill>
            <a:prstDash val="solid"/>
          </a:ln>
        </p:spPr>
      </p:sp>
      <p:sp>
        <p:nvSpPr>
          <p:cNvPr id="29" name="Text 25"/>
          <p:cNvSpPr/>
          <p:nvPr/>
        </p:nvSpPr>
        <p:spPr>
          <a:xfrm>
            <a:off x="3824282" y="4773168"/>
            <a:ext cx="1331497" cy="493776"/>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Branding loads</a:t>
            </a:r>
            <a:endParaRPr lang="en-US" sz="950" dirty="0"/>
          </a:p>
        </p:txBody>
      </p:sp>
      <p:sp>
        <p:nvSpPr>
          <p:cNvPr id="30" name="Text 26"/>
          <p:cNvSpPr/>
          <p:nvPr/>
        </p:nvSpPr>
        <p:spPr>
          <a:xfrm>
            <a:off x="5201499" y="4773168"/>
            <a:ext cx="182880" cy="493776"/>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1" name="Shape 27"/>
          <p:cNvSpPr/>
          <p:nvPr/>
        </p:nvSpPr>
        <p:spPr>
          <a:xfrm>
            <a:off x="5384379" y="4773168"/>
            <a:ext cx="1422937" cy="493776"/>
          </a:xfrm>
          <a:prstGeom prst="roundRect">
            <a:avLst>
              <a:gd name="adj" fmla="val 92593"/>
            </a:avLst>
          </a:prstGeom>
          <a:solidFill>
            <a:srgbClr val="F4F7FA"/>
          </a:solidFill>
          <a:ln w="9525">
            <a:solidFill>
              <a:srgbClr val="E1E8F0"/>
            </a:solidFill>
            <a:prstDash val="solid"/>
          </a:ln>
        </p:spPr>
      </p:sp>
      <p:sp>
        <p:nvSpPr>
          <p:cNvPr id="32" name="Text 28"/>
          <p:cNvSpPr/>
          <p:nvPr/>
        </p:nvSpPr>
        <p:spPr>
          <a:xfrm>
            <a:off x="5430099" y="4773168"/>
            <a:ext cx="1331497" cy="493776"/>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Choose sections</a:t>
            </a:r>
            <a:endParaRPr lang="en-US" sz="950" dirty="0"/>
          </a:p>
        </p:txBody>
      </p:sp>
      <p:sp>
        <p:nvSpPr>
          <p:cNvPr id="33" name="Text 29"/>
          <p:cNvSpPr/>
          <p:nvPr/>
        </p:nvSpPr>
        <p:spPr>
          <a:xfrm>
            <a:off x="6807316" y="4773168"/>
            <a:ext cx="182880" cy="493776"/>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4" name="Shape 30"/>
          <p:cNvSpPr/>
          <p:nvPr/>
        </p:nvSpPr>
        <p:spPr>
          <a:xfrm>
            <a:off x="6990196" y="4773168"/>
            <a:ext cx="1422937" cy="493776"/>
          </a:xfrm>
          <a:prstGeom prst="roundRect">
            <a:avLst>
              <a:gd name="adj" fmla="val 92593"/>
            </a:avLst>
          </a:prstGeom>
          <a:solidFill>
            <a:srgbClr val="F4F7FA"/>
          </a:solidFill>
          <a:ln w="9525">
            <a:solidFill>
              <a:srgbClr val="E1E8F0"/>
            </a:solidFill>
            <a:prstDash val="solid"/>
          </a:ln>
        </p:spPr>
      </p:sp>
      <p:sp>
        <p:nvSpPr>
          <p:cNvPr id="35" name="Text 31"/>
          <p:cNvSpPr/>
          <p:nvPr/>
        </p:nvSpPr>
        <p:spPr>
          <a:xfrm>
            <a:off x="7035916" y="4773168"/>
            <a:ext cx="1331497" cy="493776"/>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Preview</a:t>
            </a:r>
            <a:endParaRPr lang="en-US" sz="950" dirty="0"/>
          </a:p>
        </p:txBody>
      </p:sp>
      <p:sp>
        <p:nvSpPr>
          <p:cNvPr id="36" name="Text 32"/>
          <p:cNvSpPr/>
          <p:nvPr/>
        </p:nvSpPr>
        <p:spPr>
          <a:xfrm>
            <a:off x="8413133" y="4773168"/>
            <a:ext cx="182880" cy="493776"/>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7" name="Shape 33"/>
          <p:cNvSpPr/>
          <p:nvPr/>
        </p:nvSpPr>
        <p:spPr>
          <a:xfrm>
            <a:off x="8596013" y="4773168"/>
            <a:ext cx="1422937" cy="493776"/>
          </a:xfrm>
          <a:prstGeom prst="roundRect">
            <a:avLst>
              <a:gd name="adj" fmla="val 92593"/>
            </a:avLst>
          </a:prstGeom>
          <a:solidFill>
            <a:srgbClr val="F4F7FA"/>
          </a:solidFill>
          <a:ln w="9525">
            <a:solidFill>
              <a:srgbClr val="E1E8F0"/>
            </a:solidFill>
            <a:prstDash val="solid"/>
          </a:ln>
        </p:spPr>
      </p:sp>
      <p:sp>
        <p:nvSpPr>
          <p:cNvPr id="38" name="Text 34"/>
          <p:cNvSpPr/>
          <p:nvPr/>
        </p:nvSpPr>
        <p:spPr>
          <a:xfrm>
            <a:off x="8641733" y="4773168"/>
            <a:ext cx="1331497" cy="493776"/>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Edit</a:t>
            </a:r>
            <a:endParaRPr lang="en-US" sz="950" dirty="0"/>
          </a:p>
        </p:txBody>
      </p:sp>
      <p:sp>
        <p:nvSpPr>
          <p:cNvPr id="39" name="Text 35"/>
          <p:cNvSpPr/>
          <p:nvPr/>
        </p:nvSpPr>
        <p:spPr>
          <a:xfrm>
            <a:off x="10018950" y="4773168"/>
            <a:ext cx="182880" cy="493776"/>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40" name="Shape 36"/>
          <p:cNvSpPr/>
          <p:nvPr/>
        </p:nvSpPr>
        <p:spPr>
          <a:xfrm>
            <a:off x="10201830" y="4773168"/>
            <a:ext cx="1422937" cy="493776"/>
          </a:xfrm>
          <a:prstGeom prst="roundRect">
            <a:avLst>
              <a:gd name="adj" fmla="val 92593"/>
            </a:avLst>
          </a:prstGeom>
          <a:solidFill>
            <a:srgbClr val="F4F7FA"/>
          </a:solidFill>
          <a:ln w="9525">
            <a:solidFill>
              <a:srgbClr val="E1E8F0"/>
            </a:solidFill>
            <a:prstDash val="solid"/>
          </a:ln>
        </p:spPr>
      </p:sp>
      <p:sp>
        <p:nvSpPr>
          <p:cNvPr id="41" name="Text 37"/>
          <p:cNvSpPr/>
          <p:nvPr/>
        </p:nvSpPr>
        <p:spPr>
          <a:xfrm>
            <a:off x="10247550" y="4773168"/>
            <a:ext cx="1331497" cy="493776"/>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Export</a:t>
            </a:r>
            <a:endParaRPr lang="en-US" sz="950" dirty="0"/>
          </a:p>
        </p:txBody>
      </p:sp>
      <p:sp>
        <p:nvSpPr>
          <p:cNvPr id="42" name="Shape 38"/>
          <p:cNvSpPr/>
          <p:nvPr/>
        </p:nvSpPr>
        <p:spPr>
          <a:xfrm>
            <a:off x="566928" y="5394960"/>
            <a:ext cx="11057839" cy="640080"/>
          </a:xfrm>
          <a:prstGeom prst="roundRect">
            <a:avLst>
              <a:gd name="adj" fmla="val 14286"/>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3" name="Text 39"/>
          <p:cNvSpPr/>
          <p:nvPr/>
        </p:nvSpPr>
        <p:spPr>
          <a:xfrm>
            <a:off x="786384" y="5614416"/>
            <a:ext cx="10618927" cy="24688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Branding loads automatically — each college profile stores its logo once, so nothing is uploaded manually every week. The preview reads live data directly from the Weekly Tracker, Daily Tracker and Daily Leads.</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06</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06 §10–15</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Their own editor, and nothing is stored</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28</a:t>
            </a:r>
            <a:endParaRPr lang="en-US" sz="950" dirty="0"/>
          </a:p>
        </p:txBody>
      </p:sp>
      <p:sp>
        <p:nvSpPr>
          <p:cNvPr id="9" name="Text 6"/>
          <p:cNvSpPr/>
          <p:nvPr/>
        </p:nvSpPr>
        <p:spPr>
          <a:xfrm>
            <a:off x="566928" y="13716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THREE OPTIONS WERE CONSIDERED FOR THE EDITING SURFACE</a:t>
            </a:r>
            <a:endParaRPr lang="en-US" sz="950" dirty="0"/>
          </a:p>
        </p:txBody>
      </p:sp>
      <p:sp>
        <p:nvSpPr>
          <p:cNvPr id="10" name="Shape 7"/>
          <p:cNvSpPr/>
          <p:nvPr/>
        </p:nvSpPr>
        <p:spPr>
          <a:xfrm>
            <a:off x="566928" y="1627632"/>
            <a:ext cx="3527450" cy="1572768"/>
          </a:xfrm>
          <a:prstGeom prst="roundRect">
            <a:avLst>
              <a:gd name="adj" fmla="val 5814"/>
            </a:avLst>
          </a:prstGeom>
          <a:solidFill>
            <a:srgbClr val="FDF1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1" name="Text 8"/>
          <p:cNvSpPr/>
          <p:nvPr/>
        </p:nvSpPr>
        <p:spPr>
          <a:xfrm>
            <a:off x="786384" y="1847088"/>
            <a:ext cx="3088538" cy="274320"/>
          </a:xfrm>
          <a:prstGeom prst="rect">
            <a:avLst/>
          </a:prstGeom>
          <a:noFill/>
          <a:ln/>
        </p:spPr>
        <p:txBody>
          <a:bodyPr wrap="square" lIns="0" tIns="0" rIns="0" bIns="0" rtlCol="0" anchor="t"/>
          <a:lstStyle/>
          <a:p>
            <a:pPr indent="0" marL="0">
              <a:buNone/>
            </a:pPr>
            <a:r>
              <a:rPr lang="en-US" sz="1350" b="1" dirty="0">
                <a:solidFill>
                  <a:srgbClr val="C62828"/>
                </a:solidFill>
                <a:latin typeface="Calibri" pitchFamily="34" charset="0"/>
                <a:ea typeface="Calibri" pitchFamily="34" charset="-122"/>
                <a:cs typeface="Calibri" pitchFamily="34" charset="-120"/>
              </a:rPr>
              <a:t>✗  Simple preview only</a:t>
            </a:r>
            <a:endParaRPr lang="en-US" sz="1350" dirty="0"/>
          </a:p>
        </p:txBody>
      </p:sp>
      <p:sp>
        <p:nvSpPr>
          <p:cNvPr id="12" name="Text 9"/>
          <p:cNvSpPr/>
          <p:nvPr/>
        </p:nvSpPr>
        <p:spPr>
          <a:xfrm>
            <a:off x="786384" y="2167128"/>
            <a:ext cx="3088538" cy="85953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Title change, remarks, show/hide sections, logo swap. Rejected — the weekly reports change too often for so rigid an editor to stay useful.</a:t>
            </a:r>
            <a:endParaRPr lang="en-US" sz="1000" dirty="0"/>
          </a:p>
        </p:txBody>
      </p:sp>
      <p:sp>
        <p:nvSpPr>
          <p:cNvPr id="13" name="Shape 10"/>
          <p:cNvSpPr/>
          <p:nvPr/>
        </p:nvSpPr>
        <p:spPr>
          <a:xfrm>
            <a:off x="4332122" y="1627632"/>
            <a:ext cx="3527450" cy="1572768"/>
          </a:xfrm>
          <a:prstGeom prst="roundRect">
            <a:avLst>
              <a:gd name="adj" fmla="val 5814"/>
            </a:avLst>
          </a:prstGeom>
          <a:solidFill>
            <a:srgbClr val="FDF1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4" name="Text 11"/>
          <p:cNvSpPr/>
          <p:nvPr/>
        </p:nvSpPr>
        <p:spPr>
          <a:xfrm>
            <a:off x="4551578" y="1847088"/>
            <a:ext cx="3088538" cy="274320"/>
          </a:xfrm>
          <a:prstGeom prst="rect">
            <a:avLst/>
          </a:prstGeom>
          <a:noFill/>
          <a:ln/>
        </p:spPr>
        <p:txBody>
          <a:bodyPr wrap="square" lIns="0" tIns="0" rIns="0" bIns="0" rtlCol="0" anchor="t"/>
          <a:lstStyle/>
          <a:p>
            <a:pPr indent="0" marL="0">
              <a:buNone/>
            </a:pPr>
            <a:r>
              <a:rPr lang="en-US" sz="1350" b="1" dirty="0">
                <a:solidFill>
                  <a:srgbClr val="C62828"/>
                </a:solidFill>
                <a:latin typeface="Calibri" pitchFamily="34" charset="0"/>
                <a:ea typeface="Calibri" pitchFamily="34" charset="-122"/>
                <a:cs typeface="Calibri" pitchFamily="34" charset="-120"/>
              </a:rPr>
              <a:t>✗  Canva as the editor</a:t>
            </a:r>
            <a:endParaRPr lang="en-US" sz="1350" dirty="0"/>
          </a:p>
        </p:txBody>
      </p:sp>
      <p:sp>
        <p:nvSpPr>
          <p:cNvPr id="15" name="Text 12"/>
          <p:cNvSpPr/>
          <p:nvPr/>
        </p:nvSpPr>
        <p:spPr>
          <a:xfrm>
            <a:off x="4551578" y="2167128"/>
            <a:ext cx="3088538" cy="85953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Rejected — Canva's developer tools are not built to embed its full editor, and it would make a core iPOMS workflow dependent on an external platform.</a:t>
            </a:r>
            <a:endParaRPr lang="en-US" sz="1000" dirty="0"/>
          </a:p>
        </p:txBody>
      </p:sp>
      <p:sp>
        <p:nvSpPr>
          <p:cNvPr id="16" name="Shape 13"/>
          <p:cNvSpPr/>
          <p:nvPr/>
        </p:nvSpPr>
        <p:spPr>
          <a:xfrm>
            <a:off x="8097317" y="1627632"/>
            <a:ext cx="3527450" cy="1572768"/>
          </a:xfrm>
          <a:prstGeom prst="roundRect">
            <a:avLst>
              <a:gd name="adj" fmla="val 5814"/>
            </a:avLst>
          </a:prstGeom>
          <a:solidFill>
            <a:srgbClr val="F0F8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7" name="Text 14"/>
          <p:cNvSpPr/>
          <p:nvPr/>
        </p:nvSpPr>
        <p:spPr>
          <a:xfrm>
            <a:off x="8316773" y="1847088"/>
            <a:ext cx="3088538" cy="274320"/>
          </a:xfrm>
          <a:prstGeom prst="rect">
            <a:avLst/>
          </a:prstGeom>
          <a:noFill/>
          <a:ln/>
        </p:spPr>
        <p:txBody>
          <a:bodyPr wrap="square" lIns="0" tIns="0" rIns="0" bIns="0" rtlCol="0" anchor="t"/>
          <a:lstStyle/>
          <a:p>
            <a:pPr indent="0" marL="0">
              <a:buNone/>
            </a:pPr>
            <a:r>
              <a:rPr lang="en-US" sz="1350" b="1" dirty="0">
                <a:solidFill>
                  <a:srgbClr val="2E7D32"/>
                </a:solidFill>
                <a:latin typeface="Calibri" pitchFamily="34" charset="0"/>
                <a:ea typeface="Calibri" pitchFamily="34" charset="-122"/>
                <a:cs typeface="Calibri" pitchFamily="34" charset="-120"/>
              </a:rPr>
              <a:t>✓  A native report editor</a:t>
            </a:r>
            <a:endParaRPr lang="en-US" sz="1350" dirty="0"/>
          </a:p>
        </p:txBody>
      </p:sp>
      <p:sp>
        <p:nvSpPr>
          <p:cNvPr id="18" name="Text 15"/>
          <p:cNvSpPr/>
          <p:nvPr/>
        </p:nvSpPr>
        <p:spPr>
          <a:xfrm>
            <a:off x="8316773" y="2167128"/>
            <a:ext cx="3088538" cy="85953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A lightweight document-editor surface in the spirit of Google Docs, Notion or Airtable, where every section of a generated report is directly editable.</a:t>
            </a:r>
            <a:endParaRPr lang="en-US" sz="1000" dirty="0"/>
          </a:p>
        </p:txBody>
      </p:sp>
      <p:sp>
        <p:nvSpPr>
          <p:cNvPr id="19" name="Shape 16"/>
          <p:cNvSpPr/>
          <p:nvPr/>
        </p:nvSpPr>
        <p:spPr>
          <a:xfrm>
            <a:off x="566928" y="3346704"/>
            <a:ext cx="5410048" cy="1280160"/>
          </a:xfrm>
          <a:prstGeom prst="roundRect">
            <a:avLst>
              <a:gd name="adj" fmla="val 714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0" name="Shape 17"/>
          <p:cNvSpPr/>
          <p:nvPr/>
        </p:nvSpPr>
        <p:spPr>
          <a:xfrm>
            <a:off x="786384" y="3566160"/>
            <a:ext cx="365760" cy="365760"/>
          </a:xfrm>
          <a:prstGeom prst="ellipse">
            <a:avLst/>
          </a:prstGeom>
          <a:solidFill>
            <a:srgbClr val="0B2E59"/>
          </a:solidFill>
          <a:ln w="12700">
            <a:solidFill>
              <a:srgbClr val="0B2E59"/>
            </a:solidFill>
            <a:prstDash val="solid"/>
          </a:ln>
        </p:spPr>
      </p:sp>
      <p:pic>
        <p:nvPicPr>
          <p:cNvPr id="21" name="Image 1" descr="preencoded.png">    </p:cNvPr>
          <p:cNvPicPr>
            <a:picLocks noChangeAspect="1"/>
          </p:cNvPicPr>
          <p:nvPr/>
        </p:nvPicPr>
        <p:blipFill>
          <a:blip r:embed="rId2"/>
          <a:stretch>
            <a:fillRect/>
          </a:stretch>
        </p:blipFill>
        <p:spPr>
          <a:xfrm>
            <a:off x="877824" y="3657600"/>
            <a:ext cx="182880" cy="182880"/>
          </a:xfrm>
          <a:prstGeom prst="rect">
            <a:avLst/>
          </a:prstGeom>
        </p:spPr>
      </p:pic>
      <p:sp>
        <p:nvSpPr>
          <p:cNvPr id="22" name="Text 18"/>
          <p:cNvSpPr/>
          <p:nvPr/>
        </p:nvSpPr>
        <p:spPr>
          <a:xfrm>
            <a:off x="1280160" y="3566160"/>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What the editor can do</a:t>
            </a:r>
            <a:endParaRPr lang="en-US" sz="1350" dirty="0"/>
          </a:p>
        </p:txBody>
      </p:sp>
      <p:sp>
        <p:nvSpPr>
          <p:cNvPr id="23" name="Text 19"/>
          <p:cNvSpPr/>
          <p:nvPr/>
        </p:nvSpPr>
        <p:spPr>
          <a:xfrm>
            <a:off x="786384" y="3977640"/>
            <a:ext cx="4971136" cy="47548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Edit table cells in place · rename column headers · insert or delete columns · add and remove remarks · drag sections into a new order · switch theme — Blue, Green, Purple, Company or College.</a:t>
            </a:r>
            <a:endParaRPr lang="en-US" sz="1000" dirty="0"/>
          </a:p>
        </p:txBody>
      </p:sp>
      <p:sp>
        <p:nvSpPr>
          <p:cNvPr id="24" name="Shape 20"/>
          <p:cNvSpPr/>
          <p:nvPr/>
        </p:nvSpPr>
        <p:spPr>
          <a:xfrm>
            <a:off x="6214720" y="3346704"/>
            <a:ext cx="5410048" cy="1280160"/>
          </a:xfrm>
          <a:prstGeom prst="roundRect">
            <a:avLst>
              <a:gd name="adj" fmla="val 714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5" name="Shape 21"/>
          <p:cNvSpPr/>
          <p:nvPr/>
        </p:nvSpPr>
        <p:spPr>
          <a:xfrm>
            <a:off x="6434176" y="3566160"/>
            <a:ext cx="365760" cy="365760"/>
          </a:xfrm>
          <a:prstGeom prst="ellipse">
            <a:avLst/>
          </a:prstGeom>
          <a:solidFill>
            <a:srgbClr val="175496"/>
          </a:solidFill>
          <a:ln w="12700">
            <a:solidFill>
              <a:srgbClr val="175496"/>
            </a:solidFill>
            <a:prstDash val="solid"/>
          </a:ln>
        </p:spPr>
      </p:sp>
      <p:pic>
        <p:nvPicPr>
          <p:cNvPr id="26" name="Image 2" descr="preencoded.png">    </p:cNvPr>
          <p:cNvPicPr>
            <a:picLocks noChangeAspect="1"/>
          </p:cNvPicPr>
          <p:nvPr/>
        </p:nvPicPr>
        <p:blipFill>
          <a:blip r:embed="rId3"/>
          <a:stretch>
            <a:fillRect/>
          </a:stretch>
        </p:blipFill>
        <p:spPr>
          <a:xfrm>
            <a:off x="6525616" y="3657600"/>
            <a:ext cx="182880" cy="182880"/>
          </a:xfrm>
          <a:prstGeom prst="rect">
            <a:avLst/>
          </a:prstGeom>
        </p:spPr>
      </p:pic>
      <p:sp>
        <p:nvSpPr>
          <p:cNvPr id="27" name="Text 22"/>
          <p:cNvSpPr/>
          <p:nvPr/>
        </p:nvSpPr>
        <p:spPr>
          <a:xfrm>
            <a:off x="6927952" y="3566160"/>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Live page indicator</a:t>
            </a:r>
            <a:endParaRPr lang="en-US" sz="1350" dirty="0"/>
          </a:p>
        </p:txBody>
      </p:sp>
      <p:sp>
        <p:nvSpPr>
          <p:cNvPr id="28" name="Text 23"/>
          <p:cNvSpPr/>
          <p:nvPr/>
        </p:nvSpPr>
        <p:spPr>
          <a:xfrm>
            <a:off x="6434176" y="3977640"/>
            <a:ext cx="4971136" cy="47548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The report shows as real numbered pages rather than one continuous scroll, reflowing as you edit — so the exported PDF always matches the screen, with no surprise page breaks.</a:t>
            </a:r>
            <a:endParaRPr lang="en-US" sz="1000" dirty="0"/>
          </a:p>
        </p:txBody>
      </p:sp>
      <p:sp>
        <p:nvSpPr>
          <p:cNvPr id="29" name="Shape 24"/>
          <p:cNvSpPr/>
          <p:nvPr/>
        </p:nvSpPr>
        <p:spPr>
          <a:xfrm>
            <a:off x="566928" y="4773168"/>
            <a:ext cx="11057839" cy="1078992"/>
          </a:xfrm>
          <a:prstGeom prst="roundRect">
            <a:avLst>
              <a:gd name="adj" fmla="val 8475"/>
            </a:avLst>
          </a:prstGeom>
          <a:solidFill>
            <a:srgbClr val="FEF8EC"/>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0" name="Text 25"/>
          <p:cNvSpPr/>
          <p:nvPr/>
        </p:nvSpPr>
        <p:spPr>
          <a:xfrm>
            <a:off x="786384" y="4992624"/>
            <a:ext cx="10618927"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The application never stores a generated report</a:t>
            </a:r>
            <a:endParaRPr lang="en-US" sz="1350" dirty="0"/>
          </a:p>
        </p:txBody>
      </p:sp>
      <p:sp>
        <p:nvSpPr>
          <p:cNvPr id="31" name="Text 26"/>
          <p:cNvSpPr/>
          <p:nvPr/>
        </p:nvSpPr>
        <p:spPr>
          <a:xfrm>
            <a:off x="786384" y="5312664"/>
            <a:ext cx="10618927" cy="365760"/>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A report is built only when the user clicks Generate, from data current at that moment. After editing, the user exports to PDF, Excel or high-resolution PNG and chooses a save location on their own computer. Nothing is written to cloud storage inside iPOMS. Editing a report never writes back to operational records — presentation refinement only.</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07</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07 — ROLE-BASED DASHBOARD</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The operational command centre</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29</a:t>
            </a:r>
            <a:endParaRPr lang="en-US" sz="950" dirty="0"/>
          </a:p>
        </p:txBody>
      </p:sp>
      <p:sp>
        <p:nvSpPr>
          <p:cNvPr id="9" name="Shape 6"/>
          <p:cNvSpPr/>
          <p:nvPr/>
        </p:nvSpPr>
        <p:spPr>
          <a:xfrm>
            <a:off x="566928" y="1371600"/>
            <a:ext cx="11057839" cy="960120"/>
          </a:xfrm>
          <a:prstGeom prst="roundRect">
            <a:avLst>
              <a:gd name="adj" fmla="val 9524"/>
            </a:avLst>
          </a:prstGeom>
          <a:solidFill>
            <a:srgbClr val="EEF4FB"/>
          </a:solidFill>
          <a:ln w="9525">
            <a:solidFill>
              <a:srgbClr val="D6E4F5"/>
            </a:solidFill>
            <a:prstDash val="solid"/>
          </a:ln>
        </p:spPr>
      </p:sp>
      <p:sp>
        <p:nvSpPr>
          <p:cNvPr id="10" name="Text 7"/>
          <p:cNvSpPr/>
          <p:nvPr/>
        </p:nvSpPr>
        <p:spPr>
          <a:xfrm>
            <a:off x="877824" y="1536192"/>
            <a:ext cx="10436047" cy="393192"/>
          </a:xfrm>
          <a:prstGeom prst="rect">
            <a:avLst/>
          </a:prstGeom>
          <a:noFill/>
          <a:ln/>
        </p:spPr>
        <p:txBody>
          <a:bodyPr wrap="square" lIns="0" tIns="0" rIns="0" bIns="0" rtlCol="0" anchor="ctr"/>
          <a:lstStyle/>
          <a:p>
            <a:pPr indent="0" marL="0">
              <a:lnSpc>
                <a:spcPct val="112000"/>
              </a:lnSpc>
              <a:buNone/>
            </a:pPr>
            <a:r>
              <a:rPr lang="en-US" sz="1800" i="1" dirty="0">
                <a:solidFill>
                  <a:srgbClr val="0B2E59"/>
                </a:solidFill>
                <a:latin typeface="Calibri" pitchFamily="34" charset="0"/>
                <a:ea typeface="Calibri" pitchFamily="34" charset="-122"/>
                <a:cs typeface="Calibri" pitchFamily="34" charset="-120"/>
              </a:rPr>
              <a:t>“Inform the user, guide the user, never make the user work from the dashboard.”</a:t>
            </a:r>
            <a:endParaRPr lang="en-US" sz="1800" dirty="0"/>
          </a:p>
        </p:txBody>
      </p:sp>
      <p:sp>
        <p:nvSpPr>
          <p:cNvPr id="11" name="Text 8"/>
          <p:cNvSpPr/>
          <p:nvPr/>
        </p:nvSpPr>
        <p:spPr>
          <a:xfrm>
            <a:off x="877824" y="1911096"/>
            <a:ext cx="10436047" cy="274320"/>
          </a:xfrm>
          <a:prstGeom prst="rect">
            <a:avLst/>
          </a:prstGeom>
          <a:noFill/>
          <a:ln/>
        </p:spPr>
        <p:txBody>
          <a:bodyPr wrap="square" lIns="0" tIns="0" rIns="0" bIns="0" rtlCol="0" anchor="ctr"/>
          <a:lstStyle/>
          <a:p>
            <a:pPr indent="0" marL="0">
              <a:buNone/>
            </a:pPr>
            <a:r>
              <a:rPr lang="en-US" sz="1000" dirty="0">
                <a:solidFill>
                  <a:srgbClr val="7B8794"/>
                </a:solidFill>
                <a:latin typeface="Calibri" pitchFamily="34" charset="0"/>
                <a:ea typeface="Calibri" pitchFamily="34" charset="-122"/>
                <a:cs typeface="Calibri" pitchFamily="34" charset="-120"/>
              </a:rPr>
              <a:t>The home screen after login — an intelligent navigation centre, not a data-entry screen.</a:t>
            </a:r>
            <a:endParaRPr lang="en-US" sz="1000" dirty="0"/>
          </a:p>
        </p:txBody>
      </p:sp>
      <p:sp>
        <p:nvSpPr>
          <p:cNvPr id="12" name="Text 9"/>
          <p:cNvSpPr/>
          <p:nvPr/>
        </p:nvSpPr>
        <p:spPr>
          <a:xfrm>
            <a:off x="566928" y="2487168"/>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THREE QUESTIONS IT ANSWERS WITHIN SECONDS OF LOGIN</a:t>
            </a:r>
            <a:endParaRPr lang="en-US" sz="950" dirty="0"/>
          </a:p>
        </p:txBody>
      </p:sp>
      <p:sp>
        <p:nvSpPr>
          <p:cNvPr id="13" name="Shape 10"/>
          <p:cNvSpPr/>
          <p:nvPr/>
        </p:nvSpPr>
        <p:spPr>
          <a:xfrm>
            <a:off x="566928" y="2743200"/>
            <a:ext cx="3600602" cy="457200"/>
          </a:xfrm>
          <a:prstGeom prst="roundRect">
            <a:avLst>
              <a:gd name="adj" fmla="val 100000"/>
            </a:avLst>
          </a:prstGeom>
          <a:solidFill>
            <a:srgbClr val="F4F7FA"/>
          </a:solidFill>
          <a:ln w="9525">
            <a:solidFill>
              <a:srgbClr val="E1E8F0"/>
            </a:solidFill>
            <a:prstDash val="solid"/>
          </a:ln>
        </p:spPr>
      </p:sp>
      <p:sp>
        <p:nvSpPr>
          <p:cNvPr id="14" name="Text 11"/>
          <p:cNvSpPr/>
          <p:nvPr/>
        </p:nvSpPr>
        <p:spPr>
          <a:xfrm>
            <a:off x="640080" y="2743200"/>
            <a:ext cx="3454298" cy="457200"/>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What is my priority today?</a:t>
            </a:r>
            <a:endParaRPr lang="en-US" sz="1100" dirty="0"/>
          </a:p>
        </p:txBody>
      </p:sp>
      <p:sp>
        <p:nvSpPr>
          <p:cNvPr id="15" name="Shape 12"/>
          <p:cNvSpPr/>
          <p:nvPr/>
        </p:nvSpPr>
        <p:spPr>
          <a:xfrm>
            <a:off x="4295546" y="2743200"/>
            <a:ext cx="3600602" cy="457200"/>
          </a:xfrm>
          <a:prstGeom prst="roundRect">
            <a:avLst>
              <a:gd name="adj" fmla="val 100000"/>
            </a:avLst>
          </a:prstGeom>
          <a:solidFill>
            <a:srgbClr val="F4F7FA"/>
          </a:solidFill>
          <a:ln w="9525">
            <a:solidFill>
              <a:srgbClr val="E1E8F0"/>
            </a:solidFill>
            <a:prstDash val="solid"/>
          </a:ln>
        </p:spPr>
      </p:sp>
      <p:sp>
        <p:nvSpPr>
          <p:cNvPr id="16" name="Text 13"/>
          <p:cNvSpPr/>
          <p:nvPr/>
        </p:nvSpPr>
        <p:spPr>
          <a:xfrm>
            <a:off x="4368698" y="2743200"/>
            <a:ext cx="3454298" cy="457200"/>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What requires my immediate attention?</a:t>
            </a:r>
            <a:endParaRPr lang="en-US" sz="1100" dirty="0"/>
          </a:p>
        </p:txBody>
      </p:sp>
      <p:sp>
        <p:nvSpPr>
          <p:cNvPr id="17" name="Shape 14"/>
          <p:cNvSpPr/>
          <p:nvPr/>
        </p:nvSpPr>
        <p:spPr>
          <a:xfrm>
            <a:off x="8024165" y="2743200"/>
            <a:ext cx="3600602" cy="457200"/>
          </a:xfrm>
          <a:prstGeom prst="roundRect">
            <a:avLst>
              <a:gd name="adj" fmla="val 100000"/>
            </a:avLst>
          </a:prstGeom>
          <a:solidFill>
            <a:srgbClr val="F4F7FA"/>
          </a:solidFill>
          <a:ln w="9525">
            <a:solidFill>
              <a:srgbClr val="E1E8F0"/>
            </a:solidFill>
            <a:prstDash val="solid"/>
          </a:ln>
        </p:spPr>
      </p:sp>
      <p:sp>
        <p:nvSpPr>
          <p:cNvPr id="18" name="Text 15"/>
          <p:cNvSpPr/>
          <p:nvPr/>
        </p:nvSpPr>
        <p:spPr>
          <a:xfrm>
            <a:off x="8097317" y="2743200"/>
            <a:ext cx="3454298" cy="457200"/>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Where should I go next?</a:t>
            </a:r>
            <a:endParaRPr lang="en-US" sz="1100" dirty="0"/>
          </a:p>
        </p:txBody>
      </p:sp>
      <p:sp>
        <p:nvSpPr>
          <p:cNvPr id="19" name="Shape 16"/>
          <p:cNvSpPr/>
          <p:nvPr/>
        </p:nvSpPr>
        <p:spPr>
          <a:xfrm>
            <a:off x="566928" y="3383280"/>
            <a:ext cx="3527450" cy="1783080"/>
          </a:xfrm>
          <a:prstGeom prst="roundRect">
            <a:avLst>
              <a:gd name="adj" fmla="val 512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0" name="Shape 17"/>
          <p:cNvSpPr/>
          <p:nvPr/>
        </p:nvSpPr>
        <p:spPr>
          <a:xfrm>
            <a:off x="786384" y="3602736"/>
            <a:ext cx="420624" cy="420624"/>
          </a:xfrm>
          <a:prstGeom prst="ellipse">
            <a:avLst/>
          </a:prstGeom>
          <a:solidFill>
            <a:srgbClr val="175496"/>
          </a:solidFill>
          <a:ln w="12700">
            <a:solidFill>
              <a:srgbClr val="175496"/>
            </a:solidFill>
            <a:prstDash val="solid"/>
          </a:ln>
        </p:spPr>
      </p:sp>
      <p:pic>
        <p:nvPicPr>
          <p:cNvPr id="21" name="Image 1" descr="preencoded.png">    </p:cNvPr>
          <p:cNvPicPr>
            <a:picLocks noChangeAspect="1"/>
          </p:cNvPicPr>
          <p:nvPr/>
        </p:nvPicPr>
        <p:blipFill>
          <a:blip r:embed="rId2"/>
          <a:stretch>
            <a:fillRect/>
          </a:stretch>
        </p:blipFill>
        <p:spPr>
          <a:xfrm>
            <a:off x="891540" y="3707892"/>
            <a:ext cx="210312" cy="210312"/>
          </a:xfrm>
          <a:prstGeom prst="rect">
            <a:avLst/>
          </a:prstGeom>
        </p:spPr>
      </p:pic>
      <p:sp>
        <p:nvSpPr>
          <p:cNvPr id="22" name="Text 18"/>
          <p:cNvSpPr/>
          <p:nvPr/>
        </p:nvSpPr>
        <p:spPr>
          <a:xfrm>
            <a:off x="786384" y="4151376"/>
            <a:ext cx="3088538"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Placement Coordinator</a:t>
            </a:r>
            <a:endParaRPr lang="en-US" sz="1200" dirty="0"/>
          </a:p>
        </p:txBody>
      </p:sp>
      <p:sp>
        <p:nvSpPr>
          <p:cNvPr id="23" name="Text 19"/>
          <p:cNvSpPr/>
          <p:nvPr/>
        </p:nvSpPr>
        <p:spPr>
          <a:xfrm>
            <a:off x="786384" y="4471416"/>
            <a:ext cx="3088538" cy="52120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Daily operational management.</a:t>
            </a:r>
            <a:endParaRPr lang="en-US" sz="950" dirty="0"/>
          </a:p>
          <a:p>
            <a:pPr indent="0" marL="0">
              <a:lnSpc>
                <a:spcPct val="114000"/>
              </a:lnSpc>
              <a:buNone/>
            </a:pPr>
            <a:endParaRPr lang="en-US" sz="950" dirty="0"/>
          </a:p>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“What should I do today?”</a:t>
            </a:r>
            <a:endParaRPr lang="en-US" sz="950" dirty="0"/>
          </a:p>
        </p:txBody>
      </p:sp>
      <p:sp>
        <p:nvSpPr>
          <p:cNvPr id="24" name="Shape 20"/>
          <p:cNvSpPr/>
          <p:nvPr/>
        </p:nvSpPr>
        <p:spPr>
          <a:xfrm>
            <a:off x="4332122" y="3383280"/>
            <a:ext cx="3527450" cy="1783080"/>
          </a:xfrm>
          <a:prstGeom prst="roundRect">
            <a:avLst>
              <a:gd name="adj" fmla="val 512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5" name="Shape 21"/>
          <p:cNvSpPr/>
          <p:nvPr/>
        </p:nvSpPr>
        <p:spPr>
          <a:xfrm>
            <a:off x="4551578" y="3602736"/>
            <a:ext cx="420624" cy="420624"/>
          </a:xfrm>
          <a:prstGeom prst="ellipse">
            <a:avLst/>
          </a:prstGeom>
          <a:solidFill>
            <a:srgbClr val="00ACC1"/>
          </a:solidFill>
          <a:ln w="12700">
            <a:solidFill>
              <a:srgbClr val="00ACC1"/>
            </a:solidFill>
            <a:prstDash val="solid"/>
          </a:ln>
        </p:spPr>
      </p:sp>
      <p:pic>
        <p:nvPicPr>
          <p:cNvPr id="26" name="Image 2" descr="preencoded.png">    </p:cNvPr>
          <p:cNvPicPr>
            <a:picLocks noChangeAspect="1"/>
          </p:cNvPicPr>
          <p:nvPr/>
        </p:nvPicPr>
        <p:blipFill>
          <a:blip r:embed="rId3"/>
          <a:stretch>
            <a:fillRect/>
          </a:stretch>
        </p:blipFill>
        <p:spPr>
          <a:xfrm>
            <a:off x="4656734" y="3707892"/>
            <a:ext cx="210312" cy="210312"/>
          </a:xfrm>
          <a:prstGeom prst="rect">
            <a:avLst/>
          </a:prstGeom>
        </p:spPr>
      </p:pic>
      <p:sp>
        <p:nvSpPr>
          <p:cNvPr id="27" name="Text 22"/>
          <p:cNvSpPr/>
          <p:nvPr/>
        </p:nvSpPr>
        <p:spPr>
          <a:xfrm>
            <a:off x="4551578" y="4151376"/>
            <a:ext cx="3088538"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Team Leader</a:t>
            </a:r>
            <a:endParaRPr lang="en-US" sz="1200" dirty="0"/>
          </a:p>
        </p:txBody>
      </p:sp>
      <p:sp>
        <p:nvSpPr>
          <p:cNvPr id="28" name="Text 23"/>
          <p:cNvSpPr/>
          <p:nvPr/>
        </p:nvSpPr>
        <p:spPr>
          <a:xfrm>
            <a:off x="4551578" y="4471416"/>
            <a:ext cx="3088538" cy="52120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Monitor and guide coordinators.</a:t>
            </a:r>
            <a:endParaRPr lang="en-US" sz="950" dirty="0"/>
          </a:p>
          <a:p>
            <a:pPr indent="0" marL="0">
              <a:lnSpc>
                <a:spcPct val="114000"/>
              </a:lnSpc>
              <a:buNone/>
            </a:pPr>
            <a:endParaRPr lang="en-US" sz="950" dirty="0"/>
          </a:p>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“How is my team performing today?”</a:t>
            </a:r>
            <a:endParaRPr lang="en-US" sz="950" dirty="0"/>
          </a:p>
          <a:p>
            <a:pPr indent="0" marL="0">
              <a:lnSpc>
                <a:spcPct val="114000"/>
              </a:lnSpc>
              <a:buNone/>
            </a:pPr>
            <a:endParaRPr lang="en-US" sz="950" dirty="0"/>
          </a:p>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Assigns work, views performance, monitors completion and acknowledgements.</a:t>
            </a:r>
            <a:endParaRPr lang="en-US" sz="950" dirty="0"/>
          </a:p>
        </p:txBody>
      </p:sp>
      <p:sp>
        <p:nvSpPr>
          <p:cNvPr id="29" name="Shape 24"/>
          <p:cNvSpPr/>
          <p:nvPr/>
        </p:nvSpPr>
        <p:spPr>
          <a:xfrm>
            <a:off x="8097317" y="3383280"/>
            <a:ext cx="3527450" cy="1783080"/>
          </a:xfrm>
          <a:prstGeom prst="roundRect">
            <a:avLst>
              <a:gd name="adj" fmla="val 512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0" name="Shape 25"/>
          <p:cNvSpPr/>
          <p:nvPr/>
        </p:nvSpPr>
        <p:spPr>
          <a:xfrm>
            <a:off x="8316773" y="3602736"/>
            <a:ext cx="420624" cy="420624"/>
          </a:xfrm>
          <a:prstGeom prst="ellipse">
            <a:avLst/>
          </a:prstGeom>
          <a:solidFill>
            <a:srgbClr val="0B2E59"/>
          </a:solidFill>
          <a:ln w="12700">
            <a:solidFill>
              <a:srgbClr val="0B2E59"/>
            </a:solidFill>
            <a:prstDash val="solid"/>
          </a:ln>
        </p:spPr>
      </p:sp>
      <p:pic>
        <p:nvPicPr>
          <p:cNvPr id="31" name="Image 3" descr="preencoded.png">    </p:cNvPr>
          <p:cNvPicPr>
            <a:picLocks noChangeAspect="1"/>
          </p:cNvPicPr>
          <p:nvPr/>
        </p:nvPicPr>
        <p:blipFill>
          <a:blip r:embed="rId4"/>
          <a:stretch>
            <a:fillRect/>
          </a:stretch>
        </p:blipFill>
        <p:spPr>
          <a:xfrm>
            <a:off x="8421929" y="3707892"/>
            <a:ext cx="210312" cy="210312"/>
          </a:xfrm>
          <a:prstGeom prst="rect">
            <a:avLst/>
          </a:prstGeom>
        </p:spPr>
      </p:pic>
      <p:sp>
        <p:nvSpPr>
          <p:cNvPr id="32" name="Text 26"/>
          <p:cNvSpPr/>
          <p:nvPr/>
        </p:nvSpPr>
        <p:spPr>
          <a:xfrm>
            <a:off x="8316773" y="4151376"/>
            <a:ext cx="3088538"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Administrator</a:t>
            </a:r>
            <a:endParaRPr lang="en-US" sz="1200" dirty="0"/>
          </a:p>
        </p:txBody>
      </p:sp>
      <p:sp>
        <p:nvSpPr>
          <p:cNvPr id="33" name="Text 27"/>
          <p:cNvSpPr/>
          <p:nvPr/>
        </p:nvSpPr>
        <p:spPr>
          <a:xfrm>
            <a:off x="8316773" y="4471416"/>
            <a:ext cx="3088538" cy="52120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Organization-wide monitoring.</a:t>
            </a:r>
            <a:endParaRPr lang="en-US" sz="950" dirty="0"/>
          </a:p>
          <a:p>
            <a:pPr indent="0" marL="0">
              <a:lnSpc>
                <a:spcPct val="114000"/>
              </a:lnSpc>
              <a:buNone/>
            </a:pPr>
            <a:endParaRPr lang="en-US" sz="950" dirty="0"/>
          </a:p>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“How is the complete placement operation progressing?”</a:t>
            </a:r>
            <a:endParaRPr lang="en-US" sz="950" dirty="0"/>
          </a:p>
          <a:p>
            <a:pPr indent="0" marL="0">
              <a:lnSpc>
                <a:spcPct val="114000"/>
              </a:lnSpc>
              <a:buNone/>
            </a:pPr>
            <a:endParaRPr lang="en-US" sz="950" dirty="0"/>
          </a:p>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Org KPIs, user management, settings, broadcasts. Does not do coordinator work.</a:t>
            </a:r>
            <a:endParaRPr lang="en-US" sz="950" dirty="0"/>
          </a:p>
        </p:txBody>
      </p:sp>
      <p:sp>
        <p:nvSpPr>
          <p:cNvPr id="34" name="Text 28"/>
          <p:cNvSpPr/>
          <p:nvPr/>
        </p:nvSpPr>
        <p:spPr>
          <a:xfrm>
            <a:off x="566928" y="5321808"/>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FOUR RULES THE DASHBOARD NEVER BREAKS</a:t>
            </a:r>
            <a:endParaRPr lang="en-US" sz="950" dirty="0"/>
          </a:p>
        </p:txBody>
      </p:sp>
      <p:sp>
        <p:nvSpPr>
          <p:cNvPr id="35" name="Shape 29"/>
          <p:cNvSpPr/>
          <p:nvPr/>
        </p:nvSpPr>
        <p:spPr>
          <a:xfrm>
            <a:off x="566928" y="5577840"/>
            <a:ext cx="2668448" cy="402336"/>
          </a:xfrm>
          <a:prstGeom prst="roundRect">
            <a:avLst>
              <a:gd name="adj" fmla="val 113636"/>
            </a:avLst>
          </a:prstGeom>
          <a:solidFill>
            <a:srgbClr val="E7F3FD"/>
          </a:solidFill>
          <a:ln w="9525">
            <a:solidFill>
              <a:srgbClr val="E1E8F0"/>
            </a:solidFill>
            <a:prstDash val="solid"/>
          </a:ln>
        </p:spPr>
      </p:sp>
      <p:sp>
        <p:nvSpPr>
          <p:cNvPr id="36" name="Text 30"/>
          <p:cNvSpPr/>
          <p:nvPr/>
        </p:nvSpPr>
        <p:spPr>
          <a:xfrm>
            <a:off x="640080" y="5577840"/>
            <a:ext cx="2522144" cy="402336"/>
          </a:xfrm>
          <a:prstGeom prst="rect">
            <a:avLst/>
          </a:prstGeom>
          <a:noFill/>
          <a:ln/>
        </p:spPr>
        <p:txBody>
          <a:bodyPr wrap="square" lIns="0" tIns="0" rIns="0" bIns="0" rtlCol="0" anchor="ctr"/>
          <a:lstStyle/>
          <a:p>
            <a:pPr algn="ctr" indent="0" marL="0">
              <a:buNone/>
            </a:pPr>
            <a:r>
              <a:rPr lang="en-US" sz="950" b="1" dirty="0">
                <a:solidFill>
                  <a:srgbClr val="175496"/>
                </a:solidFill>
                <a:latin typeface="Calibri" pitchFamily="34" charset="0"/>
                <a:ea typeface="Calibri" pitchFamily="34" charset="-122"/>
                <a:cs typeface="Calibri" pitchFamily="34" charset="-120"/>
              </a:rPr>
              <a:t>Interactive</a:t>
            </a:r>
            <a:endParaRPr lang="en-US" sz="950" dirty="0"/>
          </a:p>
        </p:txBody>
      </p:sp>
      <p:sp>
        <p:nvSpPr>
          <p:cNvPr id="37" name="Shape 31"/>
          <p:cNvSpPr/>
          <p:nvPr/>
        </p:nvSpPr>
        <p:spPr>
          <a:xfrm>
            <a:off x="3363392" y="5577840"/>
            <a:ext cx="2668448" cy="402336"/>
          </a:xfrm>
          <a:prstGeom prst="roundRect">
            <a:avLst>
              <a:gd name="adj" fmla="val 113636"/>
            </a:avLst>
          </a:prstGeom>
          <a:solidFill>
            <a:srgbClr val="F1F4F8"/>
          </a:solidFill>
          <a:ln w="9525">
            <a:solidFill>
              <a:srgbClr val="E1E8F0"/>
            </a:solidFill>
            <a:prstDash val="solid"/>
          </a:ln>
        </p:spPr>
      </p:sp>
      <p:sp>
        <p:nvSpPr>
          <p:cNvPr id="38" name="Text 32"/>
          <p:cNvSpPr/>
          <p:nvPr/>
        </p:nvSpPr>
        <p:spPr>
          <a:xfrm>
            <a:off x="3436544" y="5577840"/>
            <a:ext cx="2522144" cy="402336"/>
          </a:xfrm>
          <a:prstGeom prst="rect">
            <a:avLst/>
          </a:prstGeom>
          <a:noFill/>
          <a:ln/>
        </p:spPr>
        <p:txBody>
          <a:bodyPr wrap="square" lIns="0" tIns="0" rIns="0" bIns="0" rtlCol="0" anchor="ctr"/>
          <a:lstStyle/>
          <a:p>
            <a:pPr algn="ctr" indent="0" marL="0">
              <a:buNone/>
            </a:pPr>
            <a:r>
              <a:rPr lang="en-US" sz="950" b="1" dirty="0">
                <a:solidFill>
                  <a:srgbClr val="6B7A8C"/>
                </a:solidFill>
                <a:latin typeface="Calibri" pitchFamily="34" charset="0"/>
                <a:ea typeface="Calibri" pitchFamily="34" charset="-122"/>
                <a:cs typeface="Calibri" pitchFamily="34" charset="-120"/>
              </a:rPr>
              <a:t>Non-editable — view mode only</a:t>
            </a:r>
            <a:endParaRPr lang="en-US" sz="950" dirty="0"/>
          </a:p>
        </p:txBody>
      </p:sp>
      <p:sp>
        <p:nvSpPr>
          <p:cNvPr id="39" name="Shape 33"/>
          <p:cNvSpPr/>
          <p:nvPr/>
        </p:nvSpPr>
        <p:spPr>
          <a:xfrm>
            <a:off x="6159856" y="5577840"/>
            <a:ext cx="2668448" cy="402336"/>
          </a:xfrm>
          <a:prstGeom prst="roundRect">
            <a:avLst>
              <a:gd name="adj" fmla="val 113636"/>
            </a:avLst>
          </a:prstGeom>
          <a:solidFill>
            <a:srgbClr val="EAF5EB"/>
          </a:solidFill>
          <a:ln w="9525">
            <a:solidFill>
              <a:srgbClr val="E1E8F0"/>
            </a:solidFill>
            <a:prstDash val="solid"/>
          </a:ln>
        </p:spPr>
      </p:sp>
      <p:sp>
        <p:nvSpPr>
          <p:cNvPr id="40" name="Text 34"/>
          <p:cNvSpPr/>
          <p:nvPr/>
        </p:nvSpPr>
        <p:spPr>
          <a:xfrm>
            <a:off x="6233008" y="5577840"/>
            <a:ext cx="2522144" cy="402336"/>
          </a:xfrm>
          <a:prstGeom prst="rect">
            <a:avLst/>
          </a:prstGeom>
          <a:noFill/>
          <a:ln/>
        </p:spPr>
        <p:txBody>
          <a:bodyPr wrap="square" lIns="0" tIns="0" rIns="0" bIns="0" rtlCol="0" anchor="ctr"/>
          <a:lstStyle/>
          <a:p>
            <a:pPr algn="ctr" indent="0" marL="0">
              <a:buNone/>
            </a:pPr>
            <a:r>
              <a:rPr lang="en-US" sz="950" b="1" dirty="0">
                <a:solidFill>
                  <a:srgbClr val="2E7D32"/>
                </a:solidFill>
                <a:latin typeface="Calibri" pitchFamily="34" charset="0"/>
                <a:ea typeface="Calibri" pitchFamily="34" charset="-122"/>
                <a:cs typeface="Calibri" pitchFamily="34" charset="-120"/>
              </a:rPr>
              <a:t>Live — no manual refresh control</a:t>
            </a:r>
            <a:endParaRPr lang="en-US" sz="950" dirty="0"/>
          </a:p>
        </p:txBody>
      </p:sp>
      <p:sp>
        <p:nvSpPr>
          <p:cNvPr id="41" name="Shape 35"/>
          <p:cNvSpPr/>
          <p:nvPr/>
        </p:nvSpPr>
        <p:spPr>
          <a:xfrm>
            <a:off x="8956319" y="5577840"/>
            <a:ext cx="2668448" cy="402336"/>
          </a:xfrm>
          <a:prstGeom prst="roundRect">
            <a:avLst>
              <a:gd name="adj" fmla="val 113636"/>
            </a:avLst>
          </a:prstGeom>
          <a:solidFill>
            <a:srgbClr val="EEF4FB"/>
          </a:solidFill>
          <a:ln w="9525">
            <a:solidFill>
              <a:srgbClr val="E1E8F0"/>
            </a:solidFill>
            <a:prstDash val="solid"/>
          </a:ln>
        </p:spPr>
      </p:sp>
      <p:sp>
        <p:nvSpPr>
          <p:cNvPr id="42" name="Text 36"/>
          <p:cNvSpPr/>
          <p:nvPr/>
        </p:nvSpPr>
        <p:spPr>
          <a:xfrm>
            <a:off x="9029471" y="5577840"/>
            <a:ext cx="2522144" cy="402336"/>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Minimal — high priority first</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07</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07 §7–10</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Eight blocks, and the signature feature</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30</a:t>
            </a:r>
            <a:endParaRPr lang="en-US" sz="950" dirty="0"/>
          </a:p>
        </p:txBody>
      </p:sp>
      <p:sp>
        <p:nvSpPr>
          <p:cNvPr id="9" name="Text 6"/>
          <p:cNvSpPr/>
          <p:nvPr/>
        </p:nvSpPr>
        <p:spPr>
          <a:xfrm>
            <a:off x="566928" y="13716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LAYOUT, TOP TO BOTTOM — FIXED ORDER IN V1.0</a:t>
            </a:r>
            <a:endParaRPr lang="en-US" sz="950" dirty="0"/>
          </a:p>
        </p:txBody>
      </p:sp>
      <p:sp>
        <p:nvSpPr>
          <p:cNvPr id="10" name="Shape 7"/>
          <p:cNvSpPr/>
          <p:nvPr/>
        </p:nvSpPr>
        <p:spPr>
          <a:xfrm>
            <a:off x="566928" y="1627632"/>
            <a:ext cx="2627300" cy="457200"/>
          </a:xfrm>
          <a:prstGeom prst="roundRect">
            <a:avLst>
              <a:gd name="adj" fmla="val 100000"/>
            </a:avLst>
          </a:prstGeom>
          <a:solidFill>
            <a:srgbClr val="F4F7FA"/>
          </a:solidFill>
          <a:ln w="9525">
            <a:solidFill>
              <a:srgbClr val="E1E8F0"/>
            </a:solidFill>
            <a:prstDash val="solid"/>
          </a:ln>
        </p:spPr>
      </p:sp>
      <p:sp>
        <p:nvSpPr>
          <p:cNvPr id="11" name="Text 8"/>
          <p:cNvSpPr/>
          <p:nvPr/>
        </p:nvSpPr>
        <p:spPr>
          <a:xfrm>
            <a:off x="612648" y="1627632"/>
            <a:ext cx="2535860" cy="457200"/>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Greeting</a:t>
            </a:r>
            <a:endParaRPr lang="en-US" sz="1050" dirty="0"/>
          </a:p>
        </p:txBody>
      </p:sp>
      <p:sp>
        <p:nvSpPr>
          <p:cNvPr id="12" name="Text 9"/>
          <p:cNvSpPr/>
          <p:nvPr/>
        </p:nvSpPr>
        <p:spPr>
          <a:xfrm>
            <a:off x="3194228" y="1627632"/>
            <a:ext cx="182880" cy="45720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3" name="Shape 10"/>
          <p:cNvSpPr/>
          <p:nvPr/>
        </p:nvSpPr>
        <p:spPr>
          <a:xfrm>
            <a:off x="3377108" y="1627632"/>
            <a:ext cx="2627300" cy="457200"/>
          </a:xfrm>
          <a:prstGeom prst="roundRect">
            <a:avLst>
              <a:gd name="adj" fmla="val 100000"/>
            </a:avLst>
          </a:prstGeom>
          <a:solidFill>
            <a:srgbClr val="F4F7FA"/>
          </a:solidFill>
          <a:ln w="9525">
            <a:solidFill>
              <a:srgbClr val="E1E8F0"/>
            </a:solidFill>
            <a:prstDash val="solid"/>
          </a:ln>
        </p:spPr>
      </p:sp>
      <p:sp>
        <p:nvSpPr>
          <p:cNvPr id="14" name="Text 11"/>
          <p:cNvSpPr/>
          <p:nvPr/>
        </p:nvSpPr>
        <p:spPr>
          <a:xfrm>
            <a:off x="3422828" y="1627632"/>
            <a:ext cx="2535860" cy="457200"/>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Notifications</a:t>
            </a:r>
            <a:endParaRPr lang="en-US" sz="1050" dirty="0"/>
          </a:p>
        </p:txBody>
      </p:sp>
      <p:sp>
        <p:nvSpPr>
          <p:cNvPr id="15" name="Text 12"/>
          <p:cNvSpPr/>
          <p:nvPr/>
        </p:nvSpPr>
        <p:spPr>
          <a:xfrm>
            <a:off x="6004408" y="1627632"/>
            <a:ext cx="182880" cy="45720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6" name="Shape 13"/>
          <p:cNvSpPr/>
          <p:nvPr/>
        </p:nvSpPr>
        <p:spPr>
          <a:xfrm>
            <a:off x="6187288" y="1627632"/>
            <a:ext cx="2627300" cy="457200"/>
          </a:xfrm>
          <a:prstGeom prst="roundRect">
            <a:avLst>
              <a:gd name="adj" fmla="val 100000"/>
            </a:avLst>
          </a:prstGeom>
          <a:solidFill>
            <a:srgbClr val="F4F7FA"/>
          </a:solidFill>
          <a:ln w="9525">
            <a:solidFill>
              <a:srgbClr val="E1E8F0"/>
            </a:solidFill>
            <a:prstDash val="solid"/>
          </a:ln>
        </p:spPr>
      </p:sp>
      <p:sp>
        <p:nvSpPr>
          <p:cNvPr id="17" name="Text 14"/>
          <p:cNvSpPr/>
          <p:nvPr/>
        </p:nvSpPr>
        <p:spPr>
          <a:xfrm>
            <a:off x="6233008" y="1627632"/>
            <a:ext cx="2535860" cy="457200"/>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Assigned Work</a:t>
            </a:r>
            <a:endParaRPr lang="en-US" sz="1050" dirty="0"/>
          </a:p>
        </p:txBody>
      </p:sp>
      <p:sp>
        <p:nvSpPr>
          <p:cNvPr id="18" name="Text 15"/>
          <p:cNvSpPr/>
          <p:nvPr/>
        </p:nvSpPr>
        <p:spPr>
          <a:xfrm>
            <a:off x="8814587" y="1627632"/>
            <a:ext cx="182880" cy="45720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9" name="Shape 16"/>
          <p:cNvSpPr/>
          <p:nvPr/>
        </p:nvSpPr>
        <p:spPr>
          <a:xfrm>
            <a:off x="8997467" y="1627632"/>
            <a:ext cx="2627300" cy="457200"/>
          </a:xfrm>
          <a:prstGeom prst="roundRect">
            <a:avLst>
              <a:gd name="adj" fmla="val 100000"/>
            </a:avLst>
          </a:prstGeom>
          <a:solidFill>
            <a:srgbClr val="F4F7FA"/>
          </a:solidFill>
          <a:ln w="9525">
            <a:solidFill>
              <a:srgbClr val="E1E8F0"/>
            </a:solidFill>
            <a:prstDash val="solid"/>
          </a:ln>
        </p:spPr>
      </p:sp>
      <p:sp>
        <p:nvSpPr>
          <p:cNvPr id="20" name="Text 17"/>
          <p:cNvSpPr/>
          <p:nvPr/>
        </p:nvSpPr>
        <p:spPr>
          <a:xfrm>
            <a:off x="9043187" y="1627632"/>
            <a:ext cx="2535860" cy="457200"/>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Priority College</a:t>
            </a:r>
            <a:endParaRPr lang="en-US" sz="1050" dirty="0"/>
          </a:p>
        </p:txBody>
      </p:sp>
      <p:sp>
        <p:nvSpPr>
          <p:cNvPr id="21" name="Shape 18"/>
          <p:cNvSpPr/>
          <p:nvPr/>
        </p:nvSpPr>
        <p:spPr>
          <a:xfrm>
            <a:off x="566928" y="2157984"/>
            <a:ext cx="2627300" cy="457200"/>
          </a:xfrm>
          <a:prstGeom prst="roundRect">
            <a:avLst>
              <a:gd name="adj" fmla="val 100000"/>
            </a:avLst>
          </a:prstGeom>
          <a:solidFill>
            <a:srgbClr val="F4F7FA"/>
          </a:solidFill>
          <a:ln w="9525">
            <a:solidFill>
              <a:srgbClr val="E1E8F0"/>
            </a:solidFill>
            <a:prstDash val="solid"/>
          </a:ln>
        </p:spPr>
      </p:sp>
      <p:sp>
        <p:nvSpPr>
          <p:cNvPr id="22" name="Text 19"/>
          <p:cNvSpPr/>
          <p:nvPr/>
        </p:nvSpPr>
        <p:spPr>
          <a:xfrm>
            <a:off x="612648" y="2157984"/>
            <a:ext cx="2535860" cy="457200"/>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Today's Tasks</a:t>
            </a:r>
            <a:endParaRPr lang="en-US" sz="1050" dirty="0"/>
          </a:p>
        </p:txBody>
      </p:sp>
      <p:sp>
        <p:nvSpPr>
          <p:cNvPr id="23" name="Text 20"/>
          <p:cNvSpPr/>
          <p:nvPr/>
        </p:nvSpPr>
        <p:spPr>
          <a:xfrm>
            <a:off x="3194228" y="2157984"/>
            <a:ext cx="182880" cy="45720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4" name="Shape 21"/>
          <p:cNvSpPr/>
          <p:nvPr/>
        </p:nvSpPr>
        <p:spPr>
          <a:xfrm>
            <a:off x="3377108" y="2157984"/>
            <a:ext cx="2627300" cy="457200"/>
          </a:xfrm>
          <a:prstGeom prst="roundRect">
            <a:avLst>
              <a:gd name="adj" fmla="val 100000"/>
            </a:avLst>
          </a:prstGeom>
          <a:solidFill>
            <a:srgbClr val="F4F7FA"/>
          </a:solidFill>
          <a:ln w="9525">
            <a:solidFill>
              <a:srgbClr val="E1E8F0"/>
            </a:solidFill>
            <a:prstDash val="solid"/>
          </a:ln>
        </p:spPr>
      </p:sp>
      <p:sp>
        <p:nvSpPr>
          <p:cNvPr id="25" name="Text 22"/>
          <p:cNvSpPr/>
          <p:nvPr/>
        </p:nvSpPr>
        <p:spPr>
          <a:xfrm>
            <a:off x="3422828" y="2157984"/>
            <a:ext cx="2535860" cy="457200"/>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Today's KPI Summary</a:t>
            </a:r>
            <a:endParaRPr lang="en-US" sz="1050" dirty="0"/>
          </a:p>
        </p:txBody>
      </p:sp>
      <p:sp>
        <p:nvSpPr>
          <p:cNvPr id="26" name="Text 23"/>
          <p:cNvSpPr/>
          <p:nvPr/>
        </p:nvSpPr>
        <p:spPr>
          <a:xfrm>
            <a:off x="6004408" y="2157984"/>
            <a:ext cx="182880" cy="45720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7" name="Shape 24"/>
          <p:cNvSpPr/>
          <p:nvPr/>
        </p:nvSpPr>
        <p:spPr>
          <a:xfrm>
            <a:off x="6187288" y="2157984"/>
            <a:ext cx="2627300" cy="457200"/>
          </a:xfrm>
          <a:prstGeom prst="roundRect">
            <a:avLst>
              <a:gd name="adj" fmla="val 100000"/>
            </a:avLst>
          </a:prstGeom>
          <a:solidFill>
            <a:srgbClr val="F4F7FA"/>
          </a:solidFill>
          <a:ln w="9525">
            <a:solidFill>
              <a:srgbClr val="E1E8F0"/>
            </a:solidFill>
            <a:prstDash val="solid"/>
          </a:ln>
        </p:spPr>
      </p:sp>
      <p:sp>
        <p:nvSpPr>
          <p:cNvPr id="28" name="Text 25"/>
          <p:cNvSpPr/>
          <p:nvPr/>
        </p:nvSpPr>
        <p:spPr>
          <a:xfrm>
            <a:off x="6233008" y="2157984"/>
            <a:ext cx="2535860" cy="457200"/>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Quick Navigation</a:t>
            </a:r>
            <a:endParaRPr lang="en-US" sz="1050" dirty="0"/>
          </a:p>
        </p:txBody>
      </p:sp>
      <p:sp>
        <p:nvSpPr>
          <p:cNvPr id="29" name="Text 26"/>
          <p:cNvSpPr/>
          <p:nvPr/>
        </p:nvSpPr>
        <p:spPr>
          <a:xfrm>
            <a:off x="8814587" y="2157984"/>
            <a:ext cx="182880" cy="45720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0" name="Shape 27"/>
          <p:cNvSpPr/>
          <p:nvPr/>
        </p:nvSpPr>
        <p:spPr>
          <a:xfrm>
            <a:off x="8997467" y="2157984"/>
            <a:ext cx="2627300" cy="457200"/>
          </a:xfrm>
          <a:prstGeom prst="roundRect">
            <a:avLst>
              <a:gd name="adj" fmla="val 100000"/>
            </a:avLst>
          </a:prstGeom>
          <a:solidFill>
            <a:srgbClr val="F4F7FA"/>
          </a:solidFill>
          <a:ln w="9525">
            <a:solidFill>
              <a:srgbClr val="E1E8F0"/>
            </a:solidFill>
            <a:prstDash val="solid"/>
          </a:ln>
        </p:spPr>
      </p:sp>
      <p:sp>
        <p:nvSpPr>
          <p:cNvPr id="31" name="Text 28"/>
          <p:cNvSpPr/>
          <p:nvPr/>
        </p:nvSpPr>
        <p:spPr>
          <a:xfrm>
            <a:off x="9043187" y="2157984"/>
            <a:ext cx="2535860" cy="457200"/>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Insights</a:t>
            </a:r>
            <a:endParaRPr lang="en-US" sz="1050" dirty="0"/>
          </a:p>
        </p:txBody>
      </p:sp>
      <p:sp>
        <p:nvSpPr>
          <p:cNvPr id="32" name="Text 29"/>
          <p:cNvSpPr/>
          <p:nvPr/>
        </p:nvSpPr>
        <p:spPr>
          <a:xfrm>
            <a:off x="566928" y="2724912"/>
            <a:ext cx="11057839" cy="292608"/>
          </a:xfrm>
          <a:prstGeom prst="rect">
            <a:avLst/>
          </a:prstGeom>
          <a:noFill/>
          <a:ln/>
        </p:spPr>
        <p:txBody>
          <a:bodyPr wrap="square" lIns="0" tIns="0" rIns="0" bIns="0" rtlCol="0" anchor="ctr"/>
          <a:lstStyle/>
          <a:p>
            <a:pPr indent="0" marL="0">
              <a:buNone/>
            </a:pPr>
            <a:r>
              <a:rPr lang="en-US" sz="1050" i="1" dirty="0">
                <a:solidFill>
                  <a:srgbClr val="7B8794"/>
                </a:solidFill>
                <a:latin typeface="Calibri" pitchFamily="34" charset="0"/>
                <a:ea typeface="Calibri" pitchFamily="34" charset="-122"/>
                <a:cs typeface="Calibri" pitchFamily="34" charset="-120"/>
              </a:rPr>
              <a:t>The greeting changes with the clock — and after 8 PM reads “Burning the midnight oil? Thanks for your dedication, [Name] 🌙”. Today's Tasks shows a maximum of three items, never a long list.</a:t>
            </a:r>
            <a:endParaRPr lang="en-US" sz="1050" dirty="0"/>
          </a:p>
        </p:txBody>
      </p:sp>
      <p:sp>
        <p:nvSpPr>
          <p:cNvPr id="33" name="Shape 30"/>
          <p:cNvSpPr/>
          <p:nvPr/>
        </p:nvSpPr>
        <p:spPr>
          <a:xfrm>
            <a:off x="566928" y="3127248"/>
            <a:ext cx="5212080" cy="2724912"/>
          </a:xfrm>
          <a:prstGeom prst="roundRect">
            <a:avLst>
              <a:gd name="adj" fmla="val 3356"/>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4" name="Shape 31"/>
          <p:cNvSpPr/>
          <p:nvPr/>
        </p:nvSpPr>
        <p:spPr>
          <a:xfrm>
            <a:off x="786384" y="3346704"/>
            <a:ext cx="420624" cy="420624"/>
          </a:xfrm>
          <a:prstGeom prst="ellipse">
            <a:avLst/>
          </a:prstGeom>
          <a:solidFill>
            <a:srgbClr val="00ACC1"/>
          </a:solidFill>
          <a:ln w="12700">
            <a:solidFill>
              <a:srgbClr val="00ACC1"/>
            </a:solidFill>
            <a:prstDash val="solid"/>
          </a:ln>
        </p:spPr>
      </p:sp>
      <p:pic>
        <p:nvPicPr>
          <p:cNvPr id="35" name="Image 1" descr="preencoded.png">    </p:cNvPr>
          <p:cNvPicPr>
            <a:picLocks noChangeAspect="1"/>
          </p:cNvPicPr>
          <p:nvPr/>
        </p:nvPicPr>
        <p:blipFill>
          <a:blip r:embed="rId2"/>
          <a:stretch>
            <a:fillRect/>
          </a:stretch>
        </p:blipFill>
        <p:spPr>
          <a:xfrm>
            <a:off x="891540" y="3451860"/>
            <a:ext cx="210312" cy="210312"/>
          </a:xfrm>
          <a:prstGeom prst="rect">
            <a:avLst/>
          </a:prstGeom>
        </p:spPr>
      </p:pic>
      <p:sp>
        <p:nvSpPr>
          <p:cNvPr id="36" name="Text 32"/>
          <p:cNvSpPr/>
          <p:nvPr/>
        </p:nvSpPr>
        <p:spPr>
          <a:xfrm>
            <a:off x="786384" y="3895344"/>
            <a:ext cx="477316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Assigned Work — not a chat system</a:t>
            </a:r>
            <a:endParaRPr lang="en-US" sz="1350" dirty="0"/>
          </a:p>
        </p:txBody>
      </p:sp>
      <p:sp>
        <p:nvSpPr>
          <p:cNvPr id="37" name="Text 33"/>
          <p:cNvSpPr/>
          <p:nvPr/>
        </p:nvSpPr>
        <p:spPr>
          <a:xfrm>
            <a:off x="786384" y="4215384"/>
            <a:ext cx="4773168" cy="1463040"/>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An operational task assignment mechanism. Team Leader Dashboard → Create Assignment → Select Coordinator → Select College → Enter Details → Send → the card appears on that coordinator's dashboard.</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Card actions: Load to Metadata · Mark Completed · View Details.</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Priorities High, Medium and Low, sorted automatically. Lifecycle: Assigned → Received → Viewed → Load to Metadata → Mark Completed → hidden from the dashboard → deleted from operational storage after 7 days.</a:t>
            </a:r>
            <a:endParaRPr lang="en-US" sz="1000" dirty="0"/>
          </a:p>
        </p:txBody>
      </p:sp>
      <p:sp>
        <p:nvSpPr>
          <p:cNvPr id="38" name="Text 34"/>
          <p:cNvSpPr/>
          <p:nvPr/>
        </p:nvSpPr>
        <p:spPr>
          <a:xfrm>
            <a:off x="6089904" y="3127248"/>
            <a:ext cx="5532120"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METADATA MERGE ENGINE — FIVE CASES, ON LOAD TO METADATA</a:t>
            </a:r>
            <a:endParaRPr lang="en-US" sz="9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089904" y="3383280"/>
          <a:ext cx="5532120" cy="914400"/>
        </p:xfrm>
        <a:graphic>
          <a:graphicData uri="http://schemas.openxmlformats.org/drawingml/2006/table">
            <a:tbl>
              <a:tblPr/>
              <a:tblGrid>
                <a:gridCol w="3246120"/>
                <a:gridCol w="2286000"/>
              </a:tblGrid>
              <a:tr h="36576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Condition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Result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65760">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Company does not exist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2E7D32"/>
                          </a:solidFill>
                          <a:latin typeface="Calibri" pitchFamily="34" charset="0"/>
                          <a:ea typeface="Calibri" pitchFamily="34" charset="-122"/>
                          <a:cs typeface="Calibri" pitchFamily="34" charset="-120"/>
                        </a:rPr>
                        <a:t>Create a new company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65760">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Company exists; HR, mobile, email all different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Add as another contact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65760">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Company and HR same; mobile different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Append the new mobile</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65760">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Company and HR same; email different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Append the new email</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65760">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Company same; HR different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Store as another HR contact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
        <p:nvSpPr>
          <p:cNvPr id="40" name="Text 35"/>
          <p:cNvSpPr/>
          <p:nvPr/>
        </p:nvSpPr>
        <p:spPr>
          <a:xfrm>
            <a:off x="6089904" y="5632704"/>
            <a:ext cx="5532120" cy="274320"/>
          </a:xfrm>
          <a:prstGeom prst="rect">
            <a:avLst/>
          </a:prstGeom>
          <a:noFill/>
          <a:ln/>
        </p:spPr>
        <p:txBody>
          <a:bodyPr wrap="square" lIns="0" tIns="0" rIns="0" bIns="0" rtlCol="0" anchor="ctr"/>
          <a:lstStyle/>
          <a:p>
            <a:pPr indent="0" marL="0">
              <a:buNone/>
            </a:pPr>
            <a:r>
              <a:rPr lang="en-US" sz="950" i="1" dirty="0">
                <a:solidFill>
                  <a:srgbClr val="7B8794"/>
                </a:solidFill>
                <a:latin typeface="Calibri" pitchFamily="34" charset="0"/>
                <a:ea typeface="Calibri" pitchFamily="34" charset="-122"/>
                <a:cs typeface="Calibri" pitchFamily="34" charset="-120"/>
              </a:rPr>
              <a:t>Checked in order — HR, then Mobile, then Email. Duplicates are ignored automatically.</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07</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07 §13–17</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The metadata database is the single source of truth</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31</a:t>
            </a:r>
            <a:endParaRPr lang="en-US" sz="950" dirty="0"/>
          </a:p>
        </p:txBody>
      </p:sp>
      <p:sp>
        <p:nvSpPr>
          <p:cNvPr id="9" name="Text 6"/>
          <p:cNvSpPr/>
          <p:nvPr/>
        </p:nvSpPr>
        <p:spPr>
          <a:xfrm>
            <a:off x="566928" y="13716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EVERY CONTACT CARRIES ITS PROVENANCE</a:t>
            </a:r>
            <a:endParaRPr lang="en-US" sz="9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57839" cy="914400"/>
        </p:xfrm>
        <a:graphic>
          <a:graphicData uri="http://schemas.openxmlformats.org/drawingml/2006/table">
            <a:tbl>
              <a:tblPr/>
              <a:tblGrid>
                <a:gridCol w="1463040"/>
                <a:gridCol w="1188720"/>
                <a:gridCol w="1737360"/>
                <a:gridCol w="2651760"/>
                <a:gridCol w="1371600"/>
                <a:gridCol w="1371600"/>
                <a:gridCol w="1273759"/>
              </a:tblGrid>
              <a:tr h="402336">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Company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HR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Mobile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Email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Added By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Added Date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Assigned By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402336">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Infosys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Rahul</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9876543210</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rahul@infosys.com</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Lokesh</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23-Mar-2026</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Team Leader A</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
        <p:nvSpPr>
          <p:cNvPr id="11" name="Text 7"/>
          <p:cNvSpPr/>
          <p:nvPr/>
        </p:nvSpPr>
        <p:spPr>
          <a:xfrm>
            <a:off x="566928" y="2651760"/>
            <a:ext cx="11057839" cy="256032"/>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A separate Assigned Date field was discussed and intentionally omitted, to keep the design simple.</a:t>
            </a:r>
            <a:endParaRPr lang="en-US" sz="1000" dirty="0"/>
          </a:p>
        </p:txBody>
      </p:sp>
      <p:sp>
        <p:nvSpPr>
          <p:cNvPr id="12" name="Text 8"/>
          <p:cNvSpPr/>
          <p:nvPr/>
        </p:nvSpPr>
        <p:spPr>
          <a:xfrm>
            <a:off x="566928" y="301752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PERMISSION MATRIX</a:t>
            </a:r>
            <a:endParaRPr lang="en-US" sz="950" dirty="0"/>
          </a:p>
        </p:txBody>
      </p:sp>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566928" y="3273552"/>
          <a:ext cx="11057839" cy="914400"/>
        </p:xfrm>
        <a:graphic>
          <a:graphicData uri="http://schemas.openxmlformats.org/drawingml/2006/table">
            <a:tbl>
              <a:tblPr/>
              <a:tblGrid>
                <a:gridCol w="5022799"/>
                <a:gridCol w="2011680"/>
                <a:gridCol w="2011680"/>
                <a:gridCol w="2011680"/>
              </a:tblGrid>
              <a:tr h="29260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Feature / action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Coordinator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Team Leader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Administrator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292608">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View own dashboard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292608">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View coordinator / team performance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292608">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Create and send Assigned Work</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6B7A8C"/>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292608">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Receive, load to metadata, complete Assigned Work</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B7A8C"/>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B7A8C"/>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292608">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Broadcast announcements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292608">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Manage users · manage settings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292608">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View organization-wide KPIs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2E7D32"/>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
        <p:nvSpPr>
          <p:cNvPr id="14" name="Text 9"/>
          <p:cNvSpPr/>
          <p:nvPr/>
        </p:nvSpPr>
        <p:spPr>
          <a:xfrm>
            <a:off x="566928" y="5705856"/>
            <a:ext cx="11057839" cy="274320"/>
          </a:xfrm>
          <a:prstGeom prst="rect">
            <a:avLst/>
          </a:prstGeom>
          <a:noFill/>
          <a:ln/>
        </p:spPr>
        <p:txBody>
          <a:bodyPr wrap="square" lIns="0" tIns="0" rIns="0" bIns="0" rtlCol="0" anchor="ctr"/>
          <a:lstStyle/>
          <a:p>
            <a:pPr indent="0" marL="0">
              <a:buNone/>
            </a:pPr>
            <a:r>
              <a:rPr lang="en-US" sz="950" i="1" dirty="0">
                <a:solidFill>
                  <a:srgbClr val="7B8794"/>
                </a:solidFill>
                <a:latin typeface="Calibri" pitchFamily="34" charset="0"/>
                <a:ea typeface="Calibri" pitchFamily="34" charset="-122"/>
                <a:cs typeface="Calibri" pitchFamily="34" charset="-120"/>
              </a:rPr>
              <a:t>The dashboard is personalized automatically — a coordinator sees only their own colleges, work, KPIs, reports, notifications and follow-ups. No manual filtering.</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08</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08 — USER &amp; ACCESS MANAGEMENT</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Identity control, corrected by the business</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32</a:t>
            </a:r>
            <a:endParaRPr lang="en-US" sz="950" dirty="0"/>
          </a:p>
        </p:txBody>
      </p:sp>
      <p:sp>
        <p:nvSpPr>
          <p:cNvPr id="9" name="Shape 6"/>
          <p:cNvSpPr/>
          <p:nvPr/>
        </p:nvSpPr>
        <p:spPr>
          <a:xfrm>
            <a:off x="566928" y="1371600"/>
            <a:ext cx="11057839" cy="969264"/>
          </a:xfrm>
          <a:prstGeom prst="roundRect">
            <a:avLst>
              <a:gd name="adj" fmla="val 9434"/>
            </a:avLst>
          </a:prstGeom>
          <a:solidFill>
            <a:srgbClr val="FEF8EC"/>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Text 7"/>
          <p:cNvSpPr/>
          <p:nvPr/>
        </p:nvSpPr>
        <p:spPr>
          <a:xfrm>
            <a:off x="786384" y="1591056"/>
            <a:ext cx="10618927"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The correction that shaped this module</a:t>
            </a:r>
            <a:endParaRPr lang="en-US" sz="1350" dirty="0"/>
          </a:p>
        </p:txBody>
      </p:sp>
      <p:sp>
        <p:nvSpPr>
          <p:cNvPr id="11" name="Text 8"/>
          <p:cNvSpPr/>
          <p:nvPr/>
        </p:nvSpPr>
        <p:spPr>
          <a:xfrm>
            <a:off x="786384" y="1911096"/>
            <a:ext cx="10618927" cy="256032"/>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Initial recommendation: only the Administrator manages users. Business correction: Team Leaders regularly perform administrative work on behalf of the CEO or Director, so they need user management access too. Coordinators have none.</a:t>
            </a:r>
            <a:endParaRPr lang="en-US" sz="1050" dirty="0"/>
          </a:p>
        </p:txBody>
      </p:sp>
      <p:sp>
        <p:nvSpPr>
          <p:cNvPr id="12" name="Text 9"/>
          <p:cNvSpPr/>
          <p:nvPr/>
        </p:nvSpPr>
        <p:spPr>
          <a:xfrm>
            <a:off x="566928" y="2487168"/>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SIX ACCOUNT STATUSES — “PARTIAL WORKING” WAS ADDED BY THE BUSINESS</a:t>
            </a:r>
            <a:endParaRPr lang="en-US" sz="950" dirty="0"/>
          </a:p>
        </p:txBody>
      </p:sp>
      <p:sp>
        <p:nvSpPr>
          <p:cNvPr id="13" name="Shape 10"/>
          <p:cNvSpPr/>
          <p:nvPr/>
        </p:nvSpPr>
        <p:spPr>
          <a:xfrm>
            <a:off x="566928" y="2743200"/>
            <a:ext cx="1736293" cy="438912"/>
          </a:xfrm>
          <a:prstGeom prst="roundRect">
            <a:avLst>
              <a:gd name="adj" fmla="val 104167"/>
            </a:avLst>
          </a:prstGeom>
          <a:solidFill>
            <a:srgbClr val="EAF5EB"/>
          </a:solidFill>
          <a:ln w="9525">
            <a:solidFill>
              <a:srgbClr val="E1E8F0"/>
            </a:solidFill>
            <a:prstDash val="solid"/>
          </a:ln>
        </p:spPr>
      </p:sp>
      <p:sp>
        <p:nvSpPr>
          <p:cNvPr id="14" name="Text 11"/>
          <p:cNvSpPr/>
          <p:nvPr/>
        </p:nvSpPr>
        <p:spPr>
          <a:xfrm>
            <a:off x="640080" y="2743200"/>
            <a:ext cx="1589989" cy="438912"/>
          </a:xfrm>
          <a:prstGeom prst="rect">
            <a:avLst/>
          </a:prstGeom>
          <a:noFill/>
          <a:ln/>
        </p:spPr>
        <p:txBody>
          <a:bodyPr wrap="square" lIns="0" tIns="0" rIns="0" bIns="0" rtlCol="0" anchor="ctr"/>
          <a:lstStyle/>
          <a:p>
            <a:pPr algn="ctr" indent="0" marL="0">
              <a:buNone/>
            </a:pPr>
            <a:r>
              <a:rPr lang="en-US" sz="1000" b="1" dirty="0">
                <a:solidFill>
                  <a:srgbClr val="2E7D32"/>
                </a:solidFill>
                <a:latin typeface="Calibri" pitchFamily="34" charset="0"/>
                <a:ea typeface="Calibri" pitchFamily="34" charset="-122"/>
                <a:cs typeface="Calibri" pitchFamily="34" charset="-120"/>
              </a:rPr>
              <a:t>Active</a:t>
            </a:r>
            <a:endParaRPr lang="en-US" sz="1000" dirty="0"/>
          </a:p>
        </p:txBody>
      </p:sp>
      <p:sp>
        <p:nvSpPr>
          <p:cNvPr id="15" name="Shape 12"/>
          <p:cNvSpPr/>
          <p:nvPr/>
        </p:nvSpPr>
        <p:spPr>
          <a:xfrm>
            <a:off x="2431237" y="2743200"/>
            <a:ext cx="1736293" cy="438912"/>
          </a:xfrm>
          <a:prstGeom prst="roundRect">
            <a:avLst>
              <a:gd name="adj" fmla="val 104167"/>
            </a:avLst>
          </a:prstGeom>
          <a:solidFill>
            <a:srgbClr val="FEF4E4"/>
          </a:solidFill>
          <a:ln w="9525">
            <a:solidFill>
              <a:srgbClr val="E1E8F0"/>
            </a:solidFill>
            <a:prstDash val="solid"/>
          </a:ln>
        </p:spPr>
      </p:sp>
      <p:sp>
        <p:nvSpPr>
          <p:cNvPr id="16" name="Text 13"/>
          <p:cNvSpPr/>
          <p:nvPr/>
        </p:nvSpPr>
        <p:spPr>
          <a:xfrm>
            <a:off x="2504389" y="2743200"/>
            <a:ext cx="1589989" cy="438912"/>
          </a:xfrm>
          <a:prstGeom prst="rect">
            <a:avLst/>
          </a:prstGeom>
          <a:noFill/>
          <a:ln/>
        </p:spPr>
        <p:txBody>
          <a:bodyPr wrap="square" lIns="0" tIns="0" rIns="0" bIns="0" rtlCol="0" anchor="ctr"/>
          <a:lstStyle/>
          <a:p>
            <a:pPr algn="ctr" indent="0" marL="0">
              <a:buNone/>
            </a:pPr>
            <a:r>
              <a:rPr lang="en-US" sz="1000" b="1" dirty="0">
                <a:solidFill>
                  <a:srgbClr val="B26A00"/>
                </a:solidFill>
                <a:latin typeface="Calibri" pitchFamily="34" charset="0"/>
                <a:ea typeface="Calibri" pitchFamily="34" charset="-122"/>
                <a:cs typeface="Calibri" pitchFamily="34" charset="-120"/>
              </a:rPr>
              <a:t>Partial Working</a:t>
            </a:r>
            <a:endParaRPr lang="en-US" sz="1000" dirty="0"/>
          </a:p>
        </p:txBody>
      </p:sp>
      <p:sp>
        <p:nvSpPr>
          <p:cNvPr id="17" name="Shape 14"/>
          <p:cNvSpPr/>
          <p:nvPr/>
        </p:nvSpPr>
        <p:spPr>
          <a:xfrm>
            <a:off x="4295546" y="2743200"/>
            <a:ext cx="1736293" cy="438912"/>
          </a:xfrm>
          <a:prstGeom prst="roundRect">
            <a:avLst>
              <a:gd name="adj" fmla="val 104167"/>
            </a:avLst>
          </a:prstGeom>
          <a:solidFill>
            <a:srgbClr val="E7F3FD"/>
          </a:solidFill>
          <a:ln w="9525">
            <a:solidFill>
              <a:srgbClr val="E1E8F0"/>
            </a:solidFill>
            <a:prstDash val="solid"/>
          </a:ln>
        </p:spPr>
      </p:sp>
      <p:sp>
        <p:nvSpPr>
          <p:cNvPr id="18" name="Text 15"/>
          <p:cNvSpPr/>
          <p:nvPr/>
        </p:nvSpPr>
        <p:spPr>
          <a:xfrm>
            <a:off x="4368698" y="2743200"/>
            <a:ext cx="1589989" cy="438912"/>
          </a:xfrm>
          <a:prstGeom prst="rect">
            <a:avLst/>
          </a:prstGeom>
          <a:noFill/>
          <a:ln/>
        </p:spPr>
        <p:txBody>
          <a:bodyPr wrap="square" lIns="0" tIns="0" rIns="0" bIns="0" rtlCol="0" anchor="ctr"/>
          <a:lstStyle/>
          <a:p>
            <a:pPr algn="ctr" indent="0" marL="0">
              <a:buNone/>
            </a:pPr>
            <a:r>
              <a:rPr lang="en-US" sz="1000" b="1" dirty="0">
                <a:solidFill>
                  <a:srgbClr val="175496"/>
                </a:solidFill>
                <a:latin typeface="Calibri" pitchFamily="34" charset="0"/>
                <a:ea typeface="Calibri" pitchFamily="34" charset="-122"/>
                <a:cs typeface="Calibri" pitchFamily="34" charset="-120"/>
              </a:rPr>
              <a:t>On Leave</a:t>
            </a:r>
            <a:endParaRPr lang="en-US" sz="1000" dirty="0"/>
          </a:p>
        </p:txBody>
      </p:sp>
      <p:sp>
        <p:nvSpPr>
          <p:cNvPr id="19" name="Shape 16"/>
          <p:cNvSpPr/>
          <p:nvPr/>
        </p:nvSpPr>
        <p:spPr>
          <a:xfrm>
            <a:off x="6159856" y="2743200"/>
            <a:ext cx="1736293" cy="438912"/>
          </a:xfrm>
          <a:prstGeom prst="roundRect">
            <a:avLst>
              <a:gd name="adj" fmla="val 104167"/>
            </a:avLst>
          </a:prstGeom>
          <a:solidFill>
            <a:srgbClr val="F1F4F8"/>
          </a:solidFill>
          <a:ln w="9525">
            <a:solidFill>
              <a:srgbClr val="E1E8F0"/>
            </a:solidFill>
            <a:prstDash val="solid"/>
          </a:ln>
        </p:spPr>
      </p:sp>
      <p:sp>
        <p:nvSpPr>
          <p:cNvPr id="20" name="Text 17"/>
          <p:cNvSpPr/>
          <p:nvPr/>
        </p:nvSpPr>
        <p:spPr>
          <a:xfrm>
            <a:off x="6233008" y="2743200"/>
            <a:ext cx="1589989" cy="438912"/>
          </a:xfrm>
          <a:prstGeom prst="rect">
            <a:avLst/>
          </a:prstGeom>
          <a:noFill/>
          <a:ln/>
        </p:spPr>
        <p:txBody>
          <a:bodyPr wrap="square" lIns="0" tIns="0" rIns="0" bIns="0" rtlCol="0" anchor="ctr"/>
          <a:lstStyle/>
          <a:p>
            <a:pPr algn="ctr" indent="0" marL="0">
              <a:buNone/>
            </a:pPr>
            <a:r>
              <a:rPr lang="en-US" sz="1000" b="1" dirty="0">
                <a:solidFill>
                  <a:srgbClr val="6B7A8C"/>
                </a:solidFill>
                <a:latin typeface="Calibri" pitchFamily="34" charset="0"/>
                <a:ea typeface="Calibri" pitchFamily="34" charset="-122"/>
                <a:cs typeface="Calibri" pitchFamily="34" charset="-120"/>
              </a:rPr>
              <a:t>Inactive</a:t>
            </a:r>
            <a:endParaRPr lang="en-US" sz="1000" dirty="0"/>
          </a:p>
        </p:txBody>
      </p:sp>
      <p:sp>
        <p:nvSpPr>
          <p:cNvPr id="21" name="Shape 18"/>
          <p:cNvSpPr/>
          <p:nvPr/>
        </p:nvSpPr>
        <p:spPr>
          <a:xfrm>
            <a:off x="8024165" y="2743200"/>
            <a:ext cx="1736293" cy="438912"/>
          </a:xfrm>
          <a:prstGeom prst="roundRect">
            <a:avLst>
              <a:gd name="adj" fmla="val 104167"/>
            </a:avLst>
          </a:prstGeom>
          <a:solidFill>
            <a:srgbClr val="FBEDED"/>
          </a:solidFill>
          <a:ln w="9525">
            <a:solidFill>
              <a:srgbClr val="E1E8F0"/>
            </a:solidFill>
            <a:prstDash val="solid"/>
          </a:ln>
        </p:spPr>
      </p:sp>
      <p:sp>
        <p:nvSpPr>
          <p:cNvPr id="22" name="Text 19"/>
          <p:cNvSpPr/>
          <p:nvPr/>
        </p:nvSpPr>
        <p:spPr>
          <a:xfrm>
            <a:off x="8097317" y="2743200"/>
            <a:ext cx="1589989" cy="438912"/>
          </a:xfrm>
          <a:prstGeom prst="rect">
            <a:avLst/>
          </a:prstGeom>
          <a:noFill/>
          <a:ln/>
        </p:spPr>
        <p:txBody>
          <a:bodyPr wrap="square" lIns="0" tIns="0" rIns="0" bIns="0" rtlCol="0" anchor="ctr"/>
          <a:lstStyle/>
          <a:p>
            <a:pPr algn="ctr" indent="0" marL="0">
              <a:buNone/>
            </a:pPr>
            <a:r>
              <a:rPr lang="en-US" sz="1000" b="1" dirty="0">
                <a:solidFill>
                  <a:srgbClr val="C62828"/>
                </a:solidFill>
                <a:latin typeface="Calibri" pitchFamily="34" charset="0"/>
                <a:ea typeface="Calibri" pitchFamily="34" charset="-122"/>
                <a:cs typeface="Calibri" pitchFamily="34" charset="-120"/>
              </a:rPr>
              <a:t>Blocked</a:t>
            </a:r>
            <a:endParaRPr lang="en-US" sz="1000" dirty="0"/>
          </a:p>
        </p:txBody>
      </p:sp>
      <p:sp>
        <p:nvSpPr>
          <p:cNvPr id="23" name="Shape 20"/>
          <p:cNvSpPr/>
          <p:nvPr/>
        </p:nvSpPr>
        <p:spPr>
          <a:xfrm>
            <a:off x="9888474" y="2743200"/>
            <a:ext cx="1736293" cy="438912"/>
          </a:xfrm>
          <a:prstGeom prst="roundRect">
            <a:avLst>
              <a:gd name="adj" fmla="val 104167"/>
            </a:avLst>
          </a:prstGeom>
          <a:solidFill>
            <a:srgbClr val="F1F4F8"/>
          </a:solidFill>
          <a:ln w="9525">
            <a:solidFill>
              <a:srgbClr val="E1E8F0"/>
            </a:solidFill>
            <a:prstDash val="solid"/>
          </a:ln>
        </p:spPr>
      </p:sp>
      <p:sp>
        <p:nvSpPr>
          <p:cNvPr id="24" name="Text 21"/>
          <p:cNvSpPr/>
          <p:nvPr/>
        </p:nvSpPr>
        <p:spPr>
          <a:xfrm>
            <a:off x="9961626" y="2743200"/>
            <a:ext cx="1589989" cy="438912"/>
          </a:xfrm>
          <a:prstGeom prst="rect">
            <a:avLst/>
          </a:prstGeom>
          <a:noFill/>
          <a:ln/>
        </p:spPr>
        <p:txBody>
          <a:bodyPr wrap="square" lIns="0" tIns="0" rIns="0" bIns="0" rtlCol="0" anchor="ctr"/>
          <a:lstStyle/>
          <a:p>
            <a:pPr algn="ctr" indent="0" marL="0">
              <a:buNone/>
            </a:pPr>
            <a:r>
              <a:rPr lang="en-US" sz="1000" b="1" dirty="0">
                <a:solidFill>
                  <a:srgbClr val="6B7A8C"/>
                </a:solidFill>
                <a:latin typeface="Calibri" pitchFamily="34" charset="0"/>
                <a:ea typeface="Calibri" pitchFamily="34" charset="-122"/>
                <a:cs typeface="Calibri" pitchFamily="34" charset="-120"/>
              </a:rPr>
              <a:t>Deactivated</a:t>
            </a:r>
            <a:endParaRPr lang="en-US" sz="1000" dirty="0"/>
          </a:p>
        </p:txBody>
      </p:sp>
      <p:sp>
        <p:nvSpPr>
          <p:cNvPr id="25" name="Text 22"/>
          <p:cNvSpPr/>
          <p:nvPr/>
        </p:nvSpPr>
        <p:spPr>
          <a:xfrm>
            <a:off x="566928" y="3255264"/>
            <a:ext cx="11057839" cy="274320"/>
          </a:xfrm>
          <a:prstGeom prst="rect">
            <a:avLst/>
          </a:prstGeom>
          <a:noFill/>
          <a:ln/>
        </p:spPr>
        <p:txBody>
          <a:bodyPr wrap="square" lIns="0" tIns="0" rIns="0" bIns="0" rtlCol="0" anchor="ctr"/>
          <a:lstStyle/>
          <a:p>
            <a:pPr indent="0" marL="0">
              <a:buNone/>
            </a:pPr>
            <a:r>
              <a:rPr lang="en-US" sz="1050" i="1" dirty="0">
                <a:solidFill>
                  <a:srgbClr val="7B8794"/>
                </a:solidFill>
                <a:latin typeface="Calibri" pitchFamily="34" charset="0"/>
                <a:ea typeface="Calibri" pitchFamily="34" charset="-122"/>
                <a:cs typeface="Calibri" pitchFamily="34" charset="-120"/>
              </a:rPr>
              <a:t>Partial Working represents an employee available only part of the day — mornings only, an afternoon medical appointment, or half-day leave.</a:t>
            </a:r>
            <a:endParaRPr lang="en-US" sz="1050" dirty="0"/>
          </a:p>
        </p:txBody>
      </p:sp>
      <p:sp>
        <p:nvSpPr>
          <p:cNvPr id="26" name="Shape 23"/>
          <p:cNvSpPr/>
          <p:nvPr/>
        </p:nvSpPr>
        <p:spPr>
          <a:xfrm>
            <a:off x="566928" y="3621024"/>
            <a:ext cx="3527450" cy="1536192"/>
          </a:xfrm>
          <a:prstGeom prst="roundRect">
            <a:avLst>
              <a:gd name="adj" fmla="val 595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7" name="Shape 24"/>
          <p:cNvSpPr/>
          <p:nvPr/>
        </p:nvSpPr>
        <p:spPr>
          <a:xfrm>
            <a:off x="786384" y="3840480"/>
            <a:ext cx="365760" cy="365760"/>
          </a:xfrm>
          <a:prstGeom prst="ellipse">
            <a:avLst/>
          </a:prstGeom>
          <a:solidFill>
            <a:srgbClr val="C62828"/>
          </a:solidFill>
          <a:ln w="12700">
            <a:solidFill>
              <a:srgbClr val="C62828"/>
            </a:solidFill>
            <a:prstDash val="solid"/>
          </a:ln>
        </p:spPr>
      </p:sp>
      <p:pic>
        <p:nvPicPr>
          <p:cNvPr id="28" name="Image 1" descr="preencoded.png">    </p:cNvPr>
          <p:cNvPicPr>
            <a:picLocks noChangeAspect="1"/>
          </p:cNvPicPr>
          <p:nvPr/>
        </p:nvPicPr>
        <p:blipFill>
          <a:blip r:embed="rId2"/>
          <a:stretch>
            <a:fillRect/>
          </a:stretch>
        </p:blipFill>
        <p:spPr>
          <a:xfrm>
            <a:off x="877824" y="3931920"/>
            <a:ext cx="182880" cy="182880"/>
          </a:xfrm>
          <a:prstGeom prst="rect">
            <a:avLst/>
          </a:prstGeom>
        </p:spPr>
      </p:pic>
      <p:sp>
        <p:nvSpPr>
          <p:cNvPr id="29" name="Text 25"/>
          <p:cNvSpPr/>
          <p:nvPr/>
        </p:nvSpPr>
        <p:spPr>
          <a:xfrm>
            <a:off x="1280160" y="3840480"/>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Blocked is temporary</a:t>
            </a:r>
            <a:endParaRPr lang="en-US" sz="1200" dirty="0"/>
          </a:p>
        </p:txBody>
      </p:sp>
      <p:sp>
        <p:nvSpPr>
          <p:cNvPr id="30" name="Text 26"/>
          <p:cNvSpPr/>
          <p:nvPr/>
        </p:nvSpPr>
        <p:spPr>
          <a:xfrm>
            <a:off x="786384" y="4251960"/>
            <a:ext cx="3088538" cy="731520"/>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Cannot log in and everything inside the account is disabled, but it can be unblocked at any time. Used for investigation, temporary restriction, or misuse.</a:t>
            </a:r>
            <a:endParaRPr lang="en-US" sz="1000" dirty="0"/>
          </a:p>
        </p:txBody>
      </p:sp>
      <p:sp>
        <p:nvSpPr>
          <p:cNvPr id="31" name="Shape 27"/>
          <p:cNvSpPr/>
          <p:nvPr/>
        </p:nvSpPr>
        <p:spPr>
          <a:xfrm>
            <a:off x="4332122" y="3621024"/>
            <a:ext cx="3527450" cy="1536192"/>
          </a:xfrm>
          <a:prstGeom prst="roundRect">
            <a:avLst>
              <a:gd name="adj" fmla="val 595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2" name="Shape 28"/>
          <p:cNvSpPr/>
          <p:nvPr/>
        </p:nvSpPr>
        <p:spPr>
          <a:xfrm>
            <a:off x="4551578" y="3840480"/>
            <a:ext cx="365760" cy="365760"/>
          </a:xfrm>
          <a:prstGeom prst="ellipse">
            <a:avLst/>
          </a:prstGeom>
          <a:solidFill>
            <a:srgbClr val="6B7A8C"/>
          </a:solidFill>
          <a:ln w="12700">
            <a:solidFill>
              <a:srgbClr val="6B7A8C"/>
            </a:solidFill>
            <a:prstDash val="solid"/>
          </a:ln>
        </p:spPr>
      </p:sp>
      <p:pic>
        <p:nvPicPr>
          <p:cNvPr id="33" name="Image 2" descr="preencoded.png">    </p:cNvPr>
          <p:cNvPicPr>
            <a:picLocks noChangeAspect="1"/>
          </p:cNvPicPr>
          <p:nvPr/>
        </p:nvPicPr>
        <p:blipFill>
          <a:blip r:embed="rId3"/>
          <a:stretch>
            <a:fillRect/>
          </a:stretch>
        </p:blipFill>
        <p:spPr>
          <a:xfrm>
            <a:off x="4643018" y="3931920"/>
            <a:ext cx="182880" cy="182880"/>
          </a:xfrm>
          <a:prstGeom prst="rect">
            <a:avLst/>
          </a:prstGeom>
        </p:spPr>
      </p:pic>
      <p:sp>
        <p:nvSpPr>
          <p:cNvPr id="34" name="Text 29"/>
          <p:cNvSpPr/>
          <p:nvPr/>
        </p:nvSpPr>
        <p:spPr>
          <a:xfrm>
            <a:off x="5045354" y="3840480"/>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Deactivated is permanent</a:t>
            </a:r>
            <a:endParaRPr lang="en-US" sz="1200" dirty="0"/>
          </a:p>
        </p:txBody>
      </p:sp>
      <p:sp>
        <p:nvSpPr>
          <p:cNvPr id="35" name="Text 30"/>
          <p:cNvSpPr/>
          <p:nvPr/>
        </p:nvSpPr>
        <p:spPr>
          <a:xfrm>
            <a:off x="4551578" y="4251960"/>
            <a:ext cx="3088538" cy="731520"/>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The employee has left. Cannot log in; historical data and reports stay accurate. Preferred over deleting the account.</a:t>
            </a:r>
            <a:endParaRPr lang="en-US" sz="1000" dirty="0"/>
          </a:p>
        </p:txBody>
      </p:sp>
      <p:sp>
        <p:nvSpPr>
          <p:cNvPr id="36" name="Shape 31"/>
          <p:cNvSpPr/>
          <p:nvPr/>
        </p:nvSpPr>
        <p:spPr>
          <a:xfrm>
            <a:off x="8097317" y="3621024"/>
            <a:ext cx="3527450" cy="1536192"/>
          </a:xfrm>
          <a:prstGeom prst="roundRect">
            <a:avLst>
              <a:gd name="adj" fmla="val 595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7" name="Shape 32"/>
          <p:cNvSpPr/>
          <p:nvPr/>
        </p:nvSpPr>
        <p:spPr>
          <a:xfrm>
            <a:off x="8316773" y="3840480"/>
            <a:ext cx="365760" cy="365760"/>
          </a:xfrm>
          <a:prstGeom prst="ellipse">
            <a:avLst/>
          </a:prstGeom>
          <a:solidFill>
            <a:srgbClr val="0B2E59"/>
          </a:solidFill>
          <a:ln w="12700">
            <a:solidFill>
              <a:srgbClr val="0B2E59"/>
            </a:solidFill>
            <a:prstDash val="solid"/>
          </a:ln>
        </p:spPr>
      </p:sp>
      <p:pic>
        <p:nvPicPr>
          <p:cNvPr id="38" name="Image 3" descr="preencoded.png">    </p:cNvPr>
          <p:cNvPicPr>
            <a:picLocks noChangeAspect="1"/>
          </p:cNvPicPr>
          <p:nvPr/>
        </p:nvPicPr>
        <p:blipFill>
          <a:blip r:embed="rId4"/>
          <a:stretch>
            <a:fillRect/>
          </a:stretch>
        </p:blipFill>
        <p:spPr>
          <a:xfrm>
            <a:off x="8408213" y="3931920"/>
            <a:ext cx="182880" cy="182880"/>
          </a:xfrm>
          <a:prstGeom prst="rect">
            <a:avLst/>
          </a:prstGeom>
        </p:spPr>
      </p:pic>
      <p:sp>
        <p:nvSpPr>
          <p:cNvPr id="39" name="Text 33"/>
          <p:cNvSpPr/>
          <p:nvPr/>
        </p:nvSpPr>
        <p:spPr>
          <a:xfrm>
            <a:off x="8810549" y="3840480"/>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No temporary passwords, anywhere</a:t>
            </a:r>
            <a:endParaRPr lang="en-US" sz="1200" dirty="0"/>
          </a:p>
        </p:txBody>
      </p:sp>
      <p:sp>
        <p:nvSpPr>
          <p:cNvPr id="40" name="Text 34"/>
          <p:cNvSpPr/>
          <p:nvPr/>
        </p:nvSpPr>
        <p:spPr>
          <a:xfrm>
            <a:off x="8316773" y="4251960"/>
            <a:ext cx="3088538" cy="731520"/>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An initial proposal for organization-issued temporary passwords was corrected out. Every user manages their own; Reset simply restarts the process so the user creates their own new one.</a:t>
            </a:r>
            <a:endParaRPr lang="en-US" sz="1000" dirty="0"/>
          </a:p>
        </p:txBody>
      </p:sp>
      <p:sp>
        <p:nvSpPr>
          <p:cNvPr id="41" name="Text 35"/>
          <p:cNvSpPr/>
          <p:nvPr/>
        </p:nvSpPr>
        <p:spPr>
          <a:xfrm>
            <a:off x="566928" y="5285232"/>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PASSWORD POLICY — MINIMUM 8 CHARACTERS</a:t>
            </a:r>
            <a:endParaRPr lang="en-US" sz="950" dirty="0"/>
          </a:p>
        </p:txBody>
      </p:sp>
      <p:sp>
        <p:nvSpPr>
          <p:cNvPr id="42" name="Shape 36"/>
          <p:cNvSpPr/>
          <p:nvPr/>
        </p:nvSpPr>
        <p:spPr>
          <a:xfrm>
            <a:off x="566928" y="5541264"/>
            <a:ext cx="2109155" cy="420624"/>
          </a:xfrm>
          <a:prstGeom prst="roundRect">
            <a:avLst>
              <a:gd name="adj" fmla="val 108696"/>
            </a:avLst>
          </a:prstGeom>
          <a:solidFill>
            <a:srgbClr val="F4F7FA"/>
          </a:solidFill>
          <a:ln w="9525">
            <a:solidFill>
              <a:srgbClr val="E1E8F0"/>
            </a:solidFill>
            <a:prstDash val="solid"/>
          </a:ln>
        </p:spPr>
      </p:sp>
      <p:sp>
        <p:nvSpPr>
          <p:cNvPr id="43" name="Text 37"/>
          <p:cNvSpPr/>
          <p:nvPr/>
        </p:nvSpPr>
        <p:spPr>
          <a:xfrm>
            <a:off x="640080" y="5541264"/>
            <a:ext cx="1962851" cy="420624"/>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One uppercase</a:t>
            </a:r>
            <a:endParaRPr lang="en-US" sz="1000" dirty="0"/>
          </a:p>
        </p:txBody>
      </p:sp>
      <p:sp>
        <p:nvSpPr>
          <p:cNvPr id="44" name="Shape 38"/>
          <p:cNvSpPr/>
          <p:nvPr/>
        </p:nvSpPr>
        <p:spPr>
          <a:xfrm>
            <a:off x="2804099" y="5541264"/>
            <a:ext cx="2109155" cy="420624"/>
          </a:xfrm>
          <a:prstGeom prst="roundRect">
            <a:avLst>
              <a:gd name="adj" fmla="val 108696"/>
            </a:avLst>
          </a:prstGeom>
          <a:solidFill>
            <a:srgbClr val="F4F7FA"/>
          </a:solidFill>
          <a:ln w="9525">
            <a:solidFill>
              <a:srgbClr val="E1E8F0"/>
            </a:solidFill>
            <a:prstDash val="solid"/>
          </a:ln>
        </p:spPr>
      </p:sp>
      <p:sp>
        <p:nvSpPr>
          <p:cNvPr id="45" name="Text 39"/>
          <p:cNvSpPr/>
          <p:nvPr/>
        </p:nvSpPr>
        <p:spPr>
          <a:xfrm>
            <a:off x="2877251" y="5541264"/>
            <a:ext cx="1962851" cy="420624"/>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One lowercase</a:t>
            </a:r>
            <a:endParaRPr lang="en-US" sz="1000" dirty="0"/>
          </a:p>
        </p:txBody>
      </p:sp>
      <p:sp>
        <p:nvSpPr>
          <p:cNvPr id="46" name="Shape 40"/>
          <p:cNvSpPr/>
          <p:nvPr/>
        </p:nvSpPr>
        <p:spPr>
          <a:xfrm>
            <a:off x="5041270" y="5541264"/>
            <a:ext cx="2109155" cy="420624"/>
          </a:xfrm>
          <a:prstGeom prst="roundRect">
            <a:avLst>
              <a:gd name="adj" fmla="val 108696"/>
            </a:avLst>
          </a:prstGeom>
          <a:solidFill>
            <a:srgbClr val="F4F7FA"/>
          </a:solidFill>
          <a:ln w="9525">
            <a:solidFill>
              <a:srgbClr val="E1E8F0"/>
            </a:solidFill>
            <a:prstDash val="solid"/>
          </a:ln>
        </p:spPr>
      </p:sp>
      <p:sp>
        <p:nvSpPr>
          <p:cNvPr id="47" name="Text 41"/>
          <p:cNvSpPr/>
          <p:nvPr/>
        </p:nvSpPr>
        <p:spPr>
          <a:xfrm>
            <a:off x="5114422" y="5541264"/>
            <a:ext cx="1962851" cy="420624"/>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One number</a:t>
            </a:r>
            <a:endParaRPr lang="en-US" sz="1000" dirty="0"/>
          </a:p>
        </p:txBody>
      </p:sp>
      <p:sp>
        <p:nvSpPr>
          <p:cNvPr id="48" name="Shape 42"/>
          <p:cNvSpPr/>
          <p:nvPr/>
        </p:nvSpPr>
        <p:spPr>
          <a:xfrm>
            <a:off x="7278441" y="5541264"/>
            <a:ext cx="2109155" cy="420624"/>
          </a:xfrm>
          <a:prstGeom prst="roundRect">
            <a:avLst>
              <a:gd name="adj" fmla="val 108696"/>
            </a:avLst>
          </a:prstGeom>
          <a:solidFill>
            <a:srgbClr val="F4F7FA"/>
          </a:solidFill>
          <a:ln w="9525">
            <a:solidFill>
              <a:srgbClr val="E1E8F0"/>
            </a:solidFill>
            <a:prstDash val="solid"/>
          </a:ln>
        </p:spPr>
      </p:sp>
      <p:sp>
        <p:nvSpPr>
          <p:cNvPr id="49" name="Text 43"/>
          <p:cNvSpPr/>
          <p:nvPr/>
        </p:nvSpPr>
        <p:spPr>
          <a:xfrm>
            <a:off x="7351593" y="5541264"/>
            <a:ext cx="1962851" cy="420624"/>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One special character</a:t>
            </a:r>
            <a:endParaRPr lang="en-US" sz="1000" dirty="0"/>
          </a:p>
        </p:txBody>
      </p:sp>
      <p:sp>
        <p:nvSpPr>
          <p:cNvPr id="50" name="Shape 44"/>
          <p:cNvSpPr/>
          <p:nvPr/>
        </p:nvSpPr>
        <p:spPr>
          <a:xfrm>
            <a:off x="9515612" y="5541264"/>
            <a:ext cx="2109155" cy="420624"/>
          </a:xfrm>
          <a:prstGeom prst="roundRect">
            <a:avLst>
              <a:gd name="adj" fmla="val 108696"/>
            </a:avLst>
          </a:prstGeom>
          <a:solidFill>
            <a:srgbClr val="F4F7FA"/>
          </a:solidFill>
          <a:ln w="9525">
            <a:solidFill>
              <a:srgbClr val="E1E8F0"/>
            </a:solidFill>
            <a:prstDash val="solid"/>
          </a:ln>
        </p:spPr>
      </p:sp>
      <p:sp>
        <p:nvSpPr>
          <p:cNvPr id="51" name="Text 45"/>
          <p:cNvSpPr/>
          <p:nvPr/>
        </p:nvSpPr>
        <p:spPr>
          <a:xfrm>
            <a:off x="9588764" y="5541264"/>
            <a:ext cx="1962851" cy="420624"/>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e.g.  Info@2026</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08</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08 §11–17</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Getting in, and who gets assigned what</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33</a:t>
            </a:r>
            <a:endParaRPr lang="en-US" sz="950" dirty="0"/>
          </a:p>
        </p:txBody>
      </p:sp>
      <p:sp>
        <p:nvSpPr>
          <p:cNvPr id="9" name="Shape 6"/>
          <p:cNvSpPr/>
          <p:nvPr/>
        </p:nvSpPr>
        <p:spPr>
          <a:xfrm>
            <a:off x="566928" y="1371600"/>
            <a:ext cx="5410048" cy="1481328"/>
          </a:xfrm>
          <a:prstGeom prst="roundRect">
            <a:avLst>
              <a:gd name="adj" fmla="val 617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Shape 7"/>
          <p:cNvSpPr/>
          <p:nvPr/>
        </p:nvSpPr>
        <p:spPr>
          <a:xfrm>
            <a:off x="786384" y="1591056"/>
            <a:ext cx="365760" cy="365760"/>
          </a:xfrm>
          <a:prstGeom prst="ellipse">
            <a:avLst/>
          </a:prstGeom>
          <a:solidFill>
            <a:srgbClr val="175496"/>
          </a:solidFill>
          <a:ln w="12700">
            <a:solidFill>
              <a:srgbClr val="175496"/>
            </a:solidFill>
            <a:prstDash val="solid"/>
          </a:ln>
        </p:spPr>
      </p:sp>
      <p:pic>
        <p:nvPicPr>
          <p:cNvPr id="11" name="Image 1" descr="preencoded.png">    </p:cNvPr>
          <p:cNvPicPr>
            <a:picLocks noChangeAspect="1"/>
          </p:cNvPicPr>
          <p:nvPr/>
        </p:nvPicPr>
        <p:blipFill>
          <a:blip r:embed="rId2"/>
          <a:stretch>
            <a:fillRect/>
          </a:stretch>
        </p:blipFill>
        <p:spPr>
          <a:xfrm>
            <a:off x="877824" y="1682496"/>
            <a:ext cx="182880" cy="182880"/>
          </a:xfrm>
          <a:prstGeom prst="rect">
            <a:avLst/>
          </a:prstGeom>
        </p:spPr>
      </p:pic>
      <p:sp>
        <p:nvSpPr>
          <p:cNvPr id="12" name="Text 8"/>
          <p:cNvSpPr/>
          <p:nvPr/>
        </p:nvSpPr>
        <p:spPr>
          <a:xfrm>
            <a:off x="1280160" y="1591056"/>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Coordinator — self-registration</a:t>
            </a:r>
            <a:endParaRPr lang="en-US" sz="1350" dirty="0"/>
          </a:p>
        </p:txBody>
      </p:sp>
      <p:sp>
        <p:nvSpPr>
          <p:cNvPr id="13" name="Text 9"/>
          <p:cNvSpPr/>
          <p:nvPr/>
        </p:nvSpPr>
        <p:spPr>
          <a:xfrm>
            <a:off x="786384" y="2002536"/>
            <a:ext cx="4971136" cy="67665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Signup → email verification → account created → login. No approval step; that was corrected out as unnecessary overhead. The role dropdown shows only “Placement Coordinator” — leadership accounts are created outside the signup flow, for security.</a:t>
            </a:r>
            <a:endParaRPr lang="en-US" sz="1000" dirty="0"/>
          </a:p>
        </p:txBody>
      </p:sp>
      <p:sp>
        <p:nvSpPr>
          <p:cNvPr id="14" name="Shape 10"/>
          <p:cNvSpPr/>
          <p:nvPr/>
        </p:nvSpPr>
        <p:spPr>
          <a:xfrm>
            <a:off x="6214720" y="1371600"/>
            <a:ext cx="5410048" cy="1481328"/>
          </a:xfrm>
          <a:prstGeom prst="roundRect">
            <a:avLst>
              <a:gd name="adj" fmla="val 617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5" name="Shape 11"/>
          <p:cNvSpPr/>
          <p:nvPr/>
        </p:nvSpPr>
        <p:spPr>
          <a:xfrm>
            <a:off x="6434176" y="1591056"/>
            <a:ext cx="365760" cy="365760"/>
          </a:xfrm>
          <a:prstGeom prst="ellipse">
            <a:avLst/>
          </a:prstGeom>
          <a:solidFill>
            <a:srgbClr val="0B2E59"/>
          </a:solidFill>
          <a:ln w="12700">
            <a:solidFill>
              <a:srgbClr val="0B2E59"/>
            </a:solidFill>
            <a:prstDash val="solid"/>
          </a:ln>
        </p:spPr>
      </p:sp>
      <p:pic>
        <p:nvPicPr>
          <p:cNvPr id="16" name="Image 2" descr="preencoded.png">    </p:cNvPr>
          <p:cNvPicPr>
            <a:picLocks noChangeAspect="1"/>
          </p:cNvPicPr>
          <p:nvPr/>
        </p:nvPicPr>
        <p:blipFill>
          <a:blip r:embed="rId3"/>
          <a:stretch>
            <a:fillRect/>
          </a:stretch>
        </p:blipFill>
        <p:spPr>
          <a:xfrm>
            <a:off x="6525616" y="1682496"/>
            <a:ext cx="182880" cy="182880"/>
          </a:xfrm>
          <a:prstGeom prst="rect">
            <a:avLst/>
          </a:prstGeom>
        </p:spPr>
      </p:pic>
      <p:sp>
        <p:nvSpPr>
          <p:cNvPr id="17" name="Text 12"/>
          <p:cNvSpPr/>
          <p:nvPr/>
        </p:nvSpPr>
        <p:spPr>
          <a:xfrm>
            <a:off x="6927952" y="1591056"/>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Team Leader · Director · CEO</a:t>
            </a:r>
            <a:endParaRPr lang="en-US" sz="1350" dirty="0"/>
          </a:p>
        </p:txBody>
      </p:sp>
      <p:sp>
        <p:nvSpPr>
          <p:cNvPr id="18" name="Text 13"/>
          <p:cNvSpPr/>
          <p:nvPr/>
        </p:nvSpPr>
        <p:spPr>
          <a:xfrm>
            <a:off x="6434176" y="2002536"/>
            <a:ext cx="4971136" cy="67665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Username → password → login. There is no signup page for these roles at all; their accounts already exist.</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Workload rule: 3 colleges per coordinator normally, 4 at the practical maximum — and coordinators never choose their own.</a:t>
            </a:r>
            <a:endParaRPr lang="en-US" sz="1000" dirty="0"/>
          </a:p>
        </p:txBody>
      </p:sp>
      <p:sp>
        <p:nvSpPr>
          <p:cNvPr id="19" name="Text 14"/>
          <p:cNvSpPr/>
          <p:nvPr/>
        </p:nvSpPr>
        <p:spPr>
          <a:xfrm>
            <a:off x="566928" y="2907792"/>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FORGOT PASSWORD — NO ADMINISTRATOR INVOLVEMENT</a:t>
            </a:r>
            <a:endParaRPr lang="en-US" sz="950" dirty="0"/>
          </a:p>
        </p:txBody>
      </p:sp>
      <p:sp>
        <p:nvSpPr>
          <p:cNvPr id="20" name="Shape 15"/>
          <p:cNvSpPr/>
          <p:nvPr/>
        </p:nvSpPr>
        <p:spPr>
          <a:xfrm>
            <a:off x="566928" y="3145536"/>
            <a:ext cx="2065264" cy="457200"/>
          </a:xfrm>
          <a:prstGeom prst="roundRect">
            <a:avLst>
              <a:gd name="adj" fmla="val 100000"/>
            </a:avLst>
          </a:prstGeom>
          <a:solidFill>
            <a:srgbClr val="F4F7FA"/>
          </a:solidFill>
          <a:ln w="9525">
            <a:solidFill>
              <a:srgbClr val="E1E8F0"/>
            </a:solidFill>
            <a:prstDash val="solid"/>
          </a:ln>
        </p:spPr>
      </p:sp>
      <p:sp>
        <p:nvSpPr>
          <p:cNvPr id="21" name="Text 16"/>
          <p:cNvSpPr/>
          <p:nvPr/>
        </p:nvSpPr>
        <p:spPr>
          <a:xfrm>
            <a:off x="612648" y="3145536"/>
            <a:ext cx="1973824" cy="45720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Forgot Password</a:t>
            </a:r>
            <a:endParaRPr lang="en-US" sz="1000" dirty="0"/>
          </a:p>
        </p:txBody>
      </p:sp>
      <p:sp>
        <p:nvSpPr>
          <p:cNvPr id="22" name="Text 17"/>
          <p:cNvSpPr/>
          <p:nvPr/>
        </p:nvSpPr>
        <p:spPr>
          <a:xfrm>
            <a:off x="2632192" y="3145536"/>
            <a:ext cx="182880" cy="45720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3" name="Shape 18"/>
          <p:cNvSpPr/>
          <p:nvPr/>
        </p:nvSpPr>
        <p:spPr>
          <a:xfrm>
            <a:off x="2815072" y="3145536"/>
            <a:ext cx="2065264" cy="457200"/>
          </a:xfrm>
          <a:prstGeom prst="roundRect">
            <a:avLst>
              <a:gd name="adj" fmla="val 100000"/>
            </a:avLst>
          </a:prstGeom>
          <a:solidFill>
            <a:srgbClr val="F4F7FA"/>
          </a:solidFill>
          <a:ln w="9525">
            <a:solidFill>
              <a:srgbClr val="E1E8F0"/>
            </a:solidFill>
            <a:prstDash val="solid"/>
          </a:ln>
        </p:spPr>
      </p:sp>
      <p:sp>
        <p:nvSpPr>
          <p:cNvPr id="24" name="Text 19"/>
          <p:cNvSpPr/>
          <p:nvPr/>
        </p:nvSpPr>
        <p:spPr>
          <a:xfrm>
            <a:off x="2860792" y="3145536"/>
            <a:ext cx="1973824" cy="45720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Enter username</a:t>
            </a:r>
            <a:endParaRPr lang="en-US" sz="1000" dirty="0"/>
          </a:p>
        </p:txBody>
      </p:sp>
      <p:sp>
        <p:nvSpPr>
          <p:cNvPr id="25" name="Text 20"/>
          <p:cNvSpPr/>
          <p:nvPr/>
        </p:nvSpPr>
        <p:spPr>
          <a:xfrm>
            <a:off x="4880336" y="3145536"/>
            <a:ext cx="182880" cy="45720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6" name="Shape 21"/>
          <p:cNvSpPr/>
          <p:nvPr/>
        </p:nvSpPr>
        <p:spPr>
          <a:xfrm>
            <a:off x="5063216" y="3145536"/>
            <a:ext cx="2065264" cy="457200"/>
          </a:xfrm>
          <a:prstGeom prst="roundRect">
            <a:avLst>
              <a:gd name="adj" fmla="val 100000"/>
            </a:avLst>
          </a:prstGeom>
          <a:solidFill>
            <a:srgbClr val="F4F7FA"/>
          </a:solidFill>
          <a:ln w="9525">
            <a:solidFill>
              <a:srgbClr val="E1E8F0"/>
            </a:solidFill>
            <a:prstDash val="solid"/>
          </a:ln>
        </p:spPr>
      </p:sp>
      <p:sp>
        <p:nvSpPr>
          <p:cNvPr id="27" name="Text 22"/>
          <p:cNvSpPr/>
          <p:nvPr/>
        </p:nvSpPr>
        <p:spPr>
          <a:xfrm>
            <a:off x="5108936" y="3145536"/>
            <a:ext cx="1973824" cy="45720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Email verification</a:t>
            </a:r>
            <a:endParaRPr lang="en-US" sz="1000" dirty="0"/>
          </a:p>
        </p:txBody>
      </p:sp>
      <p:sp>
        <p:nvSpPr>
          <p:cNvPr id="28" name="Text 23"/>
          <p:cNvSpPr/>
          <p:nvPr/>
        </p:nvSpPr>
        <p:spPr>
          <a:xfrm>
            <a:off x="7128480" y="3145536"/>
            <a:ext cx="182880" cy="45720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9" name="Shape 24"/>
          <p:cNvSpPr/>
          <p:nvPr/>
        </p:nvSpPr>
        <p:spPr>
          <a:xfrm>
            <a:off x="7311360" y="3145536"/>
            <a:ext cx="2065264" cy="457200"/>
          </a:xfrm>
          <a:prstGeom prst="roundRect">
            <a:avLst>
              <a:gd name="adj" fmla="val 100000"/>
            </a:avLst>
          </a:prstGeom>
          <a:solidFill>
            <a:srgbClr val="F4F7FA"/>
          </a:solidFill>
          <a:ln w="9525">
            <a:solidFill>
              <a:srgbClr val="E1E8F0"/>
            </a:solidFill>
            <a:prstDash val="solid"/>
          </a:ln>
        </p:spPr>
      </p:sp>
      <p:sp>
        <p:nvSpPr>
          <p:cNvPr id="30" name="Text 25"/>
          <p:cNvSpPr/>
          <p:nvPr/>
        </p:nvSpPr>
        <p:spPr>
          <a:xfrm>
            <a:off x="7357080" y="3145536"/>
            <a:ext cx="1973824" cy="45720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Create new password</a:t>
            </a:r>
            <a:endParaRPr lang="en-US" sz="1000" dirty="0"/>
          </a:p>
        </p:txBody>
      </p:sp>
      <p:sp>
        <p:nvSpPr>
          <p:cNvPr id="31" name="Text 26"/>
          <p:cNvSpPr/>
          <p:nvPr/>
        </p:nvSpPr>
        <p:spPr>
          <a:xfrm>
            <a:off x="9376623" y="3145536"/>
            <a:ext cx="182880" cy="45720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2" name="Shape 27"/>
          <p:cNvSpPr/>
          <p:nvPr/>
        </p:nvSpPr>
        <p:spPr>
          <a:xfrm>
            <a:off x="9559503" y="3145536"/>
            <a:ext cx="2065264" cy="457200"/>
          </a:xfrm>
          <a:prstGeom prst="roundRect">
            <a:avLst>
              <a:gd name="adj" fmla="val 100000"/>
            </a:avLst>
          </a:prstGeom>
          <a:solidFill>
            <a:srgbClr val="F4F7FA"/>
          </a:solidFill>
          <a:ln w="9525">
            <a:solidFill>
              <a:srgbClr val="E1E8F0"/>
            </a:solidFill>
            <a:prstDash val="solid"/>
          </a:ln>
        </p:spPr>
      </p:sp>
      <p:sp>
        <p:nvSpPr>
          <p:cNvPr id="33" name="Text 28"/>
          <p:cNvSpPr/>
          <p:nvPr/>
        </p:nvSpPr>
        <p:spPr>
          <a:xfrm>
            <a:off x="9605223" y="3145536"/>
            <a:ext cx="1973824" cy="45720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Login</a:t>
            </a:r>
            <a:endParaRPr lang="en-US" sz="1000" dirty="0"/>
          </a:p>
        </p:txBody>
      </p:sp>
      <p:sp>
        <p:nvSpPr>
          <p:cNvPr id="34" name="Text 29"/>
          <p:cNvSpPr/>
          <p:nvPr/>
        </p:nvSpPr>
        <p:spPr>
          <a:xfrm>
            <a:off x="566928" y="3694176"/>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PERMISSION MATRIX — FOUR ROLES</a:t>
            </a:r>
            <a:endParaRPr lang="en-US" sz="9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3950208"/>
          <a:ext cx="11057839" cy="914400"/>
        </p:xfrm>
        <a:graphic>
          <a:graphicData uri="http://schemas.openxmlformats.org/drawingml/2006/table">
            <a:tbl>
              <a:tblPr/>
              <a:tblGrid>
                <a:gridCol w="3742639"/>
                <a:gridCol w="1828800"/>
                <a:gridCol w="1828800"/>
                <a:gridCol w="1828800"/>
                <a:gridCol w="1828800"/>
              </a:tblGrid>
              <a:tr h="310896">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Permission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Coordinator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Team Leader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Director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CEO</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10896">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Daily Tracker · Weekly Tracker</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dirty="0">
                          <a:solidFill>
                            <a:srgbClr val="175496"/>
                          </a:solidFill>
                          <a:latin typeface="Calibri" pitchFamily="34" charset="0"/>
                          <a:ea typeface="Calibri" pitchFamily="34" charset="-122"/>
                          <a:cs typeface="Calibri" pitchFamily="34" charset="-120"/>
                        </a:rPr>
                        <a:t>View</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dirty="0">
                          <a:solidFill>
                            <a:srgbClr val="175496"/>
                          </a:solidFill>
                          <a:latin typeface="Calibri" pitchFamily="34" charset="0"/>
                          <a:ea typeface="Calibri" pitchFamily="34" charset="-122"/>
                          <a:cs typeface="Calibri" pitchFamily="34" charset="-120"/>
                        </a:rPr>
                        <a:t>View</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dirty="0">
                          <a:solidFill>
                            <a:srgbClr val="175496"/>
                          </a:solidFill>
                          <a:latin typeface="Calibri" pitchFamily="34" charset="0"/>
                          <a:ea typeface="Calibri" pitchFamily="34" charset="-122"/>
                          <a:cs typeface="Calibri" pitchFamily="34" charset="-120"/>
                        </a:rPr>
                        <a:t>View</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10896">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Reports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75496"/>
                          </a:solidFill>
                          <a:latin typeface="Calibri" pitchFamily="34" charset="0"/>
                          <a:ea typeface="Calibri" pitchFamily="34" charset="-122"/>
                          <a:cs typeface="Calibri" pitchFamily="34" charset="-120"/>
                        </a:rPr>
                        <a:t>Own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75496"/>
                          </a:solidFill>
                          <a:latin typeface="Calibri" pitchFamily="34" charset="0"/>
                          <a:ea typeface="Calibri" pitchFamily="34" charset="-122"/>
                          <a:cs typeface="Calibri" pitchFamily="34" charset="-120"/>
                        </a:rPr>
                        <a:t>Team</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E7D32"/>
                          </a:solidFill>
                          <a:latin typeface="Calibri" pitchFamily="34" charset="0"/>
                          <a:ea typeface="Calibri" pitchFamily="34" charset="-122"/>
                          <a:cs typeface="Calibri" pitchFamily="34" charset="-120"/>
                        </a:rPr>
                        <a:t>All</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E7D32"/>
                          </a:solidFill>
                          <a:latin typeface="Calibri" pitchFamily="34" charset="0"/>
                          <a:ea typeface="Calibri" pitchFamily="34" charset="-122"/>
                          <a:cs typeface="Calibri" pitchFamily="34" charset="-120"/>
                        </a:rPr>
                        <a:t>All</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Create user · Edit user · Assign colleges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10896">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Reset password</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75496"/>
                          </a:solidFill>
                          <a:latin typeface="Calibri" pitchFamily="34" charset="0"/>
                          <a:ea typeface="Calibri" pitchFamily="34" charset="-122"/>
                          <a:cs typeface="Calibri" pitchFamily="34" charset="-120"/>
                        </a:rPr>
                        <a:t>Own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32"/>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Settings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dirty="0">
                          <a:solidFill>
                            <a:srgbClr val="175496"/>
                          </a:solidFill>
                          <a:latin typeface="Calibri" pitchFamily="34" charset="0"/>
                          <a:ea typeface="Calibri" pitchFamily="34" charset="-122"/>
                          <a:cs typeface="Calibri" pitchFamily="34" charset="-120"/>
                        </a:rPr>
                        <a:t>Personal</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dirty="0">
                          <a:solidFill>
                            <a:srgbClr val="175496"/>
                          </a:solidFill>
                          <a:latin typeface="Calibri" pitchFamily="34" charset="0"/>
                          <a:ea typeface="Calibri" pitchFamily="34" charset="-122"/>
                          <a:cs typeface="Calibri" pitchFamily="34" charset="-120"/>
                        </a:rPr>
                        <a:t>Personal</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dirty="0">
                          <a:solidFill>
                            <a:srgbClr val="2E7D32"/>
                          </a:solidFill>
                          <a:latin typeface="Calibri" pitchFamily="34" charset="0"/>
                          <a:ea typeface="Calibri" pitchFamily="34" charset="-122"/>
                          <a:cs typeface="Calibri" pitchFamily="34" charset="-120"/>
                        </a:rPr>
                        <a:t>System</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dirty="0">
                          <a:solidFill>
                            <a:srgbClr val="2E7D32"/>
                          </a:solidFill>
                          <a:latin typeface="Calibri" pitchFamily="34" charset="0"/>
                          <a:ea typeface="Calibri" pitchFamily="34" charset="-122"/>
                          <a:cs typeface="Calibri" pitchFamily="34" charset="-120"/>
                        </a:rPr>
                        <a:t>System</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09</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09 — SETTINGS &amp; CONFIGURATION</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Customize the application, never the workflow</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34</a:t>
            </a:r>
            <a:endParaRPr lang="en-US" sz="950" dirty="0"/>
          </a:p>
        </p:txBody>
      </p:sp>
      <p:sp>
        <p:nvSpPr>
          <p:cNvPr id="9" name="Text 6"/>
          <p:cNvSpPr/>
          <p:nvPr/>
        </p:nvSpPr>
        <p:spPr>
          <a:xfrm>
            <a:off x="566928" y="13716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FIVE SECTIONS PLUS A READ-ONLY PRIVACY PANEL, IN ONE WORKSPACE</a:t>
            </a:r>
            <a:endParaRPr lang="en-US" sz="950" dirty="0"/>
          </a:p>
        </p:txBody>
      </p:sp>
      <p:sp>
        <p:nvSpPr>
          <p:cNvPr id="10" name="Shape 7"/>
          <p:cNvSpPr/>
          <p:nvPr/>
        </p:nvSpPr>
        <p:spPr>
          <a:xfrm>
            <a:off x="566928" y="1627632"/>
            <a:ext cx="1736293" cy="438912"/>
          </a:xfrm>
          <a:prstGeom prst="roundRect">
            <a:avLst>
              <a:gd name="adj" fmla="val 104167"/>
            </a:avLst>
          </a:prstGeom>
          <a:solidFill>
            <a:srgbClr val="F4F7FA"/>
          </a:solidFill>
          <a:ln w="9525">
            <a:solidFill>
              <a:srgbClr val="E1E8F0"/>
            </a:solidFill>
            <a:prstDash val="solid"/>
          </a:ln>
        </p:spPr>
      </p:sp>
      <p:sp>
        <p:nvSpPr>
          <p:cNvPr id="11" name="Text 8"/>
          <p:cNvSpPr/>
          <p:nvPr/>
        </p:nvSpPr>
        <p:spPr>
          <a:xfrm>
            <a:off x="640080" y="1627632"/>
            <a:ext cx="1589989" cy="438912"/>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My Profile</a:t>
            </a:r>
            <a:endParaRPr lang="en-US" sz="1000" dirty="0"/>
          </a:p>
        </p:txBody>
      </p:sp>
      <p:sp>
        <p:nvSpPr>
          <p:cNvPr id="12" name="Shape 9"/>
          <p:cNvSpPr/>
          <p:nvPr/>
        </p:nvSpPr>
        <p:spPr>
          <a:xfrm>
            <a:off x="2431237" y="1627632"/>
            <a:ext cx="1736293" cy="438912"/>
          </a:xfrm>
          <a:prstGeom prst="roundRect">
            <a:avLst>
              <a:gd name="adj" fmla="val 104167"/>
            </a:avLst>
          </a:prstGeom>
          <a:solidFill>
            <a:srgbClr val="F4F7FA"/>
          </a:solidFill>
          <a:ln w="9525">
            <a:solidFill>
              <a:srgbClr val="E1E8F0"/>
            </a:solidFill>
            <a:prstDash val="solid"/>
          </a:ln>
        </p:spPr>
      </p:sp>
      <p:sp>
        <p:nvSpPr>
          <p:cNvPr id="13" name="Text 10"/>
          <p:cNvSpPr/>
          <p:nvPr/>
        </p:nvSpPr>
        <p:spPr>
          <a:xfrm>
            <a:off x="2504389" y="1627632"/>
            <a:ext cx="1589989" cy="438912"/>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Security</a:t>
            </a:r>
            <a:endParaRPr lang="en-US" sz="1000" dirty="0"/>
          </a:p>
        </p:txBody>
      </p:sp>
      <p:sp>
        <p:nvSpPr>
          <p:cNvPr id="14" name="Shape 11"/>
          <p:cNvSpPr/>
          <p:nvPr/>
        </p:nvSpPr>
        <p:spPr>
          <a:xfrm>
            <a:off x="4295546" y="1627632"/>
            <a:ext cx="1736293" cy="438912"/>
          </a:xfrm>
          <a:prstGeom prst="roundRect">
            <a:avLst>
              <a:gd name="adj" fmla="val 104167"/>
            </a:avLst>
          </a:prstGeom>
          <a:solidFill>
            <a:srgbClr val="F4F7FA"/>
          </a:solidFill>
          <a:ln w="9525">
            <a:solidFill>
              <a:srgbClr val="E1E8F0"/>
            </a:solidFill>
            <a:prstDash val="solid"/>
          </a:ln>
        </p:spPr>
      </p:sp>
      <p:sp>
        <p:nvSpPr>
          <p:cNvPr id="15" name="Text 12"/>
          <p:cNvSpPr/>
          <p:nvPr/>
        </p:nvSpPr>
        <p:spPr>
          <a:xfrm>
            <a:off x="4368698" y="1627632"/>
            <a:ext cx="1589989" cy="438912"/>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Application</a:t>
            </a:r>
            <a:endParaRPr lang="en-US" sz="1000" dirty="0"/>
          </a:p>
        </p:txBody>
      </p:sp>
      <p:sp>
        <p:nvSpPr>
          <p:cNvPr id="16" name="Shape 13"/>
          <p:cNvSpPr/>
          <p:nvPr/>
        </p:nvSpPr>
        <p:spPr>
          <a:xfrm>
            <a:off x="6159856" y="1627632"/>
            <a:ext cx="1736293" cy="438912"/>
          </a:xfrm>
          <a:prstGeom prst="roundRect">
            <a:avLst>
              <a:gd name="adj" fmla="val 104167"/>
            </a:avLst>
          </a:prstGeom>
          <a:solidFill>
            <a:srgbClr val="F4F7FA"/>
          </a:solidFill>
          <a:ln w="9525">
            <a:solidFill>
              <a:srgbClr val="E1E8F0"/>
            </a:solidFill>
            <a:prstDash val="solid"/>
          </a:ln>
        </p:spPr>
      </p:sp>
      <p:sp>
        <p:nvSpPr>
          <p:cNvPr id="17" name="Text 14"/>
          <p:cNvSpPr/>
          <p:nvPr/>
        </p:nvSpPr>
        <p:spPr>
          <a:xfrm>
            <a:off x="6233008" y="1627632"/>
            <a:ext cx="1589989" cy="438912"/>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Organization</a:t>
            </a:r>
            <a:endParaRPr lang="en-US" sz="1000" dirty="0"/>
          </a:p>
        </p:txBody>
      </p:sp>
      <p:sp>
        <p:nvSpPr>
          <p:cNvPr id="18" name="Shape 15"/>
          <p:cNvSpPr/>
          <p:nvPr/>
        </p:nvSpPr>
        <p:spPr>
          <a:xfrm>
            <a:off x="8024165" y="1627632"/>
            <a:ext cx="1736293" cy="438912"/>
          </a:xfrm>
          <a:prstGeom prst="roundRect">
            <a:avLst>
              <a:gd name="adj" fmla="val 104167"/>
            </a:avLst>
          </a:prstGeom>
          <a:solidFill>
            <a:srgbClr val="F4F7FA"/>
          </a:solidFill>
          <a:ln w="9525">
            <a:solidFill>
              <a:srgbClr val="E1E8F0"/>
            </a:solidFill>
            <a:prstDash val="solid"/>
          </a:ln>
        </p:spPr>
      </p:sp>
      <p:sp>
        <p:nvSpPr>
          <p:cNvPr id="19" name="Text 16"/>
          <p:cNvSpPr/>
          <p:nvPr/>
        </p:nvSpPr>
        <p:spPr>
          <a:xfrm>
            <a:off x="8097317" y="1627632"/>
            <a:ext cx="1589989" cy="438912"/>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System</a:t>
            </a:r>
            <a:endParaRPr lang="en-US" sz="1000" dirty="0"/>
          </a:p>
        </p:txBody>
      </p:sp>
      <p:sp>
        <p:nvSpPr>
          <p:cNvPr id="20" name="Shape 17"/>
          <p:cNvSpPr/>
          <p:nvPr/>
        </p:nvSpPr>
        <p:spPr>
          <a:xfrm>
            <a:off x="9888474" y="1627632"/>
            <a:ext cx="1736293" cy="438912"/>
          </a:xfrm>
          <a:prstGeom prst="roundRect">
            <a:avLst>
              <a:gd name="adj" fmla="val 104167"/>
            </a:avLst>
          </a:prstGeom>
          <a:solidFill>
            <a:srgbClr val="F4F7FA"/>
          </a:solidFill>
          <a:ln w="9525">
            <a:solidFill>
              <a:srgbClr val="E1E8F0"/>
            </a:solidFill>
            <a:prstDash val="solid"/>
          </a:ln>
        </p:spPr>
      </p:sp>
      <p:sp>
        <p:nvSpPr>
          <p:cNvPr id="21" name="Text 18"/>
          <p:cNvSpPr/>
          <p:nvPr/>
        </p:nvSpPr>
        <p:spPr>
          <a:xfrm>
            <a:off x="9961626" y="1627632"/>
            <a:ext cx="1589989" cy="438912"/>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Privacy &amp; Visibility</a:t>
            </a:r>
            <a:endParaRPr lang="en-US" sz="1000" dirty="0"/>
          </a:p>
        </p:txBody>
      </p:sp>
      <p:sp>
        <p:nvSpPr>
          <p:cNvPr id="22" name="Text 19"/>
          <p:cNvSpPr/>
          <p:nvPr/>
        </p:nvSpPr>
        <p:spPr>
          <a:xfrm>
            <a:off x="566928" y="2157984"/>
            <a:ext cx="11057839" cy="274320"/>
          </a:xfrm>
          <a:prstGeom prst="rect">
            <a:avLst/>
          </a:prstGeom>
          <a:noFill/>
          <a:ln/>
        </p:spPr>
        <p:txBody>
          <a:bodyPr wrap="square" lIns="0" tIns="0" rIns="0" bIns="0" rtlCol="0" anchor="ctr"/>
          <a:lstStyle/>
          <a:p>
            <a:pPr indent="0" marL="0">
              <a:buNone/>
            </a:pPr>
            <a:r>
              <a:rPr lang="en-US" sz="1050" i="1" dirty="0">
                <a:solidFill>
                  <a:srgbClr val="7B8794"/>
                </a:solidFill>
                <a:latin typeface="Calibri" pitchFamily="34" charset="0"/>
                <a:ea typeface="Calibri" pitchFamily="34" charset="-122"/>
                <a:cs typeface="Calibri" pitchFamily="34" charset="-120"/>
              </a:rPr>
              <a:t>Presented as a left-side navigation panel rather than horizontal tabs — chosen because it scales better as settings are added. No pop-ups, no separate pages, no nested menus.</a:t>
            </a:r>
            <a:endParaRPr lang="en-US" sz="1050" dirty="0"/>
          </a:p>
        </p:txBody>
      </p:sp>
      <p:sp>
        <p:nvSpPr>
          <p:cNvPr id="23" name="Shape 20"/>
          <p:cNvSpPr/>
          <p:nvPr/>
        </p:nvSpPr>
        <p:spPr>
          <a:xfrm>
            <a:off x="566928" y="2523744"/>
            <a:ext cx="3527450" cy="1554480"/>
          </a:xfrm>
          <a:prstGeom prst="roundRect">
            <a:avLst>
              <a:gd name="adj" fmla="val 588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4" name="Shape 21"/>
          <p:cNvSpPr/>
          <p:nvPr/>
        </p:nvSpPr>
        <p:spPr>
          <a:xfrm>
            <a:off x="786384" y="2743200"/>
            <a:ext cx="365760" cy="365760"/>
          </a:xfrm>
          <a:prstGeom prst="ellipse">
            <a:avLst/>
          </a:prstGeom>
          <a:solidFill>
            <a:srgbClr val="00ACC1"/>
          </a:solidFill>
          <a:ln w="12700">
            <a:solidFill>
              <a:srgbClr val="00ACC1"/>
            </a:solidFill>
            <a:prstDash val="solid"/>
          </a:ln>
        </p:spPr>
      </p:sp>
      <p:pic>
        <p:nvPicPr>
          <p:cNvPr id="25" name="Image 1" descr="preencoded.png">    </p:cNvPr>
          <p:cNvPicPr>
            <a:picLocks noChangeAspect="1"/>
          </p:cNvPicPr>
          <p:nvPr/>
        </p:nvPicPr>
        <p:blipFill>
          <a:blip r:embed="rId2"/>
          <a:stretch>
            <a:fillRect/>
          </a:stretch>
        </p:blipFill>
        <p:spPr>
          <a:xfrm>
            <a:off x="877824" y="2834640"/>
            <a:ext cx="182880" cy="182880"/>
          </a:xfrm>
          <a:prstGeom prst="rect">
            <a:avLst/>
          </a:prstGeom>
        </p:spPr>
      </p:pic>
      <p:sp>
        <p:nvSpPr>
          <p:cNvPr id="26" name="Text 22"/>
          <p:cNvSpPr/>
          <p:nvPr/>
        </p:nvSpPr>
        <p:spPr>
          <a:xfrm>
            <a:off x="1280160" y="2743200"/>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Yours to edit</a:t>
            </a:r>
            <a:endParaRPr lang="en-US" sz="1200" dirty="0"/>
          </a:p>
        </p:txBody>
      </p:sp>
      <p:sp>
        <p:nvSpPr>
          <p:cNvPr id="27" name="Text 23"/>
          <p:cNvSpPr/>
          <p:nvPr/>
        </p:nvSpPr>
        <p:spPr>
          <a:xfrm>
            <a:off x="786384" y="3154680"/>
            <a:ext cx="3088538" cy="74980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Personal email · personal mobile · alternate mobile · residential address · profile picture. Only these render as input boxes.</a:t>
            </a:r>
            <a:endParaRPr lang="en-US" sz="1000" dirty="0"/>
          </a:p>
        </p:txBody>
      </p:sp>
      <p:sp>
        <p:nvSpPr>
          <p:cNvPr id="28" name="Shape 24"/>
          <p:cNvSpPr/>
          <p:nvPr/>
        </p:nvSpPr>
        <p:spPr>
          <a:xfrm>
            <a:off x="4332122" y="2523744"/>
            <a:ext cx="3527450" cy="1554480"/>
          </a:xfrm>
          <a:prstGeom prst="roundRect">
            <a:avLst>
              <a:gd name="adj" fmla="val 588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9" name="Shape 25"/>
          <p:cNvSpPr/>
          <p:nvPr/>
        </p:nvSpPr>
        <p:spPr>
          <a:xfrm>
            <a:off x="4551578" y="2743200"/>
            <a:ext cx="365760" cy="365760"/>
          </a:xfrm>
          <a:prstGeom prst="ellipse">
            <a:avLst/>
          </a:prstGeom>
          <a:solidFill>
            <a:srgbClr val="0B2E59"/>
          </a:solidFill>
          <a:ln w="12700">
            <a:solidFill>
              <a:srgbClr val="0B2E59"/>
            </a:solidFill>
            <a:prstDash val="solid"/>
          </a:ln>
        </p:spPr>
      </p:sp>
      <p:pic>
        <p:nvPicPr>
          <p:cNvPr id="30" name="Image 2" descr="preencoded.png">    </p:cNvPr>
          <p:cNvPicPr>
            <a:picLocks noChangeAspect="1"/>
          </p:cNvPicPr>
          <p:nvPr/>
        </p:nvPicPr>
        <p:blipFill>
          <a:blip r:embed="rId3"/>
          <a:stretch>
            <a:fillRect/>
          </a:stretch>
        </p:blipFill>
        <p:spPr>
          <a:xfrm>
            <a:off x="4643018" y="2834640"/>
            <a:ext cx="182880" cy="182880"/>
          </a:xfrm>
          <a:prstGeom prst="rect">
            <a:avLst/>
          </a:prstGeom>
        </p:spPr>
      </p:pic>
      <p:sp>
        <p:nvSpPr>
          <p:cNvPr id="31" name="Text 26"/>
          <p:cNvSpPr/>
          <p:nvPr/>
        </p:nvSpPr>
        <p:spPr>
          <a:xfrm>
            <a:off x="5045354" y="2743200"/>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The organization controls</a:t>
            </a:r>
            <a:endParaRPr lang="en-US" sz="1200" dirty="0"/>
          </a:p>
        </p:txBody>
      </p:sp>
      <p:sp>
        <p:nvSpPr>
          <p:cNvPr id="32" name="Text 27"/>
          <p:cNvSpPr/>
          <p:nvPr/>
        </p:nvSpPr>
        <p:spPr>
          <a:xfrm>
            <a:off x="4551578" y="3154680"/>
            <a:ext cx="3088538" cy="74980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Username · official email · role · assigned colleges. Displayed read-only, changeable only by Team Leader, Director or CEO.</a:t>
            </a:r>
            <a:endParaRPr lang="en-US" sz="1000" dirty="0"/>
          </a:p>
        </p:txBody>
      </p:sp>
      <p:sp>
        <p:nvSpPr>
          <p:cNvPr id="33" name="Shape 28"/>
          <p:cNvSpPr/>
          <p:nvPr/>
        </p:nvSpPr>
        <p:spPr>
          <a:xfrm>
            <a:off x="8097317" y="2523744"/>
            <a:ext cx="3527450" cy="1554480"/>
          </a:xfrm>
          <a:prstGeom prst="roundRect">
            <a:avLst>
              <a:gd name="adj" fmla="val 588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4" name="Shape 29"/>
          <p:cNvSpPr/>
          <p:nvPr/>
        </p:nvSpPr>
        <p:spPr>
          <a:xfrm>
            <a:off x="8316773" y="2743200"/>
            <a:ext cx="365760" cy="365760"/>
          </a:xfrm>
          <a:prstGeom prst="ellipse">
            <a:avLst/>
          </a:prstGeom>
          <a:solidFill>
            <a:srgbClr val="175496"/>
          </a:solidFill>
          <a:ln w="12700">
            <a:solidFill>
              <a:srgbClr val="175496"/>
            </a:solidFill>
            <a:prstDash val="solid"/>
          </a:ln>
        </p:spPr>
      </p:sp>
      <p:pic>
        <p:nvPicPr>
          <p:cNvPr id="35" name="Image 3" descr="preencoded.png">    </p:cNvPr>
          <p:cNvPicPr>
            <a:picLocks noChangeAspect="1"/>
          </p:cNvPicPr>
          <p:nvPr/>
        </p:nvPicPr>
        <p:blipFill>
          <a:blip r:embed="rId4"/>
          <a:stretch>
            <a:fillRect/>
          </a:stretch>
        </p:blipFill>
        <p:spPr>
          <a:xfrm>
            <a:off x="8408213" y="2834640"/>
            <a:ext cx="182880" cy="182880"/>
          </a:xfrm>
          <a:prstGeom prst="rect">
            <a:avLst/>
          </a:prstGeom>
        </p:spPr>
      </p:pic>
      <p:sp>
        <p:nvSpPr>
          <p:cNvPr id="36" name="Text 30"/>
          <p:cNvSpPr/>
          <p:nvPr/>
        </p:nvSpPr>
        <p:spPr>
          <a:xfrm>
            <a:off x="8810549" y="2743200"/>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Application settings</a:t>
            </a:r>
            <a:endParaRPr lang="en-US" sz="1200" dirty="0"/>
          </a:p>
        </p:txBody>
      </p:sp>
      <p:sp>
        <p:nvSpPr>
          <p:cNvPr id="37" name="Text 31"/>
          <p:cNvSpPr/>
          <p:nvPr/>
        </p:nvSpPr>
        <p:spPr>
          <a:xfrm>
            <a:off x="8316773" y="3154680"/>
            <a:ext cx="3088538" cy="74980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Theme — Light, Dark, High Contrast or System Default. Default landing page. Date fixed to “24 July 2026”; time fixed to 12-hour AM/PM.</a:t>
            </a:r>
            <a:endParaRPr lang="en-US" sz="1000" dirty="0"/>
          </a:p>
        </p:txBody>
      </p:sp>
      <p:sp>
        <p:nvSpPr>
          <p:cNvPr id="38" name="Text 32"/>
          <p:cNvSpPr/>
          <p:nvPr/>
        </p:nvSpPr>
        <p:spPr>
          <a:xfrm>
            <a:off x="566928" y="420624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PRIVACY IS SHOWN TO USERS, NOT HIDDEN IN CODE</a:t>
            </a:r>
            <a:endParaRPr lang="en-US" sz="9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4462272"/>
          <a:ext cx="11057839" cy="914400"/>
        </p:xfrm>
        <a:graphic>
          <a:graphicData uri="http://schemas.openxmlformats.org/drawingml/2006/table">
            <a:tbl>
              <a:tblPr/>
              <a:tblGrid>
                <a:gridCol w="5486400"/>
                <a:gridCol w="5571439"/>
              </a:tblGrid>
              <a:tr h="38404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Field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Who can see it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84048">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Personal email · personal mobile · residential address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Team Leader, Director and CEO only — never another coordinator</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84048">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Official email · official mobile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Visible where work requires it</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bl>
          </a:graphicData>
        </a:graphic>
      </p:graphicFrame>
      <p:sp>
        <p:nvSpPr>
          <p:cNvPr id="40" name="Text 33"/>
          <p:cNvSpPr/>
          <p:nvPr/>
        </p:nvSpPr>
        <p:spPr>
          <a:xfrm>
            <a:off x="566928" y="5669280"/>
            <a:ext cx="11057839" cy="274320"/>
          </a:xfrm>
          <a:prstGeom prst="rect">
            <a:avLst/>
          </a:prstGeom>
          <a:noFill/>
          <a:ln/>
        </p:spPr>
        <p:txBody>
          <a:bodyPr wrap="square" lIns="0" tIns="0" rIns="0" bIns="0" rtlCol="0" anchor="ctr"/>
          <a:lstStyle/>
          <a:p>
            <a:pPr indent="0" marL="0">
              <a:buNone/>
            </a:pPr>
            <a:r>
              <a:rPr lang="en-US" sz="950" i="1" dirty="0">
                <a:solidFill>
                  <a:srgbClr val="7B8794"/>
                </a:solidFill>
                <a:latin typeface="Calibri" pitchFamily="34" charset="0"/>
                <a:ea typeface="Calibri" pitchFamily="34" charset="-122"/>
                <a:cs typeface="Calibri" pitchFamily="34" charset="-120"/>
              </a:rPr>
              <a:t>These are organizational policies rather than personal preferences, so coordinators see them as read-only. Only administrators can change the underlying policy.</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09</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09 §12–19</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What management controls, and what was cut</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35</a:t>
            </a:r>
            <a:endParaRPr lang="en-US" sz="950" dirty="0"/>
          </a:p>
        </p:txBody>
      </p:sp>
      <p:sp>
        <p:nvSpPr>
          <p:cNvPr id="9" name="Shape 6"/>
          <p:cNvSpPr/>
          <p:nvPr/>
        </p:nvSpPr>
        <p:spPr>
          <a:xfrm>
            <a:off x="566928" y="1371600"/>
            <a:ext cx="3527450" cy="1691640"/>
          </a:xfrm>
          <a:prstGeom prst="roundRect">
            <a:avLst>
              <a:gd name="adj" fmla="val 540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Shape 7"/>
          <p:cNvSpPr/>
          <p:nvPr/>
        </p:nvSpPr>
        <p:spPr>
          <a:xfrm>
            <a:off x="786384" y="1591056"/>
            <a:ext cx="365760" cy="365760"/>
          </a:xfrm>
          <a:prstGeom prst="ellipse">
            <a:avLst/>
          </a:prstGeom>
          <a:solidFill>
            <a:srgbClr val="0B2E59"/>
          </a:solidFill>
          <a:ln w="12700">
            <a:solidFill>
              <a:srgbClr val="0B2E59"/>
            </a:solidFill>
            <a:prstDash val="solid"/>
          </a:ln>
        </p:spPr>
      </p:sp>
      <p:pic>
        <p:nvPicPr>
          <p:cNvPr id="11" name="Image 1" descr="preencoded.png">    </p:cNvPr>
          <p:cNvPicPr>
            <a:picLocks noChangeAspect="1"/>
          </p:cNvPicPr>
          <p:nvPr/>
        </p:nvPicPr>
        <p:blipFill>
          <a:blip r:embed="rId2"/>
          <a:stretch>
            <a:fillRect/>
          </a:stretch>
        </p:blipFill>
        <p:spPr>
          <a:xfrm>
            <a:off x="877824" y="1682496"/>
            <a:ext cx="182880" cy="182880"/>
          </a:xfrm>
          <a:prstGeom prst="rect">
            <a:avLst/>
          </a:prstGeom>
        </p:spPr>
      </p:pic>
      <p:sp>
        <p:nvSpPr>
          <p:cNvPr id="12" name="Text 8"/>
          <p:cNvSpPr/>
          <p:nvPr/>
        </p:nvSpPr>
        <p:spPr>
          <a:xfrm>
            <a:off x="1280160" y="1591056"/>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Report branding</a:t>
            </a:r>
            <a:endParaRPr lang="en-US" sz="1200" dirty="0"/>
          </a:p>
        </p:txBody>
      </p:sp>
      <p:sp>
        <p:nvSpPr>
          <p:cNvPr id="13" name="Text 9"/>
          <p:cNvSpPr/>
          <p:nvPr/>
        </p:nvSpPr>
        <p:spPr>
          <a:xfrm>
            <a:off x="786384" y="2002536"/>
            <a:ext cx="3088538" cy="88696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Organization logo, name, generated-by, generated-date and footer text — configured once here rather than hardcoded into report templates. Directly supports Module 06.</a:t>
            </a:r>
            <a:endParaRPr lang="en-US" sz="1000" dirty="0"/>
          </a:p>
        </p:txBody>
      </p:sp>
      <p:sp>
        <p:nvSpPr>
          <p:cNvPr id="14" name="Shape 10"/>
          <p:cNvSpPr/>
          <p:nvPr/>
        </p:nvSpPr>
        <p:spPr>
          <a:xfrm>
            <a:off x="4332122" y="1371600"/>
            <a:ext cx="3527450" cy="1691640"/>
          </a:xfrm>
          <a:prstGeom prst="roundRect">
            <a:avLst>
              <a:gd name="adj" fmla="val 540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5" name="Shape 11"/>
          <p:cNvSpPr/>
          <p:nvPr/>
        </p:nvSpPr>
        <p:spPr>
          <a:xfrm>
            <a:off x="4551578" y="1591056"/>
            <a:ext cx="365760" cy="365760"/>
          </a:xfrm>
          <a:prstGeom prst="ellipse">
            <a:avLst/>
          </a:prstGeom>
          <a:solidFill>
            <a:srgbClr val="00ACC1"/>
          </a:solidFill>
          <a:ln w="12700">
            <a:solidFill>
              <a:srgbClr val="00ACC1"/>
            </a:solidFill>
            <a:prstDash val="solid"/>
          </a:ln>
        </p:spPr>
      </p:sp>
      <p:pic>
        <p:nvPicPr>
          <p:cNvPr id="16" name="Image 2" descr="preencoded.png">    </p:cNvPr>
          <p:cNvPicPr>
            <a:picLocks noChangeAspect="1"/>
          </p:cNvPicPr>
          <p:nvPr/>
        </p:nvPicPr>
        <p:blipFill>
          <a:blip r:embed="rId3"/>
          <a:stretch>
            <a:fillRect/>
          </a:stretch>
        </p:blipFill>
        <p:spPr>
          <a:xfrm>
            <a:off x="4643018" y="1682496"/>
            <a:ext cx="182880" cy="182880"/>
          </a:xfrm>
          <a:prstGeom prst="rect">
            <a:avLst/>
          </a:prstGeom>
        </p:spPr>
      </p:pic>
      <p:sp>
        <p:nvSpPr>
          <p:cNvPr id="17" name="Text 12"/>
          <p:cNvSpPr/>
          <p:nvPr/>
        </p:nvSpPr>
        <p:spPr>
          <a:xfrm>
            <a:off x="5045354" y="1591056"/>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Organization &amp; support</a:t>
            </a:r>
            <a:endParaRPr lang="en-US" sz="1200" dirty="0"/>
          </a:p>
        </p:txBody>
      </p:sp>
      <p:sp>
        <p:nvSpPr>
          <p:cNvPr id="18" name="Text 13"/>
          <p:cNvSpPr/>
          <p:nvPr/>
        </p:nvSpPr>
        <p:spPr>
          <a:xfrm>
            <a:off x="4551578" y="2002536"/>
            <a:ext cx="3088538" cy="88696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Organization name and logo, support email, support mobile, office address — useful if the application ever serves more than one office.</a:t>
            </a:r>
            <a:endParaRPr lang="en-US" sz="1000" dirty="0"/>
          </a:p>
        </p:txBody>
      </p:sp>
      <p:sp>
        <p:nvSpPr>
          <p:cNvPr id="19" name="Shape 14"/>
          <p:cNvSpPr/>
          <p:nvPr/>
        </p:nvSpPr>
        <p:spPr>
          <a:xfrm>
            <a:off x="8097317" y="1371600"/>
            <a:ext cx="3527450" cy="1691640"/>
          </a:xfrm>
          <a:prstGeom prst="roundRect">
            <a:avLst>
              <a:gd name="adj" fmla="val 540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0" name="Shape 15"/>
          <p:cNvSpPr/>
          <p:nvPr/>
        </p:nvSpPr>
        <p:spPr>
          <a:xfrm>
            <a:off x="8316773" y="1591056"/>
            <a:ext cx="365760" cy="365760"/>
          </a:xfrm>
          <a:prstGeom prst="ellipse">
            <a:avLst/>
          </a:prstGeom>
          <a:solidFill>
            <a:srgbClr val="175496"/>
          </a:solidFill>
          <a:ln w="12700">
            <a:solidFill>
              <a:srgbClr val="175496"/>
            </a:solidFill>
            <a:prstDash val="solid"/>
          </a:ln>
        </p:spPr>
      </p:sp>
      <p:pic>
        <p:nvPicPr>
          <p:cNvPr id="21" name="Image 3" descr="preencoded.png">    </p:cNvPr>
          <p:cNvPicPr>
            <a:picLocks noChangeAspect="1"/>
          </p:cNvPicPr>
          <p:nvPr/>
        </p:nvPicPr>
        <p:blipFill>
          <a:blip r:embed="rId4"/>
          <a:stretch>
            <a:fillRect/>
          </a:stretch>
        </p:blipFill>
        <p:spPr>
          <a:xfrm>
            <a:off x="8408213" y="1682496"/>
            <a:ext cx="182880" cy="182880"/>
          </a:xfrm>
          <a:prstGeom prst="rect">
            <a:avLst/>
          </a:prstGeom>
        </p:spPr>
      </p:pic>
      <p:sp>
        <p:nvSpPr>
          <p:cNvPr id="22" name="Text 16"/>
          <p:cNvSpPr/>
          <p:nvPr/>
        </p:nvSpPr>
        <p:spPr>
          <a:xfrm>
            <a:off x="8810549" y="1591056"/>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System — read only</a:t>
            </a:r>
            <a:endParaRPr lang="en-US" sz="1200" dirty="0"/>
          </a:p>
        </p:txBody>
      </p:sp>
      <p:sp>
        <p:nvSpPr>
          <p:cNvPr id="23" name="Text 17"/>
          <p:cNvSpPr/>
          <p:nvPr/>
        </p:nvSpPr>
        <p:spPr>
          <a:xfrm>
            <a:off x="8316773" y="2002536"/>
            <a:ext cx="3088538" cy="88696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Application version, build version, last updated date, plus counts of users, coordinators, companies, HR contacts and colleges. Informational only; no editing interface.</a:t>
            </a:r>
            <a:endParaRPr lang="en-US" sz="1000" dirty="0"/>
          </a:p>
        </p:txBody>
      </p:sp>
      <p:sp>
        <p:nvSpPr>
          <p:cNvPr id="24" name="Shape 18"/>
          <p:cNvSpPr/>
          <p:nvPr/>
        </p:nvSpPr>
        <p:spPr>
          <a:xfrm>
            <a:off x="566928" y="3218688"/>
            <a:ext cx="11057839" cy="1060704"/>
          </a:xfrm>
          <a:prstGeom prst="roundRect">
            <a:avLst>
              <a:gd name="adj" fmla="val 8621"/>
            </a:avLst>
          </a:prstGeom>
          <a:solidFill>
            <a:srgbClr val="FEF8EC"/>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5" name="Text 19"/>
          <p:cNvSpPr/>
          <p:nvPr/>
        </p:nvSpPr>
        <p:spPr>
          <a:xfrm>
            <a:off x="786384" y="3438144"/>
            <a:ext cx="10618927"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Backup &amp; Restore — deliberately not a user-facing control</a:t>
            </a:r>
            <a:endParaRPr lang="en-US" sz="1350" dirty="0"/>
          </a:p>
        </p:txBody>
      </p:sp>
      <p:sp>
        <p:nvSpPr>
          <p:cNvPr id="26" name="Text 20"/>
          <p:cNvSpPr/>
          <p:nvPr/>
        </p:nvSpPr>
        <p:spPr>
          <a:xfrm>
            <a:off x="786384" y="3758184"/>
            <a:ext cx="10618927" cy="347472"/>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Whichever backend is chosen — Firebase or MongoDB Atlas — backups belong to the administrator or the cloud infrastructure, not to a button in the application. v1.0 shows only a reassurance panel: Database Status — Connected · Last Synchronization — Today. Manual Excel and PDF exports were judged more operationally useful and can be added later.</a:t>
            </a:r>
            <a:endParaRPr lang="en-US" sz="1050" dirty="0"/>
          </a:p>
        </p:txBody>
      </p:sp>
      <p:sp>
        <p:nvSpPr>
          <p:cNvPr id="27" name="Text 21"/>
          <p:cNvSpPr/>
          <p:nvPr/>
        </p:nvSpPr>
        <p:spPr>
          <a:xfrm>
            <a:off x="566928" y="444398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EXCLUDED FROM VERSION 1.0</a:t>
            </a:r>
            <a:endParaRPr lang="en-US" sz="950" dirty="0"/>
          </a:p>
        </p:txBody>
      </p:sp>
      <p:sp>
        <p:nvSpPr>
          <p:cNvPr id="28" name="Shape 22"/>
          <p:cNvSpPr/>
          <p:nvPr/>
        </p:nvSpPr>
        <p:spPr>
          <a:xfrm>
            <a:off x="566928" y="4700016"/>
            <a:ext cx="2668448" cy="420624"/>
          </a:xfrm>
          <a:prstGeom prst="roundRect">
            <a:avLst>
              <a:gd name="adj" fmla="val 108696"/>
            </a:avLst>
          </a:prstGeom>
          <a:solidFill>
            <a:srgbClr val="F1F4F8"/>
          </a:solidFill>
          <a:ln w="9525">
            <a:solidFill>
              <a:srgbClr val="E1E8F0"/>
            </a:solidFill>
            <a:prstDash val="solid"/>
          </a:ln>
        </p:spPr>
      </p:sp>
      <p:sp>
        <p:nvSpPr>
          <p:cNvPr id="29" name="Text 23"/>
          <p:cNvSpPr/>
          <p:nvPr/>
        </p:nvSpPr>
        <p:spPr>
          <a:xfrm>
            <a:off x="640080" y="4700016"/>
            <a:ext cx="2522144" cy="420624"/>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Multi-language / locale</a:t>
            </a:r>
            <a:endParaRPr lang="en-US" sz="950" dirty="0"/>
          </a:p>
        </p:txBody>
      </p:sp>
      <p:sp>
        <p:nvSpPr>
          <p:cNvPr id="30" name="Shape 24"/>
          <p:cNvSpPr/>
          <p:nvPr/>
        </p:nvSpPr>
        <p:spPr>
          <a:xfrm>
            <a:off x="3363392" y="4700016"/>
            <a:ext cx="2668448" cy="420624"/>
          </a:xfrm>
          <a:prstGeom prst="roundRect">
            <a:avLst>
              <a:gd name="adj" fmla="val 108696"/>
            </a:avLst>
          </a:prstGeom>
          <a:solidFill>
            <a:srgbClr val="F1F4F8"/>
          </a:solidFill>
          <a:ln w="9525">
            <a:solidFill>
              <a:srgbClr val="E1E8F0"/>
            </a:solidFill>
            <a:prstDash val="solid"/>
          </a:ln>
        </p:spPr>
      </p:sp>
      <p:sp>
        <p:nvSpPr>
          <p:cNvPr id="31" name="Text 25"/>
          <p:cNvSpPr/>
          <p:nvPr/>
        </p:nvSpPr>
        <p:spPr>
          <a:xfrm>
            <a:off x="3436544" y="4700016"/>
            <a:ext cx="2522144" cy="420624"/>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API configuration</a:t>
            </a:r>
            <a:endParaRPr lang="en-US" sz="950" dirty="0"/>
          </a:p>
        </p:txBody>
      </p:sp>
      <p:sp>
        <p:nvSpPr>
          <p:cNvPr id="32" name="Shape 26"/>
          <p:cNvSpPr/>
          <p:nvPr/>
        </p:nvSpPr>
        <p:spPr>
          <a:xfrm>
            <a:off x="6159856" y="4700016"/>
            <a:ext cx="2668448" cy="420624"/>
          </a:xfrm>
          <a:prstGeom prst="roundRect">
            <a:avLst>
              <a:gd name="adj" fmla="val 108696"/>
            </a:avLst>
          </a:prstGeom>
          <a:solidFill>
            <a:srgbClr val="F1F4F8"/>
          </a:solidFill>
          <a:ln w="9525">
            <a:solidFill>
              <a:srgbClr val="E1E8F0"/>
            </a:solidFill>
            <a:prstDash val="solid"/>
          </a:ln>
        </p:spPr>
      </p:sp>
      <p:sp>
        <p:nvSpPr>
          <p:cNvPr id="33" name="Text 27"/>
          <p:cNvSpPr/>
          <p:nvPr/>
        </p:nvSpPr>
        <p:spPr>
          <a:xfrm>
            <a:off x="6233008" y="4700016"/>
            <a:ext cx="2522144" cy="420624"/>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Email server configuration</a:t>
            </a:r>
            <a:endParaRPr lang="en-US" sz="950" dirty="0"/>
          </a:p>
        </p:txBody>
      </p:sp>
      <p:sp>
        <p:nvSpPr>
          <p:cNvPr id="34" name="Shape 28"/>
          <p:cNvSpPr/>
          <p:nvPr/>
        </p:nvSpPr>
        <p:spPr>
          <a:xfrm>
            <a:off x="8956319" y="4700016"/>
            <a:ext cx="2668448" cy="420624"/>
          </a:xfrm>
          <a:prstGeom prst="roundRect">
            <a:avLst>
              <a:gd name="adj" fmla="val 108696"/>
            </a:avLst>
          </a:prstGeom>
          <a:solidFill>
            <a:srgbClr val="F1F4F8"/>
          </a:solidFill>
          <a:ln w="9525">
            <a:solidFill>
              <a:srgbClr val="E1E8F0"/>
            </a:solidFill>
            <a:prstDash val="solid"/>
          </a:ln>
        </p:spPr>
      </p:sp>
      <p:sp>
        <p:nvSpPr>
          <p:cNvPr id="35" name="Text 29"/>
          <p:cNvSpPr/>
          <p:nvPr/>
        </p:nvSpPr>
        <p:spPr>
          <a:xfrm>
            <a:off x="9029471" y="4700016"/>
            <a:ext cx="2522144" cy="420624"/>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Developer settings</a:t>
            </a:r>
            <a:endParaRPr lang="en-US" sz="950" dirty="0"/>
          </a:p>
        </p:txBody>
      </p:sp>
      <p:sp>
        <p:nvSpPr>
          <p:cNvPr id="36" name="Shape 30"/>
          <p:cNvSpPr/>
          <p:nvPr/>
        </p:nvSpPr>
        <p:spPr>
          <a:xfrm>
            <a:off x="566928" y="5175504"/>
            <a:ext cx="2668448" cy="420624"/>
          </a:xfrm>
          <a:prstGeom prst="roundRect">
            <a:avLst>
              <a:gd name="adj" fmla="val 108696"/>
            </a:avLst>
          </a:prstGeom>
          <a:solidFill>
            <a:srgbClr val="F1F4F8"/>
          </a:solidFill>
          <a:ln w="9525">
            <a:solidFill>
              <a:srgbClr val="E1E8F0"/>
            </a:solidFill>
            <a:prstDash val="solid"/>
          </a:ln>
        </p:spPr>
      </p:sp>
      <p:sp>
        <p:nvSpPr>
          <p:cNvPr id="37" name="Text 31"/>
          <p:cNvSpPr/>
          <p:nvPr/>
        </p:nvSpPr>
        <p:spPr>
          <a:xfrm>
            <a:off x="640080" y="5175504"/>
            <a:ext cx="2522144" cy="420624"/>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Advanced dashboard customization</a:t>
            </a:r>
            <a:endParaRPr lang="en-US" sz="950" dirty="0"/>
          </a:p>
        </p:txBody>
      </p:sp>
      <p:sp>
        <p:nvSpPr>
          <p:cNvPr id="38" name="Shape 32"/>
          <p:cNvSpPr/>
          <p:nvPr/>
        </p:nvSpPr>
        <p:spPr>
          <a:xfrm>
            <a:off x="3363392" y="5175504"/>
            <a:ext cx="2668448" cy="420624"/>
          </a:xfrm>
          <a:prstGeom prst="roundRect">
            <a:avLst>
              <a:gd name="adj" fmla="val 108696"/>
            </a:avLst>
          </a:prstGeom>
          <a:solidFill>
            <a:srgbClr val="F1F4F8"/>
          </a:solidFill>
          <a:ln w="9525">
            <a:solidFill>
              <a:srgbClr val="E1E8F0"/>
            </a:solidFill>
            <a:prstDash val="solid"/>
          </a:ln>
        </p:spPr>
      </p:sp>
      <p:sp>
        <p:nvSpPr>
          <p:cNvPr id="39" name="Text 33"/>
          <p:cNvSpPr/>
          <p:nvPr/>
        </p:nvSpPr>
        <p:spPr>
          <a:xfrm>
            <a:off x="3436544" y="5175504"/>
            <a:ext cx="2522144" cy="420624"/>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Active session management</a:t>
            </a:r>
            <a:endParaRPr lang="en-US" sz="950" dirty="0"/>
          </a:p>
        </p:txBody>
      </p:sp>
      <p:sp>
        <p:nvSpPr>
          <p:cNvPr id="40" name="Shape 34"/>
          <p:cNvSpPr/>
          <p:nvPr/>
        </p:nvSpPr>
        <p:spPr>
          <a:xfrm>
            <a:off x="6159856" y="5175504"/>
            <a:ext cx="2668448" cy="420624"/>
          </a:xfrm>
          <a:prstGeom prst="roundRect">
            <a:avLst>
              <a:gd name="adj" fmla="val 108696"/>
            </a:avLst>
          </a:prstGeom>
          <a:solidFill>
            <a:srgbClr val="F1F4F8"/>
          </a:solidFill>
          <a:ln w="9525">
            <a:solidFill>
              <a:srgbClr val="E1E8F0"/>
            </a:solidFill>
            <a:prstDash val="solid"/>
          </a:ln>
        </p:spPr>
      </p:sp>
      <p:sp>
        <p:nvSpPr>
          <p:cNvPr id="41" name="Text 35"/>
          <p:cNvSpPr/>
          <p:nvPr/>
        </p:nvSpPr>
        <p:spPr>
          <a:xfrm>
            <a:off x="6233008" y="5175504"/>
            <a:ext cx="2522144" cy="420624"/>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Manual backup / restore UI</a:t>
            </a:r>
            <a:endParaRPr lang="en-US" sz="950" dirty="0"/>
          </a:p>
        </p:txBody>
      </p:sp>
      <p:sp>
        <p:nvSpPr>
          <p:cNvPr id="42" name="Text 36"/>
          <p:cNvSpPr/>
          <p:nvPr/>
        </p:nvSpPr>
        <p:spPr>
          <a:xfrm>
            <a:off x="566928" y="5687568"/>
            <a:ext cx="11057839" cy="27432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Active Sessions was removed because it adds complexity for a user base of roughly 20–25 people. It can return if multi-device management ever becomes operationally important.</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10</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10 — SYSTEM INFORMATION &amp; ADMINISTRATION</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Confidence, not telemetry</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36</a:t>
            </a:r>
            <a:endParaRPr lang="en-US" sz="950" dirty="0"/>
          </a:p>
        </p:txBody>
      </p:sp>
      <p:sp>
        <p:nvSpPr>
          <p:cNvPr id="9" name="Shape 6"/>
          <p:cNvSpPr/>
          <p:nvPr/>
        </p:nvSpPr>
        <p:spPr>
          <a:xfrm>
            <a:off x="566928" y="1371600"/>
            <a:ext cx="11057839" cy="1005840"/>
          </a:xfrm>
          <a:prstGeom prst="roundRect">
            <a:avLst>
              <a:gd name="adj" fmla="val 9091"/>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Text 7"/>
          <p:cNvSpPr/>
          <p:nvPr/>
        </p:nvSpPr>
        <p:spPr>
          <a:xfrm>
            <a:off x="786384" y="1591056"/>
            <a:ext cx="10618927"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The module that was questioned before it was written</a:t>
            </a:r>
            <a:endParaRPr lang="en-US" sz="1350" dirty="0"/>
          </a:p>
        </p:txBody>
      </p:sp>
      <p:sp>
        <p:nvSpPr>
          <p:cNvPr id="11" name="Text 8"/>
          <p:cNvSpPr/>
          <p:nvPr/>
        </p:nvSpPr>
        <p:spPr>
          <a:xfrm>
            <a:off x="786384" y="1911096"/>
            <a:ext cx="10618927" cy="29260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The explicit question was asked: do we really need this? A traditional administration console with server monitoring, CPU usage, memory graphs and logs was rejected — Infoziant runs one organization, one CEO, one Director, one Team Leader and roughly 20–25 users, with no SaaS platform and no IT department. Such a console would never be used.</a:t>
            </a:r>
            <a:endParaRPr lang="en-US" sz="1050" dirty="0"/>
          </a:p>
        </p:txBody>
      </p:sp>
      <p:sp>
        <p:nvSpPr>
          <p:cNvPr id="12" name="Shape 9"/>
          <p:cNvSpPr/>
          <p:nvPr/>
        </p:nvSpPr>
        <p:spPr>
          <a:xfrm>
            <a:off x="566928" y="2523744"/>
            <a:ext cx="11057839" cy="1051560"/>
          </a:xfrm>
          <a:prstGeom prst="roundRect">
            <a:avLst>
              <a:gd name="adj" fmla="val 8696"/>
            </a:avLst>
          </a:prstGeom>
          <a:solidFill>
            <a:srgbClr val="EEF4FB"/>
          </a:solidFill>
          <a:ln w="9525">
            <a:solidFill>
              <a:srgbClr val="D6E4F5"/>
            </a:solidFill>
            <a:prstDash val="solid"/>
          </a:ln>
        </p:spPr>
      </p:sp>
      <p:sp>
        <p:nvSpPr>
          <p:cNvPr id="13" name="Text 10"/>
          <p:cNvSpPr/>
          <p:nvPr/>
        </p:nvSpPr>
        <p:spPr>
          <a:xfrm>
            <a:off x="877824" y="2688336"/>
            <a:ext cx="10436047" cy="484632"/>
          </a:xfrm>
          <a:prstGeom prst="rect">
            <a:avLst/>
          </a:prstGeom>
          <a:noFill/>
          <a:ln/>
        </p:spPr>
        <p:txBody>
          <a:bodyPr wrap="square" lIns="0" tIns="0" rIns="0" bIns="0" rtlCol="0" anchor="ctr"/>
          <a:lstStyle/>
          <a:p>
            <a:pPr indent="0" marL="0">
              <a:lnSpc>
                <a:spcPct val="112000"/>
              </a:lnSpc>
              <a:buNone/>
            </a:pPr>
            <a:r>
              <a:rPr lang="en-US" sz="1400" i="1" dirty="0">
                <a:solidFill>
                  <a:srgbClr val="0B2E59"/>
                </a:solidFill>
                <a:latin typeface="Calibri" pitchFamily="34" charset="0"/>
                <a:ea typeface="Calibri" pitchFamily="34" charset="-122"/>
                <a:cs typeface="Calibri" pitchFamily="34" charset="-120"/>
              </a:rPr>
              <a:t>When the CEO logs in on a Monday morning they should see application status, users online, companies, today's logins, database status and version at a glance — instead of opening Firebase or asking the developer.</a:t>
            </a:r>
            <a:endParaRPr lang="en-US" sz="1400" dirty="0"/>
          </a:p>
        </p:txBody>
      </p:sp>
      <p:sp>
        <p:nvSpPr>
          <p:cNvPr id="14" name="Text 11"/>
          <p:cNvSpPr/>
          <p:nvPr/>
        </p:nvSpPr>
        <p:spPr>
          <a:xfrm>
            <a:off x="877824" y="3154680"/>
            <a:ext cx="10436047" cy="274320"/>
          </a:xfrm>
          <a:prstGeom prst="rect">
            <a:avLst/>
          </a:prstGeom>
          <a:noFill/>
          <a:ln/>
        </p:spPr>
        <p:txBody>
          <a:bodyPr wrap="square" lIns="0" tIns="0" rIns="0" bIns="0" rtlCol="0" anchor="ctr"/>
          <a:lstStyle/>
          <a:p>
            <a:pPr indent="0" marL="0">
              <a:buNone/>
            </a:pPr>
            <a:r>
              <a:rPr lang="en-US" sz="1000" dirty="0">
                <a:solidFill>
                  <a:srgbClr val="7B8794"/>
                </a:solidFill>
                <a:latin typeface="Calibri" pitchFamily="34" charset="0"/>
                <a:ea typeface="Calibri" pitchFamily="34" charset="-122"/>
                <a:cs typeface="Calibri" pitchFamily="34" charset="-120"/>
              </a:rPr>
              <a:t>§2 — the guiding scenario</a:t>
            </a:r>
            <a:endParaRPr lang="en-US" sz="1000" dirty="0"/>
          </a:p>
        </p:txBody>
      </p:sp>
      <p:sp>
        <p:nvSpPr>
          <p:cNvPr id="15" name="Text 12"/>
          <p:cNvSpPr/>
          <p:nvPr/>
        </p:nvSpPr>
        <p:spPr>
          <a:xfrm>
            <a:off x="566928" y="371246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EIGHT SECTIONS, DESIGNED TO FIT ONE PAGE WITH ALMOST NO SCROLLING</a:t>
            </a:r>
            <a:endParaRPr lang="en-US" sz="950" dirty="0"/>
          </a:p>
        </p:txBody>
      </p:sp>
      <p:sp>
        <p:nvSpPr>
          <p:cNvPr id="16" name="Shape 13"/>
          <p:cNvSpPr/>
          <p:nvPr/>
        </p:nvSpPr>
        <p:spPr>
          <a:xfrm>
            <a:off x="566928" y="3968496"/>
            <a:ext cx="2586152" cy="1883664"/>
          </a:xfrm>
          <a:prstGeom prst="roundRect">
            <a:avLst>
              <a:gd name="adj" fmla="val 485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7" name="Shape 14"/>
          <p:cNvSpPr/>
          <p:nvPr/>
        </p:nvSpPr>
        <p:spPr>
          <a:xfrm>
            <a:off x="786384" y="4187952"/>
            <a:ext cx="420624" cy="420624"/>
          </a:xfrm>
          <a:prstGeom prst="ellipse">
            <a:avLst/>
          </a:prstGeom>
          <a:solidFill>
            <a:srgbClr val="2E7D32"/>
          </a:solidFill>
          <a:ln w="12700">
            <a:solidFill>
              <a:srgbClr val="2E7D32"/>
            </a:solidFill>
            <a:prstDash val="solid"/>
          </a:ln>
        </p:spPr>
      </p:sp>
      <p:pic>
        <p:nvPicPr>
          <p:cNvPr id="18" name="Image 1" descr="preencoded.png">    </p:cNvPr>
          <p:cNvPicPr>
            <a:picLocks noChangeAspect="1"/>
          </p:cNvPicPr>
          <p:nvPr/>
        </p:nvPicPr>
        <p:blipFill>
          <a:blip r:embed="rId2"/>
          <a:stretch>
            <a:fillRect/>
          </a:stretch>
        </p:blipFill>
        <p:spPr>
          <a:xfrm>
            <a:off x="891540" y="4293108"/>
            <a:ext cx="210312" cy="210312"/>
          </a:xfrm>
          <a:prstGeom prst="rect">
            <a:avLst/>
          </a:prstGeom>
        </p:spPr>
      </p:pic>
      <p:sp>
        <p:nvSpPr>
          <p:cNvPr id="19" name="Text 15"/>
          <p:cNvSpPr/>
          <p:nvPr/>
        </p:nvSpPr>
        <p:spPr>
          <a:xfrm>
            <a:off x="786384" y="4736592"/>
            <a:ext cx="2147240" cy="274320"/>
          </a:xfrm>
          <a:prstGeom prst="rect">
            <a:avLst/>
          </a:prstGeom>
          <a:noFill/>
          <a:ln/>
        </p:spPr>
        <p:txBody>
          <a:bodyPr wrap="square" lIns="0" tIns="0" rIns="0" bIns="0" rtlCol="0" anchor="t"/>
          <a:lstStyle/>
          <a:p>
            <a:pPr indent="0" marL="0">
              <a:buNone/>
            </a:pPr>
            <a:r>
              <a:rPr lang="en-US" sz="1150" b="1" dirty="0">
                <a:solidFill>
                  <a:srgbClr val="0B2E59"/>
                </a:solidFill>
                <a:latin typeface="Calibri" pitchFamily="34" charset="0"/>
                <a:ea typeface="Calibri" pitchFamily="34" charset="-122"/>
                <a:cs typeface="Calibri" pitchFamily="34" charset="-120"/>
              </a:rPr>
              <a:t>1 · System Health</a:t>
            </a:r>
            <a:endParaRPr lang="en-US" sz="1150" dirty="0"/>
          </a:p>
        </p:txBody>
      </p:sp>
      <p:sp>
        <p:nvSpPr>
          <p:cNvPr id="20" name="Text 16"/>
          <p:cNvSpPr/>
          <p:nvPr/>
        </p:nvSpPr>
        <p:spPr>
          <a:xfrm>
            <a:off x="786384" y="5056632"/>
            <a:ext cx="2147240" cy="621792"/>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Application online · database connected · storage available · last synchronization. No CPU or RAM graphs anywhere.</a:t>
            </a:r>
            <a:endParaRPr lang="en-US" sz="950" dirty="0"/>
          </a:p>
        </p:txBody>
      </p:sp>
      <p:sp>
        <p:nvSpPr>
          <p:cNvPr id="21" name="Shape 17"/>
          <p:cNvSpPr/>
          <p:nvPr/>
        </p:nvSpPr>
        <p:spPr>
          <a:xfrm>
            <a:off x="3390824" y="3968496"/>
            <a:ext cx="2586152" cy="1883664"/>
          </a:xfrm>
          <a:prstGeom prst="roundRect">
            <a:avLst>
              <a:gd name="adj" fmla="val 485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2" name="Shape 18"/>
          <p:cNvSpPr/>
          <p:nvPr/>
        </p:nvSpPr>
        <p:spPr>
          <a:xfrm>
            <a:off x="3610280" y="4187952"/>
            <a:ext cx="420624" cy="420624"/>
          </a:xfrm>
          <a:prstGeom prst="ellipse">
            <a:avLst/>
          </a:prstGeom>
          <a:solidFill>
            <a:srgbClr val="0B2E59"/>
          </a:solidFill>
          <a:ln w="12700">
            <a:solidFill>
              <a:srgbClr val="0B2E59"/>
            </a:solidFill>
            <a:prstDash val="solid"/>
          </a:ln>
        </p:spPr>
      </p:sp>
      <p:pic>
        <p:nvPicPr>
          <p:cNvPr id="23" name="Image 2" descr="preencoded.png">    </p:cNvPr>
          <p:cNvPicPr>
            <a:picLocks noChangeAspect="1"/>
          </p:cNvPicPr>
          <p:nvPr/>
        </p:nvPicPr>
        <p:blipFill>
          <a:blip r:embed="rId3"/>
          <a:stretch>
            <a:fillRect/>
          </a:stretch>
        </p:blipFill>
        <p:spPr>
          <a:xfrm>
            <a:off x="3715436" y="4293108"/>
            <a:ext cx="210312" cy="210312"/>
          </a:xfrm>
          <a:prstGeom prst="rect">
            <a:avLst/>
          </a:prstGeom>
        </p:spPr>
      </p:pic>
      <p:sp>
        <p:nvSpPr>
          <p:cNvPr id="24" name="Text 19"/>
          <p:cNvSpPr/>
          <p:nvPr/>
        </p:nvSpPr>
        <p:spPr>
          <a:xfrm>
            <a:off x="3610280" y="4736592"/>
            <a:ext cx="2147240" cy="274320"/>
          </a:xfrm>
          <a:prstGeom prst="rect">
            <a:avLst/>
          </a:prstGeom>
          <a:noFill/>
          <a:ln/>
        </p:spPr>
        <p:txBody>
          <a:bodyPr wrap="square" lIns="0" tIns="0" rIns="0" bIns="0" rtlCol="0" anchor="t"/>
          <a:lstStyle/>
          <a:p>
            <a:pPr indent="0" marL="0">
              <a:buNone/>
            </a:pPr>
            <a:r>
              <a:rPr lang="en-US" sz="1150" b="1" dirty="0">
                <a:solidFill>
                  <a:srgbClr val="0B2E59"/>
                </a:solidFill>
                <a:latin typeface="Calibri" pitchFamily="34" charset="0"/>
                <a:ea typeface="Calibri" pitchFamily="34" charset="-122"/>
                <a:cs typeface="Calibri" pitchFamily="34" charset="-120"/>
              </a:rPr>
              <a:t>2 · Organization Snapshot</a:t>
            </a:r>
            <a:endParaRPr lang="en-US" sz="1150" dirty="0"/>
          </a:p>
        </p:txBody>
      </p:sp>
      <p:sp>
        <p:nvSpPr>
          <p:cNvPr id="25" name="Text 20"/>
          <p:cNvSpPr/>
          <p:nvPr/>
        </p:nvSpPr>
        <p:spPr>
          <a:xfrm>
            <a:off x="3610280" y="5056632"/>
            <a:ext cx="2147240" cy="621792"/>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Coordinators, active today, partial working, on leave, blocked, deactivated, colleges, companies, HR contacts.</a:t>
            </a:r>
            <a:endParaRPr lang="en-US" sz="950" dirty="0"/>
          </a:p>
        </p:txBody>
      </p:sp>
      <p:sp>
        <p:nvSpPr>
          <p:cNvPr id="26" name="Shape 21"/>
          <p:cNvSpPr/>
          <p:nvPr/>
        </p:nvSpPr>
        <p:spPr>
          <a:xfrm>
            <a:off x="6214720" y="3968496"/>
            <a:ext cx="2586152" cy="1883664"/>
          </a:xfrm>
          <a:prstGeom prst="roundRect">
            <a:avLst>
              <a:gd name="adj" fmla="val 485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7" name="Shape 22"/>
          <p:cNvSpPr/>
          <p:nvPr/>
        </p:nvSpPr>
        <p:spPr>
          <a:xfrm>
            <a:off x="6434176" y="4187952"/>
            <a:ext cx="420624" cy="420624"/>
          </a:xfrm>
          <a:prstGeom prst="ellipse">
            <a:avLst/>
          </a:prstGeom>
          <a:solidFill>
            <a:srgbClr val="175496"/>
          </a:solidFill>
          <a:ln w="12700">
            <a:solidFill>
              <a:srgbClr val="175496"/>
            </a:solidFill>
            <a:prstDash val="solid"/>
          </a:ln>
        </p:spPr>
      </p:sp>
      <p:pic>
        <p:nvPicPr>
          <p:cNvPr id="28" name="Image 3" descr="preencoded.png">    </p:cNvPr>
          <p:cNvPicPr>
            <a:picLocks noChangeAspect="1"/>
          </p:cNvPicPr>
          <p:nvPr/>
        </p:nvPicPr>
        <p:blipFill>
          <a:blip r:embed="rId4"/>
          <a:stretch>
            <a:fillRect/>
          </a:stretch>
        </p:blipFill>
        <p:spPr>
          <a:xfrm>
            <a:off x="6539332" y="4293108"/>
            <a:ext cx="210312" cy="210312"/>
          </a:xfrm>
          <a:prstGeom prst="rect">
            <a:avLst/>
          </a:prstGeom>
        </p:spPr>
      </p:pic>
      <p:sp>
        <p:nvSpPr>
          <p:cNvPr id="29" name="Text 23"/>
          <p:cNvSpPr/>
          <p:nvPr/>
        </p:nvSpPr>
        <p:spPr>
          <a:xfrm>
            <a:off x="6434176" y="4736592"/>
            <a:ext cx="2147240" cy="274320"/>
          </a:xfrm>
          <a:prstGeom prst="rect">
            <a:avLst/>
          </a:prstGeom>
          <a:noFill/>
          <a:ln/>
        </p:spPr>
        <p:txBody>
          <a:bodyPr wrap="square" lIns="0" tIns="0" rIns="0" bIns="0" rtlCol="0" anchor="t"/>
          <a:lstStyle/>
          <a:p>
            <a:pPr indent="0" marL="0">
              <a:buNone/>
            </a:pPr>
            <a:r>
              <a:rPr lang="en-US" sz="1150" b="1" dirty="0">
                <a:solidFill>
                  <a:srgbClr val="0B2E59"/>
                </a:solidFill>
                <a:latin typeface="Calibri" pitchFamily="34" charset="0"/>
                <a:ea typeface="Calibri" pitchFamily="34" charset="-122"/>
                <a:cs typeface="Calibri" pitchFamily="34" charset="-120"/>
              </a:rPr>
              <a:t>3 · Database Growth</a:t>
            </a:r>
            <a:endParaRPr lang="en-US" sz="1150" dirty="0"/>
          </a:p>
        </p:txBody>
      </p:sp>
      <p:sp>
        <p:nvSpPr>
          <p:cNvPr id="30" name="Text 24"/>
          <p:cNvSpPr/>
          <p:nvPr/>
        </p:nvSpPr>
        <p:spPr>
          <a:xfrm>
            <a:off x="6434176" y="5056632"/>
            <a:ext cx="2147240" cy="621792"/>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Companies, HR contacts, reports generated and images — as KPI cards rather than tables.</a:t>
            </a:r>
            <a:endParaRPr lang="en-US" sz="950" dirty="0"/>
          </a:p>
        </p:txBody>
      </p:sp>
      <p:sp>
        <p:nvSpPr>
          <p:cNvPr id="31" name="Shape 25"/>
          <p:cNvSpPr/>
          <p:nvPr/>
        </p:nvSpPr>
        <p:spPr>
          <a:xfrm>
            <a:off x="9038615" y="3968496"/>
            <a:ext cx="2586152" cy="1883664"/>
          </a:xfrm>
          <a:prstGeom prst="roundRect">
            <a:avLst>
              <a:gd name="adj" fmla="val 485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2" name="Shape 26"/>
          <p:cNvSpPr/>
          <p:nvPr/>
        </p:nvSpPr>
        <p:spPr>
          <a:xfrm>
            <a:off x="9258071" y="4187952"/>
            <a:ext cx="420624" cy="420624"/>
          </a:xfrm>
          <a:prstGeom prst="ellipse">
            <a:avLst/>
          </a:prstGeom>
          <a:solidFill>
            <a:srgbClr val="00ACC1"/>
          </a:solidFill>
          <a:ln w="12700">
            <a:solidFill>
              <a:srgbClr val="00ACC1"/>
            </a:solidFill>
            <a:prstDash val="solid"/>
          </a:ln>
        </p:spPr>
      </p:sp>
      <p:pic>
        <p:nvPicPr>
          <p:cNvPr id="33" name="Image 4" descr="preencoded.png">    </p:cNvPr>
          <p:cNvPicPr>
            <a:picLocks noChangeAspect="1"/>
          </p:cNvPicPr>
          <p:nvPr/>
        </p:nvPicPr>
        <p:blipFill>
          <a:blip r:embed="rId5"/>
          <a:stretch>
            <a:fillRect/>
          </a:stretch>
        </p:blipFill>
        <p:spPr>
          <a:xfrm>
            <a:off x="9363227" y="4293108"/>
            <a:ext cx="210312" cy="210312"/>
          </a:xfrm>
          <a:prstGeom prst="rect">
            <a:avLst/>
          </a:prstGeom>
        </p:spPr>
      </p:pic>
      <p:sp>
        <p:nvSpPr>
          <p:cNvPr id="34" name="Text 27"/>
          <p:cNvSpPr/>
          <p:nvPr/>
        </p:nvSpPr>
        <p:spPr>
          <a:xfrm>
            <a:off x="9258071" y="4736592"/>
            <a:ext cx="2147240" cy="274320"/>
          </a:xfrm>
          <a:prstGeom prst="rect">
            <a:avLst/>
          </a:prstGeom>
          <a:noFill/>
          <a:ln/>
        </p:spPr>
        <p:txBody>
          <a:bodyPr wrap="square" lIns="0" tIns="0" rIns="0" bIns="0" rtlCol="0" anchor="t"/>
          <a:lstStyle/>
          <a:p>
            <a:pPr indent="0" marL="0">
              <a:buNone/>
            </a:pPr>
            <a:r>
              <a:rPr lang="en-US" sz="1150" b="1" dirty="0">
                <a:solidFill>
                  <a:srgbClr val="0B2E59"/>
                </a:solidFill>
                <a:latin typeface="Calibri" pitchFamily="34" charset="0"/>
                <a:ea typeface="Calibri" pitchFamily="34" charset="-122"/>
                <a:cs typeface="Calibri" pitchFamily="34" charset="-120"/>
              </a:rPr>
              <a:t>4 · Data Quality Monitor</a:t>
            </a:r>
            <a:endParaRPr lang="en-US" sz="1150" dirty="0"/>
          </a:p>
        </p:txBody>
      </p:sp>
      <p:sp>
        <p:nvSpPr>
          <p:cNvPr id="35" name="Text 28"/>
          <p:cNvSpPr/>
          <p:nvPr/>
        </p:nvSpPr>
        <p:spPr>
          <a:xfrm>
            <a:off x="9258071" y="5056632"/>
            <a:ext cx="2147240" cy="621792"/>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Metadata quality percentage, duplicate companies, missing emails, missing mobiles, companies without an HR contact.</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10</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10 §9–14</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The rest of the page, and the banner above it</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37</a:t>
            </a:r>
            <a:endParaRPr lang="en-US" sz="950" dirty="0"/>
          </a:p>
        </p:txBody>
      </p:sp>
      <p:sp>
        <p:nvSpPr>
          <p:cNvPr id="9" name="Shape 6"/>
          <p:cNvSpPr/>
          <p:nvPr/>
        </p:nvSpPr>
        <p:spPr>
          <a:xfrm>
            <a:off x="566928" y="1371600"/>
            <a:ext cx="2586152" cy="1783080"/>
          </a:xfrm>
          <a:prstGeom prst="roundRect">
            <a:avLst>
              <a:gd name="adj" fmla="val 512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Shape 7"/>
          <p:cNvSpPr/>
          <p:nvPr/>
        </p:nvSpPr>
        <p:spPr>
          <a:xfrm>
            <a:off x="786384" y="1591056"/>
            <a:ext cx="420624" cy="420624"/>
          </a:xfrm>
          <a:prstGeom prst="ellipse">
            <a:avLst/>
          </a:prstGeom>
          <a:solidFill>
            <a:srgbClr val="0B2E59"/>
          </a:solidFill>
          <a:ln w="12700">
            <a:solidFill>
              <a:srgbClr val="0B2E59"/>
            </a:solidFill>
            <a:prstDash val="solid"/>
          </a:ln>
        </p:spPr>
      </p:sp>
      <p:pic>
        <p:nvPicPr>
          <p:cNvPr id="11" name="Image 1" descr="preencoded.png">    </p:cNvPr>
          <p:cNvPicPr>
            <a:picLocks noChangeAspect="1"/>
          </p:cNvPicPr>
          <p:nvPr/>
        </p:nvPicPr>
        <p:blipFill>
          <a:blip r:embed="rId2"/>
          <a:stretch>
            <a:fillRect/>
          </a:stretch>
        </p:blipFill>
        <p:spPr>
          <a:xfrm>
            <a:off x="891540" y="1696212"/>
            <a:ext cx="210312" cy="210312"/>
          </a:xfrm>
          <a:prstGeom prst="rect">
            <a:avLst/>
          </a:prstGeom>
        </p:spPr>
      </p:pic>
      <p:sp>
        <p:nvSpPr>
          <p:cNvPr id="12" name="Text 8"/>
          <p:cNvSpPr/>
          <p:nvPr/>
        </p:nvSpPr>
        <p:spPr>
          <a:xfrm>
            <a:off x="786384" y="2139696"/>
            <a:ext cx="2147240" cy="274320"/>
          </a:xfrm>
          <a:prstGeom prst="rect">
            <a:avLst/>
          </a:prstGeom>
          <a:noFill/>
          <a:ln/>
        </p:spPr>
        <p:txBody>
          <a:bodyPr wrap="square" lIns="0" tIns="0" rIns="0" bIns="0" rtlCol="0" anchor="t"/>
          <a:lstStyle/>
          <a:p>
            <a:pPr indent="0" marL="0">
              <a:buNone/>
            </a:pPr>
            <a:r>
              <a:rPr lang="en-US" sz="1150" b="1" dirty="0">
                <a:solidFill>
                  <a:srgbClr val="0B2E59"/>
                </a:solidFill>
                <a:latin typeface="Calibri" pitchFamily="34" charset="0"/>
                <a:ea typeface="Calibri" pitchFamily="34" charset="-122"/>
                <a:cs typeface="Calibri" pitchFamily="34" charset="-120"/>
              </a:rPr>
              <a:t>5 · Storage Summary</a:t>
            </a:r>
            <a:endParaRPr lang="en-US" sz="1150" dirty="0"/>
          </a:p>
        </p:txBody>
      </p:sp>
      <p:sp>
        <p:nvSpPr>
          <p:cNvPr id="13" name="Text 9"/>
          <p:cNvSpPr/>
          <p:nvPr/>
        </p:nvSpPr>
        <p:spPr>
          <a:xfrm>
            <a:off x="786384" y="2459736"/>
            <a:ext cx="2147240" cy="52120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Database size, document count, image count and reports generated — so the Director can see growth and anticipate infrastructure upgrades.</a:t>
            </a:r>
            <a:endParaRPr lang="en-US" sz="950" dirty="0"/>
          </a:p>
        </p:txBody>
      </p:sp>
      <p:sp>
        <p:nvSpPr>
          <p:cNvPr id="14" name="Shape 10"/>
          <p:cNvSpPr/>
          <p:nvPr/>
        </p:nvSpPr>
        <p:spPr>
          <a:xfrm>
            <a:off x="3390824" y="1371600"/>
            <a:ext cx="2586152" cy="1783080"/>
          </a:xfrm>
          <a:prstGeom prst="roundRect">
            <a:avLst>
              <a:gd name="adj" fmla="val 512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5" name="Shape 11"/>
          <p:cNvSpPr/>
          <p:nvPr/>
        </p:nvSpPr>
        <p:spPr>
          <a:xfrm>
            <a:off x="3610280" y="1591056"/>
            <a:ext cx="420624" cy="420624"/>
          </a:xfrm>
          <a:prstGeom prst="ellipse">
            <a:avLst/>
          </a:prstGeom>
          <a:solidFill>
            <a:srgbClr val="175496"/>
          </a:solidFill>
          <a:ln w="12700">
            <a:solidFill>
              <a:srgbClr val="175496"/>
            </a:solidFill>
            <a:prstDash val="solid"/>
          </a:ln>
        </p:spPr>
      </p:sp>
      <p:pic>
        <p:nvPicPr>
          <p:cNvPr id="16" name="Image 2" descr="preencoded.png">    </p:cNvPr>
          <p:cNvPicPr>
            <a:picLocks noChangeAspect="1"/>
          </p:cNvPicPr>
          <p:nvPr/>
        </p:nvPicPr>
        <p:blipFill>
          <a:blip r:embed="rId3"/>
          <a:stretch>
            <a:fillRect/>
          </a:stretch>
        </p:blipFill>
        <p:spPr>
          <a:xfrm>
            <a:off x="3715436" y="1696212"/>
            <a:ext cx="210312" cy="210312"/>
          </a:xfrm>
          <a:prstGeom prst="rect">
            <a:avLst/>
          </a:prstGeom>
        </p:spPr>
      </p:pic>
      <p:sp>
        <p:nvSpPr>
          <p:cNvPr id="17" name="Text 12"/>
          <p:cNvSpPr/>
          <p:nvPr/>
        </p:nvSpPr>
        <p:spPr>
          <a:xfrm>
            <a:off x="3610280" y="2139696"/>
            <a:ext cx="2147240" cy="274320"/>
          </a:xfrm>
          <a:prstGeom prst="rect">
            <a:avLst/>
          </a:prstGeom>
          <a:noFill/>
          <a:ln/>
        </p:spPr>
        <p:txBody>
          <a:bodyPr wrap="square" lIns="0" tIns="0" rIns="0" bIns="0" rtlCol="0" anchor="t"/>
          <a:lstStyle/>
          <a:p>
            <a:pPr indent="0" marL="0">
              <a:buNone/>
            </a:pPr>
            <a:r>
              <a:rPr lang="en-US" sz="1150" b="1" dirty="0">
                <a:solidFill>
                  <a:srgbClr val="0B2E59"/>
                </a:solidFill>
                <a:latin typeface="Calibri" pitchFamily="34" charset="0"/>
                <a:ea typeface="Calibri" pitchFamily="34" charset="-122"/>
                <a:cs typeface="Calibri" pitchFamily="34" charset="-120"/>
              </a:rPr>
              <a:t>6 · Version Information</a:t>
            </a:r>
            <a:endParaRPr lang="en-US" sz="1150" dirty="0"/>
          </a:p>
        </p:txBody>
      </p:sp>
      <p:sp>
        <p:nvSpPr>
          <p:cNvPr id="18" name="Text 13"/>
          <p:cNvSpPr/>
          <p:nvPr/>
        </p:nvSpPr>
        <p:spPr>
          <a:xfrm>
            <a:off x="3610280" y="2459736"/>
            <a:ext cx="2147240" cy="52120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Current version, environment, release date and developer. Display-only, and useful during support conversations.</a:t>
            </a:r>
            <a:endParaRPr lang="en-US" sz="950" dirty="0"/>
          </a:p>
        </p:txBody>
      </p:sp>
      <p:sp>
        <p:nvSpPr>
          <p:cNvPr id="19" name="Shape 14"/>
          <p:cNvSpPr/>
          <p:nvPr/>
        </p:nvSpPr>
        <p:spPr>
          <a:xfrm>
            <a:off x="6214720" y="1371600"/>
            <a:ext cx="2586152" cy="1783080"/>
          </a:xfrm>
          <a:prstGeom prst="roundRect">
            <a:avLst>
              <a:gd name="adj" fmla="val 512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0" name="Shape 15"/>
          <p:cNvSpPr/>
          <p:nvPr/>
        </p:nvSpPr>
        <p:spPr>
          <a:xfrm>
            <a:off x="6434176" y="1591056"/>
            <a:ext cx="420624" cy="420624"/>
          </a:xfrm>
          <a:prstGeom prst="ellipse">
            <a:avLst/>
          </a:prstGeom>
          <a:solidFill>
            <a:srgbClr val="F59E0B"/>
          </a:solidFill>
          <a:ln w="12700">
            <a:solidFill>
              <a:srgbClr val="F59E0B"/>
            </a:solidFill>
            <a:prstDash val="solid"/>
          </a:ln>
        </p:spPr>
      </p:sp>
      <p:pic>
        <p:nvPicPr>
          <p:cNvPr id="21" name="Image 3" descr="preencoded.png">    </p:cNvPr>
          <p:cNvPicPr>
            <a:picLocks noChangeAspect="1"/>
          </p:cNvPicPr>
          <p:nvPr/>
        </p:nvPicPr>
        <p:blipFill>
          <a:blip r:embed="rId4"/>
          <a:stretch>
            <a:fillRect/>
          </a:stretch>
        </p:blipFill>
        <p:spPr>
          <a:xfrm>
            <a:off x="6539332" y="1696212"/>
            <a:ext cx="210312" cy="210312"/>
          </a:xfrm>
          <a:prstGeom prst="rect">
            <a:avLst/>
          </a:prstGeom>
        </p:spPr>
      </p:pic>
      <p:sp>
        <p:nvSpPr>
          <p:cNvPr id="22" name="Text 16"/>
          <p:cNvSpPr/>
          <p:nvPr/>
        </p:nvSpPr>
        <p:spPr>
          <a:xfrm>
            <a:off x="6434176" y="2139696"/>
            <a:ext cx="2147240" cy="274320"/>
          </a:xfrm>
          <a:prstGeom prst="rect">
            <a:avLst/>
          </a:prstGeom>
          <a:noFill/>
          <a:ln/>
        </p:spPr>
        <p:txBody>
          <a:bodyPr wrap="square" lIns="0" tIns="0" rIns="0" bIns="0" rtlCol="0" anchor="t"/>
          <a:lstStyle/>
          <a:p>
            <a:pPr indent="0" marL="0">
              <a:buNone/>
            </a:pPr>
            <a:r>
              <a:rPr lang="en-US" sz="1150" b="1" dirty="0">
                <a:solidFill>
                  <a:srgbClr val="0B2E59"/>
                </a:solidFill>
                <a:latin typeface="Calibri" pitchFamily="34" charset="0"/>
                <a:ea typeface="Calibri" pitchFamily="34" charset="-122"/>
                <a:cs typeface="Calibri" pitchFamily="34" charset="-120"/>
              </a:rPr>
              <a:t>7 · Announcement Management</a:t>
            </a:r>
            <a:endParaRPr lang="en-US" sz="1150" dirty="0"/>
          </a:p>
        </p:txBody>
      </p:sp>
      <p:sp>
        <p:nvSpPr>
          <p:cNvPr id="23" name="Text 17"/>
          <p:cNvSpPr/>
          <p:nvPr/>
        </p:nvSpPr>
        <p:spPr>
          <a:xfrm>
            <a:off x="6434176" y="2459736"/>
            <a:ext cx="2147240" cy="52120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Title, message, start date, end date, publish. Module 09 defines the banner; Module 10 operationally owns creating it.</a:t>
            </a:r>
            <a:endParaRPr lang="en-US" sz="950" dirty="0"/>
          </a:p>
        </p:txBody>
      </p:sp>
      <p:sp>
        <p:nvSpPr>
          <p:cNvPr id="24" name="Shape 18"/>
          <p:cNvSpPr/>
          <p:nvPr/>
        </p:nvSpPr>
        <p:spPr>
          <a:xfrm>
            <a:off x="9038615" y="1371600"/>
            <a:ext cx="2586152" cy="1783080"/>
          </a:xfrm>
          <a:prstGeom prst="roundRect">
            <a:avLst>
              <a:gd name="adj" fmla="val 512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5" name="Shape 19"/>
          <p:cNvSpPr/>
          <p:nvPr/>
        </p:nvSpPr>
        <p:spPr>
          <a:xfrm>
            <a:off x="9258071" y="1591056"/>
            <a:ext cx="420624" cy="420624"/>
          </a:xfrm>
          <a:prstGeom prst="ellipse">
            <a:avLst/>
          </a:prstGeom>
          <a:solidFill>
            <a:srgbClr val="00ACC1"/>
          </a:solidFill>
          <a:ln w="12700">
            <a:solidFill>
              <a:srgbClr val="00ACC1"/>
            </a:solidFill>
            <a:prstDash val="solid"/>
          </a:ln>
        </p:spPr>
      </p:sp>
      <p:pic>
        <p:nvPicPr>
          <p:cNvPr id="26" name="Image 4" descr="preencoded.png">    </p:cNvPr>
          <p:cNvPicPr>
            <a:picLocks noChangeAspect="1"/>
          </p:cNvPicPr>
          <p:nvPr/>
        </p:nvPicPr>
        <p:blipFill>
          <a:blip r:embed="rId5"/>
          <a:stretch>
            <a:fillRect/>
          </a:stretch>
        </p:blipFill>
        <p:spPr>
          <a:xfrm>
            <a:off x="9363227" y="1696212"/>
            <a:ext cx="210312" cy="210312"/>
          </a:xfrm>
          <a:prstGeom prst="rect">
            <a:avLst/>
          </a:prstGeom>
        </p:spPr>
      </p:pic>
      <p:sp>
        <p:nvSpPr>
          <p:cNvPr id="27" name="Text 20"/>
          <p:cNvSpPr/>
          <p:nvPr/>
        </p:nvSpPr>
        <p:spPr>
          <a:xfrm>
            <a:off x="9258071" y="2139696"/>
            <a:ext cx="2147240" cy="274320"/>
          </a:xfrm>
          <a:prstGeom prst="rect">
            <a:avLst/>
          </a:prstGeom>
          <a:noFill/>
          <a:ln/>
        </p:spPr>
        <p:txBody>
          <a:bodyPr wrap="square" lIns="0" tIns="0" rIns="0" bIns="0" rtlCol="0" anchor="t"/>
          <a:lstStyle/>
          <a:p>
            <a:pPr indent="0" marL="0">
              <a:buNone/>
            </a:pPr>
            <a:r>
              <a:rPr lang="en-US" sz="1150" b="1" dirty="0">
                <a:solidFill>
                  <a:srgbClr val="0B2E59"/>
                </a:solidFill>
                <a:latin typeface="Calibri" pitchFamily="34" charset="0"/>
                <a:ea typeface="Calibri" pitchFamily="34" charset="-122"/>
                <a:cs typeface="Calibri" pitchFamily="34" charset="-120"/>
              </a:rPr>
              <a:t>8 · Maintenance Mode</a:t>
            </a:r>
            <a:endParaRPr lang="en-US" sz="1150" dirty="0"/>
          </a:p>
        </p:txBody>
      </p:sp>
      <p:sp>
        <p:nvSpPr>
          <p:cNvPr id="28" name="Text 21"/>
          <p:cNvSpPr/>
          <p:nvPr/>
        </p:nvSpPr>
        <p:spPr>
          <a:xfrm>
            <a:off x="9258071" y="2459736"/>
            <a:ext cx="2147240" cy="52120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On/off, affected roles, reason and a time window. Coordinators are never shown raw errors from planned work.</a:t>
            </a:r>
            <a:endParaRPr lang="en-US" sz="950" dirty="0"/>
          </a:p>
        </p:txBody>
      </p:sp>
      <p:sp>
        <p:nvSpPr>
          <p:cNvPr id="29" name="Text 22"/>
          <p:cNvSpPr/>
          <p:nvPr/>
        </p:nvSpPr>
        <p:spPr>
          <a:xfrm>
            <a:off x="566928" y="334670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OVERALL STATUS BANNER — READ BEFORE ANY DETAILED METRIC</a:t>
            </a:r>
            <a:endParaRPr lang="en-US" sz="950" dirty="0"/>
          </a:p>
        </p:txBody>
      </p:sp>
      <p:sp>
        <p:nvSpPr>
          <p:cNvPr id="30" name="Shape 23"/>
          <p:cNvSpPr/>
          <p:nvPr/>
        </p:nvSpPr>
        <p:spPr>
          <a:xfrm>
            <a:off x="566928" y="3602736"/>
            <a:ext cx="11057839" cy="457200"/>
          </a:xfrm>
          <a:prstGeom prst="roundRect">
            <a:avLst>
              <a:gd name="adj" fmla="val 18000"/>
            </a:avLst>
          </a:prstGeom>
          <a:solidFill>
            <a:srgbClr val="EAF5EB"/>
          </a:solidFill>
          <a:ln w="9525">
            <a:solidFill>
              <a:srgbClr val="C9E3CC"/>
            </a:solidFill>
            <a:prstDash val="solid"/>
          </a:ln>
        </p:spPr>
      </p:sp>
      <p:sp>
        <p:nvSpPr>
          <p:cNvPr id="31" name="Shape 24"/>
          <p:cNvSpPr/>
          <p:nvPr/>
        </p:nvSpPr>
        <p:spPr>
          <a:xfrm>
            <a:off x="786384" y="3730752"/>
            <a:ext cx="201168" cy="201168"/>
          </a:xfrm>
          <a:prstGeom prst="ellipse">
            <a:avLst/>
          </a:prstGeom>
          <a:solidFill>
            <a:srgbClr val="2E7D32"/>
          </a:solidFill>
          <a:ln w="12700">
            <a:solidFill>
              <a:srgbClr val="2E7D32"/>
            </a:solidFill>
            <a:prstDash val="solid"/>
          </a:ln>
        </p:spPr>
      </p:sp>
      <p:sp>
        <p:nvSpPr>
          <p:cNvPr id="32" name="Text 25"/>
          <p:cNvSpPr/>
          <p:nvPr/>
        </p:nvSpPr>
        <p:spPr>
          <a:xfrm>
            <a:off x="1133856" y="3602736"/>
            <a:ext cx="2286000" cy="457200"/>
          </a:xfrm>
          <a:prstGeom prst="rect">
            <a:avLst/>
          </a:prstGeom>
          <a:noFill/>
          <a:ln/>
        </p:spPr>
        <p:txBody>
          <a:bodyPr wrap="square" lIns="0" tIns="0" rIns="0" bIns="0" rtlCol="0" anchor="ctr"/>
          <a:lstStyle/>
          <a:p>
            <a:pPr indent="0" marL="0">
              <a:buNone/>
            </a:pPr>
            <a:r>
              <a:rPr lang="en-US" sz="1150" b="1" dirty="0">
                <a:solidFill>
                  <a:srgbClr val="2E7D32"/>
                </a:solidFill>
                <a:latin typeface="Calibri" pitchFamily="34" charset="0"/>
                <a:ea typeface="Calibri" pitchFamily="34" charset="-122"/>
                <a:cs typeface="Calibri" pitchFamily="34" charset="-120"/>
              </a:rPr>
              <a:t>Healthy</a:t>
            </a:r>
            <a:endParaRPr lang="en-US" sz="1150" dirty="0"/>
          </a:p>
        </p:txBody>
      </p:sp>
      <p:sp>
        <p:nvSpPr>
          <p:cNvPr id="33" name="Text 26"/>
          <p:cNvSpPr/>
          <p:nvPr/>
        </p:nvSpPr>
        <p:spPr>
          <a:xfrm>
            <a:off x="3493008" y="3602736"/>
            <a:ext cx="7903159" cy="457200"/>
          </a:xfrm>
          <a:prstGeom prst="rect">
            <a:avLst/>
          </a:prstGeom>
          <a:noFill/>
          <a:ln/>
        </p:spPr>
        <p:txBody>
          <a:bodyPr wrap="square" lIns="0" tIns="0" rIns="0" bIns="0" rtlCol="0" anchor="ctr"/>
          <a:lstStyle/>
          <a:p>
            <a:pPr indent="0" marL="0">
              <a:buNone/>
            </a:pPr>
            <a:r>
              <a:rPr lang="en-US" sz="1050" dirty="0">
                <a:solidFill>
                  <a:srgbClr val="3E4C59"/>
                </a:solidFill>
                <a:latin typeface="Calibri" pitchFamily="34" charset="0"/>
                <a:ea typeface="Calibri" pitchFamily="34" charset="-122"/>
                <a:cs typeface="Calibri" pitchFamily="34" charset="-120"/>
              </a:rPr>
              <a:t>System Healthy — No Issues Detected — Last Checked Today 09:45 AM</a:t>
            </a:r>
            <a:endParaRPr lang="en-US" sz="1050" dirty="0"/>
          </a:p>
        </p:txBody>
      </p:sp>
      <p:sp>
        <p:nvSpPr>
          <p:cNvPr id="34" name="Shape 27"/>
          <p:cNvSpPr/>
          <p:nvPr/>
        </p:nvSpPr>
        <p:spPr>
          <a:xfrm>
            <a:off x="566928" y="4151376"/>
            <a:ext cx="11057839" cy="457200"/>
          </a:xfrm>
          <a:prstGeom prst="roundRect">
            <a:avLst>
              <a:gd name="adj" fmla="val 18000"/>
            </a:avLst>
          </a:prstGeom>
          <a:solidFill>
            <a:srgbClr val="FEF4E4"/>
          </a:solidFill>
          <a:ln w="9525">
            <a:solidFill>
              <a:srgbClr val="F3DFB4"/>
            </a:solidFill>
            <a:prstDash val="solid"/>
          </a:ln>
        </p:spPr>
      </p:sp>
      <p:sp>
        <p:nvSpPr>
          <p:cNvPr id="35" name="Shape 28"/>
          <p:cNvSpPr/>
          <p:nvPr/>
        </p:nvSpPr>
        <p:spPr>
          <a:xfrm>
            <a:off x="786384" y="4279392"/>
            <a:ext cx="201168" cy="201168"/>
          </a:xfrm>
          <a:prstGeom prst="ellipse">
            <a:avLst/>
          </a:prstGeom>
          <a:solidFill>
            <a:srgbClr val="E07A1F"/>
          </a:solidFill>
          <a:ln w="12700">
            <a:solidFill>
              <a:srgbClr val="E07A1F"/>
            </a:solidFill>
            <a:prstDash val="solid"/>
          </a:ln>
        </p:spPr>
      </p:sp>
      <p:sp>
        <p:nvSpPr>
          <p:cNvPr id="36" name="Text 29"/>
          <p:cNvSpPr/>
          <p:nvPr/>
        </p:nvSpPr>
        <p:spPr>
          <a:xfrm>
            <a:off x="1133856" y="4151376"/>
            <a:ext cx="2286000" cy="457200"/>
          </a:xfrm>
          <a:prstGeom prst="rect">
            <a:avLst/>
          </a:prstGeom>
          <a:noFill/>
          <a:ln/>
        </p:spPr>
        <p:txBody>
          <a:bodyPr wrap="square" lIns="0" tIns="0" rIns="0" bIns="0" rtlCol="0" anchor="ctr"/>
          <a:lstStyle/>
          <a:p>
            <a:pPr indent="0" marL="0">
              <a:buNone/>
            </a:pPr>
            <a:r>
              <a:rPr lang="en-US" sz="1150" b="1" dirty="0">
                <a:solidFill>
                  <a:srgbClr val="E07A1F"/>
                </a:solidFill>
                <a:latin typeface="Calibri" pitchFamily="34" charset="0"/>
                <a:ea typeface="Calibri" pitchFamily="34" charset="-122"/>
                <a:cs typeface="Calibri" pitchFamily="34" charset="-120"/>
              </a:rPr>
              <a:t>Attention Required</a:t>
            </a:r>
            <a:endParaRPr lang="en-US" sz="1150" dirty="0"/>
          </a:p>
        </p:txBody>
      </p:sp>
      <p:sp>
        <p:nvSpPr>
          <p:cNvPr id="37" name="Text 30"/>
          <p:cNvSpPr/>
          <p:nvPr/>
        </p:nvSpPr>
        <p:spPr>
          <a:xfrm>
            <a:off x="3493008" y="4151376"/>
            <a:ext cx="7903159" cy="457200"/>
          </a:xfrm>
          <a:prstGeom prst="rect">
            <a:avLst/>
          </a:prstGeom>
          <a:noFill/>
          <a:ln/>
        </p:spPr>
        <p:txBody>
          <a:bodyPr wrap="square" lIns="0" tIns="0" rIns="0" bIns="0" rtlCol="0" anchor="ctr"/>
          <a:lstStyle/>
          <a:p>
            <a:pPr indent="0" marL="0">
              <a:buNone/>
            </a:pPr>
            <a:r>
              <a:rPr lang="en-US" sz="1050" dirty="0">
                <a:solidFill>
                  <a:srgbClr val="3E4C59"/>
                </a:solidFill>
                <a:latin typeface="Calibri" pitchFamily="34" charset="0"/>
                <a:ea typeface="Calibri" pitchFamily="34" charset="-122"/>
                <a:cs typeface="Calibri" pitchFamily="34" charset="-120"/>
              </a:rPr>
              <a:t>12 Duplicate Companies Found — Review Recommended</a:t>
            </a:r>
            <a:endParaRPr lang="en-US" sz="1050" dirty="0"/>
          </a:p>
        </p:txBody>
      </p:sp>
      <p:sp>
        <p:nvSpPr>
          <p:cNvPr id="38" name="Shape 31"/>
          <p:cNvSpPr/>
          <p:nvPr/>
        </p:nvSpPr>
        <p:spPr>
          <a:xfrm>
            <a:off x="566928" y="4700016"/>
            <a:ext cx="11057839" cy="457200"/>
          </a:xfrm>
          <a:prstGeom prst="roundRect">
            <a:avLst>
              <a:gd name="adj" fmla="val 18000"/>
            </a:avLst>
          </a:prstGeom>
          <a:solidFill>
            <a:srgbClr val="FBEDED"/>
          </a:solidFill>
          <a:ln w="9525">
            <a:solidFill>
              <a:srgbClr val="F0C9C9"/>
            </a:solidFill>
            <a:prstDash val="solid"/>
          </a:ln>
        </p:spPr>
      </p:sp>
      <p:sp>
        <p:nvSpPr>
          <p:cNvPr id="39" name="Shape 32"/>
          <p:cNvSpPr/>
          <p:nvPr/>
        </p:nvSpPr>
        <p:spPr>
          <a:xfrm>
            <a:off x="786384" y="4828032"/>
            <a:ext cx="201168" cy="201168"/>
          </a:xfrm>
          <a:prstGeom prst="ellipse">
            <a:avLst/>
          </a:prstGeom>
          <a:solidFill>
            <a:srgbClr val="C62828"/>
          </a:solidFill>
          <a:ln w="12700">
            <a:solidFill>
              <a:srgbClr val="C62828"/>
            </a:solidFill>
            <a:prstDash val="solid"/>
          </a:ln>
        </p:spPr>
      </p:sp>
      <p:sp>
        <p:nvSpPr>
          <p:cNvPr id="40" name="Text 33"/>
          <p:cNvSpPr/>
          <p:nvPr/>
        </p:nvSpPr>
        <p:spPr>
          <a:xfrm>
            <a:off x="1133856" y="4700016"/>
            <a:ext cx="2286000" cy="457200"/>
          </a:xfrm>
          <a:prstGeom prst="rect">
            <a:avLst/>
          </a:prstGeom>
          <a:noFill/>
          <a:ln/>
        </p:spPr>
        <p:txBody>
          <a:bodyPr wrap="square" lIns="0" tIns="0" rIns="0" bIns="0" rtlCol="0" anchor="ctr"/>
          <a:lstStyle/>
          <a:p>
            <a:pPr indent="0" marL="0">
              <a:buNone/>
            </a:pPr>
            <a:r>
              <a:rPr lang="en-US" sz="1150" b="1" dirty="0">
                <a:solidFill>
                  <a:srgbClr val="C62828"/>
                </a:solidFill>
                <a:latin typeface="Calibri" pitchFamily="34" charset="0"/>
                <a:ea typeface="Calibri" pitchFamily="34" charset="-122"/>
                <a:cs typeface="Calibri" pitchFamily="34" charset="-120"/>
              </a:rPr>
              <a:t>Action Required</a:t>
            </a:r>
            <a:endParaRPr lang="en-US" sz="1150" dirty="0"/>
          </a:p>
        </p:txBody>
      </p:sp>
      <p:sp>
        <p:nvSpPr>
          <p:cNvPr id="41" name="Text 34"/>
          <p:cNvSpPr/>
          <p:nvPr/>
        </p:nvSpPr>
        <p:spPr>
          <a:xfrm>
            <a:off x="3493008" y="4700016"/>
            <a:ext cx="7903159" cy="457200"/>
          </a:xfrm>
          <a:prstGeom prst="rect">
            <a:avLst/>
          </a:prstGeom>
          <a:noFill/>
          <a:ln/>
        </p:spPr>
        <p:txBody>
          <a:bodyPr wrap="square" lIns="0" tIns="0" rIns="0" bIns="0" rtlCol="0" anchor="ctr"/>
          <a:lstStyle/>
          <a:p>
            <a:pPr indent="0" marL="0">
              <a:buNone/>
            </a:pPr>
            <a:r>
              <a:rPr lang="en-US" sz="1050" dirty="0">
                <a:solidFill>
                  <a:srgbClr val="3E4C59"/>
                </a:solidFill>
                <a:latin typeface="Calibri" pitchFamily="34" charset="0"/>
                <a:ea typeface="Calibri" pitchFamily="34" charset="-122"/>
                <a:cs typeface="Calibri" pitchFamily="34" charset="-120"/>
              </a:rPr>
              <a:t>Database Connection Lost — Please Contact Administrator</a:t>
            </a:r>
            <a:endParaRPr lang="en-US" sz="1050" dirty="0"/>
          </a:p>
        </p:txBody>
      </p:sp>
      <p:sp>
        <p:nvSpPr>
          <p:cNvPr id="42" name="Shape 35"/>
          <p:cNvSpPr/>
          <p:nvPr/>
        </p:nvSpPr>
        <p:spPr>
          <a:xfrm>
            <a:off x="566928" y="5303520"/>
            <a:ext cx="11057839" cy="603504"/>
          </a:xfrm>
          <a:prstGeom prst="roundRect">
            <a:avLst>
              <a:gd name="adj" fmla="val 15152"/>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3" name="Text 36"/>
          <p:cNvSpPr/>
          <p:nvPr/>
        </p:nvSpPr>
        <p:spPr>
          <a:xfrm>
            <a:off x="786384" y="5522976"/>
            <a:ext cx="10618927" cy="210312"/>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Design intent, stated directly: in the first 5 seconds the Director or CEO knows whether everything is healthy; in the next 10 seconds, what needs attention; then they click into the relevant section.</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1572768"/>
            <a:ext cx="11057839" cy="3401568"/>
          </a:xfrm>
          <a:prstGeom prst="roundRect">
            <a:avLst>
              <a:gd name="adj" fmla="val 4301"/>
            </a:avLst>
          </a:prstGeom>
          <a:solidFill>
            <a:srgbClr val="EEF4FB"/>
          </a:solidFill>
          <a:ln w="9525">
            <a:solidFill>
              <a:srgbClr val="D6E4F5"/>
            </a:solidFill>
            <a:prstDash val="solid"/>
          </a:ln>
        </p:spPr>
      </p:sp>
      <p:pic>
        <p:nvPicPr>
          <p:cNvPr id="3"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4" name="Text 1"/>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2"/>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38</a:t>
            </a:r>
            <a:endParaRPr lang="en-US" sz="950" dirty="0"/>
          </a:p>
        </p:txBody>
      </p:sp>
      <p:sp>
        <p:nvSpPr>
          <p:cNvPr id="6" name="Text 3"/>
          <p:cNvSpPr/>
          <p:nvPr/>
        </p:nvSpPr>
        <p:spPr>
          <a:xfrm>
            <a:off x="1115568" y="2148840"/>
            <a:ext cx="7315200" cy="292608"/>
          </a:xfrm>
          <a:prstGeom prst="rect">
            <a:avLst/>
          </a:prstGeom>
          <a:noFill/>
          <a:ln/>
        </p:spPr>
        <p:txBody>
          <a:bodyPr wrap="square" lIns="0" tIns="0" rIns="0" bIns="0" rtlCol="0" anchor="ctr"/>
          <a:lstStyle/>
          <a:p>
            <a:pPr indent="0" marL="0">
              <a:buNone/>
            </a:pPr>
            <a:r>
              <a:rPr lang="en-US" sz="1200" b="1" spc="350" kern="0" dirty="0">
                <a:solidFill>
                  <a:srgbClr val="00ACC1"/>
                </a:solidFill>
                <a:latin typeface="Calibri" pitchFamily="34" charset="0"/>
                <a:ea typeface="Calibri" pitchFamily="34" charset="-122"/>
                <a:cs typeface="Calibri" pitchFamily="34" charset="-120"/>
              </a:rPr>
              <a:t>READ TOGETHER</a:t>
            </a:r>
            <a:endParaRPr lang="en-US" sz="1200" dirty="0"/>
          </a:p>
        </p:txBody>
      </p:sp>
      <p:sp>
        <p:nvSpPr>
          <p:cNvPr id="7" name="Text 4"/>
          <p:cNvSpPr/>
          <p:nvPr/>
        </p:nvSpPr>
        <p:spPr>
          <a:xfrm>
            <a:off x="1115568" y="2468880"/>
            <a:ext cx="9692640" cy="1371600"/>
          </a:xfrm>
          <a:prstGeom prst="rect">
            <a:avLst/>
          </a:prstGeom>
          <a:noFill/>
          <a:ln/>
        </p:spPr>
        <p:txBody>
          <a:bodyPr wrap="square" lIns="0" tIns="0" rIns="0" bIns="0" rtlCol="0" anchor="ctr"/>
          <a:lstStyle/>
          <a:p>
            <a:pPr indent="0" marL="0">
              <a:lnSpc>
                <a:spcPct val="100000"/>
              </a:lnSpc>
              <a:buNone/>
            </a:pPr>
            <a:r>
              <a:rPr lang="en-US" sz="4600" b="1" dirty="0">
                <a:solidFill>
                  <a:srgbClr val="0B2E59"/>
                </a:solidFill>
                <a:latin typeface="Calibri" pitchFamily="34" charset="0"/>
                <a:ea typeface="Calibri" pitchFamily="34" charset="-122"/>
                <a:cs typeface="Calibri" pitchFamily="34" charset="-120"/>
              </a:rPr>
              <a:t>What the eleven documents</a:t>
            </a:r>
            <a:endParaRPr lang="en-US" sz="4600" dirty="0"/>
          </a:p>
          <a:p>
            <a:pPr indent="0" marL="0">
              <a:lnSpc>
                <a:spcPct val="100000"/>
              </a:lnSpc>
              <a:buNone/>
            </a:pPr>
            <a:r>
              <a:rPr lang="en-US" sz="4600" b="1" dirty="0">
                <a:solidFill>
                  <a:srgbClr val="0B2E59"/>
                </a:solidFill>
                <a:latin typeface="Calibri" pitchFamily="34" charset="0"/>
                <a:ea typeface="Calibri" pitchFamily="34" charset="-122"/>
                <a:cs typeface="Calibri" pitchFamily="34" charset="-120"/>
              </a:rPr>
              <a:t>say as a set</a:t>
            </a:r>
            <a:endParaRPr lang="en-US" sz="4600" dirty="0"/>
          </a:p>
        </p:txBody>
      </p:sp>
      <p:sp>
        <p:nvSpPr>
          <p:cNvPr id="8" name="Text 5"/>
          <p:cNvSpPr/>
          <p:nvPr/>
        </p:nvSpPr>
        <p:spPr>
          <a:xfrm>
            <a:off x="1115568" y="3931920"/>
            <a:ext cx="9326880" cy="822960"/>
          </a:xfrm>
          <a:prstGeom prst="rect">
            <a:avLst/>
          </a:prstGeom>
          <a:noFill/>
          <a:ln/>
        </p:spPr>
        <p:txBody>
          <a:bodyPr wrap="square" lIns="0" tIns="0" rIns="0" bIns="0" rtlCol="0" anchor="t"/>
          <a:lstStyle/>
          <a:p>
            <a:pPr indent="0" marL="0">
              <a:lnSpc>
                <a:spcPct val="115000"/>
              </a:lnSpc>
              <a:buNone/>
            </a:pPr>
            <a:r>
              <a:rPr lang="en-US" sz="1500" dirty="0">
                <a:solidFill>
                  <a:srgbClr val="3E4C59"/>
                </a:solidFill>
                <a:latin typeface="Calibri" pitchFamily="34" charset="0"/>
                <a:ea typeface="Calibri" pitchFamily="34" charset="-122"/>
                <a:cs typeface="Calibri" pitchFamily="34" charset="-120"/>
              </a:rPr>
              <a:t>Patterns, reversals, scope discipline and the open questions that only become visible when the specifications are read side by side.</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CROSS-CUTTING</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Nine proposals that were reversed</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39</a:t>
            </a:r>
            <a:endParaRPr lang="en-US" sz="9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822960"/>
                <a:gridCol w="4023360"/>
                <a:gridCol w="6211519"/>
              </a:tblGrid>
              <a:tr h="38404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Doc</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Originally proposed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was decided instead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84048">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M02</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Email the Team Leader on every deletion</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Superseded by the Recycle Bin with restore rights; the email requirement was dropped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84048">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M03</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Type company names to load contacts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A read-only picker — coordinators don't know in advance who they'll call</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M03</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Auto-start the timer on row click</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Manual start time — coordinators pause before dialing, which corrupts duration</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84048">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M03</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A second outcome field, “Response 2”</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Removed entirely; the whole lifecycle moved to the Weekly Tracker</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M04</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A “Current Stage” dropdown plus separate remarks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One free-text Status field — real notes carry context a dropdown would strip</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84048">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M04</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A permanent “+” button on every row</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The Quick Action menu alone — judged sufficient and cleaner</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M05</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Two buttons, or two stacked tables</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Excel-style tabs inside one workspace, swapping content in place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84048">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M06</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Canva as the report-editing surface</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A native editor — Canva can't embed, and it would make a core workflow external</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0B2E59"/>
                          </a:solidFill>
                          <a:latin typeface="Calibri" pitchFamily="34" charset="0"/>
                          <a:ea typeface="Calibri" pitchFamily="34" charset="-122"/>
                          <a:cs typeface="Calibri" pitchFamily="34" charset="-120"/>
                        </a:rPr>
                        <a:t>M08</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Admin-issued temporary passwords, and signup approval</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00" dirty="0">
                          <a:solidFill>
                            <a:srgbClr val="3E4C59"/>
                          </a:solidFill>
                          <a:latin typeface="Calibri" pitchFamily="34" charset="0"/>
                          <a:ea typeface="Calibri" pitchFamily="34" charset="-122"/>
                          <a:cs typeface="Calibri" pitchFamily="34" charset="-120"/>
                        </a:rPr>
                        <a:t>Both removed — users always set their own password; approval was needless overhead</a:t>
                      </a:r>
                      <a:endParaRPr lang="en-US" sz="10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
        <p:nvSpPr>
          <p:cNvPr id="8" name="Shape 4"/>
          <p:cNvSpPr/>
          <p:nvPr/>
        </p:nvSpPr>
        <p:spPr>
          <a:xfrm>
            <a:off x="566928" y="5358384"/>
            <a:ext cx="11057839" cy="640080"/>
          </a:xfrm>
          <a:prstGeom prst="roundRect">
            <a:avLst>
              <a:gd name="adj" fmla="val 14286"/>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9" name="Text 5"/>
          <p:cNvSpPr/>
          <p:nvPr/>
        </p:nvSpPr>
        <p:spPr>
          <a:xfrm>
            <a:off x="786384" y="5577840"/>
            <a:ext cx="10618927" cy="24688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In almost every case the reversal came from testing the proposal against how the team actually works — not from a change of taste. That is the pattern worth carrying into the modules still to be specified.</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CROSS-CUTTING</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Every document has a “Deferred” section</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40</a:t>
            </a:r>
            <a:endParaRPr lang="en-US" sz="950" dirty="0"/>
          </a:p>
        </p:txBody>
      </p:sp>
      <p:sp>
        <p:nvSpPr>
          <p:cNvPr id="7" name="Shape 4"/>
          <p:cNvSpPr/>
          <p:nvPr/>
        </p:nvSpPr>
        <p:spPr>
          <a:xfrm>
            <a:off x="566928" y="1371600"/>
            <a:ext cx="3527450" cy="1481328"/>
          </a:xfrm>
          <a:prstGeom prst="roundRect">
            <a:avLst>
              <a:gd name="adj" fmla="val 617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Shape 5"/>
          <p:cNvSpPr/>
          <p:nvPr/>
        </p:nvSpPr>
        <p:spPr>
          <a:xfrm>
            <a:off x="786384" y="1591056"/>
            <a:ext cx="365760" cy="365760"/>
          </a:xfrm>
          <a:prstGeom prst="ellipse">
            <a:avLst/>
          </a:prstGeom>
          <a:solidFill>
            <a:srgbClr val="6B7A8C"/>
          </a:solidFill>
          <a:ln w="12700">
            <a:solidFill>
              <a:srgbClr val="6B7A8C"/>
            </a:solidFill>
            <a:prstDash val="solid"/>
          </a:ln>
        </p:spPr>
      </p:sp>
      <p:pic>
        <p:nvPicPr>
          <p:cNvPr id="9" name="Image 1" descr="preencoded.png">    </p:cNvPr>
          <p:cNvPicPr>
            <a:picLocks noChangeAspect="1"/>
          </p:cNvPicPr>
          <p:nvPr/>
        </p:nvPicPr>
        <p:blipFill>
          <a:blip r:embed="rId2"/>
          <a:stretch>
            <a:fillRect/>
          </a:stretch>
        </p:blipFill>
        <p:spPr>
          <a:xfrm>
            <a:off x="877824" y="1682496"/>
            <a:ext cx="182880" cy="182880"/>
          </a:xfrm>
          <a:prstGeom prst="rect">
            <a:avLst/>
          </a:prstGeom>
        </p:spPr>
      </p:pic>
      <p:sp>
        <p:nvSpPr>
          <p:cNvPr id="10" name="Text 6"/>
          <p:cNvSpPr/>
          <p:nvPr/>
        </p:nvSpPr>
        <p:spPr>
          <a:xfrm>
            <a:off x="1280160" y="1591056"/>
            <a:ext cx="2594762" cy="365760"/>
          </a:xfrm>
          <a:prstGeom prst="rect">
            <a:avLst/>
          </a:prstGeom>
          <a:noFill/>
          <a:ln/>
        </p:spPr>
        <p:txBody>
          <a:bodyPr wrap="square" lIns="0" tIns="0" rIns="0" bIns="0" rtlCol="0" anchor="ctr"/>
          <a:lstStyle/>
          <a:p>
            <a:pPr indent="0" marL="0">
              <a:buNone/>
            </a:pPr>
            <a:r>
              <a:rPr lang="en-US" sz="1150" b="1" dirty="0">
                <a:solidFill>
                  <a:srgbClr val="0B2E59"/>
                </a:solidFill>
                <a:latin typeface="Calibri" pitchFamily="34" charset="0"/>
                <a:ea typeface="Calibri" pitchFamily="34" charset="-122"/>
                <a:cs typeface="Calibri" pitchFamily="34" charset="-120"/>
              </a:rPr>
              <a:t>M02 — Master Company Database</a:t>
            </a:r>
            <a:endParaRPr lang="en-US" sz="1150" dirty="0"/>
          </a:p>
        </p:txBody>
      </p:sp>
      <p:sp>
        <p:nvSpPr>
          <p:cNvPr id="11" name="Text 7"/>
          <p:cNvSpPr/>
          <p:nvPr/>
        </p:nvSpPr>
        <p:spPr>
          <a:xfrm>
            <a:off x="786384" y="2002536"/>
            <a:ext cx="3088538" cy="67665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Company history log · mandatory-field validation detail · website verification and AI company review · fully configurable Company Type list · Bulk Paste.</a:t>
            </a:r>
            <a:endParaRPr lang="en-US" sz="950" dirty="0"/>
          </a:p>
        </p:txBody>
      </p:sp>
      <p:sp>
        <p:nvSpPr>
          <p:cNvPr id="12" name="Shape 8"/>
          <p:cNvSpPr/>
          <p:nvPr/>
        </p:nvSpPr>
        <p:spPr>
          <a:xfrm>
            <a:off x="4332122" y="1371600"/>
            <a:ext cx="3527450" cy="1481328"/>
          </a:xfrm>
          <a:prstGeom prst="roundRect">
            <a:avLst>
              <a:gd name="adj" fmla="val 617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Shape 9"/>
          <p:cNvSpPr/>
          <p:nvPr/>
        </p:nvSpPr>
        <p:spPr>
          <a:xfrm>
            <a:off x="4551578" y="1591056"/>
            <a:ext cx="365760" cy="365760"/>
          </a:xfrm>
          <a:prstGeom prst="ellipse">
            <a:avLst/>
          </a:prstGeom>
          <a:solidFill>
            <a:srgbClr val="6B7A8C"/>
          </a:solidFill>
          <a:ln w="12700">
            <a:solidFill>
              <a:srgbClr val="6B7A8C"/>
            </a:solidFill>
            <a:prstDash val="solid"/>
          </a:ln>
        </p:spPr>
      </p:sp>
      <p:pic>
        <p:nvPicPr>
          <p:cNvPr id="14" name="Image 2" descr="preencoded.png">    </p:cNvPr>
          <p:cNvPicPr>
            <a:picLocks noChangeAspect="1"/>
          </p:cNvPicPr>
          <p:nvPr/>
        </p:nvPicPr>
        <p:blipFill>
          <a:blip r:embed="rId3"/>
          <a:stretch>
            <a:fillRect/>
          </a:stretch>
        </p:blipFill>
        <p:spPr>
          <a:xfrm>
            <a:off x="4643018" y="1682496"/>
            <a:ext cx="182880" cy="182880"/>
          </a:xfrm>
          <a:prstGeom prst="rect">
            <a:avLst/>
          </a:prstGeom>
        </p:spPr>
      </p:pic>
      <p:sp>
        <p:nvSpPr>
          <p:cNvPr id="15" name="Text 10"/>
          <p:cNvSpPr/>
          <p:nvPr/>
        </p:nvSpPr>
        <p:spPr>
          <a:xfrm>
            <a:off x="5045354" y="1591056"/>
            <a:ext cx="2594762" cy="365760"/>
          </a:xfrm>
          <a:prstGeom prst="rect">
            <a:avLst/>
          </a:prstGeom>
          <a:noFill/>
          <a:ln/>
        </p:spPr>
        <p:txBody>
          <a:bodyPr wrap="square" lIns="0" tIns="0" rIns="0" bIns="0" rtlCol="0" anchor="ctr"/>
          <a:lstStyle/>
          <a:p>
            <a:pPr indent="0" marL="0">
              <a:buNone/>
            </a:pPr>
            <a:r>
              <a:rPr lang="en-US" sz="1150" b="1" dirty="0">
                <a:solidFill>
                  <a:srgbClr val="0B2E59"/>
                </a:solidFill>
                <a:latin typeface="Calibri" pitchFamily="34" charset="0"/>
                <a:ea typeface="Calibri" pitchFamily="34" charset="-122"/>
                <a:cs typeface="Calibri" pitchFamily="34" charset="-120"/>
              </a:rPr>
              <a:t>M03 — Daily Tracker</a:t>
            </a:r>
            <a:endParaRPr lang="en-US" sz="1150" dirty="0"/>
          </a:p>
        </p:txBody>
      </p:sp>
      <p:sp>
        <p:nvSpPr>
          <p:cNvPr id="16" name="Text 11"/>
          <p:cNvSpPr/>
          <p:nvPr/>
        </p:nvSpPr>
        <p:spPr>
          <a:xfrm>
            <a:off x="4551578" y="2002536"/>
            <a:ext cx="3088538" cy="67665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Telephony-integrated true talk-time · Response 2 inside the tracker · fixed daily call quotas or enforced positive-call targets.</a:t>
            </a:r>
            <a:endParaRPr lang="en-US" sz="950" dirty="0"/>
          </a:p>
        </p:txBody>
      </p:sp>
      <p:sp>
        <p:nvSpPr>
          <p:cNvPr id="17" name="Shape 12"/>
          <p:cNvSpPr/>
          <p:nvPr/>
        </p:nvSpPr>
        <p:spPr>
          <a:xfrm>
            <a:off x="8097317" y="1371600"/>
            <a:ext cx="3527450" cy="1481328"/>
          </a:xfrm>
          <a:prstGeom prst="roundRect">
            <a:avLst>
              <a:gd name="adj" fmla="val 617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Shape 13"/>
          <p:cNvSpPr/>
          <p:nvPr/>
        </p:nvSpPr>
        <p:spPr>
          <a:xfrm>
            <a:off x="8316773" y="1591056"/>
            <a:ext cx="365760" cy="365760"/>
          </a:xfrm>
          <a:prstGeom prst="ellipse">
            <a:avLst/>
          </a:prstGeom>
          <a:solidFill>
            <a:srgbClr val="6B7A8C"/>
          </a:solidFill>
          <a:ln w="12700">
            <a:solidFill>
              <a:srgbClr val="6B7A8C"/>
            </a:solidFill>
            <a:prstDash val="solid"/>
          </a:ln>
        </p:spPr>
      </p:sp>
      <p:pic>
        <p:nvPicPr>
          <p:cNvPr id="19" name="Image 3" descr="preencoded.png">    </p:cNvPr>
          <p:cNvPicPr>
            <a:picLocks noChangeAspect="1"/>
          </p:cNvPicPr>
          <p:nvPr/>
        </p:nvPicPr>
        <p:blipFill>
          <a:blip r:embed="rId4"/>
          <a:stretch>
            <a:fillRect/>
          </a:stretch>
        </p:blipFill>
        <p:spPr>
          <a:xfrm>
            <a:off x="8408213" y="1682496"/>
            <a:ext cx="182880" cy="182880"/>
          </a:xfrm>
          <a:prstGeom prst="rect">
            <a:avLst/>
          </a:prstGeom>
        </p:spPr>
      </p:pic>
      <p:sp>
        <p:nvSpPr>
          <p:cNvPr id="20" name="Text 14"/>
          <p:cNvSpPr/>
          <p:nvPr/>
        </p:nvSpPr>
        <p:spPr>
          <a:xfrm>
            <a:off x="8810549" y="1591056"/>
            <a:ext cx="2594762" cy="365760"/>
          </a:xfrm>
          <a:prstGeom prst="rect">
            <a:avLst/>
          </a:prstGeom>
          <a:noFill/>
          <a:ln/>
        </p:spPr>
        <p:txBody>
          <a:bodyPr wrap="square" lIns="0" tIns="0" rIns="0" bIns="0" rtlCol="0" anchor="ctr"/>
          <a:lstStyle/>
          <a:p>
            <a:pPr indent="0" marL="0">
              <a:buNone/>
            </a:pPr>
            <a:r>
              <a:rPr lang="en-US" sz="1150" b="1" dirty="0">
                <a:solidFill>
                  <a:srgbClr val="0B2E59"/>
                </a:solidFill>
                <a:latin typeface="Calibri" pitchFamily="34" charset="0"/>
                <a:ea typeface="Calibri" pitchFamily="34" charset="-122"/>
                <a:cs typeface="Calibri" pitchFamily="34" charset="-120"/>
              </a:rPr>
              <a:t>M04 — Weekly Tracker</a:t>
            </a:r>
            <a:endParaRPr lang="en-US" sz="1150" dirty="0"/>
          </a:p>
        </p:txBody>
      </p:sp>
      <p:sp>
        <p:nvSpPr>
          <p:cNvPr id="21" name="Text 15"/>
          <p:cNvSpPr/>
          <p:nvPr/>
        </p:nvSpPr>
        <p:spPr>
          <a:xfrm>
            <a:off x="8316773" y="2002536"/>
            <a:ext cx="3088538" cy="67665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Per-change status history log · Company Insights panel (Glassdoor, AmbitionBox, hiring trends) · locking Completed records · renaming to “Placement Pipeline”.</a:t>
            </a:r>
            <a:endParaRPr lang="en-US" sz="950" dirty="0"/>
          </a:p>
        </p:txBody>
      </p:sp>
      <p:sp>
        <p:nvSpPr>
          <p:cNvPr id="22" name="Shape 16"/>
          <p:cNvSpPr/>
          <p:nvPr/>
        </p:nvSpPr>
        <p:spPr>
          <a:xfrm>
            <a:off x="566928" y="3090672"/>
            <a:ext cx="3527450" cy="1481328"/>
          </a:xfrm>
          <a:prstGeom prst="roundRect">
            <a:avLst>
              <a:gd name="adj" fmla="val 617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Shape 17"/>
          <p:cNvSpPr/>
          <p:nvPr/>
        </p:nvSpPr>
        <p:spPr>
          <a:xfrm>
            <a:off x="786384" y="3310128"/>
            <a:ext cx="365760" cy="365760"/>
          </a:xfrm>
          <a:prstGeom prst="ellipse">
            <a:avLst/>
          </a:prstGeom>
          <a:solidFill>
            <a:srgbClr val="6B7A8C"/>
          </a:solidFill>
          <a:ln w="12700">
            <a:solidFill>
              <a:srgbClr val="6B7A8C"/>
            </a:solidFill>
            <a:prstDash val="solid"/>
          </a:ln>
        </p:spPr>
      </p:sp>
      <p:pic>
        <p:nvPicPr>
          <p:cNvPr id="24" name="Image 4" descr="preencoded.png">    </p:cNvPr>
          <p:cNvPicPr>
            <a:picLocks noChangeAspect="1"/>
          </p:cNvPicPr>
          <p:nvPr/>
        </p:nvPicPr>
        <p:blipFill>
          <a:blip r:embed="rId5"/>
          <a:stretch>
            <a:fillRect/>
          </a:stretch>
        </p:blipFill>
        <p:spPr>
          <a:xfrm>
            <a:off x="877824" y="3401568"/>
            <a:ext cx="182880" cy="182880"/>
          </a:xfrm>
          <a:prstGeom prst="rect">
            <a:avLst/>
          </a:prstGeom>
        </p:spPr>
      </p:pic>
      <p:sp>
        <p:nvSpPr>
          <p:cNvPr id="25" name="Text 18"/>
          <p:cNvSpPr/>
          <p:nvPr/>
        </p:nvSpPr>
        <p:spPr>
          <a:xfrm>
            <a:off x="1280160" y="3310128"/>
            <a:ext cx="2594762" cy="365760"/>
          </a:xfrm>
          <a:prstGeom prst="rect">
            <a:avLst/>
          </a:prstGeom>
          <a:noFill/>
          <a:ln/>
        </p:spPr>
        <p:txBody>
          <a:bodyPr wrap="square" lIns="0" tIns="0" rIns="0" bIns="0" rtlCol="0" anchor="ctr"/>
          <a:lstStyle/>
          <a:p>
            <a:pPr indent="0" marL="0">
              <a:buNone/>
            </a:pPr>
            <a:r>
              <a:rPr lang="en-US" sz="1150" b="1" dirty="0">
                <a:solidFill>
                  <a:srgbClr val="0B2E59"/>
                </a:solidFill>
                <a:latin typeface="Calibri" pitchFamily="34" charset="0"/>
                <a:ea typeface="Calibri" pitchFamily="34" charset="-122"/>
                <a:cs typeface="Calibri" pitchFamily="34" charset="-120"/>
              </a:rPr>
              <a:t>M05 — Daily Leads</a:t>
            </a:r>
            <a:endParaRPr lang="en-US" sz="1150" dirty="0"/>
          </a:p>
        </p:txBody>
      </p:sp>
      <p:sp>
        <p:nvSpPr>
          <p:cNvPr id="26" name="Text 19"/>
          <p:cNvSpPr/>
          <p:nvPr/>
        </p:nvSpPr>
        <p:spPr>
          <a:xfrm>
            <a:off x="786384" y="3721608"/>
            <a:ext cx="3088538" cy="67665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Any automatic sync from trackers, email or WhatsApp · full per-record edit history · Move and Pin row actions · separate sidebar entries per register.</a:t>
            </a:r>
            <a:endParaRPr lang="en-US" sz="950" dirty="0"/>
          </a:p>
        </p:txBody>
      </p:sp>
      <p:sp>
        <p:nvSpPr>
          <p:cNvPr id="27" name="Shape 20"/>
          <p:cNvSpPr/>
          <p:nvPr/>
        </p:nvSpPr>
        <p:spPr>
          <a:xfrm>
            <a:off x="4332122" y="3090672"/>
            <a:ext cx="3527450" cy="1481328"/>
          </a:xfrm>
          <a:prstGeom prst="roundRect">
            <a:avLst>
              <a:gd name="adj" fmla="val 617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8" name="Shape 21"/>
          <p:cNvSpPr/>
          <p:nvPr/>
        </p:nvSpPr>
        <p:spPr>
          <a:xfrm>
            <a:off x="4551578" y="3310128"/>
            <a:ext cx="365760" cy="365760"/>
          </a:xfrm>
          <a:prstGeom prst="ellipse">
            <a:avLst/>
          </a:prstGeom>
          <a:solidFill>
            <a:srgbClr val="6B7A8C"/>
          </a:solidFill>
          <a:ln w="12700">
            <a:solidFill>
              <a:srgbClr val="6B7A8C"/>
            </a:solidFill>
            <a:prstDash val="solid"/>
          </a:ln>
        </p:spPr>
      </p:sp>
      <p:pic>
        <p:nvPicPr>
          <p:cNvPr id="29" name="Image 5" descr="preencoded.png">    </p:cNvPr>
          <p:cNvPicPr>
            <a:picLocks noChangeAspect="1"/>
          </p:cNvPicPr>
          <p:nvPr/>
        </p:nvPicPr>
        <p:blipFill>
          <a:blip r:embed="rId6"/>
          <a:stretch>
            <a:fillRect/>
          </a:stretch>
        </p:blipFill>
        <p:spPr>
          <a:xfrm>
            <a:off x="4643018" y="3401568"/>
            <a:ext cx="182880" cy="182880"/>
          </a:xfrm>
          <a:prstGeom prst="rect">
            <a:avLst/>
          </a:prstGeom>
        </p:spPr>
      </p:pic>
      <p:sp>
        <p:nvSpPr>
          <p:cNvPr id="30" name="Text 22"/>
          <p:cNvSpPr/>
          <p:nvPr/>
        </p:nvSpPr>
        <p:spPr>
          <a:xfrm>
            <a:off x="5045354" y="3310128"/>
            <a:ext cx="2594762" cy="365760"/>
          </a:xfrm>
          <a:prstGeom prst="rect">
            <a:avLst/>
          </a:prstGeom>
          <a:noFill/>
          <a:ln/>
        </p:spPr>
        <p:txBody>
          <a:bodyPr wrap="square" lIns="0" tIns="0" rIns="0" bIns="0" rtlCol="0" anchor="ctr"/>
          <a:lstStyle/>
          <a:p>
            <a:pPr indent="0" marL="0">
              <a:buNone/>
            </a:pPr>
            <a:r>
              <a:rPr lang="en-US" sz="1150" b="1" dirty="0">
                <a:solidFill>
                  <a:srgbClr val="0B2E59"/>
                </a:solidFill>
                <a:latin typeface="Calibri" pitchFamily="34" charset="0"/>
                <a:ea typeface="Calibri" pitchFamily="34" charset="-122"/>
                <a:cs typeface="Calibri" pitchFamily="34" charset="-120"/>
              </a:rPr>
              <a:t>M06 — Reports &amp; Analytics</a:t>
            </a:r>
            <a:endParaRPr lang="en-US" sz="1150" dirty="0"/>
          </a:p>
        </p:txBody>
      </p:sp>
      <p:sp>
        <p:nvSpPr>
          <p:cNvPr id="31" name="Text 23"/>
          <p:cNvSpPr/>
          <p:nvPr/>
        </p:nvSpPr>
        <p:spPr>
          <a:xfrm>
            <a:off x="4551578" y="3721608"/>
            <a:ext cx="3088538" cy="67665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Company, Daily, Pipeline and Conversion reports · coordinator rankings · cloud storage of reports · one-click Teams/WhatsApp share · AI narrative summaries.</a:t>
            </a:r>
            <a:endParaRPr lang="en-US" sz="950" dirty="0"/>
          </a:p>
        </p:txBody>
      </p:sp>
      <p:sp>
        <p:nvSpPr>
          <p:cNvPr id="32" name="Shape 24"/>
          <p:cNvSpPr/>
          <p:nvPr/>
        </p:nvSpPr>
        <p:spPr>
          <a:xfrm>
            <a:off x="8097317" y="3090672"/>
            <a:ext cx="3527450" cy="1481328"/>
          </a:xfrm>
          <a:prstGeom prst="roundRect">
            <a:avLst>
              <a:gd name="adj" fmla="val 617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3" name="Shape 25"/>
          <p:cNvSpPr/>
          <p:nvPr/>
        </p:nvSpPr>
        <p:spPr>
          <a:xfrm>
            <a:off x="8316773" y="3310128"/>
            <a:ext cx="365760" cy="365760"/>
          </a:xfrm>
          <a:prstGeom prst="ellipse">
            <a:avLst/>
          </a:prstGeom>
          <a:solidFill>
            <a:srgbClr val="6B7A8C"/>
          </a:solidFill>
          <a:ln w="12700">
            <a:solidFill>
              <a:srgbClr val="6B7A8C"/>
            </a:solidFill>
            <a:prstDash val="solid"/>
          </a:ln>
        </p:spPr>
      </p:sp>
      <p:pic>
        <p:nvPicPr>
          <p:cNvPr id="34" name="Image 6" descr="preencoded.png">    </p:cNvPr>
          <p:cNvPicPr>
            <a:picLocks noChangeAspect="1"/>
          </p:cNvPicPr>
          <p:nvPr/>
        </p:nvPicPr>
        <p:blipFill>
          <a:blip r:embed="rId7"/>
          <a:stretch>
            <a:fillRect/>
          </a:stretch>
        </p:blipFill>
        <p:spPr>
          <a:xfrm>
            <a:off x="8408213" y="3401568"/>
            <a:ext cx="182880" cy="182880"/>
          </a:xfrm>
          <a:prstGeom prst="rect">
            <a:avLst/>
          </a:prstGeom>
        </p:spPr>
      </p:pic>
      <p:sp>
        <p:nvSpPr>
          <p:cNvPr id="35" name="Text 26"/>
          <p:cNvSpPr/>
          <p:nvPr/>
        </p:nvSpPr>
        <p:spPr>
          <a:xfrm>
            <a:off x="8810549" y="3310128"/>
            <a:ext cx="2594762" cy="365760"/>
          </a:xfrm>
          <a:prstGeom prst="rect">
            <a:avLst/>
          </a:prstGeom>
          <a:noFill/>
          <a:ln/>
        </p:spPr>
        <p:txBody>
          <a:bodyPr wrap="square" lIns="0" tIns="0" rIns="0" bIns="0" rtlCol="0" anchor="ctr"/>
          <a:lstStyle/>
          <a:p>
            <a:pPr indent="0" marL="0">
              <a:buNone/>
            </a:pPr>
            <a:r>
              <a:rPr lang="en-US" sz="1150" b="1" dirty="0">
                <a:solidFill>
                  <a:srgbClr val="0B2E59"/>
                </a:solidFill>
                <a:latin typeface="Calibri" pitchFamily="34" charset="0"/>
                <a:ea typeface="Calibri" pitchFamily="34" charset="-122"/>
                <a:cs typeface="Calibri" pitchFamily="34" charset="-120"/>
              </a:rPr>
              <a:t>M07 – M10</a:t>
            </a:r>
            <a:endParaRPr lang="en-US" sz="1150" dirty="0"/>
          </a:p>
        </p:txBody>
      </p:sp>
      <p:sp>
        <p:nvSpPr>
          <p:cNvPr id="36" name="Text 27"/>
          <p:cNvSpPr/>
          <p:nvPr/>
        </p:nvSpPr>
        <p:spPr>
          <a:xfrm>
            <a:off x="8316773" y="3721608"/>
            <a:ext cx="3088538" cy="67665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Assigned Date field · chat · customizable widget order · manual refresh · SMS and WhatsApp OTP · role selection at signup · active sessions · manual backup UI · server monitoring.</a:t>
            </a:r>
            <a:endParaRPr lang="en-US" sz="950" dirty="0"/>
          </a:p>
        </p:txBody>
      </p:sp>
      <p:sp>
        <p:nvSpPr>
          <p:cNvPr id="37" name="Shape 28"/>
          <p:cNvSpPr/>
          <p:nvPr/>
        </p:nvSpPr>
        <p:spPr>
          <a:xfrm>
            <a:off x="566928" y="4773168"/>
            <a:ext cx="11057839" cy="1078992"/>
          </a:xfrm>
          <a:prstGeom prst="roundRect">
            <a:avLst>
              <a:gd name="adj" fmla="val 8475"/>
            </a:avLst>
          </a:prstGeom>
          <a:solidFill>
            <a:srgbClr val="EEF4FB"/>
          </a:solidFill>
          <a:ln w="9525">
            <a:solidFill>
              <a:srgbClr val="D6E4F5"/>
            </a:solidFill>
            <a:prstDash val="solid"/>
          </a:ln>
        </p:spPr>
      </p:sp>
      <p:sp>
        <p:nvSpPr>
          <p:cNvPr id="38" name="Text 29"/>
          <p:cNvSpPr/>
          <p:nvPr/>
        </p:nvSpPr>
        <p:spPr>
          <a:xfrm>
            <a:off x="877824" y="4937760"/>
            <a:ext cx="10436047" cy="512064"/>
          </a:xfrm>
          <a:prstGeom prst="rect">
            <a:avLst/>
          </a:prstGeom>
          <a:noFill/>
          <a:ln/>
        </p:spPr>
        <p:txBody>
          <a:bodyPr wrap="square" lIns="0" tIns="0" rIns="0" bIns="0" rtlCol="0" anchor="ctr"/>
          <a:lstStyle/>
          <a:p>
            <a:pPr indent="0" marL="0">
              <a:lnSpc>
                <a:spcPct val="112000"/>
              </a:lnSpc>
              <a:buNone/>
            </a:pPr>
            <a:r>
              <a:rPr lang="en-US" sz="1500" i="1" dirty="0">
                <a:solidFill>
                  <a:srgbClr val="0B2E59"/>
                </a:solidFill>
                <a:latin typeface="Calibri" pitchFamily="34" charset="0"/>
                <a:ea typeface="Calibri" pitchFamily="34" charset="-122"/>
                <a:cs typeface="Calibri" pitchFamily="34" charset="-120"/>
              </a:rPr>
              <a:t>Every one of these was discussed, weighed against the benefit, and consciously excluded — with the reason written down.</a:t>
            </a:r>
            <a:endParaRPr lang="en-US" sz="1500" dirty="0"/>
          </a:p>
        </p:txBody>
      </p:sp>
      <p:sp>
        <p:nvSpPr>
          <p:cNvPr id="39" name="Text 30"/>
          <p:cNvSpPr/>
          <p:nvPr/>
        </p:nvSpPr>
        <p:spPr>
          <a:xfrm>
            <a:off x="877824" y="5431536"/>
            <a:ext cx="10436047" cy="274320"/>
          </a:xfrm>
          <a:prstGeom prst="rect">
            <a:avLst/>
          </a:prstGeom>
          <a:noFill/>
          <a:ln/>
        </p:spPr>
        <p:txBody>
          <a:bodyPr wrap="square" lIns="0" tIns="0" rIns="0" bIns="0" rtlCol="0" anchor="ctr"/>
          <a:lstStyle/>
          <a:p>
            <a:pPr indent="0" marL="0">
              <a:buNone/>
            </a:pPr>
            <a:r>
              <a:rPr lang="en-US" sz="1000" dirty="0">
                <a:solidFill>
                  <a:srgbClr val="7B8794"/>
                </a:solidFill>
                <a:latin typeface="Calibri" pitchFamily="34" charset="0"/>
                <a:ea typeface="Calibri" pitchFamily="34" charset="-122"/>
                <a:cs typeface="Calibri" pitchFamily="34" charset="-120"/>
              </a:rPr>
              <a:t>Scope discipline is the most consistent quality across the eleven documents.</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CROSS-CUTTING</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One permission model, applied consistently</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41</a:t>
            </a:r>
            <a:endParaRPr lang="en-US" sz="950" dirty="0"/>
          </a:p>
        </p:txBody>
      </p:sp>
      <p:sp>
        <p:nvSpPr>
          <p:cNvPr id="7" name="Text 4"/>
          <p:cNvSpPr/>
          <p:nvPr/>
        </p:nvSpPr>
        <p:spPr>
          <a:xfrm>
            <a:off x="566928" y="13716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SAME SHAPE APPEARS IN ALL ELEVEN DOCUMENTS</a:t>
            </a:r>
            <a:endParaRPr lang="en-US" sz="95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57839" cy="914400"/>
        </p:xfrm>
        <a:graphic>
          <a:graphicData uri="http://schemas.openxmlformats.org/drawingml/2006/table">
            <a:tbl>
              <a:tblPr/>
              <a:tblGrid>
                <a:gridCol w="2743200"/>
                <a:gridCol w="2194560"/>
                <a:gridCol w="2377440"/>
                <a:gridCol w="2651760"/>
                <a:gridCol w="1090879"/>
              </a:tblGrid>
              <a:tr h="347472">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Module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Coordinator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Team Leader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Administrator / Director / CEO</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TPO</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47472">
                <a:tc>
                  <a:txBody>
                    <a:bodyPr/>
                    <a:lstStyle/>
                    <a:p>
                      <a:pPr algn="l" indent="0" marL="0">
                        <a:buNone/>
                      </a:pPr>
                      <a:r>
                        <a:rPr lang="en-US" sz="950" b="1" dirty="0">
                          <a:solidFill>
                            <a:srgbClr val="0B2E59"/>
                          </a:solidFill>
                          <a:latin typeface="Calibri" pitchFamily="34" charset="0"/>
                          <a:ea typeface="Calibri" pitchFamily="34" charset="-122"/>
                          <a:cs typeface="Calibri" pitchFamily="34" charset="-120"/>
                        </a:rPr>
                        <a:t>01 · User Management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Operational only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Supervise, manage database</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Unrestricted</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dirty="0">
                          <a:solidFill>
                            <a:srgbClr val="3E4C59"/>
                          </a:solidFill>
                          <a:latin typeface="Calibri" pitchFamily="34" charset="0"/>
                          <a:ea typeface="Calibri" pitchFamily="34" charset="-122"/>
                          <a:cs typeface="Calibri" pitchFamily="34" charset="-120"/>
                        </a:rPr>
                        <a:t>Read-only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7472">
                <a:tc>
                  <a:txBody>
                    <a:bodyPr/>
                    <a:lstStyle/>
                    <a:p>
                      <a:pPr algn="l" indent="0" marL="0">
                        <a:buNone/>
                      </a:pPr>
                      <a:r>
                        <a:rPr lang="en-US" sz="950" b="1" dirty="0">
                          <a:solidFill>
                            <a:srgbClr val="0B2E59"/>
                          </a:solidFill>
                          <a:latin typeface="Calibri" pitchFamily="34" charset="0"/>
                          <a:ea typeface="Calibri" pitchFamily="34" charset="-122"/>
                          <a:cs typeface="Calibri" pitchFamily="34" charset="-120"/>
                        </a:rPr>
                        <a:t>02 · Company Database</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Add, edit, delete to bin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Restore from bin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Purge, bulk import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E4C59"/>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7472">
                <a:tc>
                  <a:txBody>
                    <a:bodyPr/>
                    <a:lstStyle/>
                    <a:p>
                      <a:pPr algn="l" indent="0" marL="0">
                        <a:buNone/>
                      </a:pPr>
                      <a:r>
                        <a:rPr lang="en-US" sz="950" b="1" dirty="0">
                          <a:solidFill>
                            <a:srgbClr val="0B2E59"/>
                          </a:solidFill>
                          <a:latin typeface="Calibri" pitchFamily="34" charset="0"/>
                          <a:ea typeface="Calibri" pitchFamily="34" charset="-122"/>
                          <a:cs typeface="Calibri" pitchFamily="34" charset="-120"/>
                        </a:rPr>
                        <a:t>03 · Daily Tracker</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Own tracker only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View all coordinators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View all coordinators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dirty="0">
                          <a:solidFill>
                            <a:srgbClr val="3E4C59"/>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7472">
                <a:tc>
                  <a:txBody>
                    <a:bodyPr/>
                    <a:lstStyle/>
                    <a:p>
                      <a:pPr algn="l" indent="0" marL="0">
                        <a:buNone/>
                      </a:pPr>
                      <a:r>
                        <a:rPr lang="en-US" sz="950" b="1" dirty="0">
                          <a:solidFill>
                            <a:srgbClr val="0B2E59"/>
                          </a:solidFill>
                          <a:latin typeface="Calibri" pitchFamily="34" charset="0"/>
                          <a:ea typeface="Calibri" pitchFamily="34" charset="-122"/>
                          <a:cs typeface="Calibri" pitchFamily="34" charset="-120"/>
                        </a:rPr>
                        <a:t>04 · Weekly Tracker</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Full edit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Full edit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View and edit everything</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E4C59"/>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7472">
                <a:tc>
                  <a:txBody>
                    <a:bodyPr/>
                    <a:lstStyle/>
                    <a:p>
                      <a:pPr algn="l" indent="0" marL="0">
                        <a:buNone/>
                      </a:pPr>
                      <a:r>
                        <a:rPr lang="en-US" sz="950" b="1" dirty="0">
                          <a:solidFill>
                            <a:srgbClr val="0B2E59"/>
                          </a:solidFill>
                          <a:latin typeface="Calibri" pitchFamily="34" charset="0"/>
                          <a:ea typeface="Calibri" pitchFamily="34" charset="-122"/>
                          <a:cs typeface="Calibri" pitchFamily="34" charset="-120"/>
                        </a:rPr>
                        <a:t>05 · Daily Leads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Add, edit, delete</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Read only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Read only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dirty="0">
                          <a:solidFill>
                            <a:srgbClr val="3E4C59"/>
                          </a:solidFill>
                          <a:latin typeface="Calibri" pitchFamily="34" charset="0"/>
                          <a:ea typeface="Calibri" pitchFamily="34" charset="-122"/>
                          <a:cs typeface="Calibri" pitchFamily="34" charset="-120"/>
                        </a:rPr>
                        <a:t>Read only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7472">
                <a:tc>
                  <a:txBody>
                    <a:bodyPr/>
                    <a:lstStyle/>
                    <a:p>
                      <a:pPr algn="l" indent="0" marL="0">
                        <a:buNone/>
                      </a:pPr>
                      <a:r>
                        <a:rPr lang="en-US" sz="950" b="1" dirty="0">
                          <a:solidFill>
                            <a:srgbClr val="0B2E59"/>
                          </a:solidFill>
                          <a:latin typeface="Calibri" pitchFamily="34" charset="0"/>
                          <a:ea typeface="Calibri" pitchFamily="34" charset="-122"/>
                          <a:cs typeface="Calibri" pitchFamily="34" charset="-120"/>
                        </a:rPr>
                        <a:t>06 · Reports &amp; Analytics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Own colleges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Any college</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Any college, branding control</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E4C59"/>
                          </a:solidFill>
                          <a:latin typeface="Calibri" pitchFamily="34" charset="0"/>
                          <a:ea typeface="Calibri" pitchFamily="34" charset="-122"/>
                          <a:cs typeface="Calibri" pitchFamily="34" charset="-120"/>
                        </a:rPr>
                        <a:t>No access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7472">
                <a:tc>
                  <a:txBody>
                    <a:bodyPr/>
                    <a:lstStyle/>
                    <a:p>
                      <a:pPr algn="l" indent="0" marL="0">
                        <a:buNone/>
                      </a:pPr>
                      <a:r>
                        <a:rPr lang="en-US" sz="950" b="1" dirty="0">
                          <a:solidFill>
                            <a:srgbClr val="0B2E59"/>
                          </a:solidFill>
                          <a:latin typeface="Calibri" pitchFamily="34" charset="0"/>
                          <a:ea typeface="Calibri" pitchFamily="34" charset="-122"/>
                          <a:cs typeface="Calibri" pitchFamily="34" charset="-120"/>
                        </a:rPr>
                        <a:t>07 · Dashboard</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Receive assigned work</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Create assigned work</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Broadcast, org KPIs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dirty="0">
                          <a:solidFill>
                            <a:srgbClr val="3E4C59"/>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7472">
                <a:tc>
                  <a:txBody>
                    <a:bodyPr/>
                    <a:lstStyle/>
                    <a:p>
                      <a:pPr algn="l" indent="0" marL="0">
                        <a:buNone/>
                      </a:pPr>
                      <a:r>
                        <a:rPr lang="en-US" sz="950" b="1" dirty="0">
                          <a:solidFill>
                            <a:srgbClr val="0B2E59"/>
                          </a:solidFill>
                          <a:latin typeface="Calibri" pitchFamily="34" charset="0"/>
                          <a:ea typeface="Calibri" pitchFamily="34" charset="-122"/>
                          <a:cs typeface="Calibri" pitchFamily="34" charset="-120"/>
                        </a:rPr>
                        <a:t>08 · User &amp; Access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No access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Full user management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Full user management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E4C59"/>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7472">
                <a:tc>
                  <a:txBody>
                    <a:bodyPr/>
                    <a:lstStyle/>
                    <a:p>
                      <a:pPr algn="l" indent="0" marL="0">
                        <a:buNone/>
                      </a:pPr>
                      <a:r>
                        <a:rPr lang="en-US" sz="950" b="1" dirty="0">
                          <a:solidFill>
                            <a:srgbClr val="0B2E59"/>
                          </a:solidFill>
                          <a:latin typeface="Calibri" pitchFamily="34" charset="0"/>
                          <a:ea typeface="Calibri" pitchFamily="34" charset="-122"/>
                          <a:cs typeface="Calibri" pitchFamily="34" charset="-120"/>
                        </a:rPr>
                        <a:t>09 · Settings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Personal only</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Personal + limited system</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Organization + system</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950" dirty="0">
                          <a:solidFill>
                            <a:srgbClr val="3E4C59"/>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7472">
                <a:tc>
                  <a:txBody>
                    <a:bodyPr/>
                    <a:lstStyle/>
                    <a:p>
                      <a:pPr algn="l" indent="0" marL="0">
                        <a:buNone/>
                      </a:pPr>
                      <a:r>
                        <a:rPr lang="en-US" sz="950" b="1" dirty="0">
                          <a:solidFill>
                            <a:srgbClr val="0B2E59"/>
                          </a:solidFill>
                          <a:latin typeface="Calibri" pitchFamily="34" charset="0"/>
                          <a:ea typeface="Calibri" pitchFamily="34" charset="-122"/>
                          <a:cs typeface="Calibri" pitchFamily="34" charset="-120"/>
                        </a:rPr>
                        <a:t>10 · System Admin</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No access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View only, optional</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3E4C59"/>
                          </a:solidFill>
                          <a:latin typeface="Calibri" pitchFamily="34" charset="0"/>
                          <a:ea typeface="Calibri" pitchFamily="34" charset="-122"/>
                          <a:cs typeface="Calibri" pitchFamily="34" charset="-120"/>
                        </a:rPr>
                        <a:t>Full access</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E4C59"/>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bl>
          </a:graphicData>
        </a:graphic>
      </p:graphicFrame>
      <p:sp>
        <p:nvSpPr>
          <p:cNvPr id="9" name="Text 5"/>
          <p:cNvSpPr/>
          <p:nvPr/>
        </p:nvSpPr>
        <p:spPr>
          <a:xfrm>
            <a:off x="566928" y="5577840"/>
            <a:ext cx="11057839" cy="274320"/>
          </a:xfrm>
          <a:prstGeom prst="rect">
            <a:avLst/>
          </a:prstGeom>
          <a:noFill/>
          <a:ln/>
        </p:spPr>
        <p:txBody>
          <a:bodyPr wrap="square" lIns="0" tIns="0" rIns="0" bIns="0" rtlCol="0" anchor="ctr"/>
          <a:lstStyle/>
          <a:p>
            <a:pPr indent="0" marL="0">
              <a:buNone/>
            </a:pPr>
            <a:r>
              <a:rPr lang="en-US" sz="950" i="1" dirty="0">
                <a:solidFill>
                  <a:srgbClr val="7B8794"/>
                </a:solidFill>
                <a:latin typeface="Calibri" pitchFamily="34" charset="0"/>
                <a:ea typeface="Calibri" pitchFamily="34" charset="-122"/>
                <a:cs typeface="Calibri" pitchFamily="34" charset="-120"/>
              </a:rPr>
              <a:t>The Team Leader is the pivot: operational enough to work alongside coordinators, administrative enough to act for the CEO — stated explicitly in Modules 01, 02 and 08.</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CROSS-CUTTING</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What the set leaves open</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42</a:t>
            </a:r>
            <a:endParaRPr lang="en-US" sz="950" dirty="0"/>
          </a:p>
        </p:txBody>
      </p:sp>
      <p:sp>
        <p:nvSpPr>
          <p:cNvPr id="7" name="Shape 4"/>
          <p:cNvSpPr/>
          <p:nvPr/>
        </p:nvSpPr>
        <p:spPr>
          <a:xfrm>
            <a:off x="566928" y="1371600"/>
            <a:ext cx="3527450" cy="1527048"/>
          </a:xfrm>
          <a:prstGeom prst="roundRect">
            <a:avLst>
              <a:gd name="adj" fmla="val 598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Shape 5"/>
          <p:cNvSpPr/>
          <p:nvPr/>
        </p:nvSpPr>
        <p:spPr>
          <a:xfrm>
            <a:off x="786384" y="1591056"/>
            <a:ext cx="365760" cy="365760"/>
          </a:xfrm>
          <a:prstGeom prst="ellipse">
            <a:avLst/>
          </a:prstGeom>
          <a:solidFill>
            <a:srgbClr val="C62828"/>
          </a:solidFill>
          <a:ln w="12700">
            <a:solidFill>
              <a:srgbClr val="C62828"/>
            </a:solidFill>
            <a:prstDash val="solid"/>
          </a:ln>
        </p:spPr>
      </p:sp>
      <p:pic>
        <p:nvPicPr>
          <p:cNvPr id="9" name="Image 1" descr="preencoded.png">    </p:cNvPr>
          <p:cNvPicPr>
            <a:picLocks noChangeAspect="1"/>
          </p:cNvPicPr>
          <p:nvPr/>
        </p:nvPicPr>
        <p:blipFill>
          <a:blip r:embed="rId2"/>
          <a:stretch>
            <a:fillRect/>
          </a:stretch>
        </p:blipFill>
        <p:spPr>
          <a:xfrm>
            <a:off x="877824" y="1682496"/>
            <a:ext cx="182880" cy="182880"/>
          </a:xfrm>
          <a:prstGeom prst="rect">
            <a:avLst/>
          </a:prstGeom>
        </p:spPr>
      </p:pic>
      <p:sp>
        <p:nvSpPr>
          <p:cNvPr id="10" name="Text 6"/>
          <p:cNvSpPr/>
          <p:nvPr/>
        </p:nvSpPr>
        <p:spPr>
          <a:xfrm>
            <a:off x="1280160" y="1591056"/>
            <a:ext cx="2594762" cy="365760"/>
          </a:xfrm>
          <a:prstGeom prst="rect">
            <a:avLst/>
          </a:prstGeom>
          <a:noFill/>
          <a:ln/>
        </p:spPr>
        <p:txBody>
          <a:bodyPr wrap="square" lIns="0" tIns="0" rIns="0" bIns="0" rtlCol="0" anchor="ctr"/>
          <a:lstStyle/>
          <a:p>
            <a:pPr indent="0" marL="0">
              <a:buNone/>
            </a:pPr>
            <a:r>
              <a:rPr lang="en-US" sz="1150" b="1" dirty="0">
                <a:solidFill>
                  <a:srgbClr val="0B2E59"/>
                </a:solidFill>
                <a:latin typeface="Calibri" pitchFamily="34" charset="0"/>
                <a:ea typeface="Calibri" pitchFamily="34" charset="-122"/>
                <a:cs typeface="Calibri" pitchFamily="34" charset="-120"/>
              </a:rPr>
              <a:t>The database is still undecided</a:t>
            </a:r>
            <a:endParaRPr lang="en-US" sz="1150" dirty="0"/>
          </a:p>
        </p:txBody>
      </p:sp>
      <p:sp>
        <p:nvSpPr>
          <p:cNvPr id="11" name="Text 7"/>
          <p:cNvSpPr/>
          <p:nvPr/>
        </p:nvSpPr>
        <p:spPr>
          <a:xfrm>
            <a:off x="786384" y="2002536"/>
            <a:ext cx="3088538" cy="72237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Named only in passing — “Firebase or MongoDB Atlas” in M09, and M10 explicitly instructs that the platform decision must not influence its design. No document chooses.</a:t>
            </a:r>
            <a:endParaRPr lang="en-US" sz="950" dirty="0"/>
          </a:p>
        </p:txBody>
      </p:sp>
      <p:sp>
        <p:nvSpPr>
          <p:cNvPr id="12" name="Shape 8"/>
          <p:cNvSpPr/>
          <p:nvPr/>
        </p:nvSpPr>
        <p:spPr>
          <a:xfrm>
            <a:off x="4332122" y="1371600"/>
            <a:ext cx="3527450" cy="1527048"/>
          </a:xfrm>
          <a:prstGeom prst="roundRect">
            <a:avLst>
              <a:gd name="adj" fmla="val 598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Shape 9"/>
          <p:cNvSpPr/>
          <p:nvPr/>
        </p:nvSpPr>
        <p:spPr>
          <a:xfrm>
            <a:off x="4551578" y="1591056"/>
            <a:ext cx="365760" cy="365760"/>
          </a:xfrm>
          <a:prstGeom prst="ellipse">
            <a:avLst/>
          </a:prstGeom>
          <a:solidFill>
            <a:srgbClr val="F59E0B"/>
          </a:solidFill>
          <a:ln w="12700">
            <a:solidFill>
              <a:srgbClr val="F59E0B"/>
            </a:solidFill>
            <a:prstDash val="solid"/>
          </a:ln>
        </p:spPr>
      </p:sp>
      <p:pic>
        <p:nvPicPr>
          <p:cNvPr id="14" name="Image 2" descr="preencoded.png">    </p:cNvPr>
          <p:cNvPicPr>
            <a:picLocks noChangeAspect="1"/>
          </p:cNvPicPr>
          <p:nvPr/>
        </p:nvPicPr>
        <p:blipFill>
          <a:blip r:embed="rId3"/>
          <a:stretch>
            <a:fillRect/>
          </a:stretch>
        </p:blipFill>
        <p:spPr>
          <a:xfrm>
            <a:off x="4643018" y="1682496"/>
            <a:ext cx="182880" cy="182880"/>
          </a:xfrm>
          <a:prstGeom prst="rect">
            <a:avLst/>
          </a:prstGeom>
        </p:spPr>
      </p:pic>
      <p:sp>
        <p:nvSpPr>
          <p:cNvPr id="15" name="Text 10"/>
          <p:cNvSpPr/>
          <p:nvPr/>
        </p:nvSpPr>
        <p:spPr>
          <a:xfrm>
            <a:off x="5045354" y="1591056"/>
            <a:ext cx="2594762" cy="365760"/>
          </a:xfrm>
          <a:prstGeom prst="rect">
            <a:avLst/>
          </a:prstGeom>
          <a:noFill/>
          <a:ln/>
        </p:spPr>
        <p:txBody>
          <a:bodyPr wrap="square" lIns="0" tIns="0" rIns="0" bIns="0" rtlCol="0" anchor="ctr"/>
          <a:lstStyle/>
          <a:p>
            <a:pPr indent="0" marL="0">
              <a:buNone/>
            </a:pPr>
            <a:r>
              <a:rPr lang="en-US" sz="1150" b="1" dirty="0">
                <a:solidFill>
                  <a:srgbClr val="0B2E59"/>
                </a:solidFill>
                <a:latin typeface="Calibri" pitchFamily="34" charset="0"/>
                <a:ea typeface="Calibri" pitchFamily="34" charset="-122"/>
                <a:cs typeface="Calibri" pitchFamily="34" charset="-120"/>
              </a:rPr>
              <a:t>Module 01 is still marked Draft</a:t>
            </a:r>
            <a:endParaRPr lang="en-US" sz="1150" dirty="0"/>
          </a:p>
        </p:txBody>
      </p:sp>
      <p:sp>
        <p:nvSpPr>
          <p:cNvPr id="16" name="Text 11"/>
          <p:cNvSpPr/>
          <p:nvPr/>
        </p:nvSpPr>
        <p:spPr>
          <a:xfrm>
            <a:off x="4551578" y="2002536"/>
            <a:ext cx="3088538" cy="72237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Every other document reached Final Draft or Completed. Module 01 defines the permission model everything else inherits, so it is the one most worth finalising.</a:t>
            </a:r>
            <a:endParaRPr lang="en-US" sz="950" dirty="0"/>
          </a:p>
        </p:txBody>
      </p:sp>
      <p:sp>
        <p:nvSpPr>
          <p:cNvPr id="17" name="Shape 12"/>
          <p:cNvSpPr/>
          <p:nvPr/>
        </p:nvSpPr>
        <p:spPr>
          <a:xfrm>
            <a:off x="8097317" y="1371600"/>
            <a:ext cx="3527450" cy="1527048"/>
          </a:xfrm>
          <a:prstGeom prst="roundRect">
            <a:avLst>
              <a:gd name="adj" fmla="val 598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Shape 13"/>
          <p:cNvSpPr/>
          <p:nvPr/>
        </p:nvSpPr>
        <p:spPr>
          <a:xfrm>
            <a:off x="8316773" y="1591056"/>
            <a:ext cx="365760" cy="365760"/>
          </a:xfrm>
          <a:prstGeom prst="ellipse">
            <a:avLst/>
          </a:prstGeom>
          <a:solidFill>
            <a:srgbClr val="F59E0B"/>
          </a:solidFill>
          <a:ln w="12700">
            <a:solidFill>
              <a:srgbClr val="F59E0B"/>
            </a:solidFill>
            <a:prstDash val="solid"/>
          </a:ln>
        </p:spPr>
      </p:sp>
      <p:pic>
        <p:nvPicPr>
          <p:cNvPr id="19" name="Image 3" descr="preencoded.png">    </p:cNvPr>
          <p:cNvPicPr>
            <a:picLocks noChangeAspect="1"/>
          </p:cNvPicPr>
          <p:nvPr/>
        </p:nvPicPr>
        <p:blipFill>
          <a:blip r:embed="rId4"/>
          <a:stretch>
            <a:fillRect/>
          </a:stretch>
        </p:blipFill>
        <p:spPr>
          <a:xfrm>
            <a:off x="8408213" y="1682496"/>
            <a:ext cx="182880" cy="182880"/>
          </a:xfrm>
          <a:prstGeom prst="rect">
            <a:avLst/>
          </a:prstGeom>
        </p:spPr>
      </p:pic>
      <p:sp>
        <p:nvSpPr>
          <p:cNvPr id="20" name="Text 14"/>
          <p:cNvSpPr/>
          <p:nvPr/>
        </p:nvSpPr>
        <p:spPr>
          <a:xfrm>
            <a:off x="8810549" y="1591056"/>
            <a:ext cx="2594762" cy="365760"/>
          </a:xfrm>
          <a:prstGeom prst="rect">
            <a:avLst/>
          </a:prstGeom>
          <a:noFill/>
          <a:ln/>
        </p:spPr>
        <p:txBody>
          <a:bodyPr wrap="square" lIns="0" tIns="0" rIns="0" bIns="0" rtlCol="0" anchor="ctr"/>
          <a:lstStyle/>
          <a:p>
            <a:pPr indent="0" marL="0">
              <a:buNone/>
            </a:pPr>
            <a:r>
              <a:rPr lang="en-US" sz="1150" b="1" dirty="0">
                <a:solidFill>
                  <a:srgbClr val="0B2E59"/>
                </a:solidFill>
                <a:latin typeface="Calibri" pitchFamily="34" charset="0"/>
                <a:ea typeface="Calibri" pitchFamily="34" charset="-122"/>
                <a:cs typeface="Calibri" pitchFamily="34" charset="-120"/>
              </a:rPr>
              <a:t>Two “Module 05”s exist</a:t>
            </a:r>
            <a:endParaRPr lang="en-US" sz="1150" dirty="0"/>
          </a:p>
        </p:txBody>
      </p:sp>
      <p:sp>
        <p:nvSpPr>
          <p:cNvPr id="21" name="Text 15"/>
          <p:cNvSpPr/>
          <p:nvPr/>
        </p:nvSpPr>
        <p:spPr>
          <a:xfrm>
            <a:off x="8316773" y="2002536"/>
            <a:ext cx="3088538" cy="72237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M04 closes by naming Module 05 as the Monthly Tracker; the actual Module 05 document is Daily Leads. Monthly Tracker also appears in the sidebar but has no specification.</a:t>
            </a:r>
            <a:endParaRPr lang="en-US" sz="950" dirty="0"/>
          </a:p>
        </p:txBody>
      </p:sp>
      <p:sp>
        <p:nvSpPr>
          <p:cNvPr id="22" name="Shape 16"/>
          <p:cNvSpPr/>
          <p:nvPr/>
        </p:nvSpPr>
        <p:spPr>
          <a:xfrm>
            <a:off x="566928" y="3136392"/>
            <a:ext cx="3527450" cy="1527048"/>
          </a:xfrm>
          <a:prstGeom prst="roundRect">
            <a:avLst>
              <a:gd name="adj" fmla="val 598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Shape 17"/>
          <p:cNvSpPr/>
          <p:nvPr/>
        </p:nvSpPr>
        <p:spPr>
          <a:xfrm>
            <a:off x="786384" y="3355848"/>
            <a:ext cx="365760" cy="365760"/>
          </a:xfrm>
          <a:prstGeom prst="ellipse">
            <a:avLst/>
          </a:prstGeom>
          <a:solidFill>
            <a:srgbClr val="F59E0B"/>
          </a:solidFill>
          <a:ln w="12700">
            <a:solidFill>
              <a:srgbClr val="F59E0B"/>
            </a:solidFill>
            <a:prstDash val="solid"/>
          </a:ln>
        </p:spPr>
      </p:sp>
      <p:pic>
        <p:nvPicPr>
          <p:cNvPr id="24" name="Image 4" descr="preencoded.png">    </p:cNvPr>
          <p:cNvPicPr>
            <a:picLocks noChangeAspect="1"/>
          </p:cNvPicPr>
          <p:nvPr/>
        </p:nvPicPr>
        <p:blipFill>
          <a:blip r:embed="rId5"/>
          <a:stretch>
            <a:fillRect/>
          </a:stretch>
        </p:blipFill>
        <p:spPr>
          <a:xfrm>
            <a:off x="877824" y="3447288"/>
            <a:ext cx="182880" cy="182880"/>
          </a:xfrm>
          <a:prstGeom prst="rect">
            <a:avLst/>
          </a:prstGeom>
        </p:spPr>
      </p:pic>
      <p:sp>
        <p:nvSpPr>
          <p:cNvPr id="25" name="Text 18"/>
          <p:cNvSpPr/>
          <p:nvPr/>
        </p:nvSpPr>
        <p:spPr>
          <a:xfrm>
            <a:off x="1280160" y="3355848"/>
            <a:ext cx="2594762" cy="365760"/>
          </a:xfrm>
          <a:prstGeom prst="rect">
            <a:avLst/>
          </a:prstGeom>
          <a:noFill/>
          <a:ln/>
        </p:spPr>
        <p:txBody>
          <a:bodyPr wrap="square" lIns="0" tIns="0" rIns="0" bIns="0" rtlCol="0" anchor="ctr"/>
          <a:lstStyle/>
          <a:p>
            <a:pPr indent="0" marL="0">
              <a:buNone/>
            </a:pPr>
            <a:r>
              <a:rPr lang="en-US" sz="1150" b="1" dirty="0">
                <a:solidFill>
                  <a:srgbClr val="0B2E59"/>
                </a:solidFill>
                <a:latin typeface="Calibri" pitchFamily="34" charset="0"/>
                <a:ea typeface="Calibri" pitchFamily="34" charset="-122"/>
                <a:cs typeface="Calibri" pitchFamily="34" charset="-120"/>
              </a:rPr>
              <a:t>“Next Module” pointers disagree</a:t>
            </a:r>
            <a:endParaRPr lang="en-US" sz="1150" dirty="0"/>
          </a:p>
        </p:txBody>
      </p:sp>
      <p:sp>
        <p:nvSpPr>
          <p:cNvPr id="26" name="Text 19"/>
          <p:cNvSpPr/>
          <p:nvPr/>
        </p:nvSpPr>
        <p:spPr>
          <a:xfrm>
            <a:off x="786384" y="3767328"/>
            <a:ext cx="3088538" cy="72237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M07 and M08 both promise a Notifications module next. It never materialised — notification preferences ended up inside Settings (M09) instead.</a:t>
            </a:r>
            <a:endParaRPr lang="en-US" sz="950" dirty="0"/>
          </a:p>
        </p:txBody>
      </p:sp>
      <p:sp>
        <p:nvSpPr>
          <p:cNvPr id="27" name="Shape 20"/>
          <p:cNvSpPr/>
          <p:nvPr/>
        </p:nvSpPr>
        <p:spPr>
          <a:xfrm>
            <a:off x="4332122" y="3136392"/>
            <a:ext cx="3527450" cy="1527048"/>
          </a:xfrm>
          <a:prstGeom prst="roundRect">
            <a:avLst>
              <a:gd name="adj" fmla="val 598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8" name="Shape 21"/>
          <p:cNvSpPr/>
          <p:nvPr/>
        </p:nvSpPr>
        <p:spPr>
          <a:xfrm>
            <a:off x="4551578" y="3355848"/>
            <a:ext cx="365760" cy="365760"/>
          </a:xfrm>
          <a:prstGeom prst="ellipse">
            <a:avLst/>
          </a:prstGeom>
          <a:solidFill>
            <a:srgbClr val="175496"/>
          </a:solidFill>
          <a:ln w="12700">
            <a:solidFill>
              <a:srgbClr val="175496"/>
            </a:solidFill>
            <a:prstDash val="solid"/>
          </a:ln>
        </p:spPr>
      </p:sp>
      <p:pic>
        <p:nvPicPr>
          <p:cNvPr id="29" name="Image 5" descr="preencoded.png">    </p:cNvPr>
          <p:cNvPicPr>
            <a:picLocks noChangeAspect="1"/>
          </p:cNvPicPr>
          <p:nvPr/>
        </p:nvPicPr>
        <p:blipFill>
          <a:blip r:embed="rId6"/>
          <a:stretch>
            <a:fillRect/>
          </a:stretch>
        </p:blipFill>
        <p:spPr>
          <a:xfrm>
            <a:off x="4643018" y="3447288"/>
            <a:ext cx="182880" cy="182880"/>
          </a:xfrm>
          <a:prstGeom prst="rect">
            <a:avLst/>
          </a:prstGeom>
        </p:spPr>
      </p:pic>
      <p:sp>
        <p:nvSpPr>
          <p:cNvPr id="30" name="Text 22"/>
          <p:cNvSpPr/>
          <p:nvPr/>
        </p:nvSpPr>
        <p:spPr>
          <a:xfrm>
            <a:off x="5045354" y="3355848"/>
            <a:ext cx="2594762" cy="365760"/>
          </a:xfrm>
          <a:prstGeom prst="rect">
            <a:avLst/>
          </a:prstGeom>
          <a:noFill/>
          <a:ln/>
        </p:spPr>
        <p:txBody>
          <a:bodyPr wrap="square" lIns="0" tIns="0" rIns="0" bIns="0" rtlCol="0" anchor="ctr"/>
          <a:lstStyle/>
          <a:p>
            <a:pPr indent="0" marL="0">
              <a:buNone/>
            </a:pPr>
            <a:r>
              <a:rPr lang="en-US" sz="1150" b="1" dirty="0">
                <a:solidFill>
                  <a:srgbClr val="0B2E59"/>
                </a:solidFill>
                <a:latin typeface="Calibri" pitchFamily="34" charset="0"/>
                <a:ea typeface="Calibri" pitchFamily="34" charset="-122"/>
                <a:cs typeface="Calibri" pitchFamily="34" charset="-120"/>
              </a:rPr>
              <a:t>Two product names in circulation</a:t>
            </a:r>
            <a:endParaRPr lang="en-US" sz="1150" dirty="0"/>
          </a:p>
        </p:txBody>
      </p:sp>
      <p:sp>
        <p:nvSpPr>
          <p:cNvPr id="31" name="Text 23"/>
          <p:cNvSpPr/>
          <p:nvPr/>
        </p:nvSpPr>
        <p:spPr>
          <a:xfrm>
            <a:off x="4551578" y="3767328"/>
            <a:ext cx="3088538" cy="72237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Several documents still say “AMR Coordinator Portal (POMS)” in their executive summaries, while the covers and Design Foundation say iPOMS.</a:t>
            </a:r>
            <a:endParaRPr lang="en-US" sz="950" dirty="0"/>
          </a:p>
        </p:txBody>
      </p:sp>
      <p:sp>
        <p:nvSpPr>
          <p:cNvPr id="32" name="Shape 24"/>
          <p:cNvSpPr/>
          <p:nvPr/>
        </p:nvSpPr>
        <p:spPr>
          <a:xfrm>
            <a:off x="8097317" y="3136392"/>
            <a:ext cx="3527450" cy="1527048"/>
          </a:xfrm>
          <a:prstGeom prst="roundRect">
            <a:avLst>
              <a:gd name="adj" fmla="val 598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3" name="Shape 25"/>
          <p:cNvSpPr/>
          <p:nvPr/>
        </p:nvSpPr>
        <p:spPr>
          <a:xfrm>
            <a:off x="8316773" y="3355848"/>
            <a:ext cx="365760" cy="365760"/>
          </a:xfrm>
          <a:prstGeom prst="ellipse">
            <a:avLst/>
          </a:prstGeom>
          <a:solidFill>
            <a:srgbClr val="2E7D32"/>
          </a:solidFill>
          <a:ln w="12700">
            <a:solidFill>
              <a:srgbClr val="2E7D32"/>
            </a:solidFill>
            <a:prstDash val="solid"/>
          </a:ln>
        </p:spPr>
      </p:sp>
      <p:pic>
        <p:nvPicPr>
          <p:cNvPr id="34" name="Image 6" descr="preencoded.png">    </p:cNvPr>
          <p:cNvPicPr>
            <a:picLocks noChangeAspect="1"/>
          </p:cNvPicPr>
          <p:nvPr/>
        </p:nvPicPr>
        <p:blipFill>
          <a:blip r:embed="rId7"/>
          <a:stretch>
            <a:fillRect/>
          </a:stretch>
        </p:blipFill>
        <p:spPr>
          <a:xfrm>
            <a:off x="8408213" y="3447288"/>
            <a:ext cx="182880" cy="182880"/>
          </a:xfrm>
          <a:prstGeom prst="rect">
            <a:avLst/>
          </a:prstGeom>
        </p:spPr>
      </p:pic>
      <p:sp>
        <p:nvSpPr>
          <p:cNvPr id="35" name="Text 26"/>
          <p:cNvSpPr/>
          <p:nvPr/>
        </p:nvSpPr>
        <p:spPr>
          <a:xfrm>
            <a:off x="8810549" y="3355848"/>
            <a:ext cx="2594762" cy="365760"/>
          </a:xfrm>
          <a:prstGeom prst="rect">
            <a:avLst/>
          </a:prstGeom>
          <a:noFill/>
          <a:ln/>
        </p:spPr>
        <p:txBody>
          <a:bodyPr wrap="square" lIns="0" tIns="0" rIns="0" bIns="0" rtlCol="0" anchor="ctr"/>
          <a:lstStyle/>
          <a:p>
            <a:pPr indent="0" marL="0">
              <a:buNone/>
            </a:pPr>
            <a:r>
              <a:rPr lang="en-US" sz="1150" b="1" dirty="0">
                <a:solidFill>
                  <a:srgbClr val="0B2E59"/>
                </a:solidFill>
                <a:latin typeface="Calibri" pitchFamily="34" charset="0"/>
                <a:ea typeface="Calibri" pitchFamily="34" charset="-122"/>
                <a:cs typeface="Calibri" pitchFamily="34" charset="-120"/>
              </a:rPr>
              <a:t>None of this blocks the next step</a:t>
            </a:r>
            <a:endParaRPr lang="en-US" sz="1150" dirty="0"/>
          </a:p>
        </p:txBody>
      </p:sp>
      <p:sp>
        <p:nvSpPr>
          <p:cNvPr id="36" name="Text 27"/>
          <p:cNvSpPr/>
          <p:nvPr/>
        </p:nvSpPr>
        <p:spPr>
          <a:xfrm>
            <a:off x="8316773" y="3767328"/>
            <a:ext cx="3088538" cy="72237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All eleven are pending formal sign-off on their Approval Sheets. These are tidy-up items, not unresolved product questions.</a:t>
            </a:r>
            <a:endParaRPr lang="en-US" sz="950" dirty="0"/>
          </a:p>
        </p:txBody>
      </p:sp>
      <p:sp>
        <p:nvSpPr>
          <p:cNvPr id="37" name="Shape 28"/>
          <p:cNvSpPr/>
          <p:nvPr/>
        </p:nvSpPr>
        <p:spPr>
          <a:xfrm>
            <a:off x="566928" y="4864608"/>
            <a:ext cx="11057839" cy="987552"/>
          </a:xfrm>
          <a:prstGeom prst="roundRect">
            <a:avLst>
              <a:gd name="adj" fmla="val 9259"/>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8" name="Text 29"/>
          <p:cNvSpPr/>
          <p:nvPr/>
        </p:nvSpPr>
        <p:spPr>
          <a:xfrm>
            <a:off x="786384" y="5084064"/>
            <a:ext cx="10618927"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The one decision with real consequences</a:t>
            </a:r>
            <a:endParaRPr lang="en-US" sz="1350" dirty="0"/>
          </a:p>
        </p:txBody>
      </p:sp>
      <p:sp>
        <p:nvSpPr>
          <p:cNvPr id="39" name="Text 30"/>
          <p:cNvSpPr/>
          <p:nvPr/>
        </p:nvSpPr>
        <p:spPr>
          <a:xfrm>
            <a:off x="786384" y="5404104"/>
            <a:ext cx="10618927" cy="274320"/>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The database platform. Every module has been written to be storage-agnostic, which is why it has not blocked anything so far — but schema, security rules and the folder structure all depend on it, and none of that can be specified until it is chosen.</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STATUS</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Business design is complete</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43</a:t>
            </a:r>
            <a:endParaRPr lang="en-US" sz="950" dirty="0"/>
          </a:p>
        </p:txBody>
      </p:sp>
      <p:sp>
        <p:nvSpPr>
          <p:cNvPr id="7" name="Shape 4"/>
          <p:cNvSpPr/>
          <p:nvPr/>
        </p:nvSpPr>
        <p:spPr>
          <a:xfrm>
            <a:off x="566928" y="1371600"/>
            <a:ext cx="2627300" cy="1188720"/>
          </a:xfrm>
          <a:prstGeom prst="roundRect">
            <a:avLst>
              <a:gd name="adj" fmla="val 769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Text 5"/>
          <p:cNvSpPr/>
          <p:nvPr/>
        </p:nvSpPr>
        <p:spPr>
          <a:xfrm>
            <a:off x="566928" y="1490472"/>
            <a:ext cx="2627300" cy="475488"/>
          </a:xfrm>
          <a:prstGeom prst="rect">
            <a:avLst/>
          </a:prstGeom>
          <a:noFill/>
          <a:ln/>
        </p:spPr>
        <p:txBody>
          <a:bodyPr wrap="square" lIns="0" tIns="0" rIns="0" bIns="0" rtlCol="0" anchor="ctr"/>
          <a:lstStyle/>
          <a:p>
            <a:pPr algn="ctr" indent="0" marL="0">
              <a:buNone/>
            </a:pPr>
            <a:r>
              <a:rPr lang="en-US" sz="3400" b="1" dirty="0">
                <a:solidFill>
                  <a:srgbClr val="0B2E59"/>
                </a:solidFill>
                <a:latin typeface="Calibri" pitchFamily="34" charset="0"/>
                <a:ea typeface="Calibri" pitchFamily="34" charset="-122"/>
                <a:cs typeface="Calibri" pitchFamily="34" charset="-120"/>
              </a:rPr>
              <a:t>11</a:t>
            </a:r>
            <a:endParaRPr lang="en-US" sz="3400" dirty="0"/>
          </a:p>
        </p:txBody>
      </p:sp>
      <p:sp>
        <p:nvSpPr>
          <p:cNvPr id="9" name="Text 6"/>
          <p:cNvSpPr/>
          <p:nvPr/>
        </p:nvSpPr>
        <p:spPr>
          <a:xfrm>
            <a:off x="621792" y="1975104"/>
            <a:ext cx="2517572" cy="53035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Specification documents</a:t>
            </a:r>
            <a:endParaRPr lang="en-US" sz="950" dirty="0"/>
          </a:p>
        </p:txBody>
      </p:sp>
      <p:sp>
        <p:nvSpPr>
          <p:cNvPr id="10" name="Shape 7"/>
          <p:cNvSpPr/>
          <p:nvPr/>
        </p:nvSpPr>
        <p:spPr>
          <a:xfrm>
            <a:off x="3377108" y="1371600"/>
            <a:ext cx="2627300" cy="1188720"/>
          </a:xfrm>
          <a:prstGeom prst="roundRect">
            <a:avLst>
              <a:gd name="adj" fmla="val 769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1" name="Text 8"/>
          <p:cNvSpPr/>
          <p:nvPr/>
        </p:nvSpPr>
        <p:spPr>
          <a:xfrm>
            <a:off x="3377108" y="1490472"/>
            <a:ext cx="2627300" cy="475488"/>
          </a:xfrm>
          <a:prstGeom prst="rect">
            <a:avLst/>
          </a:prstGeom>
          <a:noFill/>
          <a:ln/>
        </p:spPr>
        <p:txBody>
          <a:bodyPr wrap="square" lIns="0" tIns="0" rIns="0" bIns="0" rtlCol="0" anchor="ctr"/>
          <a:lstStyle/>
          <a:p>
            <a:pPr algn="ctr" indent="0" marL="0">
              <a:buNone/>
            </a:pPr>
            <a:r>
              <a:rPr lang="en-US" sz="3400" b="1" dirty="0">
                <a:solidFill>
                  <a:srgbClr val="2E7D32"/>
                </a:solidFill>
                <a:latin typeface="Calibri" pitchFamily="34" charset="0"/>
                <a:ea typeface="Calibri" pitchFamily="34" charset="-122"/>
                <a:cs typeface="Calibri" pitchFamily="34" charset="-120"/>
              </a:rPr>
              <a:t>10</a:t>
            </a:r>
            <a:endParaRPr lang="en-US" sz="3400" dirty="0"/>
          </a:p>
        </p:txBody>
      </p:sp>
      <p:sp>
        <p:nvSpPr>
          <p:cNvPr id="12" name="Text 9"/>
          <p:cNvSpPr/>
          <p:nvPr/>
        </p:nvSpPr>
        <p:spPr>
          <a:xfrm>
            <a:off x="3431972" y="1975104"/>
            <a:ext cx="2517572" cy="53035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Modules fully specified</a:t>
            </a:r>
            <a:endParaRPr lang="en-US" sz="950" dirty="0"/>
          </a:p>
        </p:txBody>
      </p:sp>
      <p:sp>
        <p:nvSpPr>
          <p:cNvPr id="13" name="Shape 10"/>
          <p:cNvSpPr/>
          <p:nvPr/>
        </p:nvSpPr>
        <p:spPr>
          <a:xfrm>
            <a:off x="6187288" y="1371600"/>
            <a:ext cx="2627300" cy="1188720"/>
          </a:xfrm>
          <a:prstGeom prst="roundRect">
            <a:avLst>
              <a:gd name="adj" fmla="val 769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4" name="Text 11"/>
          <p:cNvSpPr/>
          <p:nvPr/>
        </p:nvSpPr>
        <p:spPr>
          <a:xfrm>
            <a:off x="6187288" y="1490472"/>
            <a:ext cx="2627300" cy="475488"/>
          </a:xfrm>
          <a:prstGeom prst="rect">
            <a:avLst/>
          </a:prstGeom>
          <a:noFill/>
          <a:ln/>
        </p:spPr>
        <p:txBody>
          <a:bodyPr wrap="square" lIns="0" tIns="0" rIns="0" bIns="0" rtlCol="0" anchor="ctr"/>
          <a:lstStyle/>
          <a:p>
            <a:pPr algn="ctr" indent="0" marL="0">
              <a:buNone/>
            </a:pPr>
            <a:r>
              <a:rPr lang="en-US" sz="3400" b="1" dirty="0">
                <a:solidFill>
                  <a:srgbClr val="175496"/>
                </a:solidFill>
                <a:latin typeface="Calibri" pitchFamily="34" charset="0"/>
                <a:ea typeface="Calibri" pitchFamily="34" charset="-122"/>
                <a:cs typeface="Calibri" pitchFamily="34" charset="-120"/>
              </a:rPr>
              <a:t>9</a:t>
            </a:r>
            <a:endParaRPr lang="en-US" sz="3400" dirty="0"/>
          </a:p>
        </p:txBody>
      </p:sp>
      <p:sp>
        <p:nvSpPr>
          <p:cNvPr id="15" name="Text 12"/>
          <p:cNvSpPr/>
          <p:nvPr/>
        </p:nvSpPr>
        <p:spPr>
          <a:xfrm>
            <a:off x="6242152" y="1975104"/>
            <a:ext cx="2517572" cy="53035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Documented reversals</a:t>
            </a:r>
            <a:endParaRPr lang="en-US" sz="950" dirty="0"/>
          </a:p>
        </p:txBody>
      </p:sp>
      <p:sp>
        <p:nvSpPr>
          <p:cNvPr id="16" name="Shape 13"/>
          <p:cNvSpPr/>
          <p:nvPr/>
        </p:nvSpPr>
        <p:spPr>
          <a:xfrm>
            <a:off x="8997467" y="1371600"/>
            <a:ext cx="2627300" cy="1188720"/>
          </a:xfrm>
          <a:prstGeom prst="roundRect">
            <a:avLst>
              <a:gd name="adj" fmla="val 769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7" name="Text 14"/>
          <p:cNvSpPr/>
          <p:nvPr/>
        </p:nvSpPr>
        <p:spPr>
          <a:xfrm>
            <a:off x="8997467" y="1490472"/>
            <a:ext cx="2627300" cy="475488"/>
          </a:xfrm>
          <a:prstGeom prst="rect">
            <a:avLst/>
          </a:prstGeom>
          <a:noFill/>
          <a:ln/>
        </p:spPr>
        <p:txBody>
          <a:bodyPr wrap="square" lIns="0" tIns="0" rIns="0" bIns="0" rtlCol="0" anchor="ctr"/>
          <a:lstStyle/>
          <a:p>
            <a:pPr algn="ctr" indent="0" marL="0">
              <a:buNone/>
            </a:pPr>
            <a:r>
              <a:rPr lang="en-US" sz="3400" b="1" dirty="0">
                <a:solidFill>
                  <a:srgbClr val="B26A00"/>
                </a:solidFill>
                <a:latin typeface="Calibri" pitchFamily="34" charset="0"/>
                <a:ea typeface="Calibri" pitchFamily="34" charset="-122"/>
                <a:cs typeface="Calibri" pitchFamily="34" charset="-120"/>
              </a:rPr>
              <a:t>11</a:t>
            </a:r>
            <a:endParaRPr lang="en-US" sz="3400" dirty="0"/>
          </a:p>
        </p:txBody>
      </p:sp>
      <p:sp>
        <p:nvSpPr>
          <p:cNvPr id="18" name="Text 15"/>
          <p:cNvSpPr/>
          <p:nvPr/>
        </p:nvSpPr>
        <p:spPr>
          <a:xfrm>
            <a:off x="9052331" y="1975104"/>
            <a:ext cx="2517572" cy="53035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Approval sheets pending</a:t>
            </a:r>
            <a:endParaRPr lang="en-US" sz="950" dirty="0"/>
          </a:p>
        </p:txBody>
      </p:sp>
      <p:sp>
        <p:nvSpPr>
          <p:cNvPr id="19" name="Text 16"/>
          <p:cNvSpPr/>
          <p:nvPr/>
        </p:nvSpPr>
        <p:spPr>
          <a:xfrm>
            <a:off x="566928" y="279806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WHAT MODULE 10 SAYS COMES NEXT</a:t>
            </a:r>
            <a:endParaRPr lang="en-US" sz="950" dirty="0"/>
          </a:p>
        </p:txBody>
      </p:sp>
      <p:sp>
        <p:nvSpPr>
          <p:cNvPr id="20" name="Shape 17"/>
          <p:cNvSpPr/>
          <p:nvPr/>
        </p:nvSpPr>
        <p:spPr>
          <a:xfrm>
            <a:off x="566928" y="3054096"/>
            <a:ext cx="3564026" cy="512064"/>
          </a:xfrm>
          <a:prstGeom prst="roundRect">
            <a:avLst>
              <a:gd name="adj" fmla="val 89286"/>
            </a:avLst>
          </a:prstGeom>
          <a:solidFill>
            <a:srgbClr val="EAF5EB"/>
          </a:solidFill>
          <a:ln w="9525">
            <a:solidFill>
              <a:srgbClr val="E1E8F0"/>
            </a:solidFill>
            <a:prstDash val="solid"/>
          </a:ln>
        </p:spPr>
      </p:sp>
      <p:sp>
        <p:nvSpPr>
          <p:cNvPr id="21" name="Text 18"/>
          <p:cNvSpPr/>
          <p:nvPr/>
        </p:nvSpPr>
        <p:spPr>
          <a:xfrm>
            <a:off x="612648" y="3054096"/>
            <a:ext cx="3472586" cy="512064"/>
          </a:xfrm>
          <a:prstGeom prst="rect">
            <a:avLst/>
          </a:prstGeom>
          <a:noFill/>
          <a:ln/>
        </p:spPr>
        <p:txBody>
          <a:bodyPr wrap="square" lIns="0" tIns="0" rIns="0" bIns="0" rtlCol="0" anchor="ctr"/>
          <a:lstStyle/>
          <a:p>
            <a:pPr algn="ctr" indent="0" marL="0">
              <a:buNone/>
            </a:pPr>
            <a:r>
              <a:rPr lang="en-US" sz="1050" b="1" dirty="0">
                <a:solidFill>
                  <a:srgbClr val="2E7D32"/>
                </a:solidFill>
                <a:latin typeface="Calibri" pitchFamily="34" charset="0"/>
                <a:ea typeface="Calibri" pitchFamily="34" charset="-122"/>
                <a:cs typeface="Calibri" pitchFamily="34" charset="-120"/>
              </a:rPr>
              <a:t>Business design — complete</a:t>
            </a:r>
            <a:endParaRPr lang="en-US" sz="1050" dirty="0"/>
          </a:p>
        </p:txBody>
      </p:sp>
      <p:sp>
        <p:nvSpPr>
          <p:cNvPr id="22" name="Text 19"/>
          <p:cNvSpPr/>
          <p:nvPr/>
        </p:nvSpPr>
        <p:spPr>
          <a:xfrm>
            <a:off x="4130954" y="3054096"/>
            <a:ext cx="182880" cy="512064"/>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3" name="Shape 20"/>
          <p:cNvSpPr/>
          <p:nvPr/>
        </p:nvSpPr>
        <p:spPr>
          <a:xfrm>
            <a:off x="4313834" y="3054096"/>
            <a:ext cx="3564026" cy="512064"/>
          </a:xfrm>
          <a:prstGeom prst="roundRect">
            <a:avLst>
              <a:gd name="adj" fmla="val 89286"/>
            </a:avLst>
          </a:prstGeom>
          <a:solidFill>
            <a:srgbClr val="EAF5EB"/>
          </a:solidFill>
          <a:ln w="9525">
            <a:solidFill>
              <a:srgbClr val="E1E8F0"/>
            </a:solidFill>
            <a:prstDash val="solid"/>
          </a:ln>
        </p:spPr>
      </p:sp>
      <p:sp>
        <p:nvSpPr>
          <p:cNvPr id="24" name="Text 21"/>
          <p:cNvSpPr/>
          <p:nvPr/>
        </p:nvSpPr>
        <p:spPr>
          <a:xfrm>
            <a:off x="4359554" y="3054096"/>
            <a:ext cx="3472586" cy="512064"/>
          </a:xfrm>
          <a:prstGeom prst="rect">
            <a:avLst/>
          </a:prstGeom>
          <a:noFill/>
          <a:ln/>
        </p:spPr>
        <p:txBody>
          <a:bodyPr wrap="square" lIns="0" tIns="0" rIns="0" bIns="0" rtlCol="0" anchor="ctr"/>
          <a:lstStyle/>
          <a:p>
            <a:pPr algn="ctr" indent="0" marL="0">
              <a:buNone/>
            </a:pPr>
            <a:r>
              <a:rPr lang="en-US" sz="1050" b="1" dirty="0">
                <a:solidFill>
                  <a:srgbClr val="2E7D32"/>
                </a:solidFill>
                <a:latin typeface="Calibri" pitchFamily="34" charset="0"/>
                <a:ea typeface="Calibri" pitchFamily="34" charset="-122"/>
                <a:cs typeface="Calibri" pitchFamily="34" charset="-120"/>
              </a:rPr>
              <a:t>UI Visual Identity — frozen</a:t>
            </a:r>
            <a:endParaRPr lang="en-US" sz="1050" dirty="0"/>
          </a:p>
        </p:txBody>
      </p:sp>
      <p:sp>
        <p:nvSpPr>
          <p:cNvPr id="25" name="Text 22"/>
          <p:cNvSpPr/>
          <p:nvPr/>
        </p:nvSpPr>
        <p:spPr>
          <a:xfrm>
            <a:off x="7877861" y="3054096"/>
            <a:ext cx="182880" cy="512064"/>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6" name="Shape 23"/>
          <p:cNvSpPr/>
          <p:nvPr/>
        </p:nvSpPr>
        <p:spPr>
          <a:xfrm>
            <a:off x="8060741" y="3054096"/>
            <a:ext cx="3564026" cy="512064"/>
          </a:xfrm>
          <a:prstGeom prst="roundRect">
            <a:avLst>
              <a:gd name="adj" fmla="val 89286"/>
            </a:avLst>
          </a:prstGeom>
          <a:solidFill>
            <a:srgbClr val="EAF5EB"/>
          </a:solidFill>
          <a:ln w="9525">
            <a:solidFill>
              <a:srgbClr val="E1E8F0"/>
            </a:solidFill>
            <a:prstDash val="solid"/>
          </a:ln>
        </p:spPr>
      </p:sp>
      <p:sp>
        <p:nvSpPr>
          <p:cNvPr id="27" name="Text 24"/>
          <p:cNvSpPr/>
          <p:nvPr/>
        </p:nvSpPr>
        <p:spPr>
          <a:xfrm>
            <a:off x="8106461" y="3054096"/>
            <a:ext cx="3472586" cy="512064"/>
          </a:xfrm>
          <a:prstGeom prst="rect">
            <a:avLst/>
          </a:prstGeom>
          <a:noFill/>
          <a:ln/>
        </p:spPr>
        <p:txBody>
          <a:bodyPr wrap="square" lIns="0" tIns="0" rIns="0" bIns="0" rtlCol="0" anchor="ctr"/>
          <a:lstStyle/>
          <a:p>
            <a:pPr algn="ctr" indent="0" marL="0">
              <a:buNone/>
            </a:pPr>
            <a:r>
              <a:rPr lang="en-US" sz="1050" b="1" dirty="0">
                <a:solidFill>
                  <a:srgbClr val="2E7D32"/>
                </a:solidFill>
                <a:latin typeface="Calibri" pitchFamily="34" charset="0"/>
                <a:ea typeface="Calibri" pitchFamily="34" charset="-122"/>
                <a:cs typeface="Calibri" pitchFamily="34" charset="-120"/>
              </a:rPr>
              <a:t>Component Library — frozen</a:t>
            </a:r>
            <a:endParaRPr lang="en-US" sz="1050" dirty="0"/>
          </a:p>
        </p:txBody>
      </p:sp>
      <p:sp>
        <p:nvSpPr>
          <p:cNvPr id="28" name="Shape 25"/>
          <p:cNvSpPr/>
          <p:nvPr/>
        </p:nvSpPr>
        <p:spPr>
          <a:xfrm>
            <a:off x="566928" y="3675888"/>
            <a:ext cx="3564026" cy="512064"/>
          </a:xfrm>
          <a:prstGeom prst="roundRect">
            <a:avLst>
              <a:gd name="adj" fmla="val 89286"/>
            </a:avLst>
          </a:prstGeom>
          <a:solidFill>
            <a:srgbClr val="F1F4F8"/>
          </a:solidFill>
          <a:ln w="9525">
            <a:solidFill>
              <a:srgbClr val="E1E8F0"/>
            </a:solidFill>
            <a:prstDash val="solid"/>
          </a:ln>
        </p:spPr>
      </p:sp>
      <p:sp>
        <p:nvSpPr>
          <p:cNvPr id="29" name="Text 26"/>
          <p:cNvSpPr/>
          <p:nvPr/>
        </p:nvSpPr>
        <p:spPr>
          <a:xfrm>
            <a:off x="612648" y="3675888"/>
            <a:ext cx="3472586" cy="512064"/>
          </a:xfrm>
          <a:prstGeom prst="rect">
            <a:avLst/>
          </a:prstGeom>
          <a:noFill/>
          <a:ln/>
        </p:spPr>
        <p:txBody>
          <a:bodyPr wrap="square" lIns="0" tIns="0" rIns="0" bIns="0" rtlCol="0" anchor="ctr"/>
          <a:lstStyle/>
          <a:p>
            <a:pPr algn="ctr" indent="0" marL="0">
              <a:buNone/>
            </a:pPr>
            <a:r>
              <a:rPr lang="en-US" sz="1050" b="1" dirty="0">
                <a:solidFill>
                  <a:srgbClr val="6B7A8C"/>
                </a:solidFill>
                <a:latin typeface="Calibri" pitchFamily="34" charset="0"/>
                <a:ea typeface="Calibri" pitchFamily="34" charset="-122"/>
                <a:cs typeface="Calibri" pitchFamily="34" charset="-120"/>
              </a:rPr>
              <a:t>Screen Blueprint System</a:t>
            </a:r>
            <a:endParaRPr lang="en-US" sz="1050" dirty="0"/>
          </a:p>
        </p:txBody>
      </p:sp>
      <p:sp>
        <p:nvSpPr>
          <p:cNvPr id="30" name="Text 27"/>
          <p:cNvSpPr/>
          <p:nvPr/>
        </p:nvSpPr>
        <p:spPr>
          <a:xfrm>
            <a:off x="4130954" y="3675888"/>
            <a:ext cx="182880" cy="512064"/>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1" name="Shape 28"/>
          <p:cNvSpPr/>
          <p:nvPr/>
        </p:nvSpPr>
        <p:spPr>
          <a:xfrm>
            <a:off x="4313834" y="3675888"/>
            <a:ext cx="3564026" cy="512064"/>
          </a:xfrm>
          <a:prstGeom prst="roundRect">
            <a:avLst>
              <a:gd name="adj" fmla="val 89286"/>
            </a:avLst>
          </a:prstGeom>
          <a:solidFill>
            <a:srgbClr val="F1F4F8"/>
          </a:solidFill>
          <a:ln w="9525">
            <a:solidFill>
              <a:srgbClr val="E1E8F0"/>
            </a:solidFill>
            <a:prstDash val="solid"/>
          </a:ln>
        </p:spPr>
      </p:sp>
      <p:sp>
        <p:nvSpPr>
          <p:cNvPr id="32" name="Text 29"/>
          <p:cNvSpPr/>
          <p:nvPr/>
        </p:nvSpPr>
        <p:spPr>
          <a:xfrm>
            <a:off x="4359554" y="3675888"/>
            <a:ext cx="3472586" cy="512064"/>
          </a:xfrm>
          <a:prstGeom prst="rect">
            <a:avLst/>
          </a:prstGeom>
          <a:noFill/>
          <a:ln/>
        </p:spPr>
        <p:txBody>
          <a:bodyPr wrap="square" lIns="0" tIns="0" rIns="0" bIns="0" rtlCol="0" anchor="ctr"/>
          <a:lstStyle/>
          <a:p>
            <a:pPr algn="ctr" indent="0" marL="0">
              <a:buNone/>
            </a:pPr>
            <a:r>
              <a:rPr lang="en-US" sz="1050" b="1" dirty="0">
                <a:solidFill>
                  <a:srgbClr val="6B7A8C"/>
                </a:solidFill>
                <a:latin typeface="Calibri" pitchFamily="34" charset="0"/>
                <a:ea typeface="Calibri" pitchFamily="34" charset="-122"/>
                <a:cs typeface="Calibri" pitchFamily="34" charset="-120"/>
              </a:rPr>
              <a:t>Technical Architecture</a:t>
            </a:r>
            <a:endParaRPr lang="en-US" sz="1050" dirty="0"/>
          </a:p>
        </p:txBody>
      </p:sp>
      <p:sp>
        <p:nvSpPr>
          <p:cNvPr id="33" name="Text 30"/>
          <p:cNvSpPr/>
          <p:nvPr/>
        </p:nvSpPr>
        <p:spPr>
          <a:xfrm>
            <a:off x="7877861" y="3675888"/>
            <a:ext cx="182880" cy="512064"/>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4" name="Shape 31"/>
          <p:cNvSpPr/>
          <p:nvPr/>
        </p:nvSpPr>
        <p:spPr>
          <a:xfrm>
            <a:off x="8060741" y="3675888"/>
            <a:ext cx="3564026" cy="512064"/>
          </a:xfrm>
          <a:prstGeom prst="roundRect">
            <a:avLst>
              <a:gd name="adj" fmla="val 89286"/>
            </a:avLst>
          </a:prstGeom>
          <a:solidFill>
            <a:srgbClr val="F1F4F8"/>
          </a:solidFill>
          <a:ln w="9525">
            <a:solidFill>
              <a:srgbClr val="E1E8F0"/>
            </a:solidFill>
            <a:prstDash val="solid"/>
          </a:ln>
        </p:spPr>
      </p:sp>
      <p:sp>
        <p:nvSpPr>
          <p:cNvPr id="35" name="Text 32"/>
          <p:cNvSpPr/>
          <p:nvPr/>
        </p:nvSpPr>
        <p:spPr>
          <a:xfrm>
            <a:off x="8106461" y="3675888"/>
            <a:ext cx="3472586" cy="512064"/>
          </a:xfrm>
          <a:prstGeom prst="rect">
            <a:avLst/>
          </a:prstGeom>
          <a:noFill/>
          <a:ln/>
        </p:spPr>
        <p:txBody>
          <a:bodyPr wrap="square" lIns="0" tIns="0" rIns="0" bIns="0" rtlCol="0" anchor="ctr"/>
          <a:lstStyle/>
          <a:p>
            <a:pPr algn="ctr" indent="0" marL="0">
              <a:buNone/>
            </a:pPr>
            <a:r>
              <a:rPr lang="en-US" sz="1050" b="1" dirty="0">
                <a:solidFill>
                  <a:srgbClr val="6B7A8C"/>
                </a:solidFill>
                <a:latin typeface="Calibri" pitchFamily="34" charset="0"/>
                <a:ea typeface="Calibri" pitchFamily="34" charset="-122"/>
                <a:cs typeface="Calibri" pitchFamily="34" charset="-120"/>
              </a:rPr>
              <a:t>Build</a:t>
            </a:r>
            <a:endParaRPr lang="en-US" sz="1050" dirty="0"/>
          </a:p>
        </p:txBody>
      </p:sp>
      <p:sp>
        <p:nvSpPr>
          <p:cNvPr id="36" name="Shape 33"/>
          <p:cNvSpPr/>
          <p:nvPr/>
        </p:nvSpPr>
        <p:spPr>
          <a:xfrm>
            <a:off x="566928" y="4370832"/>
            <a:ext cx="3527450" cy="1481328"/>
          </a:xfrm>
          <a:prstGeom prst="roundRect">
            <a:avLst>
              <a:gd name="adj" fmla="val 617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7" name="Shape 34"/>
          <p:cNvSpPr/>
          <p:nvPr/>
        </p:nvSpPr>
        <p:spPr>
          <a:xfrm>
            <a:off x="786384" y="4590288"/>
            <a:ext cx="365760" cy="365760"/>
          </a:xfrm>
          <a:prstGeom prst="ellipse">
            <a:avLst/>
          </a:prstGeom>
          <a:solidFill>
            <a:srgbClr val="2E7D32"/>
          </a:solidFill>
          <a:ln w="12700">
            <a:solidFill>
              <a:srgbClr val="2E7D32"/>
            </a:solidFill>
            <a:prstDash val="solid"/>
          </a:ln>
        </p:spPr>
      </p:sp>
      <p:pic>
        <p:nvPicPr>
          <p:cNvPr id="38" name="Image 1" descr="preencoded.png">    </p:cNvPr>
          <p:cNvPicPr>
            <a:picLocks noChangeAspect="1"/>
          </p:cNvPicPr>
          <p:nvPr/>
        </p:nvPicPr>
        <p:blipFill>
          <a:blip r:embed="rId2"/>
          <a:stretch>
            <a:fillRect/>
          </a:stretch>
        </p:blipFill>
        <p:spPr>
          <a:xfrm>
            <a:off x="877824" y="4681728"/>
            <a:ext cx="182880" cy="182880"/>
          </a:xfrm>
          <a:prstGeom prst="rect">
            <a:avLst/>
          </a:prstGeom>
        </p:spPr>
      </p:pic>
      <p:sp>
        <p:nvSpPr>
          <p:cNvPr id="39" name="Text 35"/>
          <p:cNvSpPr/>
          <p:nvPr/>
        </p:nvSpPr>
        <p:spPr>
          <a:xfrm>
            <a:off x="1280160" y="4590288"/>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Done</a:t>
            </a:r>
            <a:endParaRPr lang="en-US" sz="1200" dirty="0"/>
          </a:p>
        </p:txBody>
      </p:sp>
      <p:sp>
        <p:nvSpPr>
          <p:cNvPr id="40" name="Text 36"/>
          <p:cNvSpPr/>
          <p:nvPr/>
        </p:nvSpPr>
        <p:spPr>
          <a:xfrm>
            <a:off x="786384" y="5001768"/>
            <a:ext cx="3088538" cy="67665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Ten modules specified end to end — purpose, data model, workflow, business rules, permissions, integration and deferred scope, each written up as a numbered document.</a:t>
            </a:r>
            <a:endParaRPr lang="en-US" sz="950" dirty="0"/>
          </a:p>
        </p:txBody>
      </p:sp>
      <p:sp>
        <p:nvSpPr>
          <p:cNvPr id="41" name="Shape 37"/>
          <p:cNvSpPr/>
          <p:nvPr/>
        </p:nvSpPr>
        <p:spPr>
          <a:xfrm>
            <a:off x="4332122" y="4370832"/>
            <a:ext cx="3527450" cy="1481328"/>
          </a:xfrm>
          <a:prstGeom prst="roundRect">
            <a:avLst>
              <a:gd name="adj" fmla="val 617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2" name="Shape 38"/>
          <p:cNvSpPr/>
          <p:nvPr/>
        </p:nvSpPr>
        <p:spPr>
          <a:xfrm>
            <a:off x="4551578" y="4590288"/>
            <a:ext cx="365760" cy="365760"/>
          </a:xfrm>
          <a:prstGeom prst="ellipse">
            <a:avLst/>
          </a:prstGeom>
          <a:solidFill>
            <a:srgbClr val="F59E0B"/>
          </a:solidFill>
          <a:ln w="12700">
            <a:solidFill>
              <a:srgbClr val="F59E0B"/>
            </a:solidFill>
            <a:prstDash val="solid"/>
          </a:ln>
        </p:spPr>
      </p:sp>
      <p:pic>
        <p:nvPicPr>
          <p:cNvPr id="43" name="Image 2" descr="preencoded.png">    </p:cNvPr>
          <p:cNvPicPr>
            <a:picLocks noChangeAspect="1"/>
          </p:cNvPicPr>
          <p:nvPr/>
        </p:nvPicPr>
        <p:blipFill>
          <a:blip r:embed="rId3"/>
          <a:stretch>
            <a:fillRect/>
          </a:stretch>
        </p:blipFill>
        <p:spPr>
          <a:xfrm>
            <a:off x="4643018" y="4681728"/>
            <a:ext cx="182880" cy="182880"/>
          </a:xfrm>
          <a:prstGeom prst="rect">
            <a:avLst/>
          </a:prstGeom>
        </p:spPr>
      </p:pic>
      <p:sp>
        <p:nvSpPr>
          <p:cNvPr id="44" name="Text 39"/>
          <p:cNvSpPr/>
          <p:nvPr/>
        </p:nvSpPr>
        <p:spPr>
          <a:xfrm>
            <a:off x="5045354" y="4590288"/>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Immediately outstanding</a:t>
            </a:r>
            <a:endParaRPr lang="en-US" sz="1200" dirty="0"/>
          </a:p>
        </p:txBody>
      </p:sp>
      <p:sp>
        <p:nvSpPr>
          <p:cNvPr id="45" name="Text 40"/>
          <p:cNvSpPr/>
          <p:nvPr/>
        </p:nvSpPr>
        <p:spPr>
          <a:xfrm>
            <a:off x="4551578" y="5001768"/>
            <a:ext cx="3088538" cy="67665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Formal sign-off on all eleven Approval Sheets · finalise Module 01 out of Draft · reconcile the Module 05 / Monthly Tracker numbering · settle on one product name.</a:t>
            </a:r>
            <a:endParaRPr lang="en-US" sz="950" dirty="0"/>
          </a:p>
        </p:txBody>
      </p:sp>
      <p:sp>
        <p:nvSpPr>
          <p:cNvPr id="46" name="Shape 41"/>
          <p:cNvSpPr/>
          <p:nvPr/>
        </p:nvSpPr>
        <p:spPr>
          <a:xfrm>
            <a:off x="8097317" y="4370832"/>
            <a:ext cx="3527450" cy="1481328"/>
          </a:xfrm>
          <a:prstGeom prst="roundRect">
            <a:avLst>
              <a:gd name="adj" fmla="val 617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7" name="Shape 42"/>
          <p:cNvSpPr/>
          <p:nvPr/>
        </p:nvSpPr>
        <p:spPr>
          <a:xfrm>
            <a:off x="8316773" y="4590288"/>
            <a:ext cx="365760" cy="365760"/>
          </a:xfrm>
          <a:prstGeom prst="ellipse">
            <a:avLst/>
          </a:prstGeom>
          <a:solidFill>
            <a:srgbClr val="175496"/>
          </a:solidFill>
          <a:ln w="12700">
            <a:solidFill>
              <a:srgbClr val="175496"/>
            </a:solidFill>
            <a:prstDash val="solid"/>
          </a:ln>
        </p:spPr>
      </p:sp>
      <p:pic>
        <p:nvPicPr>
          <p:cNvPr id="48" name="Image 3" descr="preencoded.png">    </p:cNvPr>
          <p:cNvPicPr>
            <a:picLocks noChangeAspect="1"/>
          </p:cNvPicPr>
          <p:nvPr/>
        </p:nvPicPr>
        <p:blipFill>
          <a:blip r:embed="rId4"/>
          <a:stretch>
            <a:fillRect/>
          </a:stretch>
        </p:blipFill>
        <p:spPr>
          <a:xfrm>
            <a:off x="8408213" y="4681728"/>
            <a:ext cx="182880" cy="182880"/>
          </a:xfrm>
          <a:prstGeom prst="rect">
            <a:avLst/>
          </a:prstGeom>
        </p:spPr>
      </p:pic>
      <p:sp>
        <p:nvSpPr>
          <p:cNvPr id="49" name="Text 43"/>
          <p:cNvSpPr/>
          <p:nvPr/>
        </p:nvSpPr>
        <p:spPr>
          <a:xfrm>
            <a:off x="8810549" y="4590288"/>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Next stage</a:t>
            </a:r>
            <a:endParaRPr lang="en-US" sz="1200" dirty="0"/>
          </a:p>
        </p:txBody>
      </p:sp>
      <p:sp>
        <p:nvSpPr>
          <p:cNvPr id="50" name="Text 44"/>
          <p:cNvSpPr/>
          <p:nvPr/>
        </p:nvSpPr>
        <p:spPr>
          <a:xfrm>
            <a:off x="8316773" y="5001768"/>
            <a:ext cx="3088538" cy="67665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Screen Blueprints translate these specifications into buildable pages; Technical Architecture turns them into a development-ready spec. The database decision closes there.</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1234440"/>
            <a:ext cx="11057839" cy="4315968"/>
          </a:xfrm>
          <a:prstGeom prst="roundRect">
            <a:avLst>
              <a:gd name="adj" fmla="val 3814"/>
            </a:avLst>
          </a:prstGeom>
          <a:solidFill>
            <a:srgbClr val="EEF4FB"/>
          </a:solidFill>
          <a:ln w="9525">
            <a:solidFill>
              <a:srgbClr val="D6E4F5"/>
            </a:solidFill>
            <a:prstDash val="solid"/>
          </a:ln>
        </p:spPr>
      </p:sp>
      <p:pic>
        <p:nvPicPr>
          <p:cNvPr id="3" name="Image 0" descr="preencoded.png">    </p:cNvPr>
          <p:cNvPicPr>
            <a:picLocks noChangeAspect="1"/>
          </p:cNvPicPr>
          <p:nvPr/>
        </p:nvPicPr>
        <p:blipFill>
          <a:blip r:embed="rId1"/>
          <a:stretch>
            <a:fillRect/>
          </a:stretch>
        </p:blipFill>
        <p:spPr>
          <a:xfrm>
            <a:off x="4956048" y="1664208"/>
            <a:ext cx="2286000" cy="2286000"/>
          </a:xfrm>
          <a:prstGeom prst="rect">
            <a:avLst/>
          </a:prstGeom>
        </p:spPr>
      </p:pic>
      <p:sp>
        <p:nvSpPr>
          <p:cNvPr id="4" name="Text 1"/>
          <p:cNvSpPr/>
          <p:nvPr/>
        </p:nvSpPr>
        <p:spPr>
          <a:xfrm>
            <a:off x="566928" y="4041648"/>
            <a:ext cx="11057839" cy="786384"/>
          </a:xfrm>
          <a:prstGeom prst="rect">
            <a:avLst/>
          </a:prstGeom>
          <a:noFill/>
          <a:ln/>
        </p:spPr>
        <p:txBody>
          <a:bodyPr wrap="square" lIns="0" tIns="0" rIns="0" bIns="0" rtlCol="0" anchor="ctr"/>
          <a:lstStyle/>
          <a:p>
            <a:pPr algn="ctr" indent="0" marL="0">
              <a:buNone/>
            </a:pPr>
            <a:r>
              <a:rPr lang="en-US" sz="4600" b="1" dirty="0">
                <a:solidFill>
                  <a:srgbClr val="0B2E59"/>
                </a:solidFill>
                <a:latin typeface="Calibri" pitchFamily="34" charset="0"/>
                <a:ea typeface="Calibri" pitchFamily="34" charset="-122"/>
                <a:cs typeface="Calibri" pitchFamily="34" charset="-120"/>
              </a:rPr>
              <a:t>Thank you</a:t>
            </a:r>
            <a:endParaRPr lang="en-US" sz="4600" dirty="0"/>
          </a:p>
        </p:txBody>
      </p:sp>
      <p:sp>
        <p:nvSpPr>
          <p:cNvPr id="5" name="Text 2"/>
          <p:cNvSpPr/>
          <p:nvPr/>
        </p:nvSpPr>
        <p:spPr>
          <a:xfrm>
            <a:off x="566928" y="4809744"/>
            <a:ext cx="11057839" cy="329184"/>
          </a:xfrm>
          <a:prstGeom prst="rect">
            <a:avLst/>
          </a:prstGeom>
          <a:noFill/>
          <a:ln/>
        </p:spPr>
        <p:txBody>
          <a:bodyPr wrap="square" lIns="0" tIns="0" rIns="0" bIns="0" rtlCol="0" anchor="ctr"/>
          <a:lstStyle/>
          <a:p>
            <a:pPr algn="ctr" indent="0" marL="0">
              <a:buNone/>
            </a:pPr>
            <a:r>
              <a:rPr lang="en-US" sz="1400" dirty="0">
                <a:solidFill>
                  <a:srgbClr val="3E4C59"/>
                </a:solidFill>
                <a:latin typeface="Calibri" pitchFamily="34" charset="0"/>
                <a:ea typeface="Calibri" pitchFamily="34" charset="-122"/>
                <a:cs typeface="Calibri" pitchFamily="34" charset="-120"/>
              </a:rPr>
              <a:t>Eleven specifications, ten modules, one design foundation — pending approval.</a:t>
            </a:r>
            <a:endParaRPr lang="en-US" sz="1400" dirty="0"/>
          </a:p>
        </p:txBody>
      </p:sp>
      <p:sp>
        <p:nvSpPr>
          <p:cNvPr id="6" name="Text 3"/>
          <p:cNvSpPr/>
          <p:nvPr/>
        </p:nvSpPr>
        <p:spPr>
          <a:xfrm>
            <a:off x="566928" y="5138928"/>
            <a:ext cx="11057839" cy="310896"/>
          </a:xfrm>
          <a:prstGeom prst="rect">
            <a:avLst/>
          </a:prstGeom>
          <a:noFill/>
          <a:ln/>
        </p:spPr>
        <p:txBody>
          <a:bodyPr wrap="square" lIns="0" tIns="0" rIns="0" bIns="0" rtlCol="0" anchor="ctr"/>
          <a:lstStyle/>
          <a:p>
            <a:pPr algn="ctr" indent="0" marL="0">
              <a:buNone/>
            </a:pPr>
            <a:r>
              <a:rPr lang="en-US" sz="1200" i="1" dirty="0">
                <a:solidFill>
                  <a:srgbClr val="7B8794"/>
                </a:solidFill>
                <a:latin typeface="Calibri" pitchFamily="34" charset="0"/>
                <a:ea typeface="Calibri" pitchFamily="34" charset="-122"/>
                <a:cs typeface="Calibri" pitchFamily="34" charset="-120"/>
              </a:rPr>
              <a:t>iPOMS   ·   "Empowering Placement Teams with Intelligent Operations."</a:t>
            </a:r>
            <a:endParaRPr lang="en-US" sz="1200" dirty="0"/>
          </a:p>
        </p:txBody>
      </p:sp>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Infoziant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iPOMS — Module Specifications v1.0</dc:title>
  <dc:subject>Design Foundation and Modules 01–10, formal specification review</dc:subject>
  <dc:creator>Infoziant IT Solutions Inc.</dc:creator>
  <cp:lastModifiedBy>Infoziant IT Solutions Inc.</cp:lastModifiedBy>
  <cp:revision>1</cp:revision>
  <dcterms:created xsi:type="dcterms:W3CDTF">2026-07-26T16:41:35Z</dcterms:created>
  <dcterms:modified xsi:type="dcterms:W3CDTF">2026-07-26T16:41:35Z</dcterms:modified>
</cp:coreProperties>
</file>