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aradha A" userId="8e36865d-a331-4bdd-aa5c-1cb716069486" providerId="ADAL" clId="{235C142E-E0F2-4B5B-861D-2C559AF49459}"/>
    <pc:docChg chg="undo custSel modSld">
      <pc:chgData name="Mohanaradha A" userId="8e36865d-a331-4bdd-aa5c-1cb716069486" providerId="ADAL" clId="{235C142E-E0F2-4B5B-861D-2C559AF49459}" dt="2026-07-25T05:16:33.188" v="67" actId="20577"/>
      <pc:docMkLst>
        <pc:docMk/>
      </pc:docMkLst>
      <pc:sldChg chg="addSp delSp modSp mod">
        <pc:chgData name="Mohanaradha A" userId="8e36865d-a331-4bdd-aa5c-1cb716069486" providerId="ADAL" clId="{235C142E-E0F2-4B5B-861D-2C559AF49459}" dt="2026-07-25T04:32:41.622" v="6" actId="14100"/>
        <pc:sldMkLst>
          <pc:docMk/>
          <pc:sldMk cId="0" sldId="256"/>
        </pc:sldMkLst>
        <pc:picChg chg="add del">
          <ac:chgData name="Mohanaradha A" userId="8e36865d-a331-4bdd-aa5c-1cb716069486" providerId="ADAL" clId="{235C142E-E0F2-4B5B-861D-2C559AF49459}" dt="2026-07-25T04:32:30.636" v="3" actId="478"/>
          <ac:picMkLst>
            <pc:docMk/>
            <pc:sldMk cId="0" sldId="256"/>
            <ac:picMk id="2" creationId="{00000000-0000-0000-0000-000000000000}"/>
          </ac:picMkLst>
        </pc:picChg>
        <pc:picChg chg="add mod">
          <ac:chgData name="Mohanaradha A" userId="8e36865d-a331-4bdd-aa5c-1cb716069486" providerId="ADAL" clId="{235C142E-E0F2-4B5B-861D-2C559AF49459}" dt="2026-07-25T04:32:41.622" v="6" actId="14100"/>
          <ac:picMkLst>
            <pc:docMk/>
            <pc:sldMk cId="0" sldId="256"/>
            <ac:picMk id="17" creationId="{79FD4894-5AE7-7BF5-497A-EC81674DBD95}"/>
          </ac:picMkLst>
        </pc:picChg>
      </pc:sldChg>
      <pc:sldChg chg="addSp delSp modSp mod">
        <pc:chgData name="Mohanaradha A" userId="8e36865d-a331-4bdd-aa5c-1cb716069486" providerId="ADAL" clId="{235C142E-E0F2-4B5B-861D-2C559AF49459}" dt="2026-07-25T04:33:05.621" v="14" actId="14100"/>
        <pc:sldMkLst>
          <pc:docMk/>
          <pc:sldMk cId="0" sldId="257"/>
        </pc:sldMkLst>
        <pc:spChg chg="add del">
          <ac:chgData name="Mohanaradha A" userId="8e36865d-a331-4bdd-aa5c-1cb716069486" providerId="ADAL" clId="{235C142E-E0F2-4B5B-861D-2C559AF49459}" dt="2026-07-25T04:32:46.110" v="8" actId="22"/>
          <ac:spMkLst>
            <pc:docMk/>
            <pc:sldMk cId="0" sldId="257"/>
            <ac:spMk id="32" creationId="{D4825785-D76A-5545-1925-519917E7AD61}"/>
          </ac:spMkLst>
        </pc:spChg>
        <pc:picChg chg="add mod">
          <ac:chgData name="Mohanaradha A" userId="8e36865d-a331-4bdd-aa5c-1cb716069486" providerId="ADAL" clId="{235C142E-E0F2-4B5B-861D-2C559AF49459}" dt="2026-07-25T04:33:05.621" v="14" actId="14100"/>
          <ac:picMkLst>
            <pc:docMk/>
            <pc:sldMk cId="0" sldId="257"/>
            <ac:picMk id="33" creationId="{6C33CF17-6664-AE24-BEBD-3106DC0F5E93}"/>
          </ac:picMkLst>
        </pc:picChg>
      </pc:sldChg>
      <pc:sldChg chg="addSp modSp">
        <pc:chgData name="Mohanaradha A" userId="8e36865d-a331-4bdd-aa5c-1cb716069486" providerId="ADAL" clId="{235C142E-E0F2-4B5B-861D-2C559AF49459}" dt="2026-07-25T04:33:27.626" v="16"/>
        <pc:sldMkLst>
          <pc:docMk/>
          <pc:sldMk cId="0" sldId="258"/>
        </pc:sldMkLst>
        <pc:picChg chg="add">
          <ac:chgData name="Mohanaradha A" userId="8e36865d-a331-4bdd-aa5c-1cb716069486" providerId="ADAL" clId="{235C142E-E0F2-4B5B-861D-2C559AF49459}" dt="2026-07-25T04:33:20.665" v="15"/>
          <ac:picMkLst>
            <pc:docMk/>
            <pc:sldMk cId="0" sldId="258"/>
            <ac:picMk id="31" creationId="{FABF077C-EEBC-1D57-1647-3B7502C25474}"/>
          </ac:picMkLst>
        </pc:picChg>
        <pc:picChg chg="add mod">
          <ac:chgData name="Mohanaradha A" userId="8e36865d-a331-4bdd-aa5c-1cb716069486" providerId="ADAL" clId="{235C142E-E0F2-4B5B-861D-2C559AF49459}" dt="2026-07-25T04:33:27.626" v="16"/>
          <ac:picMkLst>
            <pc:docMk/>
            <pc:sldMk cId="0" sldId="258"/>
            <ac:picMk id="32" creationId="{EB49A9C3-1D6D-C154-1497-F6A4A654999E}"/>
          </ac:picMkLst>
        </pc:picChg>
      </pc:sldChg>
      <pc:sldChg chg="addSp modSp mod">
        <pc:chgData name="Mohanaradha A" userId="8e36865d-a331-4bdd-aa5c-1cb716069486" providerId="ADAL" clId="{235C142E-E0F2-4B5B-861D-2C559AF49459}" dt="2026-07-25T05:16:33.188" v="67" actId="20577"/>
        <pc:sldMkLst>
          <pc:docMk/>
          <pc:sldMk cId="0" sldId="259"/>
        </pc:sldMkLst>
        <pc:spChg chg="mod">
          <ac:chgData name="Mohanaradha A" userId="8e36865d-a331-4bdd-aa5c-1cb716069486" providerId="ADAL" clId="{235C142E-E0F2-4B5B-861D-2C559AF49459}" dt="2026-07-25T05:16:33.188" v="67" actId="20577"/>
          <ac:spMkLst>
            <pc:docMk/>
            <pc:sldMk cId="0" sldId="259"/>
            <ac:spMk id="17" creationId="{00000000-0000-0000-0000-000000000000}"/>
          </ac:spMkLst>
        </pc:spChg>
        <pc:picChg chg="add mod">
          <ac:chgData name="Mohanaradha A" userId="8e36865d-a331-4bdd-aa5c-1cb716069486" providerId="ADAL" clId="{235C142E-E0F2-4B5B-861D-2C559AF49459}" dt="2026-07-25T04:33:29.432" v="17"/>
          <ac:picMkLst>
            <pc:docMk/>
            <pc:sldMk cId="0" sldId="259"/>
            <ac:picMk id="34" creationId="{892E9540-D13C-0E5B-47B1-7350C728E42A}"/>
          </ac:picMkLst>
        </pc:picChg>
      </pc:sldChg>
      <pc:sldChg chg="addSp modSp mod">
        <pc:chgData name="Mohanaradha A" userId="8e36865d-a331-4bdd-aa5c-1cb716069486" providerId="ADAL" clId="{235C142E-E0F2-4B5B-861D-2C559AF49459}" dt="2026-07-25T04:33:42.945" v="25" actId="1035"/>
        <pc:sldMkLst>
          <pc:docMk/>
          <pc:sldMk cId="0" sldId="260"/>
        </pc:sldMkLst>
        <pc:picChg chg="add mod">
          <ac:chgData name="Mohanaradha A" userId="8e36865d-a331-4bdd-aa5c-1cb716069486" providerId="ADAL" clId="{235C142E-E0F2-4B5B-861D-2C559AF49459}" dt="2026-07-25T04:33:42.945" v="25" actId="1035"/>
          <ac:picMkLst>
            <pc:docMk/>
            <pc:sldMk cId="0" sldId="260"/>
            <ac:picMk id="27" creationId="{2E13E158-4330-B04F-A3D2-9034F73D7F40}"/>
          </ac:picMkLst>
        </pc:picChg>
      </pc:sldChg>
      <pc:sldChg chg="addSp modSp mod">
        <pc:chgData name="Mohanaradha A" userId="8e36865d-a331-4bdd-aa5c-1cb716069486" providerId="ADAL" clId="{235C142E-E0F2-4B5B-861D-2C559AF49459}" dt="2026-07-25T04:33:46.436" v="27" actId="1036"/>
        <pc:sldMkLst>
          <pc:docMk/>
          <pc:sldMk cId="0" sldId="261"/>
        </pc:sldMkLst>
        <pc:picChg chg="add mod">
          <ac:chgData name="Mohanaradha A" userId="8e36865d-a331-4bdd-aa5c-1cb716069486" providerId="ADAL" clId="{235C142E-E0F2-4B5B-861D-2C559AF49459}" dt="2026-07-25T04:33:46.436" v="27" actId="1036"/>
          <ac:picMkLst>
            <pc:docMk/>
            <pc:sldMk cId="0" sldId="261"/>
            <ac:picMk id="27" creationId="{D0E57185-4F4B-ADAB-2D63-62B4888C740D}"/>
          </ac:picMkLst>
        </pc:picChg>
      </pc:sldChg>
      <pc:sldChg chg="addSp modSp">
        <pc:chgData name="Mohanaradha A" userId="8e36865d-a331-4bdd-aa5c-1cb716069486" providerId="ADAL" clId="{235C142E-E0F2-4B5B-861D-2C559AF49459}" dt="2026-07-25T04:33:48.903" v="28"/>
        <pc:sldMkLst>
          <pc:docMk/>
          <pc:sldMk cId="0" sldId="262"/>
        </pc:sldMkLst>
        <pc:picChg chg="add mod">
          <ac:chgData name="Mohanaradha A" userId="8e36865d-a331-4bdd-aa5c-1cb716069486" providerId="ADAL" clId="{235C142E-E0F2-4B5B-861D-2C559AF49459}" dt="2026-07-25T04:33:48.903" v="28"/>
          <ac:picMkLst>
            <pc:docMk/>
            <pc:sldMk cId="0" sldId="262"/>
            <ac:picMk id="6" creationId="{03143257-4A83-A5FF-3CF3-3C27B3478A1C}"/>
          </ac:picMkLst>
        </pc:picChg>
      </pc:sldChg>
      <pc:sldChg chg="addSp modSp">
        <pc:chgData name="Mohanaradha A" userId="8e36865d-a331-4bdd-aa5c-1cb716069486" providerId="ADAL" clId="{235C142E-E0F2-4B5B-861D-2C559AF49459}" dt="2026-07-25T04:33:50.459" v="29"/>
        <pc:sldMkLst>
          <pc:docMk/>
          <pc:sldMk cId="0" sldId="263"/>
        </pc:sldMkLst>
        <pc:picChg chg="add mod">
          <ac:chgData name="Mohanaradha A" userId="8e36865d-a331-4bdd-aa5c-1cb716069486" providerId="ADAL" clId="{235C142E-E0F2-4B5B-861D-2C559AF49459}" dt="2026-07-25T04:33:50.459" v="29"/>
          <ac:picMkLst>
            <pc:docMk/>
            <pc:sldMk cId="0" sldId="263"/>
            <ac:picMk id="26" creationId="{28BB5624-D58B-24B5-D124-63C2E75E73FB}"/>
          </ac:picMkLst>
        </pc:picChg>
      </pc:sldChg>
      <pc:sldChg chg="addSp modSp">
        <pc:chgData name="Mohanaradha A" userId="8e36865d-a331-4bdd-aa5c-1cb716069486" providerId="ADAL" clId="{235C142E-E0F2-4B5B-861D-2C559AF49459}" dt="2026-07-25T04:33:52.223" v="30"/>
        <pc:sldMkLst>
          <pc:docMk/>
          <pc:sldMk cId="0" sldId="264"/>
        </pc:sldMkLst>
        <pc:picChg chg="add mod">
          <ac:chgData name="Mohanaradha A" userId="8e36865d-a331-4bdd-aa5c-1cb716069486" providerId="ADAL" clId="{235C142E-E0F2-4B5B-861D-2C559AF49459}" dt="2026-07-25T04:33:52.223" v="30"/>
          <ac:picMkLst>
            <pc:docMk/>
            <pc:sldMk cId="0" sldId="264"/>
            <ac:picMk id="46" creationId="{2C1AEFE7-913A-A7BB-E1A5-D0E985C050A7}"/>
          </ac:picMkLst>
        </pc:picChg>
      </pc:sldChg>
      <pc:sldChg chg="addSp modSp">
        <pc:chgData name="Mohanaradha A" userId="8e36865d-a331-4bdd-aa5c-1cb716069486" providerId="ADAL" clId="{235C142E-E0F2-4B5B-861D-2C559AF49459}" dt="2026-07-25T04:33:53.811" v="31"/>
        <pc:sldMkLst>
          <pc:docMk/>
          <pc:sldMk cId="0" sldId="265"/>
        </pc:sldMkLst>
        <pc:picChg chg="add mod">
          <ac:chgData name="Mohanaradha A" userId="8e36865d-a331-4bdd-aa5c-1cb716069486" providerId="ADAL" clId="{235C142E-E0F2-4B5B-861D-2C559AF49459}" dt="2026-07-25T04:33:53.811" v="31"/>
          <ac:picMkLst>
            <pc:docMk/>
            <pc:sldMk cId="0" sldId="265"/>
            <ac:picMk id="24" creationId="{0EE72CC2-4A13-C249-CEE6-8396D0749E89}"/>
          </ac:picMkLst>
        </pc:picChg>
      </pc:sldChg>
      <pc:sldChg chg="addSp modSp">
        <pc:chgData name="Mohanaradha A" userId="8e36865d-a331-4bdd-aa5c-1cb716069486" providerId="ADAL" clId="{235C142E-E0F2-4B5B-861D-2C559AF49459}" dt="2026-07-25T04:33:55.261" v="32"/>
        <pc:sldMkLst>
          <pc:docMk/>
          <pc:sldMk cId="0" sldId="266"/>
        </pc:sldMkLst>
        <pc:picChg chg="add mod">
          <ac:chgData name="Mohanaradha A" userId="8e36865d-a331-4bdd-aa5c-1cb716069486" providerId="ADAL" clId="{235C142E-E0F2-4B5B-861D-2C559AF49459}" dt="2026-07-25T04:33:55.261" v="32"/>
          <ac:picMkLst>
            <pc:docMk/>
            <pc:sldMk cId="0" sldId="266"/>
            <ac:picMk id="29" creationId="{B6F59DC4-1FB0-97FF-41F2-3C73CDB01A7D}"/>
          </ac:picMkLst>
        </pc:picChg>
      </pc:sldChg>
      <pc:sldChg chg="addSp modSp">
        <pc:chgData name="Mohanaradha A" userId="8e36865d-a331-4bdd-aa5c-1cb716069486" providerId="ADAL" clId="{235C142E-E0F2-4B5B-861D-2C559AF49459}" dt="2026-07-25T04:33:57.109" v="33"/>
        <pc:sldMkLst>
          <pc:docMk/>
          <pc:sldMk cId="0" sldId="267"/>
        </pc:sldMkLst>
        <pc:picChg chg="add mod">
          <ac:chgData name="Mohanaradha A" userId="8e36865d-a331-4bdd-aa5c-1cb716069486" providerId="ADAL" clId="{235C142E-E0F2-4B5B-861D-2C559AF49459}" dt="2026-07-25T04:33:57.109" v="33"/>
          <ac:picMkLst>
            <pc:docMk/>
            <pc:sldMk cId="0" sldId="267"/>
            <ac:picMk id="49" creationId="{EEEA5133-F3DA-8BAF-CFA9-31E0101CCC4B}"/>
          </ac:picMkLst>
        </pc:picChg>
      </pc:sldChg>
      <pc:sldChg chg="addSp modSp">
        <pc:chgData name="Mohanaradha A" userId="8e36865d-a331-4bdd-aa5c-1cb716069486" providerId="ADAL" clId="{235C142E-E0F2-4B5B-861D-2C559AF49459}" dt="2026-07-25T04:33:58.963" v="34"/>
        <pc:sldMkLst>
          <pc:docMk/>
          <pc:sldMk cId="0" sldId="268"/>
        </pc:sldMkLst>
        <pc:picChg chg="add mod">
          <ac:chgData name="Mohanaradha A" userId="8e36865d-a331-4bdd-aa5c-1cb716069486" providerId="ADAL" clId="{235C142E-E0F2-4B5B-861D-2C559AF49459}" dt="2026-07-25T04:33:58.963" v="34"/>
          <ac:picMkLst>
            <pc:docMk/>
            <pc:sldMk cId="0" sldId="268"/>
            <ac:picMk id="36" creationId="{4F345D9F-9B2D-6C09-6127-D9CE81F7B009}"/>
          </ac:picMkLst>
        </pc:picChg>
      </pc:sldChg>
      <pc:sldChg chg="addSp modSp">
        <pc:chgData name="Mohanaradha A" userId="8e36865d-a331-4bdd-aa5c-1cb716069486" providerId="ADAL" clId="{235C142E-E0F2-4B5B-861D-2C559AF49459}" dt="2026-07-25T04:34:00.911" v="35"/>
        <pc:sldMkLst>
          <pc:docMk/>
          <pc:sldMk cId="0" sldId="269"/>
        </pc:sldMkLst>
        <pc:picChg chg="add mod">
          <ac:chgData name="Mohanaradha A" userId="8e36865d-a331-4bdd-aa5c-1cb716069486" providerId="ADAL" clId="{235C142E-E0F2-4B5B-861D-2C559AF49459}" dt="2026-07-25T04:34:00.911" v="35"/>
          <ac:picMkLst>
            <pc:docMk/>
            <pc:sldMk cId="0" sldId="269"/>
            <ac:picMk id="56" creationId="{4E5063E2-CD8E-09D9-71AD-4D194863599A}"/>
          </ac:picMkLst>
        </pc:picChg>
      </pc:sldChg>
      <pc:sldChg chg="addSp modSp">
        <pc:chgData name="Mohanaradha A" userId="8e36865d-a331-4bdd-aa5c-1cb716069486" providerId="ADAL" clId="{235C142E-E0F2-4B5B-861D-2C559AF49459}" dt="2026-07-25T04:34:04.438" v="36"/>
        <pc:sldMkLst>
          <pc:docMk/>
          <pc:sldMk cId="0" sldId="271"/>
        </pc:sldMkLst>
        <pc:picChg chg="add mod">
          <ac:chgData name="Mohanaradha A" userId="8e36865d-a331-4bdd-aa5c-1cb716069486" providerId="ADAL" clId="{235C142E-E0F2-4B5B-861D-2C559AF49459}" dt="2026-07-25T04:34:04.438" v="36"/>
          <ac:picMkLst>
            <pc:docMk/>
            <pc:sldMk cId="0" sldId="271"/>
            <ac:picMk id="39" creationId="{84C7DF4E-F35E-B5D8-BB57-8BE4CE2C0FAB}"/>
          </ac:picMkLst>
        </pc:picChg>
      </pc:sldChg>
      <pc:sldChg chg="addSp modSp">
        <pc:chgData name="Mohanaradha A" userId="8e36865d-a331-4bdd-aa5c-1cb716069486" providerId="ADAL" clId="{235C142E-E0F2-4B5B-861D-2C559AF49459}" dt="2026-07-25T04:34:07.189" v="37"/>
        <pc:sldMkLst>
          <pc:docMk/>
          <pc:sldMk cId="0" sldId="272"/>
        </pc:sldMkLst>
        <pc:picChg chg="add mod">
          <ac:chgData name="Mohanaradha A" userId="8e36865d-a331-4bdd-aa5c-1cb716069486" providerId="ADAL" clId="{235C142E-E0F2-4B5B-861D-2C559AF49459}" dt="2026-07-25T04:34:07.189" v="37"/>
          <ac:picMkLst>
            <pc:docMk/>
            <pc:sldMk cId="0" sldId="272"/>
            <ac:picMk id="20" creationId="{D2B3332E-BC54-A5BB-B42D-3CFF681E7901}"/>
          </ac:picMkLst>
        </pc:picChg>
      </pc:sldChg>
      <pc:sldChg chg="addSp modSp">
        <pc:chgData name="Mohanaradha A" userId="8e36865d-a331-4bdd-aa5c-1cb716069486" providerId="ADAL" clId="{235C142E-E0F2-4B5B-861D-2C559AF49459}" dt="2026-07-25T04:34:09.182" v="38"/>
        <pc:sldMkLst>
          <pc:docMk/>
          <pc:sldMk cId="0" sldId="273"/>
        </pc:sldMkLst>
        <pc:picChg chg="add mod">
          <ac:chgData name="Mohanaradha A" userId="8e36865d-a331-4bdd-aa5c-1cb716069486" providerId="ADAL" clId="{235C142E-E0F2-4B5B-861D-2C559AF49459}" dt="2026-07-25T04:34:09.182" v="38"/>
          <ac:picMkLst>
            <pc:docMk/>
            <pc:sldMk cId="0" sldId="273"/>
            <ac:picMk id="48" creationId="{61549587-9EB9-54AE-431C-0E862FB4D8E9}"/>
          </ac:picMkLst>
        </pc:picChg>
      </pc:sldChg>
      <pc:sldChg chg="addSp modSp">
        <pc:chgData name="Mohanaradha A" userId="8e36865d-a331-4bdd-aa5c-1cb716069486" providerId="ADAL" clId="{235C142E-E0F2-4B5B-861D-2C559AF49459}" dt="2026-07-25T04:34:10.884" v="39"/>
        <pc:sldMkLst>
          <pc:docMk/>
          <pc:sldMk cId="0" sldId="274"/>
        </pc:sldMkLst>
        <pc:picChg chg="add mod">
          <ac:chgData name="Mohanaradha A" userId="8e36865d-a331-4bdd-aa5c-1cb716069486" providerId="ADAL" clId="{235C142E-E0F2-4B5B-861D-2C559AF49459}" dt="2026-07-25T04:34:10.884" v="39"/>
          <ac:picMkLst>
            <pc:docMk/>
            <pc:sldMk cId="0" sldId="274"/>
            <ac:picMk id="40" creationId="{6A003458-F826-8BC5-53C3-9461A46AFCD5}"/>
          </ac:picMkLst>
        </pc:picChg>
      </pc:sldChg>
      <pc:sldChg chg="addSp modSp">
        <pc:chgData name="Mohanaradha A" userId="8e36865d-a331-4bdd-aa5c-1cb716069486" providerId="ADAL" clId="{235C142E-E0F2-4B5B-861D-2C559AF49459}" dt="2026-07-25T04:34:12.544" v="40"/>
        <pc:sldMkLst>
          <pc:docMk/>
          <pc:sldMk cId="0" sldId="275"/>
        </pc:sldMkLst>
        <pc:picChg chg="add mod">
          <ac:chgData name="Mohanaradha A" userId="8e36865d-a331-4bdd-aa5c-1cb716069486" providerId="ADAL" clId="{235C142E-E0F2-4B5B-861D-2C559AF49459}" dt="2026-07-25T04:34:12.544" v="40"/>
          <ac:picMkLst>
            <pc:docMk/>
            <pc:sldMk cId="0" sldId="275"/>
            <ac:picMk id="69" creationId="{AC36F24E-256D-22EB-E25D-F9AA1498128E}"/>
          </ac:picMkLst>
        </pc:picChg>
      </pc:sldChg>
      <pc:sldChg chg="addSp modSp">
        <pc:chgData name="Mohanaradha A" userId="8e36865d-a331-4bdd-aa5c-1cb716069486" providerId="ADAL" clId="{235C142E-E0F2-4B5B-861D-2C559AF49459}" dt="2026-07-25T04:34:14.738" v="41"/>
        <pc:sldMkLst>
          <pc:docMk/>
          <pc:sldMk cId="0" sldId="276"/>
        </pc:sldMkLst>
        <pc:picChg chg="add mod">
          <ac:chgData name="Mohanaradha A" userId="8e36865d-a331-4bdd-aa5c-1cb716069486" providerId="ADAL" clId="{235C142E-E0F2-4B5B-861D-2C559AF49459}" dt="2026-07-25T04:34:14.738" v="41"/>
          <ac:picMkLst>
            <pc:docMk/>
            <pc:sldMk cId="0" sldId="276"/>
            <ac:picMk id="32" creationId="{F8CC0E7B-51A1-11F5-5355-91338EA40DCD}"/>
          </ac:picMkLst>
        </pc:picChg>
      </pc:sldChg>
      <pc:sldChg chg="addSp modSp">
        <pc:chgData name="Mohanaradha A" userId="8e36865d-a331-4bdd-aa5c-1cb716069486" providerId="ADAL" clId="{235C142E-E0F2-4B5B-861D-2C559AF49459}" dt="2026-07-25T04:34:16.372" v="42"/>
        <pc:sldMkLst>
          <pc:docMk/>
          <pc:sldMk cId="0" sldId="277"/>
        </pc:sldMkLst>
        <pc:picChg chg="add mod">
          <ac:chgData name="Mohanaradha A" userId="8e36865d-a331-4bdd-aa5c-1cb716069486" providerId="ADAL" clId="{235C142E-E0F2-4B5B-861D-2C559AF49459}" dt="2026-07-25T04:34:16.372" v="42"/>
          <ac:picMkLst>
            <pc:docMk/>
            <pc:sldMk cId="0" sldId="277"/>
            <ac:picMk id="45" creationId="{553D902B-8CE2-7C72-3B13-AE51B40C3E9D}"/>
          </ac:picMkLst>
        </pc:picChg>
      </pc:sldChg>
      <pc:sldChg chg="addSp modSp">
        <pc:chgData name="Mohanaradha A" userId="8e36865d-a331-4bdd-aa5c-1cb716069486" providerId="ADAL" clId="{235C142E-E0F2-4B5B-861D-2C559AF49459}" dt="2026-07-25T04:34:18.169" v="43"/>
        <pc:sldMkLst>
          <pc:docMk/>
          <pc:sldMk cId="0" sldId="278"/>
        </pc:sldMkLst>
        <pc:picChg chg="add mod">
          <ac:chgData name="Mohanaradha A" userId="8e36865d-a331-4bdd-aa5c-1cb716069486" providerId="ADAL" clId="{235C142E-E0F2-4B5B-861D-2C559AF49459}" dt="2026-07-25T04:34:18.169" v="43"/>
          <ac:picMkLst>
            <pc:docMk/>
            <pc:sldMk cId="0" sldId="278"/>
            <ac:picMk id="27" creationId="{643F212A-7A8B-F84B-7981-EE4ADE6792F4}"/>
          </ac:picMkLst>
        </pc:picChg>
      </pc:sldChg>
      <pc:sldChg chg="addSp modSp">
        <pc:chgData name="Mohanaradha A" userId="8e36865d-a331-4bdd-aa5c-1cb716069486" providerId="ADAL" clId="{235C142E-E0F2-4B5B-861D-2C559AF49459}" dt="2026-07-25T04:34:19.888" v="44"/>
        <pc:sldMkLst>
          <pc:docMk/>
          <pc:sldMk cId="0" sldId="279"/>
        </pc:sldMkLst>
        <pc:picChg chg="add mod">
          <ac:chgData name="Mohanaradha A" userId="8e36865d-a331-4bdd-aa5c-1cb716069486" providerId="ADAL" clId="{235C142E-E0F2-4B5B-861D-2C559AF49459}" dt="2026-07-25T04:34:19.888" v="44"/>
          <ac:picMkLst>
            <pc:docMk/>
            <pc:sldMk cId="0" sldId="279"/>
            <ac:picMk id="35" creationId="{BE82B6DA-8810-7E96-B44F-E77065F5E010}"/>
          </ac:picMkLst>
        </pc:picChg>
      </pc:sldChg>
      <pc:sldChg chg="addSp modSp">
        <pc:chgData name="Mohanaradha A" userId="8e36865d-a331-4bdd-aa5c-1cb716069486" providerId="ADAL" clId="{235C142E-E0F2-4B5B-861D-2C559AF49459}" dt="2026-07-25T04:34:22.010" v="45"/>
        <pc:sldMkLst>
          <pc:docMk/>
          <pc:sldMk cId="0" sldId="280"/>
        </pc:sldMkLst>
        <pc:picChg chg="add mod">
          <ac:chgData name="Mohanaradha A" userId="8e36865d-a331-4bdd-aa5c-1cb716069486" providerId="ADAL" clId="{235C142E-E0F2-4B5B-861D-2C559AF49459}" dt="2026-07-25T04:34:22.010" v="45"/>
          <ac:picMkLst>
            <pc:docMk/>
            <pc:sldMk cId="0" sldId="280"/>
            <ac:picMk id="31" creationId="{A8601AA4-D61E-B9EC-9D9C-E65011E2937A}"/>
          </ac:picMkLst>
        </pc:picChg>
      </pc:sldChg>
      <pc:sldChg chg="addSp modSp">
        <pc:chgData name="Mohanaradha A" userId="8e36865d-a331-4bdd-aa5c-1cb716069486" providerId="ADAL" clId="{235C142E-E0F2-4B5B-861D-2C559AF49459}" dt="2026-07-25T04:34:26.882" v="46"/>
        <pc:sldMkLst>
          <pc:docMk/>
          <pc:sldMk cId="0" sldId="281"/>
        </pc:sldMkLst>
        <pc:picChg chg="add mod">
          <ac:chgData name="Mohanaradha A" userId="8e36865d-a331-4bdd-aa5c-1cb716069486" providerId="ADAL" clId="{235C142E-E0F2-4B5B-861D-2C559AF49459}" dt="2026-07-25T04:34:26.882" v="46"/>
          <ac:picMkLst>
            <pc:docMk/>
            <pc:sldMk cId="0" sldId="281"/>
            <ac:picMk id="38" creationId="{8EABB4A7-A001-AC86-F8AB-5265F0712018}"/>
          </ac:picMkLst>
        </pc:picChg>
      </pc:sldChg>
      <pc:sldChg chg="addSp modSp">
        <pc:chgData name="Mohanaradha A" userId="8e36865d-a331-4bdd-aa5c-1cb716069486" providerId="ADAL" clId="{235C142E-E0F2-4B5B-861D-2C559AF49459}" dt="2026-07-25T04:34:28.690" v="47"/>
        <pc:sldMkLst>
          <pc:docMk/>
          <pc:sldMk cId="0" sldId="282"/>
        </pc:sldMkLst>
        <pc:picChg chg="add mod">
          <ac:chgData name="Mohanaradha A" userId="8e36865d-a331-4bdd-aa5c-1cb716069486" providerId="ADAL" clId="{235C142E-E0F2-4B5B-861D-2C559AF49459}" dt="2026-07-25T04:34:28.690" v="47"/>
          <ac:picMkLst>
            <pc:docMk/>
            <pc:sldMk cId="0" sldId="282"/>
            <ac:picMk id="54" creationId="{166F51A7-4E0B-B1D9-B475-08F4DC43BC90}"/>
          </ac:picMkLst>
        </pc:picChg>
      </pc:sldChg>
      <pc:sldChg chg="addSp modSp">
        <pc:chgData name="Mohanaradha A" userId="8e36865d-a331-4bdd-aa5c-1cb716069486" providerId="ADAL" clId="{235C142E-E0F2-4B5B-861D-2C559AF49459}" dt="2026-07-25T04:34:30.726" v="48"/>
        <pc:sldMkLst>
          <pc:docMk/>
          <pc:sldMk cId="0" sldId="283"/>
        </pc:sldMkLst>
        <pc:picChg chg="add mod">
          <ac:chgData name="Mohanaradha A" userId="8e36865d-a331-4bdd-aa5c-1cb716069486" providerId="ADAL" clId="{235C142E-E0F2-4B5B-861D-2C559AF49459}" dt="2026-07-25T04:34:30.726" v="48"/>
          <ac:picMkLst>
            <pc:docMk/>
            <pc:sldMk cId="0" sldId="283"/>
            <ac:picMk id="50" creationId="{BBFBBB4B-049E-E5B0-07E9-A9AECCCD8D17}"/>
          </ac:picMkLst>
        </pc:picChg>
      </pc:sldChg>
      <pc:sldChg chg="addSp modSp">
        <pc:chgData name="Mohanaradha A" userId="8e36865d-a331-4bdd-aa5c-1cb716069486" providerId="ADAL" clId="{235C142E-E0F2-4B5B-861D-2C559AF49459}" dt="2026-07-25T04:34:32.805" v="49"/>
        <pc:sldMkLst>
          <pc:docMk/>
          <pc:sldMk cId="0" sldId="284"/>
        </pc:sldMkLst>
        <pc:picChg chg="add mod">
          <ac:chgData name="Mohanaradha A" userId="8e36865d-a331-4bdd-aa5c-1cb716069486" providerId="ADAL" clId="{235C142E-E0F2-4B5B-861D-2C559AF49459}" dt="2026-07-25T04:34:32.805" v="49"/>
          <ac:picMkLst>
            <pc:docMk/>
            <pc:sldMk cId="0" sldId="284"/>
            <ac:picMk id="20" creationId="{75CD2B28-36F4-BF57-B1AD-E7696BEFCB62}"/>
          </ac:picMkLst>
        </pc:picChg>
      </pc:sldChg>
      <pc:sldChg chg="addSp modSp">
        <pc:chgData name="Mohanaradha A" userId="8e36865d-a331-4bdd-aa5c-1cb716069486" providerId="ADAL" clId="{235C142E-E0F2-4B5B-861D-2C559AF49459}" dt="2026-07-25T04:34:35.455" v="50"/>
        <pc:sldMkLst>
          <pc:docMk/>
          <pc:sldMk cId="0" sldId="285"/>
        </pc:sldMkLst>
        <pc:picChg chg="add mod">
          <ac:chgData name="Mohanaradha A" userId="8e36865d-a331-4bdd-aa5c-1cb716069486" providerId="ADAL" clId="{235C142E-E0F2-4B5B-861D-2C559AF49459}" dt="2026-07-25T04:34:35.455" v="50"/>
          <ac:picMkLst>
            <pc:docMk/>
            <pc:sldMk cId="0" sldId="285"/>
            <ac:picMk id="48" creationId="{8ACF250A-B540-4DC1-7E96-EA679EEB222B}"/>
          </ac:picMkLst>
        </pc:picChg>
      </pc:sldChg>
      <pc:sldChg chg="addSp modSp">
        <pc:chgData name="Mohanaradha A" userId="8e36865d-a331-4bdd-aa5c-1cb716069486" providerId="ADAL" clId="{235C142E-E0F2-4B5B-861D-2C559AF49459}" dt="2026-07-25T04:34:37.139" v="51"/>
        <pc:sldMkLst>
          <pc:docMk/>
          <pc:sldMk cId="0" sldId="286"/>
        </pc:sldMkLst>
        <pc:picChg chg="add mod">
          <ac:chgData name="Mohanaradha A" userId="8e36865d-a331-4bdd-aa5c-1cb716069486" providerId="ADAL" clId="{235C142E-E0F2-4B5B-861D-2C559AF49459}" dt="2026-07-25T04:34:37.139" v="51"/>
          <ac:picMkLst>
            <pc:docMk/>
            <pc:sldMk cId="0" sldId="286"/>
            <ac:picMk id="46" creationId="{5EAF121F-2295-CF44-F663-1160085067DE}"/>
          </ac:picMkLst>
        </pc:picChg>
      </pc:sldChg>
      <pc:sldChg chg="addSp modSp">
        <pc:chgData name="Mohanaradha A" userId="8e36865d-a331-4bdd-aa5c-1cb716069486" providerId="ADAL" clId="{235C142E-E0F2-4B5B-861D-2C559AF49459}" dt="2026-07-25T04:34:39.186" v="52"/>
        <pc:sldMkLst>
          <pc:docMk/>
          <pc:sldMk cId="0" sldId="287"/>
        </pc:sldMkLst>
        <pc:picChg chg="add mod">
          <ac:chgData name="Mohanaradha A" userId="8e36865d-a331-4bdd-aa5c-1cb716069486" providerId="ADAL" clId="{235C142E-E0F2-4B5B-861D-2C559AF49459}" dt="2026-07-25T04:34:39.186" v="52"/>
          <ac:picMkLst>
            <pc:docMk/>
            <pc:sldMk cId="0" sldId="287"/>
            <ac:picMk id="51" creationId="{F4FE7081-8A5F-10EF-B6D2-74CC6DCFDA42}"/>
          </ac:picMkLst>
        </pc:picChg>
      </pc:sldChg>
      <pc:sldChg chg="addSp modSp">
        <pc:chgData name="Mohanaradha A" userId="8e36865d-a331-4bdd-aa5c-1cb716069486" providerId="ADAL" clId="{235C142E-E0F2-4B5B-861D-2C559AF49459}" dt="2026-07-25T04:34:40.811" v="53"/>
        <pc:sldMkLst>
          <pc:docMk/>
          <pc:sldMk cId="0" sldId="288"/>
        </pc:sldMkLst>
        <pc:picChg chg="add mod">
          <ac:chgData name="Mohanaradha A" userId="8e36865d-a331-4bdd-aa5c-1cb716069486" providerId="ADAL" clId="{235C142E-E0F2-4B5B-861D-2C559AF49459}" dt="2026-07-25T04:34:40.811" v="53"/>
          <ac:picMkLst>
            <pc:docMk/>
            <pc:sldMk cId="0" sldId="288"/>
            <ac:picMk id="33" creationId="{0EF7CA77-0A66-FE4A-69A2-E0E202A4C84B}"/>
          </ac:picMkLst>
        </pc:picChg>
      </pc:sldChg>
      <pc:sldChg chg="addSp modSp">
        <pc:chgData name="Mohanaradha A" userId="8e36865d-a331-4bdd-aa5c-1cb716069486" providerId="ADAL" clId="{235C142E-E0F2-4B5B-861D-2C559AF49459}" dt="2026-07-25T04:34:42.453" v="54"/>
        <pc:sldMkLst>
          <pc:docMk/>
          <pc:sldMk cId="0" sldId="289"/>
        </pc:sldMkLst>
        <pc:picChg chg="add mod">
          <ac:chgData name="Mohanaradha A" userId="8e36865d-a331-4bdd-aa5c-1cb716069486" providerId="ADAL" clId="{235C142E-E0F2-4B5B-861D-2C559AF49459}" dt="2026-07-25T04:34:42.453" v="54"/>
          <ac:picMkLst>
            <pc:docMk/>
            <pc:sldMk cId="0" sldId="289"/>
            <ac:picMk id="34" creationId="{66ADF0ED-1A58-0F88-EB1C-C3C934E2706D}"/>
          </ac:picMkLst>
        </pc:picChg>
      </pc:sldChg>
      <pc:sldChg chg="addSp modSp">
        <pc:chgData name="Mohanaradha A" userId="8e36865d-a331-4bdd-aa5c-1cb716069486" providerId="ADAL" clId="{235C142E-E0F2-4B5B-861D-2C559AF49459}" dt="2026-07-25T04:34:44.471" v="55"/>
        <pc:sldMkLst>
          <pc:docMk/>
          <pc:sldMk cId="0" sldId="290"/>
        </pc:sldMkLst>
        <pc:picChg chg="add mod">
          <ac:chgData name="Mohanaradha A" userId="8e36865d-a331-4bdd-aa5c-1cb716069486" providerId="ADAL" clId="{235C142E-E0F2-4B5B-861D-2C559AF49459}" dt="2026-07-25T04:34:44.471" v="55"/>
          <ac:picMkLst>
            <pc:docMk/>
            <pc:sldMk cId="0" sldId="290"/>
            <ac:picMk id="54" creationId="{01C5D89A-5111-4DB6-6908-C554CFBC998A}"/>
          </ac:picMkLst>
        </pc:picChg>
      </pc:sldChg>
      <pc:sldChg chg="addSp modSp">
        <pc:chgData name="Mohanaradha A" userId="8e36865d-a331-4bdd-aa5c-1cb716069486" providerId="ADAL" clId="{235C142E-E0F2-4B5B-861D-2C559AF49459}" dt="2026-07-25T04:34:46.583" v="56"/>
        <pc:sldMkLst>
          <pc:docMk/>
          <pc:sldMk cId="0" sldId="291"/>
        </pc:sldMkLst>
        <pc:picChg chg="add mod">
          <ac:chgData name="Mohanaradha A" userId="8e36865d-a331-4bdd-aa5c-1cb716069486" providerId="ADAL" clId="{235C142E-E0F2-4B5B-861D-2C559AF49459}" dt="2026-07-25T04:34:46.583" v="56"/>
          <ac:picMkLst>
            <pc:docMk/>
            <pc:sldMk cId="0" sldId="291"/>
            <ac:picMk id="36" creationId="{85526149-AFED-6B09-39A6-C0B3DAEFEA6C}"/>
          </ac:picMkLst>
        </pc:picChg>
      </pc:sldChg>
      <pc:sldChg chg="addSp modSp">
        <pc:chgData name="Mohanaradha A" userId="8e36865d-a331-4bdd-aa5c-1cb716069486" providerId="ADAL" clId="{235C142E-E0F2-4B5B-861D-2C559AF49459}" dt="2026-07-25T04:34:48.222" v="57"/>
        <pc:sldMkLst>
          <pc:docMk/>
          <pc:sldMk cId="0" sldId="292"/>
        </pc:sldMkLst>
        <pc:picChg chg="add mod">
          <ac:chgData name="Mohanaradha A" userId="8e36865d-a331-4bdd-aa5c-1cb716069486" providerId="ADAL" clId="{235C142E-E0F2-4B5B-861D-2C559AF49459}" dt="2026-07-25T04:34:48.222" v="57"/>
          <ac:picMkLst>
            <pc:docMk/>
            <pc:sldMk cId="0" sldId="292"/>
            <ac:picMk id="46" creationId="{0320A8B6-4B87-C0E9-E9B7-90F8650DA9C3}"/>
          </ac:picMkLst>
        </pc:picChg>
      </pc:sldChg>
      <pc:sldChg chg="addSp modSp">
        <pc:chgData name="Mohanaradha A" userId="8e36865d-a331-4bdd-aa5c-1cb716069486" providerId="ADAL" clId="{235C142E-E0F2-4B5B-861D-2C559AF49459}" dt="2026-07-25T04:34:50.090" v="58"/>
        <pc:sldMkLst>
          <pc:docMk/>
          <pc:sldMk cId="0" sldId="293"/>
        </pc:sldMkLst>
        <pc:picChg chg="add mod">
          <ac:chgData name="Mohanaradha A" userId="8e36865d-a331-4bdd-aa5c-1cb716069486" providerId="ADAL" clId="{235C142E-E0F2-4B5B-861D-2C559AF49459}" dt="2026-07-25T04:34:50.090" v="58"/>
          <ac:picMkLst>
            <pc:docMk/>
            <pc:sldMk cId="0" sldId="293"/>
            <ac:picMk id="37" creationId="{79DDCA7D-0243-460A-82EC-4996EFEA59DB}"/>
          </ac:picMkLst>
        </pc:picChg>
      </pc:sldChg>
      <pc:sldChg chg="addSp modSp">
        <pc:chgData name="Mohanaradha A" userId="8e36865d-a331-4bdd-aa5c-1cb716069486" providerId="ADAL" clId="{235C142E-E0F2-4B5B-861D-2C559AF49459}" dt="2026-07-25T04:34:51.798" v="59"/>
        <pc:sldMkLst>
          <pc:docMk/>
          <pc:sldMk cId="0" sldId="294"/>
        </pc:sldMkLst>
        <pc:picChg chg="add mod">
          <ac:chgData name="Mohanaradha A" userId="8e36865d-a331-4bdd-aa5c-1cb716069486" providerId="ADAL" clId="{235C142E-E0F2-4B5B-861D-2C559AF49459}" dt="2026-07-25T04:34:51.798" v="59"/>
          <ac:picMkLst>
            <pc:docMk/>
            <pc:sldMk cId="0" sldId="294"/>
            <ac:picMk id="36" creationId="{A3CFB588-1C19-FB1C-DC24-B7357130AC26}"/>
          </ac:picMkLst>
        </pc:picChg>
      </pc:sldChg>
      <pc:sldChg chg="addSp modSp">
        <pc:chgData name="Mohanaradha A" userId="8e36865d-a331-4bdd-aa5c-1cb716069486" providerId="ADAL" clId="{235C142E-E0F2-4B5B-861D-2C559AF49459}" dt="2026-07-25T04:34:53.658" v="60"/>
        <pc:sldMkLst>
          <pc:docMk/>
          <pc:sldMk cId="0" sldId="295"/>
        </pc:sldMkLst>
        <pc:picChg chg="add mod">
          <ac:chgData name="Mohanaradha A" userId="8e36865d-a331-4bdd-aa5c-1cb716069486" providerId="ADAL" clId="{235C142E-E0F2-4B5B-861D-2C559AF49459}" dt="2026-07-25T04:34:53.658" v="60"/>
          <ac:picMkLst>
            <pc:docMk/>
            <pc:sldMk cId="0" sldId="295"/>
            <ac:picMk id="21" creationId="{41C1FB76-7075-F5EC-A37D-C048AE956522}"/>
          </ac:picMkLst>
        </pc:picChg>
      </pc:sldChg>
      <pc:sldChg chg="addSp delSp modSp mod">
        <pc:chgData name="Mohanaradha A" userId="8e36865d-a331-4bdd-aa5c-1cb716069486" providerId="ADAL" clId="{235C142E-E0F2-4B5B-861D-2C559AF49459}" dt="2026-07-25T04:35:22.187" v="63" actId="478"/>
        <pc:sldMkLst>
          <pc:docMk/>
          <pc:sldMk cId="0" sldId="296"/>
        </pc:sldMkLst>
        <pc:picChg chg="add del mod">
          <ac:chgData name="Mohanaradha A" userId="8e36865d-a331-4bdd-aa5c-1cb716069486" providerId="ADAL" clId="{235C142E-E0F2-4B5B-861D-2C559AF49459}" dt="2026-07-25T04:35:22.187" v="63" actId="478"/>
          <ac:picMkLst>
            <pc:docMk/>
            <pc:sldMk cId="0" sldId="296"/>
            <ac:picMk id="9" creationId="{64FE2620-F616-D5CA-9F70-80D8870D2F9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173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iPOMS — the Infoziant Placement Operations Management System. Over the next 40 slides I'll cover why we're building it, how a working day flows through it, the shared design foundation, then all ten modules one by one, and finally where the project stands today. Everything here comes from the eleven design documents the team has produced.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first two are for everyone. Part three is for anyone interested in the UI standards. Part four is the bulk of it — ten modules. Part five is the honest status: what's done, what's out of scope, and what's still undecided.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points are the entire business case. None of them are hypothetical — they came straight out of the design discussions with the placement team. Note the last one especially: the disconnect between sheets is what makes follow-ups depend on somebody remembering.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 is ten modules for about twenty-five people. That ratio matters — it is why several modules are deliberately small. 'Table-first, not dashboard-first' is a direct quote from the Design Foundation: iPOMS is a working tool, not a wall of charts.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anyone who wants to understand why the documents look the way they do. Every module spec is a business conversation first and a UI spec second. It is also why the modules feel consistent — by the time we drew screens, the component library already existed.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on the right is the architecture drawing from the project folder. The four points on the left are the way to read it: one way in, one core database, three trackers that operate on it, and a reporting layer that only reads. That last point matters — Reports &amp; Analytics never becomes a second copy of the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documents, ten modules plus the Design Foundation. Be explicit about the status wording — everything here is business design complete, which is a real milestone, but it is not built software. Module 09 is around 95%: only the visual arrangement is still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login screen, four genuinely different experiences. The TPO is the one to call out — they sit outside the office, they are read-only, and in Reports &amp; Analytics they don't even get access to the module: they receive the exported report instead.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Seven steps, and the point is that the data moves by itself between them — the contacts assigned in step 2 become the calls in step 4, the positive outcomes in step 4 become the leads in step 5, and step 5 feeds the pipeline in step 6. Today every one of those handoffs is a copy-paste.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confuse these three constantly, so this slide exists purely to separate them. The clean line is: the Daily Tracker is about calls, the Weekly Tracker is about companies, and Daily Leads is about what came in today. One field — the old 'Response 2' — was actually moved out of the Daily Tracker and into the Weekly Tracker to enforce this.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but worth stating: we did not invent a product theme. The palette was pulled out of the existing Infoziant logo. The one outstanding item is the logo variants — we still need a reversed version and an icon-only mark for the collapsed sidebar.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 was picked specifically because coordinators stare at dense tables all day. The 'explicitly avoided' list is worth reading out — those were real proposals that got rejected for being decorative rather than useful. Note the app font is Inter; this deck uses Calibri so it renders identically on every machine in the office.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sidebar items, fixed order, on every screen. On the right is the vertical anatomy — and the highlighted row is the point: the data grid is the hero of almost every module. That is why the sidebar collapses and why we rejected a command palette; the team uses the same eight items every single 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six colours that mean the same thing everywhere. Green always means completed, amber always means pending — so a coordinator never has to re-learn a colour when moving between screens. Right side: 'warn, don't block' is the one that shaped the most decisions — you'll see it again on the Daily Tracker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From here it is ten modules, roughly two slides each.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01 is the security foundation everything else sits on. Two things to highlight: one unified login with automatic role routing, and the fact that the reset-password screen has exactly two buttons — Save and Cancel — because it redirects automatically on success. The motivational line under the button was specifically asked for by the team.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matrix is 22 rows across 4 roles; these eight show the shape of it. The two cards below are the clever bit: company data is split in two. Coordinators can keep contact details current — which they must, since they discover them on calls — without being able to touch the core company record.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first: seven thousand companies today, growing. Then the three design calls. The middle one is the one people argue about — we deliberately do NOT group search results by company, because a coordinator's unit of work is a person to call, not an organisation. Company Type is a fixed list so it stays reportable.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mechanisms, all aimed at the same problem — a shared database that many people edit at once. The duplicate dialog is worth calling out: it doesn't just block you, it explains and shows you the existing record, then lets you continue anyway if you know better. That is the 'warn, don't block' principle in action.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 coordinator lives in. The before/after at the top is the whole pitch for the module. Call Outcome is the most important field in the system — a 'Drive Scheduled' here is what creates a row in the Weekly Tracker and an entry in Daily Leads. The counters at the bottom update live as you work.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here. First, the coordinator should never type a time — space bar starts the clock, choosing an outcome stops it. Second, and more important: the day can always be submitted. We warn about missing emails, we never block. The bottom strip is the persistent status bar — auto-save state is always visible, which is one of the six UX principles.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line out loud — people assume the Weekly Tracker is a weekly summary of calls. It isn't. It is a pipeline. The separation at the bottom right is a real design decision: we split the reportable dropdown from the free-text notes, because mixing them is exactly what makes spreadsheets impossible to report 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signature idea of Module 04 and probably the single biggest time saver in the product. In the spreadsheet world, moving a company from pipeline to completed means cutting a row and pasting it into another block — and that is where data gets lost. Here you change a dropdown and the row relocates. Top Companies is the other nice touch: it populates from a rule, but a human can always override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tabs, one screen, no page navigation — switching tabs is a 200 millisecond animation with no reload, and the filters above stay put. The last line is a deliberate decision worth defending: we chose not to auto-populate this from the Daily Tracker, because plenty of positives arrive by WhatsApp or email hours after the call.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permission model — coordinators own their leads, everybody else reads. The bottom half is unusual for a business spec: the team wrote performance into the requirements. That is because the failure mode they've lived with is a spreadsheet that locks when two people open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at the top reframes the module — this is not a data-viewing screen, it is how the office communicates with colleges. The insights panel is the part people react to: instead of a chart you have to interpret, it tells you 'pending follow-up for 12 days'. Note the TPO is the one role without access — they receive the exported report, which is exactly how it works today.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Cutting ten templates to four was a good decision — anything the Dashboard or the Weekly Tracker already answers was removed. The editor is the replacement for Canva, and it applies the Infoziant and college logos automatically, which is currently manual work. The storage rule surprises people: the app never keeps a generated report. Generate, edit, export, done.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dashboards — coordinator, team leader, administrator — but one codebase with role-based widgets, not three products. 'Non-editable' is the rule people query: you can click through to anywhere from here, but you cannot type into the dashboard. Nice human detail: the greeting changes with the clock, and after 8pm it says 'Burning the midnight oil? Thanks for your dedication.'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that work together. The Team Leader assigns a batch of contacts to a coordinator; the coordinator clicks 'Load to Metadata' and the merge engine decides what to do with each row — five cases, all handled without asking. This is what stops the shared database degrading, and every merged row keeps its provenance.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08 is where the design conversation changed the design most. 'Partial Working' is the clearest example — the original spec had four tidy statuses, and the team said that isn't how an office runs. The blocked-versus-deactivated distinction matters legally as much as technically: we never delete a person's history.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coordinators self-register, everyone senior is created for them. That is a security decision — the signup form physically cannot create a Team Leader. The forgot-password flow deliberately removes the administrator from the loop, because in the old process a forgotten password meant waiting for somebody senior to be free.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governs this entire module. It is the answer to every 'can we make that configurable' question — if it changes the workflow, it does not belong in Settings. The split at the bottom is worth noting: you own your personal contact details, the organization owns your identity and your college assignments.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what management actually needs: control the branding on outgoing reports, keep the organization details current, and see the database is healthy. The announcement banner replaces a WhatsApp broadcast. The bottom-right list is the scope we cut — and cutting it is why Module 09 is finishable.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is the smallest in the system and the spec says so openly. The framing at the top is the justification — we are not a SaaS platform with an IT department, so a traditional admin console would be decoration. The three-state strip is the whole design: one glance tells management whether to care.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quality monitor is the most genuinely useful thing in this module — it surfaces the exact problems the old spreadsheets hid: duplicates, missing emails, companies with no contact. Maintenance mode is a small courtesy that matters: instead of the app appearing broken, users get a friendly screen with a time.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like this slide because it shows the design was argued, not just written. Every one of these six was a considered proposal that got reversed for a business reason. If people take one thing away: we removed more than we added, and the product is better for it.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with this slide. Eleven documents, all business design complete. That is a genuine milestone — it means the hard thinking is done and there are no open workflow questions. It does not mean anything is built. The next two slides cover what we chose to leave out, and what is still genuinely undecided.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strength, not an apology. Each item was proposed, considered and turned down for a stated reason, and the reasons are all about this specific team at this specific size. Dark mode is the one to flag: it is deferred, but the colour system was designed so adding it later is not a rebuild.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 being straight about the open items is what makes the status on the previous slide credible. The stack decision is the only one with real consequences, and it needs to be made before anybody writes code. The last card is the fair summary: these are housekeeping items, not unanswered product questions.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directions, all drawn from the 'future enhancements' sections of the module documents — none of it is invented here. The one I would push for first is scheduled report generation, because it removes the last manual step in the weekly cycle. AI narrative summaries are the natural extension of the insights panel we already designed.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Offer to walk anyone through a specific module document afterwards.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5.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0.pn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31.png"/><Relationship Id="rId9"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5.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6.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9.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3.png"/><Relationship Id="rId7"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3.png"/><Relationship Id="rId7"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48.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3.png"/><Relationship Id="rId7"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2.png"/><Relationship Id="rId4" Type="http://schemas.openxmlformats.org/officeDocument/2006/relationships/image" Target="../media/image34.png"/><Relationship Id="rId9"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9.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13.png"/><Relationship Id="rId4" Type="http://schemas.openxmlformats.org/officeDocument/2006/relationships/image" Target="../media/image56.png"/><Relationship Id="rId9"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6.png"/><Relationship Id="rId4" Type="http://schemas.openxmlformats.org/officeDocument/2006/relationships/image" Target="../media/image58.png"/><Relationship Id="rId9" Type="http://schemas.openxmlformats.org/officeDocument/2006/relationships/image" Target="../media/image2.png"/></Relationships>
</file>

<file path=ppt/slides/_rels/slide3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52.png"/><Relationship Id="rId7"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6.png"/><Relationship Id="rId4" Type="http://schemas.openxmlformats.org/officeDocument/2006/relationships/image" Target="../media/image42.png"/><Relationship Id="rId9"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1.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5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1417320"/>
            <a:ext cx="7315200" cy="329184"/>
          </a:xfrm>
          <a:prstGeom prst="rect">
            <a:avLst/>
          </a:prstGeom>
          <a:noFill/>
          <a:ln/>
        </p:spPr>
        <p:txBody>
          <a:bodyPr wrap="square" lIns="0" tIns="0" rIns="0" bIns="0" rtlCol="0" anchor="ctr"/>
          <a:lstStyle/>
          <a:p>
            <a:pPr marL="0" indent="0">
              <a:buNone/>
            </a:pPr>
            <a:r>
              <a:rPr lang="en-US" sz="1700" b="1" kern="0" spc="450" dirty="0">
                <a:solidFill>
                  <a:srgbClr val="FFFFFF"/>
                </a:solidFill>
                <a:latin typeface="Calibri" pitchFamily="34" charset="0"/>
                <a:ea typeface="Calibri" pitchFamily="34" charset="-122"/>
                <a:cs typeface="Calibri" pitchFamily="34" charset="-120"/>
              </a:rPr>
              <a:t>INFOZIANT</a:t>
            </a:r>
            <a:endParaRPr lang="en-US" sz="1700" dirty="0"/>
          </a:p>
        </p:txBody>
      </p:sp>
      <p:sp>
        <p:nvSpPr>
          <p:cNvPr id="4" name="Text 1"/>
          <p:cNvSpPr/>
          <p:nvPr/>
        </p:nvSpPr>
        <p:spPr>
          <a:xfrm>
            <a:off x="566928" y="1764792"/>
            <a:ext cx="7315200" cy="274320"/>
          </a:xfrm>
          <a:prstGeom prst="rect">
            <a:avLst/>
          </a:prstGeom>
          <a:noFill/>
          <a:ln/>
        </p:spPr>
        <p:txBody>
          <a:bodyPr wrap="square" lIns="0" tIns="0" rIns="0" bIns="0" rtlCol="0" anchor="ctr"/>
          <a:lstStyle/>
          <a:p>
            <a:pPr marL="0" indent="0">
              <a:buNone/>
            </a:pPr>
            <a:r>
              <a:rPr lang="en-US" sz="1150" i="1" kern="0" spc="80" dirty="0">
                <a:solidFill>
                  <a:srgbClr val="90CAF9"/>
                </a:solidFill>
                <a:latin typeface="Calibri" pitchFamily="34" charset="0"/>
                <a:ea typeface="Calibri" pitchFamily="34" charset="-122"/>
                <a:cs typeface="Calibri" pitchFamily="34" charset="-120"/>
              </a:rPr>
              <a:t>Secure.  Scalable.  Innovative.</a:t>
            </a:r>
            <a:endParaRPr lang="en-US" sz="1150" dirty="0"/>
          </a:p>
        </p:txBody>
      </p:sp>
      <p:sp>
        <p:nvSpPr>
          <p:cNvPr id="5" name="Text 2"/>
          <p:cNvSpPr/>
          <p:nvPr/>
        </p:nvSpPr>
        <p:spPr>
          <a:xfrm>
            <a:off x="566928" y="2331720"/>
            <a:ext cx="8229600" cy="1207008"/>
          </a:xfrm>
          <a:prstGeom prst="rect">
            <a:avLst/>
          </a:prstGeom>
          <a:noFill/>
          <a:ln/>
        </p:spPr>
        <p:txBody>
          <a:bodyPr wrap="square" lIns="0" tIns="0" rIns="0" bIns="0" rtlCol="0" anchor="ctr"/>
          <a:lstStyle/>
          <a:p>
            <a:pPr marL="0" indent="0">
              <a:buNone/>
            </a:pPr>
            <a:r>
              <a:rPr lang="en-US" sz="8200" b="1" kern="0" spc="300" dirty="0">
                <a:solidFill>
                  <a:srgbClr val="64B5F6"/>
                </a:solidFill>
                <a:latin typeface="Calibri" pitchFamily="34" charset="0"/>
                <a:ea typeface="Calibri" pitchFamily="34" charset="-122"/>
                <a:cs typeface="Calibri" pitchFamily="34" charset="-120"/>
              </a:rPr>
              <a:t>iPOMS</a:t>
            </a:r>
            <a:endParaRPr lang="en-US" sz="8200" dirty="0"/>
          </a:p>
        </p:txBody>
      </p:sp>
      <p:sp>
        <p:nvSpPr>
          <p:cNvPr id="6" name="Text 3"/>
          <p:cNvSpPr/>
          <p:nvPr/>
        </p:nvSpPr>
        <p:spPr>
          <a:xfrm>
            <a:off x="566928" y="3566160"/>
            <a:ext cx="9601200" cy="457200"/>
          </a:xfrm>
          <a:prstGeom prst="rect">
            <a:avLst/>
          </a:prstGeom>
          <a:noFill/>
          <a:ln/>
        </p:spPr>
        <p:txBody>
          <a:bodyPr wrap="square" lIns="0" tIns="0" rIns="0" bIns="0" rtlCol="0" anchor="ctr"/>
          <a:lstStyle/>
          <a:p>
            <a:pPr marL="0" indent="0">
              <a:buNone/>
            </a:pPr>
            <a:r>
              <a:rPr lang="en-US" sz="2300" dirty="0">
                <a:solidFill>
                  <a:srgbClr val="FFFFFF"/>
                </a:solidFill>
                <a:latin typeface="Calibri" pitchFamily="34" charset="0"/>
                <a:ea typeface="Calibri" pitchFamily="34" charset="-122"/>
                <a:cs typeface="Calibri" pitchFamily="34" charset="-120"/>
              </a:rPr>
              <a:t>Infoziant Placement Operations Management System</a:t>
            </a:r>
            <a:endParaRPr lang="en-US" sz="2300" dirty="0"/>
          </a:p>
        </p:txBody>
      </p:sp>
      <p:sp>
        <p:nvSpPr>
          <p:cNvPr id="7" name="Text 4"/>
          <p:cNvSpPr/>
          <p:nvPr/>
        </p:nvSpPr>
        <p:spPr>
          <a:xfrm>
            <a:off x="566928" y="4041648"/>
            <a:ext cx="9601200" cy="365760"/>
          </a:xfrm>
          <a:prstGeom prst="rect">
            <a:avLst/>
          </a:prstGeom>
          <a:noFill/>
          <a:ln/>
        </p:spPr>
        <p:txBody>
          <a:bodyPr wrap="square" lIns="0" tIns="0" rIns="0" bIns="0" rtlCol="0" anchor="ctr"/>
          <a:lstStyle/>
          <a:p>
            <a:pPr marL="0" indent="0">
              <a:buNone/>
            </a:pPr>
            <a:r>
              <a:rPr lang="en-US" sz="1400" i="1" dirty="0">
                <a:solidFill>
                  <a:srgbClr val="90CAF9"/>
                </a:solidFill>
                <a:latin typeface="Calibri" pitchFamily="34" charset="0"/>
                <a:ea typeface="Calibri" pitchFamily="34" charset="-122"/>
                <a:cs typeface="Calibri" pitchFamily="34" charset="-120"/>
              </a:rPr>
              <a:t>"Empowering Placement Teams with Intelligent Operations."</a:t>
            </a:r>
            <a:endParaRPr lang="en-US" sz="1400" dirty="0"/>
          </a:p>
        </p:txBody>
      </p:sp>
      <p:sp>
        <p:nvSpPr>
          <p:cNvPr id="8" name="Shape 5"/>
          <p:cNvSpPr/>
          <p:nvPr/>
        </p:nvSpPr>
        <p:spPr>
          <a:xfrm>
            <a:off x="566928" y="4892040"/>
            <a:ext cx="2231136" cy="402336"/>
          </a:xfrm>
          <a:prstGeom prst="roundRect">
            <a:avLst>
              <a:gd name="adj" fmla="val 113636"/>
            </a:avLst>
          </a:prstGeom>
          <a:solidFill>
            <a:srgbClr val="16457A"/>
          </a:solidFill>
          <a:ln w="9525">
            <a:solidFill>
              <a:srgbClr val="2A6099"/>
            </a:solidFill>
            <a:prstDash val="solid"/>
          </a:ln>
        </p:spPr>
      </p:sp>
      <p:sp>
        <p:nvSpPr>
          <p:cNvPr id="9" name="Text 6"/>
          <p:cNvSpPr/>
          <p:nvPr/>
        </p:nvSpPr>
        <p:spPr>
          <a:xfrm>
            <a:off x="640080" y="4892040"/>
            <a:ext cx="2084832"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Project Walkthrough</a:t>
            </a:r>
            <a:endParaRPr lang="en-US" sz="1050" dirty="0"/>
          </a:p>
        </p:txBody>
      </p:sp>
      <p:sp>
        <p:nvSpPr>
          <p:cNvPr id="10" name="Shape 7"/>
          <p:cNvSpPr/>
          <p:nvPr/>
        </p:nvSpPr>
        <p:spPr>
          <a:xfrm>
            <a:off x="2926080" y="4892040"/>
            <a:ext cx="2231136" cy="402336"/>
          </a:xfrm>
          <a:prstGeom prst="roundRect">
            <a:avLst>
              <a:gd name="adj" fmla="val 113636"/>
            </a:avLst>
          </a:prstGeom>
          <a:solidFill>
            <a:srgbClr val="16457A"/>
          </a:solidFill>
          <a:ln w="9525">
            <a:solidFill>
              <a:srgbClr val="2A6099"/>
            </a:solidFill>
            <a:prstDash val="solid"/>
          </a:ln>
        </p:spPr>
      </p:sp>
      <p:sp>
        <p:nvSpPr>
          <p:cNvPr id="11" name="Text 8"/>
          <p:cNvSpPr/>
          <p:nvPr/>
        </p:nvSpPr>
        <p:spPr>
          <a:xfrm>
            <a:off x="2999232" y="4892040"/>
            <a:ext cx="2084832"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Module-by-Module Review</a:t>
            </a:r>
            <a:endParaRPr lang="en-US" sz="1050" dirty="0"/>
          </a:p>
        </p:txBody>
      </p:sp>
      <p:sp>
        <p:nvSpPr>
          <p:cNvPr id="12" name="Shape 9"/>
          <p:cNvSpPr/>
          <p:nvPr/>
        </p:nvSpPr>
        <p:spPr>
          <a:xfrm>
            <a:off x="5285232" y="4892040"/>
            <a:ext cx="2231136" cy="402336"/>
          </a:xfrm>
          <a:prstGeom prst="roundRect">
            <a:avLst>
              <a:gd name="adj" fmla="val 113636"/>
            </a:avLst>
          </a:prstGeom>
          <a:solidFill>
            <a:srgbClr val="16457A"/>
          </a:solidFill>
          <a:ln w="9525">
            <a:solidFill>
              <a:srgbClr val="2A6099"/>
            </a:solidFill>
            <a:prstDash val="solid"/>
          </a:ln>
        </p:spPr>
      </p:sp>
      <p:sp>
        <p:nvSpPr>
          <p:cNvPr id="13" name="Text 10"/>
          <p:cNvSpPr/>
          <p:nvPr/>
        </p:nvSpPr>
        <p:spPr>
          <a:xfrm>
            <a:off x="5358384" y="4892040"/>
            <a:ext cx="2084832"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Status &amp; Roadmap</a:t>
            </a:r>
            <a:endParaRPr lang="en-US" sz="1050" dirty="0"/>
          </a:p>
        </p:txBody>
      </p:sp>
      <p:sp>
        <p:nvSpPr>
          <p:cNvPr id="14" name="Text 11"/>
          <p:cNvSpPr/>
          <p:nvPr/>
        </p:nvSpPr>
        <p:spPr>
          <a:xfrm>
            <a:off x="566928" y="5468112"/>
            <a:ext cx="7315200" cy="292608"/>
          </a:xfrm>
          <a:prstGeom prst="rect">
            <a:avLst/>
          </a:prstGeom>
          <a:noFill/>
          <a:ln/>
        </p:spPr>
        <p:txBody>
          <a:bodyPr wrap="square" lIns="0" tIns="0" rIns="0" bIns="0" rtlCol="0" anchor="ctr"/>
          <a:lstStyle/>
          <a:p>
            <a:pPr marL="0" indent="0">
              <a:buNone/>
            </a:pPr>
            <a:r>
              <a:rPr lang="en-US" sz="1100" dirty="0">
                <a:solidFill>
                  <a:srgbClr val="90CAF9"/>
                </a:solidFill>
                <a:latin typeface="Calibri" pitchFamily="34" charset="0"/>
                <a:ea typeface="Calibri" pitchFamily="34" charset="-122"/>
                <a:cs typeface="Calibri" pitchFamily="34" charset="-120"/>
              </a:rPr>
              <a:t>Version 1.0   ·   Design Foundation &amp; Modules 01–10</a:t>
            </a:r>
            <a:endParaRPr lang="en-US" sz="1100" dirty="0"/>
          </a:p>
        </p:txBody>
      </p:sp>
      <p:sp>
        <p:nvSpPr>
          <p:cNvPr id="15" name="Text 1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90CAF9"/>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pic>
        <p:nvPicPr>
          <p:cNvPr id="17" name="Picture 16">
            <a:extLst>
              <a:ext uri="{FF2B5EF4-FFF2-40B4-BE49-F238E27FC236}">
                <a16:creationId xmlns:a16="http://schemas.microsoft.com/office/drawing/2014/main" id="{79FD4894-5AE7-7BF5-497A-EC81674DBD95}"/>
              </a:ext>
            </a:extLst>
          </p:cNvPr>
          <p:cNvPicPr>
            <a:picLocks noChangeAspect="1"/>
          </p:cNvPicPr>
          <p:nvPr/>
        </p:nvPicPr>
        <p:blipFill>
          <a:blip r:embed="rId4"/>
          <a:stretch>
            <a:fillRect/>
          </a:stretch>
        </p:blipFill>
        <p:spPr>
          <a:xfrm>
            <a:off x="462703" y="228650"/>
            <a:ext cx="2918174" cy="7040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AGENDA</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we'll cover</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566928" y="1481328"/>
            <a:ext cx="11057839" cy="859536"/>
          </a:xfrm>
          <a:prstGeom prst="roundRect">
            <a:avLst>
              <a:gd name="adj" fmla="val 9574"/>
            </a:avLst>
          </a:prstGeom>
          <a:solidFill>
            <a:srgbClr val="F4F7FA"/>
          </a:solidFill>
          <a:ln w="9525">
            <a:solidFill>
              <a:srgbClr val="E1E8F0"/>
            </a:solidFill>
            <a:prstDash val="solid"/>
          </a:ln>
        </p:spPr>
      </p:sp>
      <p:sp>
        <p:nvSpPr>
          <p:cNvPr id="7" name="Shape 5"/>
          <p:cNvSpPr/>
          <p:nvPr/>
        </p:nvSpPr>
        <p:spPr>
          <a:xfrm>
            <a:off x="768096" y="1682496"/>
            <a:ext cx="457200" cy="457200"/>
          </a:xfrm>
          <a:prstGeom prst="ellipse">
            <a:avLst/>
          </a:prstGeom>
          <a:solidFill>
            <a:srgbClr val="C62828"/>
          </a:solidFill>
          <a:ln w="12700">
            <a:solidFill>
              <a:srgbClr val="C62828"/>
            </a:solidFill>
            <a:prstDash val="solid"/>
          </a:ln>
        </p:spPr>
      </p:sp>
      <p:pic>
        <p:nvPicPr>
          <p:cNvPr id="8" name="Image 0" descr="preencoded.png"/>
          <p:cNvPicPr>
            <a:picLocks noChangeAspect="1"/>
          </p:cNvPicPr>
          <p:nvPr/>
        </p:nvPicPr>
        <p:blipFill>
          <a:blip r:embed="rId3"/>
          <a:stretch>
            <a:fillRect/>
          </a:stretch>
        </p:blipFill>
        <p:spPr>
          <a:xfrm>
            <a:off x="882396" y="1796796"/>
            <a:ext cx="228600" cy="228600"/>
          </a:xfrm>
          <a:prstGeom prst="rect">
            <a:avLst/>
          </a:prstGeom>
        </p:spPr>
      </p:pic>
      <p:sp>
        <p:nvSpPr>
          <p:cNvPr id="9" name="Text 6"/>
          <p:cNvSpPr/>
          <p:nvPr/>
        </p:nvSpPr>
        <p:spPr>
          <a:xfrm>
            <a:off x="1463040" y="1609344"/>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1.  The problem, and the product</a:t>
            </a:r>
            <a:endParaRPr lang="en-US" sz="1300" dirty="0"/>
          </a:p>
        </p:txBody>
      </p:sp>
      <p:sp>
        <p:nvSpPr>
          <p:cNvPr id="10" name="Text 7"/>
          <p:cNvSpPr/>
          <p:nvPr/>
        </p:nvSpPr>
        <p:spPr>
          <a:xfrm>
            <a:off x="1463040" y="1865376"/>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What the placement team does today, and what iPOMS replaces.</a:t>
            </a:r>
            <a:endParaRPr lang="en-US" sz="1050" dirty="0"/>
          </a:p>
        </p:txBody>
      </p:sp>
      <p:sp>
        <p:nvSpPr>
          <p:cNvPr id="11" name="Shape 8"/>
          <p:cNvSpPr/>
          <p:nvPr/>
        </p:nvSpPr>
        <p:spPr>
          <a:xfrm>
            <a:off x="566928" y="2468880"/>
            <a:ext cx="11057839" cy="859536"/>
          </a:xfrm>
          <a:prstGeom prst="roundRect">
            <a:avLst>
              <a:gd name="adj" fmla="val 9574"/>
            </a:avLst>
          </a:prstGeom>
          <a:solidFill>
            <a:srgbClr val="F4F7FA"/>
          </a:solidFill>
          <a:ln w="9525">
            <a:solidFill>
              <a:srgbClr val="E1E8F0"/>
            </a:solidFill>
            <a:prstDash val="solid"/>
          </a:ln>
        </p:spPr>
      </p:sp>
      <p:sp>
        <p:nvSpPr>
          <p:cNvPr id="12" name="Shape 9"/>
          <p:cNvSpPr/>
          <p:nvPr/>
        </p:nvSpPr>
        <p:spPr>
          <a:xfrm>
            <a:off x="768096" y="2670048"/>
            <a:ext cx="457200" cy="457200"/>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882396" y="2784348"/>
            <a:ext cx="228600" cy="228600"/>
          </a:xfrm>
          <a:prstGeom prst="rect">
            <a:avLst/>
          </a:prstGeom>
        </p:spPr>
      </p:pic>
      <p:sp>
        <p:nvSpPr>
          <p:cNvPr id="14" name="Text 10"/>
          <p:cNvSpPr/>
          <p:nvPr/>
        </p:nvSpPr>
        <p:spPr>
          <a:xfrm>
            <a:off x="1463040" y="2596896"/>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2.  How a working day flows</a:t>
            </a:r>
            <a:endParaRPr lang="en-US" sz="1300" dirty="0"/>
          </a:p>
        </p:txBody>
      </p:sp>
      <p:sp>
        <p:nvSpPr>
          <p:cNvPr id="15" name="Text 11"/>
          <p:cNvSpPr/>
          <p:nvPr/>
        </p:nvSpPr>
        <p:spPr>
          <a:xfrm>
            <a:off x="1463040" y="2852928"/>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The four roles, and the end-to-end journey from login to the weekly report.</a:t>
            </a:r>
            <a:endParaRPr lang="en-US" sz="1050" dirty="0"/>
          </a:p>
        </p:txBody>
      </p:sp>
      <p:sp>
        <p:nvSpPr>
          <p:cNvPr id="16" name="Shape 12"/>
          <p:cNvSpPr/>
          <p:nvPr/>
        </p:nvSpPr>
        <p:spPr>
          <a:xfrm>
            <a:off x="566928" y="3456432"/>
            <a:ext cx="11057839" cy="859536"/>
          </a:xfrm>
          <a:prstGeom prst="roundRect">
            <a:avLst>
              <a:gd name="adj" fmla="val 9574"/>
            </a:avLst>
          </a:prstGeom>
          <a:solidFill>
            <a:srgbClr val="F4F7FA"/>
          </a:solidFill>
          <a:ln w="9525">
            <a:solidFill>
              <a:srgbClr val="E1E8F0"/>
            </a:solidFill>
            <a:prstDash val="solid"/>
          </a:ln>
        </p:spPr>
      </p:sp>
      <p:sp>
        <p:nvSpPr>
          <p:cNvPr id="17" name="Shape 13"/>
          <p:cNvSpPr/>
          <p:nvPr/>
        </p:nvSpPr>
        <p:spPr>
          <a:xfrm>
            <a:off x="768096" y="3657600"/>
            <a:ext cx="457200" cy="457200"/>
          </a:xfrm>
          <a:prstGeom prst="ellipse">
            <a:avLst/>
          </a:prstGeom>
          <a:solidFill>
            <a:srgbClr val="175496"/>
          </a:solidFill>
          <a:ln w="12700">
            <a:solidFill>
              <a:srgbClr val="175496"/>
            </a:solidFill>
            <a:prstDash val="solid"/>
          </a:ln>
        </p:spPr>
      </p:sp>
      <p:pic>
        <p:nvPicPr>
          <p:cNvPr id="18" name="Image 2" descr="preencoded.png"/>
          <p:cNvPicPr>
            <a:picLocks noChangeAspect="1"/>
          </p:cNvPicPr>
          <p:nvPr/>
        </p:nvPicPr>
        <p:blipFill>
          <a:blip r:embed="rId5"/>
          <a:stretch>
            <a:fillRect/>
          </a:stretch>
        </p:blipFill>
        <p:spPr>
          <a:xfrm>
            <a:off x="882396" y="3771900"/>
            <a:ext cx="228600" cy="228600"/>
          </a:xfrm>
          <a:prstGeom prst="rect">
            <a:avLst/>
          </a:prstGeom>
        </p:spPr>
      </p:pic>
      <p:sp>
        <p:nvSpPr>
          <p:cNvPr id="19" name="Text 14"/>
          <p:cNvSpPr/>
          <p:nvPr/>
        </p:nvSpPr>
        <p:spPr>
          <a:xfrm>
            <a:off x="1463040" y="3584448"/>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3.  The Design Foundation</a:t>
            </a:r>
            <a:endParaRPr lang="en-US" sz="1300" dirty="0"/>
          </a:p>
        </p:txBody>
      </p:sp>
      <p:sp>
        <p:nvSpPr>
          <p:cNvPr id="20" name="Text 15"/>
          <p:cNvSpPr/>
          <p:nvPr/>
        </p:nvSpPr>
        <p:spPr>
          <a:xfrm>
            <a:off x="1463040" y="3840480"/>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One visual and interaction language that every module is assembled from.</a:t>
            </a:r>
            <a:endParaRPr lang="en-US" sz="1050" dirty="0"/>
          </a:p>
        </p:txBody>
      </p:sp>
      <p:sp>
        <p:nvSpPr>
          <p:cNvPr id="21" name="Shape 16"/>
          <p:cNvSpPr/>
          <p:nvPr/>
        </p:nvSpPr>
        <p:spPr>
          <a:xfrm>
            <a:off x="566928" y="4443984"/>
            <a:ext cx="11057839" cy="859536"/>
          </a:xfrm>
          <a:prstGeom prst="roundRect">
            <a:avLst>
              <a:gd name="adj" fmla="val 9574"/>
            </a:avLst>
          </a:prstGeom>
          <a:solidFill>
            <a:srgbClr val="F4F7FA"/>
          </a:solidFill>
          <a:ln w="9525">
            <a:solidFill>
              <a:srgbClr val="E1E8F0"/>
            </a:solidFill>
            <a:prstDash val="solid"/>
          </a:ln>
        </p:spPr>
      </p:sp>
      <p:sp>
        <p:nvSpPr>
          <p:cNvPr id="22" name="Shape 17"/>
          <p:cNvSpPr/>
          <p:nvPr/>
        </p:nvSpPr>
        <p:spPr>
          <a:xfrm>
            <a:off x="768096" y="4645152"/>
            <a:ext cx="457200" cy="457200"/>
          </a:xfrm>
          <a:prstGeom prst="ellipse">
            <a:avLst/>
          </a:prstGeom>
          <a:solidFill>
            <a:srgbClr val="0B2E59"/>
          </a:solidFill>
          <a:ln w="12700">
            <a:solidFill>
              <a:srgbClr val="0B2E59"/>
            </a:solidFill>
            <a:prstDash val="solid"/>
          </a:ln>
        </p:spPr>
      </p:sp>
      <p:pic>
        <p:nvPicPr>
          <p:cNvPr id="23" name="Image 3" descr="preencoded.png"/>
          <p:cNvPicPr>
            <a:picLocks noChangeAspect="1"/>
          </p:cNvPicPr>
          <p:nvPr/>
        </p:nvPicPr>
        <p:blipFill>
          <a:blip r:embed="rId6"/>
          <a:stretch>
            <a:fillRect/>
          </a:stretch>
        </p:blipFill>
        <p:spPr>
          <a:xfrm>
            <a:off x="882396" y="4759452"/>
            <a:ext cx="228600" cy="228600"/>
          </a:xfrm>
          <a:prstGeom prst="rect">
            <a:avLst/>
          </a:prstGeom>
        </p:spPr>
      </p:pic>
      <p:sp>
        <p:nvSpPr>
          <p:cNvPr id="24" name="Text 18"/>
          <p:cNvSpPr/>
          <p:nvPr/>
        </p:nvSpPr>
        <p:spPr>
          <a:xfrm>
            <a:off x="1463040" y="4572000"/>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4.  Module walkthrough</a:t>
            </a:r>
            <a:endParaRPr lang="en-US" sz="1300" dirty="0"/>
          </a:p>
        </p:txBody>
      </p:sp>
      <p:sp>
        <p:nvSpPr>
          <p:cNvPr id="25" name="Text 19"/>
          <p:cNvSpPr/>
          <p:nvPr/>
        </p:nvSpPr>
        <p:spPr>
          <a:xfrm>
            <a:off x="1463040" y="4828032"/>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All ten modules — what each screen does and the decisions behind it.</a:t>
            </a:r>
            <a:endParaRPr lang="en-US" sz="1050" dirty="0"/>
          </a:p>
        </p:txBody>
      </p:sp>
      <p:sp>
        <p:nvSpPr>
          <p:cNvPr id="26" name="Shape 20"/>
          <p:cNvSpPr/>
          <p:nvPr/>
        </p:nvSpPr>
        <p:spPr>
          <a:xfrm>
            <a:off x="566928" y="5431536"/>
            <a:ext cx="11057839" cy="859536"/>
          </a:xfrm>
          <a:prstGeom prst="roundRect">
            <a:avLst>
              <a:gd name="adj" fmla="val 9574"/>
            </a:avLst>
          </a:prstGeom>
          <a:solidFill>
            <a:srgbClr val="F4F7FA"/>
          </a:solidFill>
          <a:ln w="9525">
            <a:solidFill>
              <a:srgbClr val="E1E8F0"/>
            </a:solidFill>
            <a:prstDash val="solid"/>
          </a:ln>
        </p:spPr>
      </p:sp>
      <p:sp>
        <p:nvSpPr>
          <p:cNvPr id="27" name="Shape 21"/>
          <p:cNvSpPr/>
          <p:nvPr/>
        </p:nvSpPr>
        <p:spPr>
          <a:xfrm>
            <a:off x="768096" y="5632704"/>
            <a:ext cx="457200" cy="457200"/>
          </a:xfrm>
          <a:prstGeom prst="ellipse">
            <a:avLst/>
          </a:prstGeom>
          <a:solidFill>
            <a:srgbClr val="2E7D32"/>
          </a:solidFill>
          <a:ln w="12700">
            <a:solidFill>
              <a:srgbClr val="2E7D32"/>
            </a:solidFill>
            <a:prstDash val="solid"/>
          </a:ln>
        </p:spPr>
      </p:sp>
      <p:pic>
        <p:nvPicPr>
          <p:cNvPr id="28" name="Image 4" descr="preencoded.png"/>
          <p:cNvPicPr>
            <a:picLocks noChangeAspect="1"/>
          </p:cNvPicPr>
          <p:nvPr/>
        </p:nvPicPr>
        <p:blipFill>
          <a:blip r:embed="rId7"/>
          <a:stretch>
            <a:fillRect/>
          </a:stretch>
        </p:blipFill>
        <p:spPr>
          <a:xfrm>
            <a:off x="882396" y="5747004"/>
            <a:ext cx="228600" cy="228600"/>
          </a:xfrm>
          <a:prstGeom prst="rect">
            <a:avLst/>
          </a:prstGeom>
        </p:spPr>
      </p:pic>
      <p:sp>
        <p:nvSpPr>
          <p:cNvPr id="29" name="Text 22"/>
          <p:cNvSpPr/>
          <p:nvPr/>
        </p:nvSpPr>
        <p:spPr>
          <a:xfrm>
            <a:off x="1463040" y="5559552"/>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5.  Status, scope and roadmap</a:t>
            </a:r>
            <a:endParaRPr lang="en-US" sz="1300" dirty="0"/>
          </a:p>
        </p:txBody>
      </p:sp>
      <p:sp>
        <p:nvSpPr>
          <p:cNvPr id="30" name="Text 23"/>
          <p:cNvSpPr/>
          <p:nvPr/>
        </p:nvSpPr>
        <p:spPr>
          <a:xfrm>
            <a:off x="1463040" y="5815584"/>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What is designed, what we deliberately left out, and what is still open.</a:t>
            </a:r>
            <a:endParaRPr lang="en-US" sz="1050" dirty="0"/>
          </a:p>
        </p:txBody>
      </p:sp>
      <p:pic>
        <p:nvPicPr>
          <p:cNvPr id="33" name="Picture 32">
            <a:extLst>
              <a:ext uri="{FF2B5EF4-FFF2-40B4-BE49-F238E27FC236}">
                <a16:creationId xmlns:a16="http://schemas.microsoft.com/office/drawing/2014/main" id="{6C33CF17-6664-AE24-BEBD-3106DC0F5E93}"/>
              </a:ext>
            </a:extLst>
          </p:cNvPr>
          <p:cNvPicPr>
            <a:picLocks noChangeAspect="1"/>
          </p:cNvPicPr>
          <p:nvPr/>
        </p:nvPicPr>
        <p:blipFill>
          <a:blip r:embed="rId8"/>
          <a:stretch>
            <a:fillRect/>
          </a:stretch>
        </p:blipFill>
        <p:spPr>
          <a:xfrm>
            <a:off x="10505338" y="166891"/>
            <a:ext cx="1544421" cy="3726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WHY WE ARE BUILDING THIS</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How the work happens today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a:t>
            </a:r>
            <a:endParaRPr lang="en-US" sz="950" dirty="0"/>
          </a:p>
        </p:txBody>
      </p:sp>
      <p:sp>
        <p:nvSpPr>
          <p:cNvPr id="6" name="Shape 4"/>
          <p:cNvSpPr/>
          <p:nvPr/>
        </p:nvSpPr>
        <p:spPr>
          <a:xfrm>
            <a:off x="566928" y="1481328"/>
            <a:ext cx="11057839" cy="859536"/>
          </a:xfrm>
          <a:prstGeom prst="roundRect">
            <a:avLst>
              <a:gd name="adj" fmla="val 9574"/>
            </a:avLst>
          </a:prstGeom>
          <a:solidFill>
            <a:srgbClr val="F4F7FA"/>
          </a:solidFill>
          <a:ln w="9525">
            <a:solidFill>
              <a:srgbClr val="E1E8F0"/>
            </a:solidFill>
            <a:prstDash val="solid"/>
          </a:ln>
        </p:spPr>
      </p:sp>
      <p:sp>
        <p:nvSpPr>
          <p:cNvPr id="7" name="Shape 5"/>
          <p:cNvSpPr/>
          <p:nvPr/>
        </p:nvSpPr>
        <p:spPr>
          <a:xfrm>
            <a:off x="768096" y="1682496"/>
            <a:ext cx="457200" cy="457200"/>
          </a:xfrm>
          <a:prstGeom prst="ellipse">
            <a:avLst/>
          </a:prstGeom>
          <a:solidFill>
            <a:srgbClr val="C62828"/>
          </a:solidFill>
          <a:ln w="12700">
            <a:solidFill>
              <a:srgbClr val="C62828"/>
            </a:solidFill>
            <a:prstDash val="solid"/>
          </a:ln>
        </p:spPr>
      </p:sp>
      <p:pic>
        <p:nvPicPr>
          <p:cNvPr id="8" name="Image 0" descr="preencoded.png"/>
          <p:cNvPicPr>
            <a:picLocks noChangeAspect="1"/>
          </p:cNvPicPr>
          <p:nvPr/>
        </p:nvPicPr>
        <p:blipFill>
          <a:blip r:embed="rId3"/>
          <a:stretch>
            <a:fillRect/>
          </a:stretch>
        </p:blipFill>
        <p:spPr>
          <a:xfrm>
            <a:off x="882396" y="1796796"/>
            <a:ext cx="228600" cy="228600"/>
          </a:xfrm>
          <a:prstGeom prst="rect">
            <a:avLst/>
          </a:prstGeom>
        </p:spPr>
      </p:pic>
      <p:sp>
        <p:nvSpPr>
          <p:cNvPr id="9" name="Text 6"/>
          <p:cNvSpPr/>
          <p:nvPr/>
        </p:nvSpPr>
        <p:spPr>
          <a:xfrm>
            <a:off x="1463040" y="1609344"/>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Every morning starts with copy-paste</a:t>
            </a:r>
            <a:endParaRPr lang="en-US" sz="1300" dirty="0"/>
          </a:p>
        </p:txBody>
      </p:sp>
      <p:sp>
        <p:nvSpPr>
          <p:cNvPr id="10" name="Text 7"/>
          <p:cNvSpPr/>
          <p:nvPr/>
        </p:nvSpPr>
        <p:spPr>
          <a:xfrm>
            <a:off x="1463040" y="1865376"/>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30 to 70 contacts are copied out of a master sheet and pasted into a fresh daily sheet — before a single call is made.</a:t>
            </a:r>
            <a:endParaRPr lang="en-US" sz="1050" dirty="0"/>
          </a:p>
        </p:txBody>
      </p:sp>
      <p:sp>
        <p:nvSpPr>
          <p:cNvPr id="11" name="Shape 8"/>
          <p:cNvSpPr/>
          <p:nvPr/>
        </p:nvSpPr>
        <p:spPr>
          <a:xfrm>
            <a:off x="566928" y="2468880"/>
            <a:ext cx="11057839" cy="859536"/>
          </a:xfrm>
          <a:prstGeom prst="roundRect">
            <a:avLst>
              <a:gd name="adj" fmla="val 9574"/>
            </a:avLst>
          </a:prstGeom>
          <a:solidFill>
            <a:srgbClr val="F4F7FA"/>
          </a:solidFill>
          <a:ln w="9525">
            <a:solidFill>
              <a:srgbClr val="E1E8F0"/>
            </a:solidFill>
            <a:prstDash val="solid"/>
          </a:ln>
        </p:spPr>
      </p:sp>
      <p:sp>
        <p:nvSpPr>
          <p:cNvPr id="12" name="Shape 9"/>
          <p:cNvSpPr/>
          <p:nvPr/>
        </p:nvSpPr>
        <p:spPr>
          <a:xfrm>
            <a:off x="768096" y="2670048"/>
            <a:ext cx="457200" cy="457200"/>
          </a:xfrm>
          <a:prstGeom prst="ellipse">
            <a:avLst/>
          </a:prstGeom>
          <a:solidFill>
            <a:srgbClr val="F59E0B"/>
          </a:solidFill>
          <a:ln w="12700">
            <a:solidFill>
              <a:srgbClr val="F59E0B"/>
            </a:solidFill>
            <a:prstDash val="solid"/>
          </a:ln>
        </p:spPr>
      </p:sp>
      <p:pic>
        <p:nvPicPr>
          <p:cNvPr id="13" name="Image 1" descr="preencoded.png"/>
          <p:cNvPicPr>
            <a:picLocks noChangeAspect="1"/>
          </p:cNvPicPr>
          <p:nvPr/>
        </p:nvPicPr>
        <p:blipFill>
          <a:blip r:embed="rId4"/>
          <a:stretch>
            <a:fillRect/>
          </a:stretch>
        </p:blipFill>
        <p:spPr>
          <a:xfrm>
            <a:off x="882396" y="2784348"/>
            <a:ext cx="228600" cy="228600"/>
          </a:xfrm>
          <a:prstGeom prst="rect">
            <a:avLst/>
          </a:prstGeom>
        </p:spPr>
      </p:pic>
      <p:sp>
        <p:nvSpPr>
          <p:cNvPr id="14" name="Text 10"/>
          <p:cNvSpPr/>
          <p:nvPr/>
        </p:nvSpPr>
        <p:spPr>
          <a:xfrm>
            <a:off x="1463040" y="2596896"/>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Contacts live in scattered spreadsheets</a:t>
            </a:r>
            <a:endParaRPr lang="en-US" sz="1300" dirty="0"/>
          </a:p>
        </p:txBody>
      </p:sp>
      <p:sp>
        <p:nvSpPr>
          <p:cNvPr id="15" name="Text 11"/>
          <p:cNvSpPr/>
          <p:nvPr/>
        </p:nvSpPr>
        <p:spPr>
          <a:xfrm>
            <a:off x="1463040" y="2852928"/>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Roughly 7,000 companies and 10,000+ HR contacts, spread across files. There is no single source of truth.</a:t>
            </a:r>
            <a:endParaRPr lang="en-US" sz="1050" dirty="0"/>
          </a:p>
        </p:txBody>
      </p:sp>
      <p:sp>
        <p:nvSpPr>
          <p:cNvPr id="16" name="Shape 12"/>
          <p:cNvSpPr/>
          <p:nvPr/>
        </p:nvSpPr>
        <p:spPr>
          <a:xfrm>
            <a:off x="566928" y="3456432"/>
            <a:ext cx="11057839" cy="859536"/>
          </a:xfrm>
          <a:prstGeom prst="roundRect">
            <a:avLst>
              <a:gd name="adj" fmla="val 9574"/>
            </a:avLst>
          </a:prstGeom>
          <a:solidFill>
            <a:srgbClr val="F4F7FA"/>
          </a:solidFill>
          <a:ln w="9525">
            <a:solidFill>
              <a:srgbClr val="E1E8F0"/>
            </a:solidFill>
            <a:prstDash val="solid"/>
          </a:ln>
        </p:spPr>
      </p:sp>
      <p:sp>
        <p:nvSpPr>
          <p:cNvPr id="17" name="Shape 13"/>
          <p:cNvSpPr/>
          <p:nvPr/>
        </p:nvSpPr>
        <p:spPr>
          <a:xfrm>
            <a:off x="768096" y="3657600"/>
            <a:ext cx="457200" cy="457200"/>
          </a:xfrm>
          <a:prstGeom prst="ellipse">
            <a:avLst/>
          </a:prstGeom>
          <a:solidFill>
            <a:srgbClr val="C62828"/>
          </a:solidFill>
          <a:ln w="12700">
            <a:solidFill>
              <a:srgbClr val="C62828"/>
            </a:solidFill>
            <a:prstDash val="solid"/>
          </a:ln>
        </p:spPr>
      </p:sp>
      <p:pic>
        <p:nvPicPr>
          <p:cNvPr id="18" name="Image 2" descr="preencoded.png"/>
          <p:cNvPicPr>
            <a:picLocks noChangeAspect="1"/>
          </p:cNvPicPr>
          <p:nvPr/>
        </p:nvPicPr>
        <p:blipFill>
          <a:blip r:embed="rId5"/>
          <a:stretch>
            <a:fillRect/>
          </a:stretch>
        </p:blipFill>
        <p:spPr>
          <a:xfrm>
            <a:off x="882396" y="3771900"/>
            <a:ext cx="228600" cy="228600"/>
          </a:xfrm>
          <a:prstGeom prst="rect">
            <a:avLst/>
          </a:prstGeom>
        </p:spPr>
      </p:pic>
      <p:sp>
        <p:nvSpPr>
          <p:cNvPr id="19" name="Text 14"/>
          <p:cNvSpPr/>
          <p:nvPr/>
        </p:nvSpPr>
        <p:spPr>
          <a:xfrm>
            <a:off x="1463040" y="3584448"/>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Duplicates go unnoticed</a:t>
            </a:r>
            <a:endParaRPr lang="en-US" sz="1300" dirty="0"/>
          </a:p>
        </p:txBody>
      </p:sp>
      <p:sp>
        <p:nvSpPr>
          <p:cNvPr id="20" name="Text 15"/>
          <p:cNvSpPr/>
          <p:nvPr/>
        </p:nvSpPr>
        <p:spPr>
          <a:xfrm>
            <a:off x="1463040" y="3840480"/>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The same company gets called twice by two different coordinators, because nothing checks before a row is added.</a:t>
            </a:r>
            <a:endParaRPr lang="en-US" sz="1050" dirty="0"/>
          </a:p>
        </p:txBody>
      </p:sp>
      <p:sp>
        <p:nvSpPr>
          <p:cNvPr id="21" name="Shape 16"/>
          <p:cNvSpPr/>
          <p:nvPr/>
        </p:nvSpPr>
        <p:spPr>
          <a:xfrm>
            <a:off x="566928" y="4443984"/>
            <a:ext cx="11057839" cy="859536"/>
          </a:xfrm>
          <a:prstGeom prst="roundRect">
            <a:avLst>
              <a:gd name="adj" fmla="val 9574"/>
            </a:avLst>
          </a:prstGeom>
          <a:solidFill>
            <a:srgbClr val="F4F7FA"/>
          </a:solidFill>
          <a:ln w="9525">
            <a:solidFill>
              <a:srgbClr val="E1E8F0"/>
            </a:solidFill>
            <a:prstDash val="solid"/>
          </a:ln>
        </p:spPr>
      </p:sp>
      <p:sp>
        <p:nvSpPr>
          <p:cNvPr id="22" name="Shape 17"/>
          <p:cNvSpPr/>
          <p:nvPr/>
        </p:nvSpPr>
        <p:spPr>
          <a:xfrm>
            <a:off x="768096" y="4645152"/>
            <a:ext cx="457200" cy="457200"/>
          </a:xfrm>
          <a:prstGeom prst="ellipse">
            <a:avLst/>
          </a:prstGeom>
          <a:solidFill>
            <a:srgbClr val="F59E0B"/>
          </a:solidFill>
          <a:ln w="12700">
            <a:solidFill>
              <a:srgbClr val="F59E0B"/>
            </a:solidFill>
            <a:prstDash val="solid"/>
          </a:ln>
        </p:spPr>
      </p:sp>
      <p:pic>
        <p:nvPicPr>
          <p:cNvPr id="23" name="Image 3" descr="preencoded.png"/>
          <p:cNvPicPr>
            <a:picLocks noChangeAspect="1"/>
          </p:cNvPicPr>
          <p:nvPr/>
        </p:nvPicPr>
        <p:blipFill>
          <a:blip r:embed="rId6"/>
          <a:stretch>
            <a:fillRect/>
          </a:stretch>
        </p:blipFill>
        <p:spPr>
          <a:xfrm>
            <a:off x="882396" y="4759452"/>
            <a:ext cx="228600" cy="228600"/>
          </a:xfrm>
          <a:prstGeom prst="rect">
            <a:avLst/>
          </a:prstGeom>
        </p:spPr>
      </p:pic>
      <p:sp>
        <p:nvSpPr>
          <p:cNvPr id="24" name="Text 18"/>
          <p:cNvSpPr/>
          <p:nvPr/>
        </p:nvSpPr>
        <p:spPr>
          <a:xfrm>
            <a:off x="1463040" y="4572000"/>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Weekly reports are rebuilt by hand in Canva</a:t>
            </a:r>
            <a:endParaRPr lang="en-US" sz="1300" dirty="0"/>
          </a:p>
        </p:txBody>
      </p:sp>
      <p:sp>
        <p:nvSpPr>
          <p:cNvPr id="25" name="Text 19"/>
          <p:cNvSpPr/>
          <p:nvPr/>
        </p:nvSpPr>
        <p:spPr>
          <a:xfrm>
            <a:off x="1463040" y="4828032"/>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Hours of layout work every week, for a document that is regenerated from scratch the following week.</a:t>
            </a:r>
            <a:endParaRPr lang="en-US" sz="1050" dirty="0"/>
          </a:p>
        </p:txBody>
      </p:sp>
      <p:sp>
        <p:nvSpPr>
          <p:cNvPr id="26" name="Shape 20"/>
          <p:cNvSpPr/>
          <p:nvPr/>
        </p:nvSpPr>
        <p:spPr>
          <a:xfrm>
            <a:off x="566928" y="5431536"/>
            <a:ext cx="11057839" cy="859536"/>
          </a:xfrm>
          <a:prstGeom prst="roundRect">
            <a:avLst>
              <a:gd name="adj" fmla="val 9574"/>
            </a:avLst>
          </a:prstGeom>
          <a:solidFill>
            <a:srgbClr val="F4F7FA"/>
          </a:solidFill>
          <a:ln w="9525">
            <a:solidFill>
              <a:srgbClr val="E1E8F0"/>
            </a:solidFill>
            <a:prstDash val="solid"/>
          </a:ln>
        </p:spPr>
      </p:sp>
      <p:sp>
        <p:nvSpPr>
          <p:cNvPr id="27" name="Shape 21"/>
          <p:cNvSpPr/>
          <p:nvPr/>
        </p:nvSpPr>
        <p:spPr>
          <a:xfrm>
            <a:off x="768096" y="5632704"/>
            <a:ext cx="457200" cy="457200"/>
          </a:xfrm>
          <a:prstGeom prst="ellipse">
            <a:avLst/>
          </a:prstGeom>
          <a:solidFill>
            <a:srgbClr val="C62828"/>
          </a:solidFill>
          <a:ln w="12700">
            <a:solidFill>
              <a:srgbClr val="C62828"/>
            </a:solidFill>
            <a:prstDash val="solid"/>
          </a:ln>
        </p:spPr>
      </p:sp>
      <p:pic>
        <p:nvPicPr>
          <p:cNvPr id="28" name="Image 4" descr="preencoded.png"/>
          <p:cNvPicPr>
            <a:picLocks noChangeAspect="1"/>
          </p:cNvPicPr>
          <p:nvPr/>
        </p:nvPicPr>
        <p:blipFill>
          <a:blip r:embed="rId7"/>
          <a:stretch>
            <a:fillRect/>
          </a:stretch>
        </p:blipFill>
        <p:spPr>
          <a:xfrm>
            <a:off x="882396" y="5747004"/>
            <a:ext cx="228600" cy="228600"/>
          </a:xfrm>
          <a:prstGeom prst="rect">
            <a:avLst/>
          </a:prstGeom>
        </p:spPr>
      </p:pic>
      <p:sp>
        <p:nvSpPr>
          <p:cNvPr id="29" name="Text 22"/>
          <p:cNvSpPr/>
          <p:nvPr/>
        </p:nvSpPr>
        <p:spPr>
          <a:xfrm>
            <a:off x="1463040" y="5559552"/>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Nothing connects</a:t>
            </a:r>
            <a:endParaRPr lang="en-US" sz="1300" dirty="0"/>
          </a:p>
        </p:txBody>
      </p:sp>
      <p:sp>
        <p:nvSpPr>
          <p:cNvPr id="30" name="Text 23"/>
          <p:cNvSpPr/>
          <p:nvPr/>
        </p:nvSpPr>
        <p:spPr>
          <a:xfrm>
            <a:off x="1463040" y="5815584"/>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A positive call recorded in one sheet never reaches the pipeline tracked in another. The follow-up depends on memory.</a:t>
            </a:r>
            <a:endParaRPr lang="en-US" sz="1050" dirty="0"/>
          </a:p>
        </p:txBody>
      </p:sp>
      <p:pic>
        <p:nvPicPr>
          <p:cNvPr id="32" name="Picture 31">
            <a:extLst>
              <a:ext uri="{FF2B5EF4-FFF2-40B4-BE49-F238E27FC236}">
                <a16:creationId xmlns:a16="http://schemas.microsoft.com/office/drawing/2014/main" id="{EB49A9C3-1D6D-C154-1497-F6A4A654999E}"/>
              </a:ext>
            </a:extLst>
          </p:cNvPr>
          <p:cNvPicPr>
            <a:picLocks noChangeAspect="1"/>
          </p:cNvPicPr>
          <p:nvPr/>
        </p:nvPicPr>
        <p:blipFill>
          <a:blip r:embed="rId8"/>
          <a:stretch>
            <a:fillRect/>
          </a:stretch>
        </p:blipFill>
        <p:spPr>
          <a:xfrm>
            <a:off x="10505338" y="166891"/>
            <a:ext cx="1544421" cy="3726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PRODUCT</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iPOMS is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a:t>
            </a:r>
            <a:endParaRPr lang="en-US" sz="950" dirty="0"/>
          </a:p>
        </p:txBody>
      </p:sp>
      <p:sp>
        <p:nvSpPr>
          <p:cNvPr id="6" name="Text 4"/>
          <p:cNvSpPr/>
          <p:nvPr/>
        </p:nvSpPr>
        <p:spPr>
          <a:xfrm>
            <a:off x="566928" y="1417320"/>
            <a:ext cx="11057839" cy="777240"/>
          </a:xfrm>
          <a:prstGeom prst="rect">
            <a:avLst/>
          </a:prstGeom>
          <a:noFill/>
          <a:ln/>
        </p:spPr>
        <p:txBody>
          <a:bodyPr wrap="square" lIns="0" tIns="0" rIns="0" bIns="0" rtlCol="0" anchor="t"/>
          <a:lstStyle/>
          <a:p>
            <a:pPr marL="0" indent="0">
              <a:lnSpc>
                <a:spcPct val="114000"/>
              </a:lnSpc>
              <a:buNone/>
            </a:pPr>
            <a:r>
              <a:rPr lang="en-US" sz="1900" dirty="0">
                <a:solidFill>
                  <a:srgbClr val="1F2933"/>
                </a:solidFill>
                <a:latin typeface="Calibri" pitchFamily="34" charset="0"/>
                <a:ea typeface="Calibri" pitchFamily="34" charset="-122"/>
                <a:cs typeface="Calibri" pitchFamily="34" charset="-120"/>
              </a:rPr>
              <a:t>One system that replaces the spreadsheets, the manual reports and the guesswork — built around how the placement team already works.</a:t>
            </a:r>
            <a:endParaRPr lang="en-US" sz="1900" dirty="0"/>
          </a:p>
        </p:txBody>
      </p:sp>
      <p:sp>
        <p:nvSpPr>
          <p:cNvPr id="7" name="Shape 5"/>
          <p:cNvSpPr/>
          <p:nvPr/>
        </p:nvSpPr>
        <p:spPr>
          <a:xfrm>
            <a:off x="566928"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8" name="Text 6"/>
          <p:cNvSpPr/>
          <p:nvPr/>
        </p:nvSpPr>
        <p:spPr>
          <a:xfrm>
            <a:off x="566928" y="2514600"/>
            <a:ext cx="2627300" cy="475488"/>
          </a:xfrm>
          <a:prstGeom prst="rect">
            <a:avLst/>
          </a:prstGeom>
          <a:noFill/>
          <a:ln/>
        </p:spPr>
        <p:txBody>
          <a:bodyPr wrap="square" lIns="0" tIns="0" rIns="0" bIns="0" rtlCol="0" anchor="ctr"/>
          <a:lstStyle/>
          <a:p>
            <a:pPr marL="0" indent="0" algn="ctr">
              <a:buNone/>
            </a:pPr>
            <a:r>
              <a:rPr lang="en-US" sz="3400" b="1" dirty="0">
                <a:solidFill>
                  <a:srgbClr val="0B2E59"/>
                </a:solidFill>
                <a:latin typeface="Calibri" pitchFamily="34" charset="0"/>
                <a:ea typeface="Calibri" pitchFamily="34" charset="-122"/>
                <a:cs typeface="Calibri" pitchFamily="34" charset="-120"/>
              </a:rPr>
              <a:t>10</a:t>
            </a:r>
            <a:endParaRPr lang="en-US" sz="3400" dirty="0"/>
          </a:p>
        </p:txBody>
      </p:sp>
      <p:sp>
        <p:nvSpPr>
          <p:cNvPr id="9" name="Text 7"/>
          <p:cNvSpPr/>
          <p:nvPr/>
        </p:nvSpPr>
        <p:spPr>
          <a:xfrm>
            <a:off x="621792"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Functional modules</a:t>
            </a:r>
            <a:endParaRPr lang="en-US" sz="950" dirty="0"/>
          </a:p>
        </p:txBody>
      </p:sp>
      <p:sp>
        <p:nvSpPr>
          <p:cNvPr id="10" name="Shape 8"/>
          <p:cNvSpPr/>
          <p:nvPr/>
        </p:nvSpPr>
        <p:spPr>
          <a:xfrm>
            <a:off x="3377108"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Text 9"/>
          <p:cNvSpPr/>
          <p:nvPr/>
        </p:nvSpPr>
        <p:spPr>
          <a:xfrm>
            <a:off x="3377108" y="2514600"/>
            <a:ext cx="2627300" cy="475488"/>
          </a:xfrm>
          <a:prstGeom prst="rect">
            <a:avLst/>
          </a:prstGeom>
          <a:noFill/>
          <a:ln/>
        </p:spPr>
        <p:txBody>
          <a:bodyPr wrap="square" lIns="0" tIns="0" rIns="0" bIns="0" rtlCol="0" anchor="ctr"/>
          <a:lstStyle/>
          <a:p>
            <a:pPr marL="0" indent="0" algn="ctr">
              <a:buNone/>
            </a:pPr>
            <a:r>
              <a:rPr lang="en-US" sz="3400" b="1" dirty="0">
                <a:solidFill>
                  <a:srgbClr val="0B2E59"/>
                </a:solidFill>
                <a:latin typeface="Calibri" pitchFamily="34" charset="0"/>
                <a:ea typeface="Calibri" pitchFamily="34" charset="-122"/>
                <a:cs typeface="Calibri" pitchFamily="34" charset="-120"/>
              </a:rPr>
              <a:t>4</a:t>
            </a:r>
            <a:endParaRPr lang="en-US" sz="3400" dirty="0"/>
          </a:p>
        </p:txBody>
      </p:sp>
      <p:sp>
        <p:nvSpPr>
          <p:cNvPr id="12" name="Text 10"/>
          <p:cNvSpPr/>
          <p:nvPr/>
        </p:nvSpPr>
        <p:spPr>
          <a:xfrm>
            <a:off x="3431972"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User roles</a:t>
            </a:r>
            <a:endParaRPr lang="en-US" sz="950" dirty="0"/>
          </a:p>
        </p:txBody>
      </p:sp>
      <p:sp>
        <p:nvSpPr>
          <p:cNvPr id="13" name="Shape 11"/>
          <p:cNvSpPr/>
          <p:nvPr/>
        </p:nvSpPr>
        <p:spPr>
          <a:xfrm>
            <a:off x="6187288"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Text 12"/>
          <p:cNvSpPr/>
          <p:nvPr/>
        </p:nvSpPr>
        <p:spPr>
          <a:xfrm>
            <a:off x="6187288" y="2514600"/>
            <a:ext cx="2627300" cy="475488"/>
          </a:xfrm>
          <a:prstGeom prst="rect">
            <a:avLst/>
          </a:prstGeom>
          <a:noFill/>
          <a:ln/>
        </p:spPr>
        <p:txBody>
          <a:bodyPr wrap="square" lIns="0" tIns="0" rIns="0" bIns="0" rtlCol="0" anchor="ctr"/>
          <a:lstStyle/>
          <a:p>
            <a:pPr marL="0" indent="0" algn="ctr">
              <a:buNone/>
            </a:pPr>
            <a:r>
              <a:rPr lang="en-US" sz="3400" b="1" dirty="0">
                <a:solidFill>
                  <a:srgbClr val="0B2E59"/>
                </a:solidFill>
                <a:latin typeface="Calibri" pitchFamily="34" charset="0"/>
                <a:ea typeface="Calibri" pitchFamily="34" charset="-122"/>
                <a:cs typeface="Calibri" pitchFamily="34" charset="-120"/>
              </a:rPr>
              <a:t>~25</a:t>
            </a:r>
            <a:endParaRPr lang="en-US" sz="3400" dirty="0"/>
          </a:p>
        </p:txBody>
      </p:sp>
      <p:sp>
        <p:nvSpPr>
          <p:cNvPr id="15" name="Text 13"/>
          <p:cNvSpPr/>
          <p:nvPr/>
        </p:nvSpPr>
        <p:spPr>
          <a:xfrm>
            <a:off x="6242152"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Users across the office</a:t>
            </a:r>
            <a:endParaRPr lang="en-US" sz="950" dirty="0"/>
          </a:p>
        </p:txBody>
      </p:sp>
      <p:sp>
        <p:nvSpPr>
          <p:cNvPr id="16" name="Shape 14"/>
          <p:cNvSpPr/>
          <p:nvPr/>
        </p:nvSpPr>
        <p:spPr>
          <a:xfrm>
            <a:off x="8997467"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Text 15"/>
          <p:cNvSpPr/>
          <p:nvPr/>
        </p:nvSpPr>
        <p:spPr>
          <a:xfrm>
            <a:off x="8997467" y="2514600"/>
            <a:ext cx="2627300" cy="475488"/>
          </a:xfrm>
          <a:prstGeom prst="rect">
            <a:avLst/>
          </a:prstGeom>
          <a:noFill/>
          <a:ln/>
        </p:spPr>
        <p:txBody>
          <a:bodyPr wrap="square" lIns="0" tIns="0" rIns="0" bIns="0" rtlCol="0" anchor="ctr"/>
          <a:lstStyle/>
          <a:p>
            <a:pPr marL="0" indent="0" algn="ctr">
              <a:buNone/>
            </a:pPr>
            <a:r>
              <a:rPr lang="en-US" sz="3400" b="1">
                <a:solidFill>
                  <a:srgbClr val="0B2E59"/>
                </a:solidFill>
                <a:latin typeface="Calibri" pitchFamily="34" charset="0"/>
                <a:ea typeface="Calibri" pitchFamily="34" charset="-122"/>
                <a:cs typeface="Calibri" pitchFamily="34" charset="-120"/>
              </a:rPr>
              <a:t>20+</a:t>
            </a:r>
            <a:endParaRPr lang="en-US" sz="3400" dirty="0"/>
          </a:p>
        </p:txBody>
      </p:sp>
      <p:sp>
        <p:nvSpPr>
          <p:cNvPr id="18" name="Text 16"/>
          <p:cNvSpPr/>
          <p:nvPr/>
        </p:nvSpPr>
        <p:spPr>
          <a:xfrm>
            <a:off x="9052331"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Colleges supported</a:t>
            </a:r>
            <a:endParaRPr lang="en-US" sz="950" dirty="0"/>
          </a:p>
        </p:txBody>
      </p:sp>
      <p:sp>
        <p:nvSpPr>
          <p:cNvPr id="19" name="Shape 17"/>
          <p:cNvSpPr/>
          <p:nvPr/>
        </p:nvSpPr>
        <p:spPr>
          <a:xfrm>
            <a:off x="566928" y="3794760"/>
            <a:ext cx="3527450" cy="2011680"/>
          </a:xfrm>
          <a:prstGeom prst="roundRect">
            <a:avLst>
              <a:gd name="adj" fmla="val 454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Shape 18"/>
          <p:cNvSpPr/>
          <p:nvPr/>
        </p:nvSpPr>
        <p:spPr>
          <a:xfrm>
            <a:off x="786384" y="4014216"/>
            <a:ext cx="420624" cy="420624"/>
          </a:xfrm>
          <a:prstGeom prst="ellipse">
            <a:avLst/>
          </a:prstGeom>
          <a:solidFill>
            <a:srgbClr val="0B2E59"/>
          </a:solidFill>
          <a:ln w="12700">
            <a:solidFill>
              <a:srgbClr val="0B2E59"/>
            </a:solidFill>
            <a:prstDash val="solid"/>
          </a:ln>
        </p:spPr>
      </p:sp>
      <p:pic>
        <p:nvPicPr>
          <p:cNvPr id="21" name="Image 0" descr="preencoded.png"/>
          <p:cNvPicPr>
            <a:picLocks noChangeAspect="1"/>
          </p:cNvPicPr>
          <p:nvPr/>
        </p:nvPicPr>
        <p:blipFill>
          <a:blip r:embed="rId3"/>
          <a:stretch>
            <a:fillRect/>
          </a:stretch>
        </p:blipFill>
        <p:spPr>
          <a:xfrm>
            <a:off x="891540" y="4119372"/>
            <a:ext cx="210312" cy="210312"/>
          </a:xfrm>
          <a:prstGeom prst="rect">
            <a:avLst/>
          </a:prstGeom>
        </p:spPr>
      </p:pic>
      <p:sp>
        <p:nvSpPr>
          <p:cNvPr id="22" name="Text 19"/>
          <p:cNvSpPr/>
          <p:nvPr/>
        </p:nvSpPr>
        <p:spPr>
          <a:xfrm>
            <a:off x="786384" y="45628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Table-first, not dashboard-first</a:t>
            </a:r>
            <a:endParaRPr lang="en-US" sz="1350" dirty="0"/>
          </a:p>
        </p:txBody>
      </p:sp>
      <p:sp>
        <p:nvSpPr>
          <p:cNvPr id="23" name="Text 20"/>
          <p:cNvSpPr/>
          <p:nvPr/>
        </p:nvSpPr>
        <p:spPr>
          <a:xfrm>
            <a:off x="786384" y="4882896"/>
            <a:ext cx="3088538" cy="7498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Coordinators work in dense grids all day. The sidebar is deliberately narrow so more of the screen is data.</a:t>
            </a:r>
            <a:endParaRPr lang="en-US" sz="1050" dirty="0"/>
          </a:p>
        </p:txBody>
      </p:sp>
      <p:sp>
        <p:nvSpPr>
          <p:cNvPr id="24" name="Shape 21"/>
          <p:cNvSpPr/>
          <p:nvPr/>
        </p:nvSpPr>
        <p:spPr>
          <a:xfrm>
            <a:off x="4332122" y="3794760"/>
            <a:ext cx="3527450" cy="2011680"/>
          </a:xfrm>
          <a:prstGeom prst="roundRect">
            <a:avLst>
              <a:gd name="adj" fmla="val 454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2"/>
          <p:cNvSpPr/>
          <p:nvPr/>
        </p:nvSpPr>
        <p:spPr>
          <a:xfrm>
            <a:off x="4551578" y="4014216"/>
            <a:ext cx="420624" cy="420624"/>
          </a:xfrm>
          <a:prstGeom prst="ellipse">
            <a:avLst/>
          </a:prstGeom>
          <a:solidFill>
            <a:srgbClr val="175496"/>
          </a:solidFill>
          <a:ln w="12700">
            <a:solidFill>
              <a:srgbClr val="175496"/>
            </a:solidFill>
            <a:prstDash val="solid"/>
          </a:ln>
        </p:spPr>
      </p:sp>
      <p:pic>
        <p:nvPicPr>
          <p:cNvPr id="26" name="Image 1" descr="preencoded.png"/>
          <p:cNvPicPr>
            <a:picLocks noChangeAspect="1"/>
          </p:cNvPicPr>
          <p:nvPr/>
        </p:nvPicPr>
        <p:blipFill>
          <a:blip r:embed="rId4"/>
          <a:stretch>
            <a:fillRect/>
          </a:stretch>
        </p:blipFill>
        <p:spPr>
          <a:xfrm>
            <a:off x="4656734" y="4119372"/>
            <a:ext cx="210312" cy="210312"/>
          </a:xfrm>
          <a:prstGeom prst="rect">
            <a:avLst/>
          </a:prstGeom>
        </p:spPr>
      </p:pic>
      <p:sp>
        <p:nvSpPr>
          <p:cNvPr id="27" name="Text 23"/>
          <p:cNvSpPr/>
          <p:nvPr/>
        </p:nvSpPr>
        <p:spPr>
          <a:xfrm>
            <a:off x="4551578" y="45628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One shell, every module</a:t>
            </a:r>
            <a:endParaRPr lang="en-US" sz="1350" dirty="0"/>
          </a:p>
        </p:txBody>
      </p:sp>
      <p:sp>
        <p:nvSpPr>
          <p:cNvPr id="28" name="Text 24"/>
          <p:cNvSpPr/>
          <p:nvPr/>
        </p:nvSpPr>
        <p:spPr>
          <a:xfrm>
            <a:off x="4551578" y="4882896"/>
            <a:ext cx="3088538" cy="7498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Header, sidebar, toolbar, grid and status bar are identical everywhere. Learn one screen, you know them all.</a:t>
            </a:r>
            <a:endParaRPr lang="en-US" sz="1050" dirty="0"/>
          </a:p>
        </p:txBody>
      </p:sp>
      <p:sp>
        <p:nvSpPr>
          <p:cNvPr id="29" name="Shape 25"/>
          <p:cNvSpPr/>
          <p:nvPr/>
        </p:nvSpPr>
        <p:spPr>
          <a:xfrm>
            <a:off x="8097317" y="3794760"/>
            <a:ext cx="3527450" cy="2011680"/>
          </a:xfrm>
          <a:prstGeom prst="roundRect">
            <a:avLst>
              <a:gd name="adj" fmla="val 454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6"/>
          <p:cNvSpPr/>
          <p:nvPr/>
        </p:nvSpPr>
        <p:spPr>
          <a:xfrm>
            <a:off x="8316773" y="4014216"/>
            <a:ext cx="420624" cy="420624"/>
          </a:xfrm>
          <a:prstGeom prst="ellipse">
            <a:avLst/>
          </a:prstGeom>
          <a:solidFill>
            <a:srgbClr val="00ACC1"/>
          </a:solidFill>
          <a:ln w="12700">
            <a:solidFill>
              <a:srgbClr val="00ACC1"/>
            </a:solidFill>
            <a:prstDash val="solid"/>
          </a:ln>
        </p:spPr>
      </p:sp>
      <p:pic>
        <p:nvPicPr>
          <p:cNvPr id="31" name="Image 2" descr="preencoded.png"/>
          <p:cNvPicPr>
            <a:picLocks noChangeAspect="1"/>
          </p:cNvPicPr>
          <p:nvPr/>
        </p:nvPicPr>
        <p:blipFill>
          <a:blip r:embed="rId5"/>
          <a:stretch>
            <a:fillRect/>
          </a:stretch>
        </p:blipFill>
        <p:spPr>
          <a:xfrm>
            <a:off x="8421929" y="4119372"/>
            <a:ext cx="210312" cy="210312"/>
          </a:xfrm>
          <a:prstGeom prst="rect">
            <a:avLst/>
          </a:prstGeom>
        </p:spPr>
      </p:pic>
      <p:sp>
        <p:nvSpPr>
          <p:cNvPr id="32" name="Text 27"/>
          <p:cNvSpPr/>
          <p:nvPr/>
        </p:nvSpPr>
        <p:spPr>
          <a:xfrm>
            <a:off x="8316773" y="45628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Built around the real workflow</a:t>
            </a:r>
            <a:endParaRPr lang="en-US" sz="1350" dirty="0"/>
          </a:p>
        </p:txBody>
      </p:sp>
      <p:sp>
        <p:nvSpPr>
          <p:cNvPr id="33" name="Text 28"/>
          <p:cNvSpPr/>
          <p:nvPr/>
        </p:nvSpPr>
        <p:spPr>
          <a:xfrm>
            <a:off x="8316773" y="4882896"/>
            <a:ext cx="3088538" cy="7498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Each module's business process was finalised first. The interface was designed afterwards, never the other way round.</a:t>
            </a:r>
            <a:endParaRPr lang="en-US" sz="1050" dirty="0"/>
          </a:p>
        </p:txBody>
      </p:sp>
      <p:pic>
        <p:nvPicPr>
          <p:cNvPr id="34" name="Picture 33">
            <a:extLst>
              <a:ext uri="{FF2B5EF4-FFF2-40B4-BE49-F238E27FC236}">
                <a16:creationId xmlns:a16="http://schemas.microsoft.com/office/drawing/2014/main" id="{892E9540-D13C-0E5B-47B1-7350C728E42A}"/>
              </a:ext>
            </a:extLst>
          </p:cNvPr>
          <p:cNvPicPr>
            <a:picLocks noChangeAspect="1"/>
          </p:cNvPicPr>
          <p:nvPr/>
        </p:nvPicPr>
        <p:blipFill>
          <a:blip r:embed="rId6"/>
          <a:stretch>
            <a:fillRect/>
          </a:stretch>
        </p:blipFill>
        <p:spPr>
          <a:xfrm>
            <a:off x="10505338" y="166891"/>
            <a:ext cx="1544421" cy="3726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RULE WE DESIGNED BY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Workflow first. Interface second.</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66928" y="1444752"/>
            <a:ext cx="11057839" cy="1828800"/>
          </a:xfrm>
          <a:prstGeom prst="roundRect">
            <a:avLst>
              <a:gd name="adj" fmla="val 5000"/>
            </a:avLst>
          </a:prstGeom>
          <a:solidFill>
            <a:srgbClr val="EEF4FB"/>
          </a:solidFill>
          <a:ln w="9525">
            <a:solidFill>
              <a:srgbClr val="D6E4F5"/>
            </a:solidFill>
            <a:prstDash val="solid"/>
          </a:ln>
        </p:spPr>
      </p:sp>
      <p:sp>
        <p:nvSpPr>
          <p:cNvPr id="7" name="Text 5"/>
          <p:cNvSpPr/>
          <p:nvPr/>
        </p:nvSpPr>
        <p:spPr>
          <a:xfrm>
            <a:off x="877824" y="1609344"/>
            <a:ext cx="10436047" cy="1261872"/>
          </a:xfrm>
          <a:prstGeom prst="rect">
            <a:avLst/>
          </a:prstGeom>
          <a:noFill/>
          <a:ln/>
        </p:spPr>
        <p:txBody>
          <a:bodyPr wrap="square" lIns="0" tIns="0" rIns="0" bIns="0" rtlCol="0" anchor="ctr"/>
          <a:lstStyle/>
          <a:p>
            <a:pPr marL="0" indent="0">
              <a:lnSpc>
                <a:spcPct val="112000"/>
              </a:lnSpc>
              <a:buNone/>
            </a:pPr>
            <a:r>
              <a:rPr lang="en-US" sz="1900" i="1" dirty="0">
                <a:solidFill>
                  <a:srgbClr val="0B2E59"/>
                </a:solidFill>
                <a:latin typeface="Calibri" pitchFamily="34" charset="0"/>
                <a:ea typeface="Calibri" pitchFamily="34" charset="-122"/>
                <a:cs typeface="Calibri" pitchFamily="34" charset="-120"/>
              </a:rPr>
              <a:t>“Business workflow is always designed before the interface. The UI is never allowed to force users to adapt to the software; the software adapts to how the placement team actually works.”</a:t>
            </a:r>
            <a:endParaRPr lang="en-US" sz="1900" dirty="0"/>
          </a:p>
        </p:txBody>
      </p:sp>
      <p:sp>
        <p:nvSpPr>
          <p:cNvPr id="8" name="Text 6"/>
          <p:cNvSpPr/>
          <p:nvPr/>
        </p:nvSpPr>
        <p:spPr>
          <a:xfrm>
            <a:off x="877824" y="2852928"/>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iPOMS Design Foundation v1.0, Section 16 — Governing Principle for Future Modules</a:t>
            </a:r>
            <a:endParaRPr lang="en-US" sz="1000" dirty="0"/>
          </a:p>
        </p:txBody>
      </p:sp>
      <p:sp>
        <p:nvSpPr>
          <p:cNvPr id="9" name="Text 7"/>
          <p:cNvSpPr/>
          <p:nvPr/>
        </p:nvSpPr>
        <p:spPr>
          <a:xfrm>
            <a:off x="566928" y="352958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HOW THAT PLAYED OUT FOR EVERY MODULE</a:t>
            </a:r>
            <a:endParaRPr lang="en-US" sz="950" dirty="0"/>
          </a:p>
        </p:txBody>
      </p:sp>
      <p:sp>
        <p:nvSpPr>
          <p:cNvPr id="10" name="Shape 8"/>
          <p:cNvSpPr/>
          <p:nvPr/>
        </p:nvSpPr>
        <p:spPr>
          <a:xfrm>
            <a:off x="566928" y="3822192"/>
            <a:ext cx="3490874" cy="1965960"/>
          </a:xfrm>
          <a:prstGeom prst="roundRect">
            <a:avLst>
              <a:gd name="adj" fmla="val 465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Shape 9"/>
          <p:cNvSpPr/>
          <p:nvPr/>
        </p:nvSpPr>
        <p:spPr>
          <a:xfrm>
            <a:off x="749808" y="4005072"/>
            <a:ext cx="365760" cy="365760"/>
          </a:xfrm>
          <a:prstGeom prst="ellipse">
            <a:avLst/>
          </a:prstGeom>
          <a:solidFill>
            <a:srgbClr val="0B2E59"/>
          </a:solidFill>
          <a:ln w="12700">
            <a:solidFill>
              <a:srgbClr val="0B2E59"/>
            </a:solidFill>
            <a:prstDash val="solid"/>
          </a:ln>
        </p:spPr>
      </p:sp>
      <p:sp>
        <p:nvSpPr>
          <p:cNvPr id="12" name="Text 10"/>
          <p:cNvSpPr/>
          <p:nvPr/>
        </p:nvSpPr>
        <p:spPr>
          <a:xfrm>
            <a:off x="749808" y="4005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749808" y="4443984"/>
            <a:ext cx="312511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Discuss the business process</a:t>
            </a:r>
            <a:endParaRPr lang="en-US" sz="1200" dirty="0"/>
          </a:p>
        </p:txBody>
      </p:sp>
      <p:sp>
        <p:nvSpPr>
          <p:cNvPr id="14" name="Text 12"/>
          <p:cNvSpPr/>
          <p:nvPr/>
        </p:nvSpPr>
        <p:spPr>
          <a:xfrm>
            <a:off x="749808" y="4718304"/>
            <a:ext cx="3125114" cy="941832"/>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How does the team actually do this today, and what is genuinely painful about it?</a:t>
            </a:r>
            <a:endParaRPr lang="en-US" sz="950" dirty="0"/>
          </a:p>
        </p:txBody>
      </p:sp>
      <p:sp>
        <p:nvSpPr>
          <p:cNvPr id="15" name="Text 13"/>
          <p:cNvSpPr/>
          <p:nvPr/>
        </p:nvSpPr>
        <p:spPr>
          <a:xfrm>
            <a:off x="4057802" y="4549140"/>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4350410" y="3822192"/>
            <a:ext cx="3490874" cy="1965960"/>
          </a:xfrm>
          <a:prstGeom prst="roundRect">
            <a:avLst>
              <a:gd name="adj" fmla="val 465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5"/>
          <p:cNvSpPr/>
          <p:nvPr/>
        </p:nvSpPr>
        <p:spPr>
          <a:xfrm>
            <a:off x="4533290" y="4005072"/>
            <a:ext cx="365760" cy="365760"/>
          </a:xfrm>
          <a:prstGeom prst="ellipse">
            <a:avLst/>
          </a:prstGeom>
          <a:solidFill>
            <a:srgbClr val="0B2E59"/>
          </a:solidFill>
          <a:ln w="12700">
            <a:solidFill>
              <a:srgbClr val="0B2E59"/>
            </a:solidFill>
            <a:prstDash val="solid"/>
          </a:ln>
        </p:spPr>
      </p:sp>
      <p:sp>
        <p:nvSpPr>
          <p:cNvPr id="18" name="Text 16"/>
          <p:cNvSpPr/>
          <p:nvPr/>
        </p:nvSpPr>
        <p:spPr>
          <a:xfrm>
            <a:off x="4533290" y="4005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4533290" y="4443984"/>
            <a:ext cx="312511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Finalise the workflow</a:t>
            </a:r>
            <a:endParaRPr lang="en-US" sz="1200" dirty="0"/>
          </a:p>
        </p:txBody>
      </p:sp>
      <p:sp>
        <p:nvSpPr>
          <p:cNvPr id="20" name="Text 18"/>
          <p:cNvSpPr/>
          <p:nvPr/>
        </p:nvSpPr>
        <p:spPr>
          <a:xfrm>
            <a:off x="4533290" y="4718304"/>
            <a:ext cx="3125114" cy="941832"/>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Rules, edge cases and validation are agreed and written down before any screen is drawn.</a:t>
            </a:r>
            <a:endParaRPr lang="en-US" sz="950" dirty="0"/>
          </a:p>
        </p:txBody>
      </p:sp>
      <p:sp>
        <p:nvSpPr>
          <p:cNvPr id="21" name="Text 19"/>
          <p:cNvSpPr/>
          <p:nvPr/>
        </p:nvSpPr>
        <p:spPr>
          <a:xfrm>
            <a:off x="7841285" y="4549140"/>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8133893" y="3822192"/>
            <a:ext cx="3490874" cy="1965960"/>
          </a:xfrm>
          <a:prstGeom prst="roundRect">
            <a:avLst>
              <a:gd name="adj" fmla="val 465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3" name="Shape 21"/>
          <p:cNvSpPr/>
          <p:nvPr/>
        </p:nvSpPr>
        <p:spPr>
          <a:xfrm>
            <a:off x="8316773" y="4005072"/>
            <a:ext cx="365760" cy="365760"/>
          </a:xfrm>
          <a:prstGeom prst="ellipse">
            <a:avLst/>
          </a:prstGeom>
          <a:solidFill>
            <a:srgbClr val="0B2E59"/>
          </a:solidFill>
          <a:ln w="12700">
            <a:solidFill>
              <a:srgbClr val="0B2E59"/>
            </a:solidFill>
            <a:prstDash val="solid"/>
          </a:ln>
        </p:spPr>
      </p:sp>
      <p:sp>
        <p:nvSpPr>
          <p:cNvPr id="24" name="Text 22"/>
          <p:cNvSpPr/>
          <p:nvPr/>
        </p:nvSpPr>
        <p:spPr>
          <a:xfrm>
            <a:off x="8316773" y="4005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8316773" y="4443984"/>
            <a:ext cx="312511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Assemble the screen</a:t>
            </a:r>
            <a:endParaRPr lang="en-US" sz="1200" dirty="0"/>
          </a:p>
        </p:txBody>
      </p:sp>
      <p:sp>
        <p:nvSpPr>
          <p:cNvPr id="26" name="Text 24"/>
          <p:cNvSpPr/>
          <p:nvPr/>
        </p:nvSpPr>
        <p:spPr>
          <a:xfrm>
            <a:off x="8316773" y="4718304"/>
            <a:ext cx="3125114" cy="941832"/>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Built from the shared component library — nothing is designed twice.</a:t>
            </a:r>
            <a:endParaRPr lang="en-US" sz="950" dirty="0"/>
          </a:p>
        </p:txBody>
      </p:sp>
      <p:pic>
        <p:nvPicPr>
          <p:cNvPr id="27" name="Picture 26">
            <a:extLst>
              <a:ext uri="{FF2B5EF4-FFF2-40B4-BE49-F238E27FC236}">
                <a16:creationId xmlns:a16="http://schemas.microsoft.com/office/drawing/2014/main" id="{2E13E158-4330-B04F-A3D2-9034F73D7F40}"/>
              </a:ext>
            </a:extLst>
          </p:cNvPr>
          <p:cNvPicPr>
            <a:picLocks noChangeAspect="1"/>
          </p:cNvPicPr>
          <p:nvPr/>
        </p:nvPicPr>
        <p:blipFill>
          <a:blip r:embed="rId3"/>
          <a:stretch>
            <a:fillRect/>
          </a:stretch>
        </p:blipFill>
        <p:spPr>
          <a:xfrm>
            <a:off x="10505338" y="156731"/>
            <a:ext cx="1544421" cy="3726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HOW IT FITS TOGETHER</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System architecture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6</a:t>
            </a:r>
            <a:endParaRPr lang="en-US" sz="950" dirty="0"/>
          </a:p>
        </p:txBody>
      </p:sp>
      <p:pic>
        <p:nvPicPr>
          <p:cNvPr id="6" name="Image 0" descr="preencoded.png"/>
          <p:cNvPicPr>
            <a:picLocks noChangeAspect="1"/>
          </p:cNvPicPr>
          <p:nvPr/>
        </p:nvPicPr>
        <p:blipFill>
          <a:blip r:embed="rId3"/>
          <a:stretch>
            <a:fillRect/>
          </a:stretch>
        </p:blipFill>
        <p:spPr>
          <a:xfrm>
            <a:off x="5452567" y="1723006"/>
            <a:ext cx="6172200" cy="3960628"/>
          </a:xfrm>
          <a:prstGeom prst="rect">
            <a:avLst/>
          </a:prstGeom>
        </p:spPr>
      </p:pic>
      <p:sp>
        <p:nvSpPr>
          <p:cNvPr id="7" name="Shape 4"/>
          <p:cNvSpPr/>
          <p:nvPr/>
        </p:nvSpPr>
        <p:spPr>
          <a:xfrm>
            <a:off x="566928" y="1572768"/>
            <a:ext cx="4846320" cy="969264"/>
          </a:xfrm>
          <a:prstGeom prst="roundRect">
            <a:avLst>
              <a:gd name="adj" fmla="val 8491"/>
            </a:avLst>
          </a:prstGeom>
          <a:solidFill>
            <a:srgbClr val="F4F7FA"/>
          </a:solidFill>
          <a:ln w="9525">
            <a:solidFill>
              <a:srgbClr val="E1E8F0"/>
            </a:solidFill>
            <a:prstDash val="solid"/>
          </a:ln>
        </p:spPr>
      </p:sp>
      <p:sp>
        <p:nvSpPr>
          <p:cNvPr id="8" name="Shape 5"/>
          <p:cNvSpPr/>
          <p:nvPr/>
        </p:nvSpPr>
        <p:spPr>
          <a:xfrm>
            <a:off x="768096" y="1828800"/>
            <a:ext cx="457200" cy="457200"/>
          </a:xfrm>
          <a:prstGeom prst="ellipse">
            <a:avLst/>
          </a:prstGeom>
          <a:solidFill>
            <a:srgbClr val="0B2E59"/>
          </a:solidFill>
          <a:ln w="12700">
            <a:solidFill>
              <a:srgbClr val="0B2E59"/>
            </a:solidFill>
            <a:prstDash val="solid"/>
          </a:ln>
        </p:spPr>
      </p:sp>
      <p:pic>
        <p:nvPicPr>
          <p:cNvPr id="9" name="Image 1" descr="preencoded.png"/>
          <p:cNvPicPr>
            <a:picLocks noChangeAspect="1"/>
          </p:cNvPicPr>
          <p:nvPr/>
        </p:nvPicPr>
        <p:blipFill>
          <a:blip r:embed="rId4"/>
          <a:stretch>
            <a:fillRect/>
          </a:stretch>
        </p:blipFill>
        <p:spPr>
          <a:xfrm>
            <a:off x="882396" y="1943100"/>
            <a:ext cx="228600" cy="228600"/>
          </a:xfrm>
          <a:prstGeom prst="rect">
            <a:avLst/>
          </a:prstGeom>
        </p:spPr>
      </p:pic>
      <p:sp>
        <p:nvSpPr>
          <p:cNvPr id="10" name="Text 6"/>
          <p:cNvSpPr/>
          <p:nvPr/>
        </p:nvSpPr>
        <p:spPr>
          <a:xfrm>
            <a:off x="1463040" y="170078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One entry point</a:t>
            </a:r>
            <a:endParaRPr lang="en-US" sz="1300" dirty="0"/>
          </a:p>
        </p:txBody>
      </p:sp>
      <p:sp>
        <p:nvSpPr>
          <p:cNvPr id="11" name="Text 7"/>
          <p:cNvSpPr/>
          <p:nvPr/>
        </p:nvSpPr>
        <p:spPr>
          <a:xfrm>
            <a:off x="1463040" y="195681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A single login screen. The role is detected and the user is routed to their own dashboard.</a:t>
            </a:r>
            <a:endParaRPr lang="en-US" sz="1050" dirty="0"/>
          </a:p>
        </p:txBody>
      </p:sp>
      <p:sp>
        <p:nvSpPr>
          <p:cNvPr id="12" name="Shape 8"/>
          <p:cNvSpPr/>
          <p:nvPr/>
        </p:nvSpPr>
        <p:spPr>
          <a:xfrm>
            <a:off x="566928" y="2670048"/>
            <a:ext cx="4846320" cy="969264"/>
          </a:xfrm>
          <a:prstGeom prst="roundRect">
            <a:avLst>
              <a:gd name="adj" fmla="val 8491"/>
            </a:avLst>
          </a:prstGeom>
          <a:solidFill>
            <a:srgbClr val="F4F7FA"/>
          </a:solidFill>
          <a:ln w="9525">
            <a:solidFill>
              <a:srgbClr val="E1E8F0"/>
            </a:solidFill>
            <a:prstDash val="solid"/>
          </a:ln>
        </p:spPr>
      </p:sp>
      <p:sp>
        <p:nvSpPr>
          <p:cNvPr id="13" name="Shape 9"/>
          <p:cNvSpPr/>
          <p:nvPr/>
        </p:nvSpPr>
        <p:spPr>
          <a:xfrm>
            <a:off x="768096" y="2926080"/>
            <a:ext cx="457200" cy="457200"/>
          </a:xfrm>
          <a:prstGeom prst="ellipse">
            <a:avLst/>
          </a:prstGeom>
          <a:solidFill>
            <a:srgbClr val="2E7D32"/>
          </a:solidFill>
          <a:ln w="12700">
            <a:solidFill>
              <a:srgbClr val="2E7D32"/>
            </a:solidFill>
            <a:prstDash val="solid"/>
          </a:ln>
        </p:spPr>
      </p:sp>
      <p:pic>
        <p:nvPicPr>
          <p:cNvPr id="14" name="Image 2" descr="preencoded.png"/>
          <p:cNvPicPr>
            <a:picLocks noChangeAspect="1"/>
          </p:cNvPicPr>
          <p:nvPr/>
        </p:nvPicPr>
        <p:blipFill>
          <a:blip r:embed="rId5"/>
          <a:stretch>
            <a:fillRect/>
          </a:stretch>
        </p:blipFill>
        <p:spPr>
          <a:xfrm>
            <a:off x="882396" y="3040380"/>
            <a:ext cx="228600" cy="228600"/>
          </a:xfrm>
          <a:prstGeom prst="rect">
            <a:avLst/>
          </a:prstGeom>
        </p:spPr>
      </p:pic>
      <p:sp>
        <p:nvSpPr>
          <p:cNvPr id="15" name="Text 10"/>
          <p:cNvSpPr/>
          <p:nvPr/>
        </p:nvSpPr>
        <p:spPr>
          <a:xfrm>
            <a:off x="1463040" y="279806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One core database</a:t>
            </a:r>
            <a:endParaRPr lang="en-US" sz="1300" dirty="0"/>
          </a:p>
        </p:txBody>
      </p:sp>
      <p:sp>
        <p:nvSpPr>
          <p:cNvPr id="16" name="Text 11"/>
          <p:cNvSpPr/>
          <p:nvPr/>
        </p:nvSpPr>
        <p:spPr>
          <a:xfrm>
            <a:off x="1463040" y="305409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The Master Company Database feeds every tracker in the system.</a:t>
            </a:r>
            <a:endParaRPr lang="en-US" sz="1050" dirty="0"/>
          </a:p>
        </p:txBody>
      </p:sp>
      <p:sp>
        <p:nvSpPr>
          <p:cNvPr id="17" name="Shape 12"/>
          <p:cNvSpPr/>
          <p:nvPr/>
        </p:nvSpPr>
        <p:spPr>
          <a:xfrm>
            <a:off x="566928" y="3767328"/>
            <a:ext cx="4846320" cy="969264"/>
          </a:xfrm>
          <a:prstGeom prst="roundRect">
            <a:avLst>
              <a:gd name="adj" fmla="val 8491"/>
            </a:avLst>
          </a:prstGeom>
          <a:solidFill>
            <a:srgbClr val="F4F7FA"/>
          </a:solidFill>
          <a:ln w="9525">
            <a:solidFill>
              <a:srgbClr val="E1E8F0"/>
            </a:solidFill>
            <a:prstDash val="solid"/>
          </a:ln>
        </p:spPr>
      </p:sp>
      <p:sp>
        <p:nvSpPr>
          <p:cNvPr id="18" name="Shape 13"/>
          <p:cNvSpPr/>
          <p:nvPr/>
        </p:nvSpPr>
        <p:spPr>
          <a:xfrm>
            <a:off x="768096" y="4023360"/>
            <a:ext cx="457200" cy="457200"/>
          </a:xfrm>
          <a:prstGeom prst="ellipse">
            <a:avLst/>
          </a:prstGeom>
          <a:solidFill>
            <a:srgbClr val="175496"/>
          </a:solidFill>
          <a:ln w="12700">
            <a:solidFill>
              <a:srgbClr val="175496"/>
            </a:solidFill>
            <a:prstDash val="solid"/>
          </a:ln>
        </p:spPr>
      </p:sp>
      <p:pic>
        <p:nvPicPr>
          <p:cNvPr id="19" name="Image 3" descr="preencoded.png"/>
          <p:cNvPicPr>
            <a:picLocks noChangeAspect="1"/>
          </p:cNvPicPr>
          <p:nvPr/>
        </p:nvPicPr>
        <p:blipFill>
          <a:blip r:embed="rId6"/>
          <a:stretch>
            <a:fillRect/>
          </a:stretch>
        </p:blipFill>
        <p:spPr>
          <a:xfrm>
            <a:off x="882396" y="4137660"/>
            <a:ext cx="228600" cy="228600"/>
          </a:xfrm>
          <a:prstGeom prst="rect">
            <a:avLst/>
          </a:prstGeom>
        </p:spPr>
      </p:pic>
      <p:sp>
        <p:nvSpPr>
          <p:cNvPr id="20" name="Text 14"/>
          <p:cNvSpPr/>
          <p:nvPr/>
        </p:nvSpPr>
        <p:spPr>
          <a:xfrm>
            <a:off x="1463040" y="389534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Three operational trackers</a:t>
            </a:r>
            <a:endParaRPr lang="en-US" sz="1300" dirty="0"/>
          </a:p>
        </p:txBody>
      </p:sp>
      <p:sp>
        <p:nvSpPr>
          <p:cNvPr id="21" name="Text 15"/>
          <p:cNvSpPr/>
          <p:nvPr/>
        </p:nvSpPr>
        <p:spPr>
          <a:xfrm>
            <a:off x="1463040" y="415137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Daily Tracker, Weekly Tracker and Daily Leads all read from it and write back to it.</a:t>
            </a:r>
            <a:endParaRPr lang="en-US" sz="1050" dirty="0"/>
          </a:p>
        </p:txBody>
      </p:sp>
      <p:sp>
        <p:nvSpPr>
          <p:cNvPr id="22" name="Shape 16"/>
          <p:cNvSpPr/>
          <p:nvPr/>
        </p:nvSpPr>
        <p:spPr>
          <a:xfrm>
            <a:off x="566928" y="4864608"/>
            <a:ext cx="4846320" cy="969264"/>
          </a:xfrm>
          <a:prstGeom prst="roundRect">
            <a:avLst>
              <a:gd name="adj" fmla="val 8491"/>
            </a:avLst>
          </a:prstGeom>
          <a:solidFill>
            <a:srgbClr val="F4F7FA"/>
          </a:solidFill>
          <a:ln w="9525">
            <a:solidFill>
              <a:srgbClr val="E1E8F0"/>
            </a:solidFill>
            <a:prstDash val="solid"/>
          </a:ln>
        </p:spPr>
      </p:sp>
      <p:sp>
        <p:nvSpPr>
          <p:cNvPr id="23" name="Shape 17"/>
          <p:cNvSpPr/>
          <p:nvPr/>
        </p:nvSpPr>
        <p:spPr>
          <a:xfrm>
            <a:off x="768096" y="5120640"/>
            <a:ext cx="457200" cy="457200"/>
          </a:xfrm>
          <a:prstGeom prst="ellipse">
            <a:avLst/>
          </a:prstGeom>
          <a:solidFill>
            <a:srgbClr val="00ACC1"/>
          </a:solidFill>
          <a:ln w="12700">
            <a:solidFill>
              <a:srgbClr val="00ACC1"/>
            </a:solidFill>
            <a:prstDash val="solid"/>
          </a:ln>
        </p:spPr>
      </p:sp>
      <p:pic>
        <p:nvPicPr>
          <p:cNvPr id="24" name="Image 4" descr="preencoded.png"/>
          <p:cNvPicPr>
            <a:picLocks noChangeAspect="1"/>
          </p:cNvPicPr>
          <p:nvPr/>
        </p:nvPicPr>
        <p:blipFill>
          <a:blip r:embed="rId7"/>
          <a:stretch>
            <a:fillRect/>
          </a:stretch>
        </p:blipFill>
        <p:spPr>
          <a:xfrm>
            <a:off x="882396" y="5234940"/>
            <a:ext cx="228600" cy="228600"/>
          </a:xfrm>
          <a:prstGeom prst="rect">
            <a:avLst/>
          </a:prstGeom>
        </p:spPr>
      </p:pic>
      <p:sp>
        <p:nvSpPr>
          <p:cNvPr id="25" name="Text 18"/>
          <p:cNvSpPr/>
          <p:nvPr/>
        </p:nvSpPr>
        <p:spPr>
          <a:xfrm>
            <a:off x="1463040" y="499262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One output layer</a:t>
            </a:r>
            <a:endParaRPr lang="en-US" sz="1300" dirty="0"/>
          </a:p>
        </p:txBody>
      </p:sp>
      <p:sp>
        <p:nvSpPr>
          <p:cNvPr id="26" name="Text 19"/>
          <p:cNvSpPr/>
          <p:nvPr/>
        </p:nvSpPr>
        <p:spPr>
          <a:xfrm>
            <a:off x="1463040" y="524865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Reports &amp; Analytics reads everything — and stores nothing of its own.</a:t>
            </a:r>
            <a:endParaRPr lang="en-US" sz="1050" dirty="0"/>
          </a:p>
        </p:txBody>
      </p:sp>
      <p:pic>
        <p:nvPicPr>
          <p:cNvPr id="27" name="Picture 26">
            <a:extLst>
              <a:ext uri="{FF2B5EF4-FFF2-40B4-BE49-F238E27FC236}">
                <a16:creationId xmlns:a16="http://schemas.microsoft.com/office/drawing/2014/main" id="{D0E57185-4F4B-ADAB-2D63-62B4888C740D}"/>
              </a:ext>
            </a:extLst>
          </p:cNvPr>
          <p:cNvPicPr>
            <a:picLocks noChangeAspect="1"/>
          </p:cNvPicPr>
          <p:nvPr/>
        </p:nvPicPr>
        <p:blipFill>
          <a:blip r:embed="rId8"/>
          <a:stretch>
            <a:fillRect/>
          </a:stretch>
        </p:blipFill>
        <p:spPr>
          <a:xfrm>
            <a:off x="10505338" y="177051"/>
            <a:ext cx="1544421" cy="3726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SCOPE</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Ten modules at a glance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73384" cy="4114800"/>
        </p:xfrm>
        <a:graphic>
          <a:graphicData uri="http://schemas.openxmlformats.org/drawingml/2006/table">
            <a:tbl>
              <a:tblPr/>
              <a:tblGrid>
                <a:gridCol w="658368">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gridCol w="1636776">
                  <a:extLst>
                    <a:ext uri="{9D8B030D-6E8A-4147-A177-3AD203B41FA5}">
                      <a16:colId xmlns:a16="http://schemas.microsoft.com/office/drawing/2014/main" val="20003"/>
                    </a:ext>
                  </a:extLst>
                </a:gridCol>
              </a:tblGrid>
              <a:tr h="34290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User Management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Secure login and role-based access for every user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Master Company Database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single source of truth for companies and HR contacts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Daily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coordinator's daily calling workspace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Weekly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lifecycle of every positive opportunity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Daily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Today's positive responses and job descriptions received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Reports &amp; Analytics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Insights, plus the built-in report builder and editor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07</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Role-Based Dashboard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operational command centre you land on after login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User &amp; Access Management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Identity, account status and password control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09</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Settings &amp; Configuration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Personal, organization and system preferences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System Information &amp; Admin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Health, data quality and maintenance mode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Design Foundation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shared visual and interaction language for all of the above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11"/>
                  </a:ext>
                </a:extLst>
              </a:tr>
            </a:tbl>
          </a:graphicData>
        </a:graphic>
      </p:graphicFrame>
      <p:sp>
        <p:nvSpPr>
          <p:cNvPr id="7" name="Text 4"/>
          <p:cNvSpPr/>
          <p:nvPr/>
        </p:nvSpPr>
        <p:spPr>
          <a:xfrm>
            <a:off x="566928" y="5742432"/>
            <a:ext cx="11057839"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“Designed” means the business design is complete and signed off in a specification document — not that code has been written.</a:t>
            </a:r>
            <a:endParaRPr lang="en-US" sz="1000" dirty="0"/>
          </a:p>
        </p:txBody>
      </p:sp>
      <p:pic>
        <p:nvPicPr>
          <p:cNvPr id="6" name="Picture 5">
            <a:extLst>
              <a:ext uri="{FF2B5EF4-FFF2-40B4-BE49-F238E27FC236}">
                <a16:creationId xmlns:a16="http://schemas.microsoft.com/office/drawing/2014/main" id="{03143257-4A83-A5FF-3CF3-3C27B3478A1C}"/>
              </a:ext>
            </a:extLst>
          </p:cNvPr>
          <p:cNvPicPr>
            <a:picLocks noChangeAspect="1"/>
          </p:cNvPicPr>
          <p:nvPr/>
        </p:nvPicPr>
        <p:blipFill>
          <a:blip r:embed="rId3"/>
          <a:stretch>
            <a:fillRect/>
          </a:stretch>
        </p:blipFill>
        <p:spPr>
          <a:xfrm>
            <a:off x="10505338" y="166891"/>
            <a:ext cx="1544421" cy="3726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WHO USES IT</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Four roles, four different products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8</a:t>
            </a:r>
            <a:endParaRPr lang="en-US" sz="950" dirty="0"/>
          </a:p>
        </p:txBody>
      </p:sp>
      <p:sp>
        <p:nvSpPr>
          <p:cNvPr id="6" name="Shape 4"/>
          <p:cNvSpPr/>
          <p:nvPr/>
        </p:nvSpPr>
        <p:spPr>
          <a:xfrm>
            <a:off x="566928" y="1481328"/>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Placement Coordinator</a:t>
            </a:r>
            <a:endParaRPr lang="en-US" sz="1350" dirty="0"/>
          </a:p>
        </p:txBody>
      </p:sp>
      <p:sp>
        <p:nvSpPr>
          <p:cNvPr id="10" name="Text 7"/>
          <p:cNvSpPr/>
          <p:nvPr/>
        </p:nvSpPr>
        <p:spPr>
          <a:xfrm>
            <a:off x="786384" y="2569464"/>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operational user. Makes the calls, keeps the Daily Tracker, logs every positive lead. Lives in the system all day — around 70 calls each.</a:t>
            </a:r>
            <a:endParaRPr lang="en-US" sz="1050" dirty="0"/>
          </a:p>
        </p:txBody>
      </p:sp>
      <p:sp>
        <p:nvSpPr>
          <p:cNvPr id="11" name="Shape 8"/>
          <p:cNvSpPr/>
          <p:nvPr/>
        </p:nvSpPr>
        <p:spPr>
          <a:xfrm>
            <a:off x="6214720" y="1481328"/>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6434176" y="1700784"/>
            <a:ext cx="420624" cy="420624"/>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6539332" y="1805940"/>
            <a:ext cx="210312" cy="210312"/>
          </a:xfrm>
          <a:prstGeom prst="rect">
            <a:avLst/>
          </a:prstGeom>
        </p:spPr>
      </p:pic>
      <p:sp>
        <p:nvSpPr>
          <p:cNvPr id="14" name="Text 10"/>
          <p:cNvSpPr/>
          <p:nvPr/>
        </p:nvSpPr>
        <p:spPr>
          <a:xfrm>
            <a:off x="6434176" y="2249424"/>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Team Leader</a:t>
            </a:r>
            <a:endParaRPr lang="en-US" sz="1350" dirty="0"/>
          </a:p>
        </p:txBody>
      </p:sp>
      <p:sp>
        <p:nvSpPr>
          <p:cNvPr id="15" name="Text 11"/>
          <p:cNvSpPr/>
          <p:nvPr/>
        </p:nvSpPr>
        <p:spPr>
          <a:xfrm>
            <a:off x="6434176" y="2569464"/>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Supervises several coordinators. Verifies and corrects data, manages the company database, assigns work, and monitors reports.</a:t>
            </a:r>
            <a:endParaRPr lang="en-US" sz="1050" dirty="0"/>
          </a:p>
        </p:txBody>
      </p:sp>
      <p:sp>
        <p:nvSpPr>
          <p:cNvPr id="16" name="Shape 12"/>
          <p:cNvSpPr/>
          <p:nvPr/>
        </p:nvSpPr>
        <p:spPr>
          <a:xfrm>
            <a:off x="566928" y="3771900"/>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786384" y="3991356"/>
            <a:ext cx="420624" cy="420624"/>
          </a:xfrm>
          <a:prstGeom prst="ellipse">
            <a:avLst/>
          </a:prstGeom>
          <a:solidFill>
            <a:srgbClr val="0B2E59"/>
          </a:solidFill>
          <a:ln w="12700">
            <a:solidFill>
              <a:srgbClr val="0B2E59"/>
            </a:solidFill>
            <a:prstDash val="solid"/>
          </a:ln>
        </p:spPr>
      </p:sp>
      <p:pic>
        <p:nvPicPr>
          <p:cNvPr id="18" name="Image 2" descr="preencoded.png"/>
          <p:cNvPicPr>
            <a:picLocks noChangeAspect="1"/>
          </p:cNvPicPr>
          <p:nvPr/>
        </p:nvPicPr>
        <p:blipFill>
          <a:blip r:embed="rId5"/>
          <a:stretch>
            <a:fillRect/>
          </a:stretch>
        </p:blipFill>
        <p:spPr>
          <a:xfrm>
            <a:off x="891540" y="4096512"/>
            <a:ext cx="210312" cy="210312"/>
          </a:xfrm>
          <a:prstGeom prst="rect">
            <a:avLst/>
          </a:prstGeom>
        </p:spPr>
      </p:pic>
      <p:sp>
        <p:nvSpPr>
          <p:cNvPr id="19" name="Text 14"/>
          <p:cNvSpPr/>
          <p:nvPr/>
        </p:nvSpPr>
        <p:spPr>
          <a:xfrm>
            <a:off x="786384" y="453999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Administrator  (CEO / Director)</a:t>
            </a:r>
            <a:endParaRPr lang="en-US" sz="1350" dirty="0"/>
          </a:p>
        </p:txBody>
      </p:sp>
      <p:sp>
        <p:nvSpPr>
          <p:cNvPr id="20" name="Text 15"/>
          <p:cNvSpPr/>
          <p:nvPr/>
        </p:nvSpPr>
        <p:spPr>
          <a:xfrm>
            <a:off x="786384" y="4860036"/>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system owner, with unrestricted access — user management, configuration, analytics, database administration and security.</a:t>
            </a:r>
            <a:endParaRPr lang="en-US" sz="1050" dirty="0"/>
          </a:p>
        </p:txBody>
      </p:sp>
      <p:sp>
        <p:nvSpPr>
          <p:cNvPr id="21" name="Shape 16"/>
          <p:cNvSpPr/>
          <p:nvPr/>
        </p:nvSpPr>
        <p:spPr>
          <a:xfrm>
            <a:off x="6214720" y="3771900"/>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434176" y="3991356"/>
            <a:ext cx="420624" cy="420624"/>
          </a:xfrm>
          <a:prstGeom prst="ellipse">
            <a:avLst/>
          </a:prstGeom>
          <a:solidFill>
            <a:srgbClr val="6B7A8C"/>
          </a:solidFill>
          <a:ln w="12700">
            <a:solidFill>
              <a:srgbClr val="6B7A8C"/>
            </a:solidFill>
            <a:prstDash val="solid"/>
          </a:ln>
        </p:spPr>
      </p:sp>
      <p:pic>
        <p:nvPicPr>
          <p:cNvPr id="23" name="Image 3" descr="preencoded.png"/>
          <p:cNvPicPr>
            <a:picLocks noChangeAspect="1"/>
          </p:cNvPicPr>
          <p:nvPr/>
        </p:nvPicPr>
        <p:blipFill>
          <a:blip r:embed="rId6"/>
          <a:stretch>
            <a:fillRect/>
          </a:stretch>
        </p:blipFill>
        <p:spPr>
          <a:xfrm>
            <a:off x="6539332" y="4096512"/>
            <a:ext cx="210312" cy="210312"/>
          </a:xfrm>
          <a:prstGeom prst="rect">
            <a:avLst/>
          </a:prstGeom>
        </p:spPr>
      </p:pic>
      <p:sp>
        <p:nvSpPr>
          <p:cNvPr id="24" name="Text 18"/>
          <p:cNvSpPr/>
          <p:nvPr/>
        </p:nvSpPr>
        <p:spPr>
          <a:xfrm>
            <a:off x="6434176" y="453999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Training &amp; Placement Officer</a:t>
            </a:r>
            <a:endParaRPr lang="en-US" sz="1350" dirty="0"/>
          </a:p>
        </p:txBody>
      </p:sp>
      <p:sp>
        <p:nvSpPr>
          <p:cNvPr id="25" name="Text 19"/>
          <p:cNvSpPr/>
          <p:nvPr/>
        </p:nvSpPr>
        <p:spPr>
          <a:xfrm>
            <a:off x="6434176" y="4860036"/>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external stakeholder, read-only. Sees placement statistics, weekly and monthly reports, and dashboards. Nothing else.</a:t>
            </a:r>
            <a:endParaRPr lang="en-US" sz="1050" dirty="0"/>
          </a:p>
        </p:txBody>
      </p:sp>
      <p:pic>
        <p:nvPicPr>
          <p:cNvPr id="26" name="Picture 25">
            <a:extLst>
              <a:ext uri="{FF2B5EF4-FFF2-40B4-BE49-F238E27FC236}">
                <a16:creationId xmlns:a16="http://schemas.microsoft.com/office/drawing/2014/main" id="{28BB5624-D58B-24B5-D124-63C2E75E73FB}"/>
              </a:ext>
            </a:extLst>
          </p:cNvPr>
          <p:cNvPicPr>
            <a:picLocks noChangeAspect="1"/>
          </p:cNvPicPr>
          <p:nvPr/>
        </p:nvPicPr>
        <p:blipFill>
          <a:blip r:embed="rId7"/>
          <a:stretch>
            <a:fillRect/>
          </a:stretch>
        </p:blipFill>
        <p:spPr>
          <a:xfrm>
            <a:off x="10505338" y="166891"/>
            <a:ext cx="1544421" cy="3726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END TO END</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A day in the life of a coordinator</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9</a:t>
            </a:r>
            <a:endParaRPr lang="en-US" sz="950" dirty="0"/>
          </a:p>
        </p:txBody>
      </p:sp>
      <p:sp>
        <p:nvSpPr>
          <p:cNvPr id="6" name="Shape 4"/>
          <p:cNvSpPr/>
          <p:nvPr/>
        </p:nvSpPr>
        <p:spPr>
          <a:xfrm>
            <a:off x="566928"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49808" y="1737360"/>
            <a:ext cx="365760" cy="365760"/>
          </a:xfrm>
          <a:prstGeom prst="ellipse">
            <a:avLst/>
          </a:prstGeom>
          <a:solidFill>
            <a:srgbClr val="0B2E59"/>
          </a:solidFill>
          <a:ln w="12700">
            <a:solidFill>
              <a:srgbClr val="0B2E59"/>
            </a:solidFill>
            <a:prstDash val="solid"/>
          </a:ln>
        </p:spPr>
      </p:sp>
      <p:sp>
        <p:nvSpPr>
          <p:cNvPr id="8" name="Text 6"/>
          <p:cNvSpPr/>
          <p:nvPr/>
        </p:nvSpPr>
        <p:spPr>
          <a:xfrm>
            <a:off x="749808"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749808"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Login</a:t>
            </a:r>
            <a:endParaRPr lang="en-US" sz="1200" dirty="0"/>
          </a:p>
        </p:txBody>
      </p:sp>
      <p:sp>
        <p:nvSpPr>
          <p:cNvPr id="10" name="Text 8"/>
          <p:cNvSpPr/>
          <p:nvPr/>
        </p:nvSpPr>
        <p:spPr>
          <a:xfrm>
            <a:off x="749808"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Your role is detected and you land on your own dashboard.</a:t>
            </a:r>
            <a:endParaRPr lang="en-US" sz="950" dirty="0"/>
          </a:p>
        </p:txBody>
      </p:sp>
      <p:sp>
        <p:nvSpPr>
          <p:cNvPr id="11" name="Text 9"/>
          <p:cNvSpPr/>
          <p:nvPr/>
        </p:nvSpPr>
        <p:spPr>
          <a:xfrm>
            <a:off x="3111932" y="2267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3404540"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3" name="Shape 11"/>
          <p:cNvSpPr/>
          <p:nvPr/>
        </p:nvSpPr>
        <p:spPr>
          <a:xfrm>
            <a:off x="3587420" y="1737360"/>
            <a:ext cx="365760" cy="365760"/>
          </a:xfrm>
          <a:prstGeom prst="ellipse">
            <a:avLst/>
          </a:prstGeom>
          <a:solidFill>
            <a:srgbClr val="0B2E59"/>
          </a:solidFill>
          <a:ln w="12700">
            <a:solidFill>
              <a:srgbClr val="0B2E59"/>
            </a:solidFill>
            <a:prstDash val="solid"/>
          </a:ln>
        </p:spPr>
      </p:sp>
      <p:sp>
        <p:nvSpPr>
          <p:cNvPr id="14" name="Text 12"/>
          <p:cNvSpPr/>
          <p:nvPr/>
        </p:nvSpPr>
        <p:spPr>
          <a:xfrm>
            <a:off x="3587420"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3587420"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Dashboard</a:t>
            </a:r>
            <a:endParaRPr lang="en-US" sz="1200" dirty="0"/>
          </a:p>
        </p:txBody>
      </p:sp>
      <p:sp>
        <p:nvSpPr>
          <p:cNvPr id="16" name="Text 14"/>
          <p:cNvSpPr/>
          <p:nvPr/>
        </p:nvSpPr>
        <p:spPr>
          <a:xfrm>
            <a:off x="3587420"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Greeting, notifications, and the work your Team Leader assigned you.</a:t>
            </a:r>
            <a:endParaRPr lang="en-US" sz="950" dirty="0"/>
          </a:p>
        </p:txBody>
      </p:sp>
      <p:sp>
        <p:nvSpPr>
          <p:cNvPr id="17" name="Text 15"/>
          <p:cNvSpPr/>
          <p:nvPr/>
        </p:nvSpPr>
        <p:spPr>
          <a:xfrm>
            <a:off x="5949544" y="2267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6242152"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9" name="Shape 17"/>
          <p:cNvSpPr/>
          <p:nvPr/>
        </p:nvSpPr>
        <p:spPr>
          <a:xfrm>
            <a:off x="6425032" y="1737360"/>
            <a:ext cx="365760" cy="365760"/>
          </a:xfrm>
          <a:prstGeom prst="ellipse">
            <a:avLst/>
          </a:prstGeom>
          <a:solidFill>
            <a:srgbClr val="0B2E59"/>
          </a:solidFill>
          <a:ln w="12700">
            <a:solidFill>
              <a:srgbClr val="0B2E59"/>
            </a:solidFill>
            <a:prstDash val="solid"/>
          </a:ln>
        </p:spPr>
      </p:sp>
      <p:sp>
        <p:nvSpPr>
          <p:cNvPr id="20" name="Text 18"/>
          <p:cNvSpPr/>
          <p:nvPr/>
        </p:nvSpPr>
        <p:spPr>
          <a:xfrm>
            <a:off x="6425032"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6425032"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Load to Metadata</a:t>
            </a:r>
            <a:endParaRPr lang="en-US" sz="1200" dirty="0"/>
          </a:p>
        </p:txBody>
      </p:sp>
      <p:sp>
        <p:nvSpPr>
          <p:cNvPr id="22" name="Text 20"/>
          <p:cNvSpPr/>
          <p:nvPr/>
        </p:nvSpPr>
        <p:spPr>
          <a:xfrm>
            <a:off x="6425032"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Assigned contacts merge into the company database automatically.</a:t>
            </a:r>
            <a:endParaRPr lang="en-US" sz="950" dirty="0"/>
          </a:p>
        </p:txBody>
      </p:sp>
      <p:sp>
        <p:nvSpPr>
          <p:cNvPr id="23" name="Text 21"/>
          <p:cNvSpPr/>
          <p:nvPr/>
        </p:nvSpPr>
        <p:spPr>
          <a:xfrm>
            <a:off x="8787155" y="2267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24" name="Shape 22"/>
          <p:cNvSpPr/>
          <p:nvPr/>
        </p:nvSpPr>
        <p:spPr>
          <a:xfrm>
            <a:off x="9079763"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3"/>
          <p:cNvSpPr/>
          <p:nvPr/>
        </p:nvSpPr>
        <p:spPr>
          <a:xfrm>
            <a:off x="9262643" y="1737360"/>
            <a:ext cx="365760" cy="365760"/>
          </a:xfrm>
          <a:prstGeom prst="ellipse">
            <a:avLst/>
          </a:prstGeom>
          <a:solidFill>
            <a:srgbClr val="0B2E59"/>
          </a:solidFill>
          <a:ln w="12700">
            <a:solidFill>
              <a:srgbClr val="0B2E59"/>
            </a:solidFill>
            <a:prstDash val="solid"/>
          </a:ln>
        </p:spPr>
      </p:sp>
      <p:sp>
        <p:nvSpPr>
          <p:cNvPr id="26" name="Text 24"/>
          <p:cNvSpPr/>
          <p:nvPr/>
        </p:nvSpPr>
        <p:spPr>
          <a:xfrm>
            <a:off x="9262643"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9262643"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Daily Tracker</a:t>
            </a:r>
            <a:endParaRPr lang="en-US" sz="1200" dirty="0"/>
          </a:p>
        </p:txBody>
      </p:sp>
      <p:sp>
        <p:nvSpPr>
          <p:cNvPr id="28" name="Text 26"/>
          <p:cNvSpPr/>
          <p:nvPr/>
        </p:nvSpPr>
        <p:spPr>
          <a:xfrm>
            <a:off x="9262643"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Load today's contacts, call, and record the outcome of each one.</a:t>
            </a:r>
            <a:endParaRPr lang="en-US" sz="950" dirty="0"/>
          </a:p>
        </p:txBody>
      </p:sp>
      <p:sp>
        <p:nvSpPr>
          <p:cNvPr id="29" name="Shape 27"/>
          <p:cNvSpPr/>
          <p:nvPr/>
        </p:nvSpPr>
        <p:spPr>
          <a:xfrm>
            <a:off x="566928" y="3840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8"/>
          <p:cNvSpPr/>
          <p:nvPr/>
        </p:nvSpPr>
        <p:spPr>
          <a:xfrm>
            <a:off x="749808" y="4023360"/>
            <a:ext cx="365760" cy="365760"/>
          </a:xfrm>
          <a:prstGeom prst="ellipse">
            <a:avLst/>
          </a:prstGeom>
          <a:solidFill>
            <a:srgbClr val="0B2E59"/>
          </a:solidFill>
          <a:ln w="12700">
            <a:solidFill>
              <a:srgbClr val="0B2E59"/>
            </a:solidFill>
            <a:prstDash val="solid"/>
          </a:ln>
        </p:spPr>
      </p:sp>
      <p:sp>
        <p:nvSpPr>
          <p:cNvPr id="31" name="Text 29"/>
          <p:cNvSpPr/>
          <p:nvPr/>
        </p:nvSpPr>
        <p:spPr>
          <a:xfrm>
            <a:off x="749808" y="4023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749808" y="4462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Daily Leads</a:t>
            </a:r>
            <a:endParaRPr lang="en-US" sz="1200" dirty="0"/>
          </a:p>
        </p:txBody>
      </p:sp>
      <p:sp>
        <p:nvSpPr>
          <p:cNvPr id="33" name="Text 31"/>
          <p:cNvSpPr/>
          <p:nvPr/>
        </p:nvSpPr>
        <p:spPr>
          <a:xfrm>
            <a:off x="749808" y="4736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Log every positive response and every JD received today.</a:t>
            </a:r>
            <a:endParaRPr lang="en-US" sz="950" dirty="0"/>
          </a:p>
        </p:txBody>
      </p:sp>
      <p:sp>
        <p:nvSpPr>
          <p:cNvPr id="34" name="Text 32"/>
          <p:cNvSpPr/>
          <p:nvPr/>
        </p:nvSpPr>
        <p:spPr>
          <a:xfrm>
            <a:off x="3111932" y="4553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35" name="Shape 33"/>
          <p:cNvSpPr/>
          <p:nvPr/>
        </p:nvSpPr>
        <p:spPr>
          <a:xfrm>
            <a:off x="3404540" y="3840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6" name="Shape 34"/>
          <p:cNvSpPr/>
          <p:nvPr/>
        </p:nvSpPr>
        <p:spPr>
          <a:xfrm>
            <a:off x="3587420" y="4023360"/>
            <a:ext cx="365760" cy="365760"/>
          </a:xfrm>
          <a:prstGeom prst="ellipse">
            <a:avLst/>
          </a:prstGeom>
          <a:solidFill>
            <a:srgbClr val="0B2E59"/>
          </a:solidFill>
          <a:ln w="12700">
            <a:solidFill>
              <a:srgbClr val="0B2E59"/>
            </a:solidFill>
            <a:prstDash val="solid"/>
          </a:ln>
        </p:spPr>
      </p:sp>
      <p:sp>
        <p:nvSpPr>
          <p:cNvPr id="37" name="Text 35"/>
          <p:cNvSpPr/>
          <p:nvPr/>
        </p:nvSpPr>
        <p:spPr>
          <a:xfrm>
            <a:off x="3587420" y="4023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8" name="Text 36"/>
          <p:cNvSpPr/>
          <p:nvPr/>
        </p:nvSpPr>
        <p:spPr>
          <a:xfrm>
            <a:off x="3587420" y="4462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Weekly Tracker</a:t>
            </a:r>
            <a:endParaRPr lang="en-US" sz="1200" dirty="0"/>
          </a:p>
        </p:txBody>
      </p:sp>
      <p:sp>
        <p:nvSpPr>
          <p:cNvPr id="39" name="Text 37"/>
          <p:cNvSpPr/>
          <p:nvPr/>
        </p:nvSpPr>
        <p:spPr>
          <a:xfrm>
            <a:off x="3587420" y="4736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Move each opportunity along its lifecycle towards a drive.</a:t>
            </a:r>
            <a:endParaRPr lang="en-US" sz="950" dirty="0"/>
          </a:p>
        </p:txBody>
      </p:sp>
      <p:sp>
        <p:nvSpPr>
          <p:cNvPr id="40" name="Text 38"/>
          <p:cNvSpPr/>
          <p:nvPr/>
        </p:nvSpPr>
        <p:spPr>
          <a:xfrm>
            <a:off x="5949544" y="4553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41" name="Shape 39"/>
          <p:cNvSpPr/>
          <p:nvPr/>
        </p:nvSpPr>
        <p:spPr>
          <a:xfrm>
            <a:off x="6242152" y="3840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40"/>
          <p:cNvSpPr/>
          <p:nvPr/>
        </p:nvSpPr>
        <p:spPr>
          <a:xfrm>
            <a:off x="6425032" y="4023360"/>
            <a:ext cx="365760" cy="365760"/>
          </a:xfrm>
          <a:prstGeom prst="ellipse">
            <a:avLst/>
          </a:prstGeom>
          <a:solidFill>
            <a:srgbClr val="0B2E59"/>
          </a:solidFill>
          <a:ln w="12700">
            <a:solidFill>
              <a:srgbClr val="0B2E59"/>
            </a:solidFill>
            <a:prstDash val="solid"/>
          </a:ln>
        </p:spPr>
      </p:sp>
      <p:sp>
        <p:nvSpPr>
          <p:cNvPr id="43" name="Text 41"/>
          <p:cNvSpPr/>
          <p:nvPr/>
        </p:nvSpPr>
        <p:spPr>
          <a:xfrm>
            <a:off x="6425032" y="4023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4" name="Text 42"/>
          <p:cNvSpPr/>
          <p:nvPr/>
        </p:nvSpPr>
        <p:spPr>
          <a:xfrm>
            <a:off x="6425032" y="4462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Reports</a:t>
            </a:r>
            <a:endParaRPr lang="en-US" sz="1200" dirty="0"/>
          </a:p>
        </p:txBody>
      </p:sp>
      <p:sp>
        <p:nvSpPr>
          <p:cNvPr id="45" name="Text 43"/>
          <p:cNvSpPr/>
          <p:nvPr/>
        </p:nvSpPr>
        <p:spPr>
          <a:xfrm>
            <a:off x="6425032" y="4736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Generate, edit and export the weekly placement report.</a:t>
            </a:r>
            <a:endParaRPr lang="en-US" sz="950" dirty="0"/>
          </a:p>
        </p:txBody>
      </p:sp>
      <p:pic>
        <p:nvPicPr>
          <p:cNvPr id="46" name="Picture 45">
            <a:extLst>
              <a:ext uri="{FF2B5EF4-FFF2-40B4-BE49-F238E27FC236}">
                <a16:creationId xmlns:a16="http://schemas.microsoft.com/office/drawing/2014/main" id="{2C1AEFE7-913A-A7BB-E1A5-D0E985C050A7}"/>
              </a:ext>
            </a:extLst>
          </p:cNvPr>
          <p:cNvPicPr>
            <a:picLocks noChangeAspect="1"/>
          </p:cNvPicPr>
          <p:nvPr/>
        </p:nvPicPr>
        <p:blipFill>
          <a:blip r:embed="rId3"/>
          <a:stretch>
            <a:fillRect/>
          </a:stretch>
        </p:blipFill>
        <p:spPr>
          <a:xfrm>
            <a:off x="10505338" y="166891"/>
            <a:ext cx="1544421" cy="3726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DISTINCTION THAT SHAPES THE SYSTEM</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Three trackers, three different jobs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10</a:t>
            </a:r>
            <a:endParaRPr lang="en-US" sz="950" dirty="0"/>
          </a:p>
        </p:txBody>
      </p:sp>
      <p:sp>
        <p:nvSpPr>
          <p:cNvPr id="6" name="Shape 4"/>
          <p:cNvSpPr/>
          <p:nvPr/>
        </p:nvSpPr>
        <p:spPr>
          <a:xfrm>
            <a:off x="566928" y="1481328"/>
            <a:ext cx="3527450" cy="2743200"/>
          </a:xfrm>
          <a:prstGeom prst="roundRect">
            <a:avLst>
              <a:gd name="adj" fmla="val 3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Daily Tracker</a:t>
            </a:r>
            <a:endParaRPr lang="en-US" sz="1350" dirty="0"/>
          </a:p>
        </p:txBody>
      </p:sp>
      <p:sp>
        <p:nvSpPr>
          <p:cNvPr id="10" name="Text 7"/>
          <p:cNvSpPr/>
          <p:nvPr/>
        </p:nvSpPr>
        <p:spPr>
          <a:xfrm>
            <a:off x="786384" y="2569464"/>
            <a:ext cx="3088538" cy="1481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Tracks communication activity.</a:t>
            </a:r>
            <a:endParaRPr lang="en-US" sz="1150" dirty="0"/>
          </a:p>
          <a:p>
            <a:pPr marL="0" indent="0">
              <a:lnSpc>
                <a:spcPct val="114000"/>
              </a:lnSpc>
              <a:buNone/>
            </a:pPr>
            <a:endParaRPr lang="en-US" sz="1150" dirty="0"/>
          </a:p>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“What calls did we make today, and what happened on each one?”</a:t>
            </a:r>
            <a:endParaRPr lang="en-US" sz="1150" dirty="0"/>
          </a:p>
        </p:txBody>
      </p:sp>
      <p:sp>
        <p:nvSpPr>
          <p:cNvPr id="11" name="Shape 8"/>
          <p:cNvSpPr/>
          <p:nvPr/>
        </p:nvSpPr>
        <p:spPr>
          <a:xfrm>
            <a:off x="4332122" y="1481328"/>
            <a:ext cx="3527450" cy="2743200"/>
          </a:xfrm>
          <a:prstGeom prst="roundRect">
            <a:avLst>
              <a:gd name="adj" fmla="val 3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700784"/>
            <a:ext cx="420624" cy="420624"/>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4656734" y="1805940"/>
            <a:ext cx="210312" cy="210312"/>
          </a:xfrm>
          <a:prstGeom prst="rect">
            <a:avLst/>
          </a:prstGeom>
        </p:spPr>
      </p:pic>
      <p:sp>
        <p:nvSpPr>
          <p:cNvPr id="14" name="Text 10"/>
          <p:cNvSpPr/>
          <p:nvPr/>
        </p:nvSpPr>
        <p:spPr>
          <a:xfrm>
            <a:off x="4551578"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Weekly Tracker</a:t>
            </a:r>
            <a:endParaRPr lang="en-US" sz="1350" dirty="0"/>
          </a:p>
        </p:txBody>
      </p:sp>
      <p:sp>
        <p:nvSpPr>
          <p:cNvPr id="15" name="Text 11"/>
          <p:cNvSpPr/>
          <p:nvPr/>
        </p:nvSpPr>
        <p:spPr>
          <a:xfrm>
            <a:off x="4551578" y="2569464"/>
            <a:ext cx="3088538" cy="1481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Tracks the lifecycle of companies.</a:t>
            </a:r>
            <a:endParaRPr lang="en-US" sz="1150" dirty="0"/>
          </a:p>
          <a:p>
            <a:pPr marL="0" indent="0">
              <a:lnSpc>
                <a:spcPct val="114000"/>
              </a:lnSpc>
              <a:buNone/>
            </a:pPr>
            <a:endParaRPr lang="en-US" sz="1150" dirty="0"/>
          </a:p>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“Where does each opportunity stand — pipeline, in progress, completed or rejected?”</a:t>
            </a:r>
            <a:endParaRPr lang="en-US" sz="1150" dirty="0"/>
          </a:p>
        </p:txBody>
      </p:sp>
      <p:sp>
        <p:nvSpPr>
          <p:cNvPr id="16" name="Shape 12"/>
          <p:cNvSpPr/>
          <p:nvPr/>
        </p:nvSpPr>
        <p:spPr>
          <a:xfrm>
            <a:off x="8097317" y="1481328"/>
            <a:ext cx="3527450" cy="2743200"/>
          </a:xfrm>
          <a:prstGeom prst="roundRect">
            <a:avLst>
              <a:gd name="adj" fmla="val 3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700784"/>
            <a:ext cx="420624" cy="420624"/>
          </a:xfrm>
          <a:prstGeom prst="ellipse">
            <a:avLst/>
          </a:prstGeom>
          <a:solidFill>
            <a:srgbClr val="2E7D32"/>
          </a:solidFill>
          <a:ln w="12700">
            <a:solidFill>
              <a:srgbClr val="2E7D32"/>
            </a:solidFill>
            <a:prstDash val="solid"/>
          </a:ln>
        </p:spPr>
      </p:sp>
      <p:pic>
        <p:nvPicPr>
          <p:cNvPr id="18" name="Image 2" descr="preencoded.png"/>
          <p:cNvPicPr>
            <a:picLocks noChangeAspect="1"/>
          </p:cNvPicPr>
          <p:nvPr/>
        </p:nvPicPr>
        <p:blipFill>
          <a:blip r:embed="rId5"/>
          <a:stretch>
            <a:fillRect/>
          </a:stretch>
        </p:blipFill>
        <p:spPr>
          <a:xfrm>
            <a:off x="8421929" y="1805940"/>
            <a:ext cx="210312" cy="210312"/>
          </a:xfrm>
          <a:prstGeom prst="rect">
            <a:avLst/>
          </a:prstGeom>
        </p:spPr>
      </p:pic>
      <p:sp>
        <p:nvSpPr>
          <p:cNvPr id="19" name="Text 14"/>
          <p:cNvSpPr/>
          <p:nvPr/>
        </p:nvSpPr>
        <p:spPr>
          <a:xfrm>
            <a:off x="8316773"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Daily Leads</a:t>
            </a:r>
            <a:endParaRPr lang="en-US" sz="1350" dirty="0"/>
          </a:p>
        </p:txBody>
      </p:sp>
      <p:sp>
        <p:nvSpPr>
          <p:cNvPr id="20" name="Text 15"/>
          <p:cNvSpPr/>
          <p:nvPr/>
        </p:nvSpPr>
        <p:spPr>
          <a:xfrm>
            <a:off x="8316773" y="2569464"/>
            <a:ext cx="3088538" cy="1481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Tracks the opportunities generated each day.</a:t>
            </a:r>
            <a:endParaRPr lang="en-US" sz="1150" dirty="0"/>
          </a:p>
          <a:p>
            <a:pPr marL="0" indent="0">
              <a:lnSpc>
                <a:spcPct val="114000"/>
              </a:lnSpc>
              <a:buNone/>
            </a:pPr>
            <a:endParaRPr lang="en-US" sz="1150" dirty="0"/>
          </a:p>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“What positive responses and job descriptions did we receive today?”</a:t>
            </a:r>
            <a:endParaRPr lang="en-US" sz="1150" dirty="0"/>
          </a:p>
        </p:txBody>
      </p:sp>
      <p:sp>
        <p:nvSpPr>
          <p:cNvPr id="21" name="Shape 16"/>
          <p:cNvSpPr/>
          <p:nvPr/>
        </p:nvSpPr>
        <p:spPr>
          <a:xfrm>
            <a:off x="566928" y="4498848"/>
            <a:ext cx="11057839" cy="1051560"/>
          </a:xfrm>
          <a:prstGeom prst="roundRect">
            <a:avLst>
              <a:gd name="adj" fmla="val 8696"/>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2" name="Text 17"/>
          <p:cNvSpPr/>
          <p:nvPr/>
        </p:nvSpPr>
        <p:spPr>
          <a:xfrm>
            <a:off x="786384" y="4718304"/>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The architectural rule that keeps them apart</a:t>
            </a:r>
            <a:endParaRPr lang="en-US" sz="1350" dirty="0"/>
          </a:p>
        </p:txBody>
      </p:sp>
      <p:sp>
        <p:nvSpPr>
          <p:cNvPr id="23" name="Text 18"/>
          <p:cNvSpPr/>
          <p:nvPr/>
        </p:nvSpPr>
        <p:spPr>
          <a:xfrm>
            <a:off x="786384" y="5038344"/>
            <a:ext cx="10618927" cy="338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Daily Tracker = daily activity.   Weekly Tracker = placement lifecycle.   Daily Leads = today's wins.   Nothing is recorded twice, and no module tries to do another module's job.</a:t>
            </a:r>
            <a:endParaRPr lang="en-US" sz="1150" dirty="0"/>
          </a:p>
        </p:txBody>
      </p:sp>
      <p:pic>
        <p:nvPicPr>
          <p:cNvPr id="24" name="Picture 23">
            <a:extLst>
              <a:ext uri="{FF2B5EF4-FFF2-40B4-BE49-F238E27FC236}">
                <a16:creationId xmlns:a16="http://schemas.microsoft.com/office/drawing/2014/main" id="{0EE72CC2-4A13-C249-CEE6-8396D0749E89}"/>
              </a:ext>
            </a:extLst>
          </p:cNvPr>
          <p:cNvPicPr>
            <a:picLocks noChangeAspect="1"/>
          </p:cNvPicPr>
          <p:nvPr/>
        </p:nvPicPr>
        <p:blipFill>
          <a:blip r:embed="rId6"/>
          <a:stretch>
            <a:fillRect/>
          </a:stretch>
        </p:blipFill>
        <p:spPr>
          <a:xfrm>
            <a:off x="10505338" y="166891"/>
            <a:ext cx="1544421" cy="3726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Brand and product identity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566928" y="1481328"/>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365760" cy="365760"/>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77824" y="1792224"/>
            <a:ext cx="182880" cy="182880"/>
          </a:xfrm>
          <a:prstGeom prst="rect">
            <a:avLst/>
          </a:prstGeom>
        </p:spPr>
      </p:pic>
      <p:sp>
        <p:nvSpPr>
          <p:cNvPr id="9" name="Text 6"/>
          <p:cNvSpPr/>
          <p:nvPr/>
        </p:nvSpPr>
        <p:spPr>
          <a:xfrm>
            <a:off x="1280160" y="170078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Application name</a:t>
            </a:r>
            <a:endParaRPr lang="en-US" sz="1350" dirty="0"/>
          </a:p>
        </p:txBody>
      </p:sp>
      <p:sp>
        <p:nvSpPr>
          <p:cNvPr id="10" name="Text 7"/>
          <p:cNvSpPr/>
          <p:nvPr/>
        </p:nvSpPr>
        <p:spPr>
          <a:xfrm>
            <a:off x="786384" y="2112264"/>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Infoziant Placement Operations Management System — iPOMS in short form, used everywhere in the interface.</a:t>
            </a:r>
            <a:endParaRPr lang="en-US" sz="1050" dirty="0"/>
          </a:p>
        </p:txBody>
      </p:sp>
      <p:sp>
        <p:nvSpPr>
          <p:cNvPr id="11" name="Shape 8"/>
          <p:cNvSpPr/>
          <p:nvPr/>
        </p:nvSpPr>
        <p:spPr>
          <a:xfrm>
            <a:off x="6214720" y="1481328"/>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6434176" y="1700784"/>
            <a:ext cx="365760" cy="365760"/>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6525616" y="1792224"/>
            <a:ext cx="182880" cy="182880"/>
          </a:xfrm>
          <a:prstGeom prst="rect">
            <a:avLst/>
          </a:prstGeom>
        </p:spPr>
      </p:pic>
      <p:sp>
        <p:nvSpPr>
          <p:cNvPr id="14" name="Text 10"/>
          <p:cNvSpPr/>
          <p:nvPr/>
        </p:nvSpPr>
        <p:spPr>
          <a:xfrm>
            <a:off x="6927952" y="170078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Tagline</a:t>
            </a:r>
            <a:endParaRPr lang="en-US" sz="1350" dirty="0"/>
          </a:p>
        </p:txBody>
      </p:sp>
      <p:sp>
        <p:nvSpPr>
          <p:cNvPr id="15" name="Text 11"/>
          <p:cNvSpPr/>
          <p:nvPr/>
        </p:nvSpPr>
        <p:spPr>
          <a:xfrm>
            <a:off x="6434176" y="2112264"/>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“Empowering Placement Teams with Intelligent Operations.”  Shown on the login screen and the deck cover.</a:t>
            </a:r>
            <a:endParaRPr lang="en-US" sz="1050" dirty="0"/>
          </a:p>
        </p:txBody>
      </p:sp>
      <p:sp>
        <p:nvSpPr>
          <p:cNvPr id="16" name="Shape 12"/>
          <p:cNvSpPr/>
          <p:nvPr/>
        </p:nvSpPr>
        <p:spPr>
          <a:xfrm>
            <a:off x="566928" y="3131820"/>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786384" y="3351276"/>
            <a:ext cx="365760" cy="365760"/>
          </a:xfrm>
          <a:prstGeom prst="ellipse">
            <a:avLst/>
          </a:prstGeom>
          <a:solidFill>
            <a:srgbClr val="175496"/>
          </a:solidFill>
          <a:ln w="12700">
            <a:solidFill>
              <a:srgbClr val="175496"/>
            </a:solidFill>
            <a:prstDash val="solid"/>
          </a:ln>
        </p:spPr>
      </p:sp>
      <p:pic>
        <p:nvPicPr>
          <p:cNvPr id="18" name="Image 2" descr="preencoded.png"/>
          <p:cNvPicPr>
            <a:picLocks noChangeAspect="1"/>
          </p:cNvPicPr>
          <p:nvPr/>
        </p:nvPicPr>
        <p:blipFill>
          <a:blip r:embed="rId5"/>
          <a:stretch>
            <a:fillRect/>
          </a:stretch>
        </p:blipFill>
        <p:spPr>
          <a:xfrm>
            <a:off x="877824" y="3442716"/>
            <a:ext cx="182880" cy="182880"/>
          </a:xfrm>
          <a:prstGeom prst="rect">
            <a:avLst/>
          </a:prstGeom>
        </p:spPr>
      </p:pic>
      <p:sp>
        <p:nvSpPr>
          <p:cNvPr id="19" name="Text 14"/>
          <p:cNvSpPr/>
          <p:nvPr/>
        </p:nvSpPr>
        <p:spPr>
          <a:xfrm>
            <a:off x="1280160" y="335127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Footer / copyright</a:t>
            </a:r>
            <a:endParaRPr lang="en-US" sz="1350" dirty="0"/>
          </a:p>
        </p:txBody>
      </p:sp>
      <p:sp>
        <p:nvSpPr>
          <p:cNvPr id="20" name="Text 15"/>
          <p:cNvSpPr/>
          <p:nvPr/>
        </p:nvSpPr>
        <p:spPr>
          <a:xfrm>
            <a:off x="786384" y="3762756"/>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 2025 Infoziant IT Solutions Inc. All rights reserved.  Applied to every screen and every exported report.</a:t>
            </a:r>
            <a:endParaRPr lang="en-US" sz="1050" dirty="0"/>
          </a:p>
        </p:txBody>
      </p:sp>
      <p:sp>
        <p:nvSpPr>
          <p:cNvPr id="21" name="Shape 16"/>
          <p:cNvSpPr/>
          <p:nvPr/>
        </p:nvSpPr>
        <p:spPr>
          <a:xfrm>
            <a:off x="6214720" y="3131820"/>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434176" y="3351276"/>
            <a:ext cx="365760" cy="365760"/>
          </a:xfrm>
          <a:prstGeom prst="ellipse">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6"/>
          <a:stretch>
            <a:fillRect/>
          </a:stretch>
        </p:blipFill>
        <p:spPr>
          <a:xfrm>
            <a:off x="6525616" y="3442716"/>
            <a:ext cx="182880" cy="182880"/>
          </a:xfrm>
          <a:prstGeom prst="rect">
            <a:avLst/>
          </a:prstGeom>
        </p:spPr>
      </p:pic>
      <p:sp>
        <p:nvSpPr>
          <p:cNvPr id="24" name="Text 18"/>
          <p:cNvSpPr/>
          <p:nvPr/>
        </p:nvSpPr>
        <p:spPr>
          <a:xfrm>
            <a:off x="6927952" y="335127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Certification line</a:t>
            </a:r>
            <a:endParaRPr lang="en-US" sz="1350" dirty="0"/>
          </a:p>
        </p:txBody>
      </p:sp>
      <p:sp>
        <p:nvSpPr>
          <p:cNvPr id="25" name="Text 19"/>
          <p:cNvSpPr/>
          <p:nvPr/>
        </p:nvSpPr>
        <p:spPr>
          <a:xfrm>
            <a:off x="6434176" y="3762756"/>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SOC 2 | ISO 27001:2022 Certified Company.  Carried through the login footer and report branding.</a:t>
            </a:r>
            <a:endParaRPr lang="en-US" sz="1050" dirty="0"/>
          </a:p>
        </p:txBody>
      </p:sp>
      <p:sp>
        <p:nvSpPr>
          <p:cNvPr id="26" name="Shape 20"/>
          <p:cNvSpPr/>
          <p:nvPr/>
        </p:nvSpPr>
        <p:spPr>
          <a:xfrm>
            <a:off x="566928" y="4754880"/>
            <a:ext cx="11057839" cy="1051560"/>
          </a:xfrm>
          <a:prstGeom prst="roundRect">
            <a:avLst>
              <a:gd name="adj" fmla="val 8696"/>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7" name="Text 21"/>
          <p:cNvSpPr/>
          <p:nvPr/>
        </p:nvSpPr>
        <p:spPr>
          <a:xfrm>
            <a:off x="786384" y="497433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Colours come from the Infoziant logo, not from a separate theme</a:t>
            </a:r>
            <a:endParaRPr lang="en-US" sz="1350" dirty="0"/>
          </a:p>
        </p:txBody>
      </p:sp>
      <p:sp>
        <p:nvSpPr>
          <p:cNvPr id="28" name="Text 22"/>
          <p:cNvSpPr/>
          <p:nvPr/>
        </p:nvSpPr>
        <p:spPr>
          <a:xfrm>
            <a:off x="786384" y="5294376"/>
            <a:ext cx="10618927" cy="33832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The palette was derived from the existing brand mark so the product looks like an Infoziant product. Additional logo variants — a white version for dark headers, an icon-only mark for the collapsed sidebar, and a favicon — are still to be supplied.</a:t>
            </a:r>
            <a:endParaRPr lang="en-US" sz="1100" dirty="0"/>
          </a:p>
        </p:txBody>
      </p:sp>
      <p:pic>
        <p:nvPicPr>
          <p:cNvPr id="29" name="Picture 28">
            <a:extLst>
              <a:ext uri="{FF2B5EF4-FFF2-40B4-BE49-F238E27FC236}">
                <a16:creationId xmlns:a16="http://schemas.microsoft.com/office/drawing/2014/main" id="{B6F59DC4-1FB0-97FF-41F2-3C73CDB01A7D}"/>
              </a:ext>
            </a:extLst>
          </p:cNvPr>
          <p:cNvPicPr>
            <a:picLocks noChangeAspect="1"/>
          </p:cNvPicPr>
          <p:nvPr/>
        </p:nvPicPr>
        <p:blipFill>
          <a:blip r:embed="rId7"/>
          <a:stretch>
            <a:fillRect/>
          </a:stretch>
        </p:blipFill>
        <p:spPr>
          <a:xfrm>
            <a:off x="10505338" y="166891"/>
            <a:ext cx="1544421" cy="3726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Visual identity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12</a:t>
            </a:r>
            <a:endParaRPr lang="en-US" sz="950" dirty="0"/>
          </a:p>
        </p:txBody>
      </p:sp>
      <p:sp>
        <p:nvSpPr>
          <p:cNvPr id="6" name="Text 4"/>
          <p:cNvSpPr/>
          <p:nvPr/>
        </p:nvSpPr>
        <p:spPr>
          <a:xfrm>
            <a:off x="566928" y="141732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COLOUR PALETTE — OPTION A, DERIVED FROM THE BRAND MARK</a:t>
            </a:r>
            <a:endParaRPr lang="en-US" sz="950" dirty="0"/>
          </a:p>
        </p:txBody>
      </p:sp>
      <p:sp>
        <p:nvSpPr>
          <p:cNvPr id="7" name="Shape 5"/>
          <p:cNvSpPr/>
          <p:nvPr/>
        </p:nvSpPr>
        <p:spPr>
          <a:xfrm>
            <a:off x="566928" y="1691640"/>
            <a:ext cx="1705813" cy="658368"/>
          </a:xfrm>
          <a:prstGeom prst="roundRect">
            <a:avLst>
              <a:gd name="adj" fmla="val 13889"/>
            </a:avLst>
          </a:prstGeom>
          <a:solidFill>
            <a:srgbClr val="0B2E59"/>
          </a:solidFill>
          <a:ln w="9525">
            <a:solidFill>
              <a:srgbClr val="0B2E59"/>
            </a:solidFill>
            <a:prstDash val="solid"/>
          </a:ln>
        </p:spPr>
      </p:sp>
      <p:sp>
        <p:nvSpPr>
          <p:cNvPr id="8" name="Text 6"/>
          <p:cNvSpPr/>
          <p:nvPr/>
        </p:nvSpPr>
        <p:spPr>
          <a:xfrm>
            <a:off x="566928"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Primary</a:t>
            </a:r>
            <a:endParaRPr lang="en-US" sz="1150" dirty="0"/>
          </a:p>
        </p:txBody>
      </p:sp>
      <p:sp>
        <p:nvSpPr>
          <p:cNvPr id="9" name="Text 7"/>
          <p:cNvSpPr/>
          <p:nvPr/>
        </p:nvSpPr>
        <p:spPr>
          <a:xfrm>
            <a:off x="566928"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Deep Blue</a:t>
            </a:r>
            <a:endParaRPr lang="en-US" sz="950" dirty="0"/>
          </a:p>
        </p:txBody>
      </p:sp>
      <p:sp>
        <p:nvSpPr>
          <p:cNvPr id="10" name="Shape 8"/>
          <p:cNvSpPr/>
          <p:nvPr/>
        </p:nvSpPr>
        <p:spPr>
          <a:xfrm>
            <a:off x="2437333" y="1691640"/>
            <a:ext cx="1705813" cy="658368"/>
          </a:xfrm>
          <a:prstGeom prst="roundRect">
            <a:avLst>
              <a:gd name="adj" fmla="val 13889"/>
            </a:avLst>
          </a:prstGeom>
          <a:solidFill>
            <a:srgbClr val="00ACC1"/>
          </a:solidFill>
          <a:ln w="9525">
            <a:solidFill>
              <a:srgbClr val="00ACC1"/>
            </a:solidFill>
            <a:prstDash val="solid"/>
          </a:ln>
        </p:spPr>
      </p:sp>
      <p:sp>
        <p:nvSpPr>
          <p:cNvPr id="11" name="Text 9"/>
          <p:cNvSpPr/>
          <p:nvPr/>
        </p:nvSpPr>
        <p:spPr>
          <a:xfrm>
            <a:off x="2437333"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Secondary</a:t>
            </a:r>
            <a:endParaRPr lang="en-US" sz="1150" dirty="0"/>
          </a:p>
        </p:txBody>
      </p:sp>
      <p:sp>
        <p:nvSpPr>
          <p:cNvPr id="12" name="Text 10"/>
          <p:cNvSpPr/>
          <p:nvPr/>
        </p:nvSpPr>
        <p:spPr>
          <a:xfrm>
            <a:off x="2437333"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Cyan / Teal</a:t>
            </a:r>
            <a:endParaRPr lang="en-US" sz="950" dirty="0"/>
          </a:p>
        </p:txBody>
      </p:sp>
      <p:sp>
        <p:nvSpPr>
          <p:cNvPr id="13" name="Shape 11"/>
          <p:cNvSpPr/>
          <p:nvPr/>
        </p:nvSpPr>
        <p:spPr>
          <a:xfrm>
            <a:off x="4307738" y="1691640"/>
            <a:ext cx="1705813" cy="658368"/>
          </a:xfrm>
          <a:prstGeom prst="roundRect">
            <a:avLst>
              <a:gd name="adj" fmla="val 13889"/>
            </a:avLst>
          </a:prstGeom>
          <a:solidFill>
            <a:srgbClr val="2E7D32"/>
          </a:solidFill>
          <a:ln w="9525">
            <a:solidFill>
              <a:srgbClr val="2E7D32"/>
            </a:solidFill>
            <a:prstDash val="solid"/>
          </a:ln>
        </p:spPr>
      </p:sp>
      <p:sp>
        <p:nvSpPr>
          <p:cNvPr id="14" name="Text 12"/>
          <p:cNvSpPr/>
          <p:nvPr/>
        </p:nvSpPr>
        <p:spPr>
          <a:xfrm>
            <a:off x="4307738"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Success</a:t>
            </a:r>
            <a:endParaRPr lang="en-US" sz="1150" dirty="0"/>
          </a:p>
        </p:txBody>
      </p:sp>
      <p:sp>
        <p:nvSpPr>
          <p:cNvPr id="15" name="Text 13"/>
          <p:cNvSpPr/>
          <p:nvPr/>
        </p:nvSpPr>
        <p:spPr>
          <a:xfrm>
            <a:off x="4307738"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Green</a:t>
            </a:r>
            <a:endParaRPr lang="en-US" sz="950" dirty="0"/>
          </a:p>
        </p:txBody>
      </p:sp>
      <p:sp>
        <p:nvSpPr>
          <p:cNvPr id="16" name="Shape 14"/>
          <p:cNvSpPr/>
          <p:nvPr/>
        </p:nvSpPr>
        <p:spPr>
          <a:xfrm>
            <a:off x="6178144" y="1691640"/>
            <a:ext cx="1705813" cy="658368"/>
          </a:xfrm>
          <a:prstGeom prst="roundRect">
            <a:avLst>
              <a:gd name="adj" fmla="val 13889"/>
            </a:avLst>
          </a:prstGeom>
          <a:solidFill>
            <a:srgbClr val="F59E0B"/>
          </a:solidFill>
          <a:ln w="9525">
            <a:solidFill>
              <a:srgbClr val="F59E0B"/>
            </a:solidFill>
            <a:prstDash val="solid"/>
          </a:ln>
        </p:spPr>
      </p:sp>
      <p:sp>
        <p:nvSpPr>
          <p:cNvPr id="17" name="Text 15"/>
          <p:cNvSpPr/>
          <p:nvPr/>
        </p:nvSpPr>
        <p:spPr>
          <a:xfrm>
            <a:off x="6178144"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Warning</a:t>
            </a:r>
            <a:endParaRPr lang="en-US" sz="1150" dirty="0"/>
          </a:p>
        </p:txBody>
      </p:sp>
      <p:sp>
        <p:nvSpPr>
          <p:cNvPr id="18" name="Text 16"/>
          <p:cNvSpPr/>
          <p:nvPr/>
        </p:nvSpPr>
        <p:spPr>
          <a:xfrm>
            <a:off x="6178144"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Amber</a:t>
            </a:r>
            <a:endParaRPr lang="en-US" sz="950" dirty="0"/>
          </a:p>
        </p:txBody>
      </p:sp>
      <p:sp>
        <p:nvSpPr>
          <p:cNvPr id="19" name="Shape 17"/>
          <p:cNvSpPr/>
          <p:nvPr/>
        </p:nvSpPr>
        <p:spPr>
          <a:xfrm>
            <a:off x="8048549" y="1691640"/>
            <a:ext cx="1705813" cy="658368"/>
          </a:xfrm>
          <a:prstGeom prst="roundRect">
            <a:avLst>
              <a:gd name="adj" fmla="val 13889"/>
            </a:avLst>
          </a:prstGeom>
          <a:solidFill>
            <a:srgbClr val="C62828"/>
          </a:solidFill>
          <a:ln w="9525">
            <a:solidFill>
              <a:srgbClr val="C62828"/>
            </a:solidFill>
            <a:prstDash val="solid"/>
          </a:ln>
        </p:spPr>
      </p:sp>
      <p:sp>
        <p:nvSpPr>
          <p:cNvPr id="20" name="Text 18"/>
          <p:cNvSpPr/>
          <p:nvPr/>
        </p:nvSpPr>
        <p:spPr>
          <a:xfrm>
            <a:off x="8048549"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Error</a:t>
            </a:r>
            <a:endParaRPr lang="en-US" sz="1150" dirty="0"/>
          </a:p>
        </p:txBody>
      </p:sp>
      <p:sp>
        <p:nvSpPr>
          <p:cNvPr id="21" name="Text 19"/>
          <p:cNvSpPr/>
          <p:nvPr/>
        </p:nvSpPr>
        <p:spPr>
          <a:xfrm>
            <a:off x="8048549"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Red</a:t>
            </a:r>
            <a:endParaRPr lang="en-US" sz="950" dirty="0"/>
          </a:p>
        </p:txBody>
      </p:sp>
      <p:sp>
        <p:nvSpPr>
          <p:cNvPr id="22" name="Shape 20"/>
          <p:cNvSpPr/>
          <p:nvPr/>
        </p:nvSpPr>
        <p:spPr>
          <a:xfrm>
            <a:off x="9918954" y="1691640"/>
            <a:ext cx="1705813" cy="658368"/>
          </a:xfrm>
          <a:prstGeom prst="roundRect">
            <a:avLst>
              <a:gd name="adj" fmla="val 13889"/>
            </a:avLst>
          </a:prstGeom>
          <a:solidFill>
            <a:srgbClr val="E4EAF2"/>
          </a:solidFill>
          <a:ln w="9525">
            <a:solidFill>
              <a:srgbClr val="E1E8F0"/>
            </a:solidFill>
            <a:prstDash val="solid"/>
          </a:ln>
        </p:spPr>
      </p:sp>
      <p:sp>
        <p:nvSpPr>
          <p:cNvPr id="23" name="Text 21"/>
          <p:cNvSpPr/>
          <p:nvPr/>
        </p:nvSpPr>
        <p:spPr>
          <a:xfrm>
            <a:off x="9918954"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Neutral</a:t>
            </a:r>
            <a:endParaRPr lang="en-US" sz="1150" dirty="0"/>
          </a:p>
        </p:txBody>
      </p:sp>
      <p:sp>
        <p:nvSpPr>
          <p:cNvPr id="24" name="Text 22"/>
          <p:cNvSpPr/>
          <p:nvPr/>
        </p:nvSpPr>
        <p:spPr>
          <a:xfrm>
            <a:off x="9918954"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White + light grey</a:t>
            </a:r>
            <a:endParaRPr lang="en-US" sz="950" dirty="0"/>
          </a:p>
        </p:txBody>
      </p:sp>
      <p:sp>
        <p:nvSpPr>
          <p:cNvPr id="25" name="Text 23"/>
          <p:cNvSpPr/>
          <p:nvPr/>
        </p:nvSpPr>
        <p:spPr>
          <a:xfrm>
            <a:off x="566928" y="303580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FOUNDATIONS</a:t>
            </a:r>
            <a:endParaRPr lang="en-US" sz="950" dirty="0"/>
          </a:p>
        </p:txBody>
      </p:sp>
      <p:sp>
        <p:nvSpPr>
          <p:cNvPr id="26" name="Shape 24"/>
          <p:cNvSpPr/>
          <p:nvPr/>
        </p:nvSpPr>
        <p:spPr>
          <a:xfrm>
            <a:off x="566928"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5"/>
          <p:cNvSpPr/>
          <p:nvPr/>
        </p:nvSpPr>
        <p:spPr>
          <a:xfrm>
            <a:off x="786384" y="3529584"/>
            <a:ext cx="365760" cy="365760"/>
          </a:xfrm>
          <a:prstGeom prst="ellipse">
            <a:avLst/>
          </a:prstGeom>
          <a:solidFill>
            <a:srgbClr val="0B2E59"/>
          </a:solidFill>
          <a:ln w="12700">
            <a:solidFill>
              <a:srgbClr val="0B2E59"/>
            </a:solidFill>
            <a:prstDash val="solid"/>
          </a:ln>
        </p:spPr>
      </p:sp>
      <p:pic>
        <p:nvPicPr>
          <p:cNvPr id="28" name="Image 0" descr="preencoded.png"/>
          <p:cNvPicPr>
            <a:picLocks noChangeAspect="1"/>
          </p:cNvPicPr>
          <p:nvPr/>
        </p:nvPicPr>
        <p:blipFill>
          <a:blip r:embed="rId3"/>
          <a:stretch>
            <a:fillRect/>
          </a:stretch>
        </p:blipFill>
        <p:spPr>
          <a:xfrm>
            <a:off x="877824" y="3621024"/>
            <a:ext cx="182880" cy="182880"/>
          </a:xfrm>
          <a:prstGeom prst="rect">
            <a:avLst/>
          </a:prstGeom>
        </p:spPr>
      </p:pic>
      <p:sp>
        <p:nvSpPr>
          <p:cNvPr id="29" name="Text 26"/>
          <p:cNvSpPr/>
          <p:nvPr/>
        </p:nvSpPr>
        <p:spPr>
          <a:xfrm>
            <a:off x="1280160"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Inter</a:t>
            </a:r>
            <a:endParaRPr lang="en-US" sz="1250" dirty="0"/>
          </a:p>
        </p:txBody>
      </p:sp>
      <p:sp>
        <p:nvSpPr>
          <p:cNvPr id="30" name="Text 27"/>
          <p:cNvSpPr/>
          <p:nvPr/>
        </p:nvSpPr>
        <p:spPr>
          <a:xfrm>
            <a:off x="786384"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Chosen for legibility in dense data tables.</a:t>
            </a:r>
            <a:endParaRPr lang="en-US" sz="1000" dirty="0"/>
          </a:p>
        </p:txBody>
      </p:sp>
      <p:sp>
        <p:nvSpPr>
          <p:cNvPr id="31" name="Shape 28"/>
          <p:cNvSpPr/>
          <p:nvPr/>
        </p:nvSpPr>
        <p:spPr>
          <a:xfrm>
            <a:off x="3390824"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9"/>
          <p:cNvSpPr/>
          <p:nvPr/>
        </p:nvSpPr>
        <p:spPr>
          <a:xfrm>
            <a:off x="3610280" y="3529584"/>
            <a:ext cx="365760" cy="365760"/>
          </a:xfrm>
          <a:prstGeom prst="ellipse">
            <a:avLst/>
          </a:prstGeom>
          <a:solidFill>
            <a:srgbClr val="175496"/>
          </a:solidFill>
          <a:ln w="12700">
            <a:solidFill>
              <a:srgbClr val="175496"/>
            </a:solidFill>
            <a:prstDash val="solid"/>
          </a:ln>
        </p:spPr>
      </p:sp>
      <p:pic>
        <p:nvPicPr>
          <p:cNvPr id="33" name="Image 1" descr="preencoded.png"/>
          <p:cNvPicPr>
            <a:picLocks noChangeAspect="1"/>
          </p:cNvPicPr>
          <p:nvPr/>
        </p:nvPicPr>
        <p:blipFill>
          <a:blip r:embed="rId4"/>
          <a:stretch>
            <a:fillRect/>
          </a:stretch>
        </p:blipFill>
        <p:spPr>
          <a:xfrm>
            <a:off x="3701720" y="3621024"/>
            <a:ext cx="182880" cy="182880"/>
          </a:xfrm>
          <a:prstGeom prst="rect">
            <a:avLst/>
          </a:prstGeom>
        </p:spPr>
      </p:pic>
      <p:sp>
        <p:nvSpPr>
          <p:cNvPr id="34" name="Text 30"/>
          <p:cNvSpPr/>
          <p:nvPr/>
        </p:nvSpPr>
        <p:spPr>
          <a:xfrm>
            <a:off x="4104056"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8px radius</a:t>
            </a:r>
            <a:endParaRPr lang="en-US" sz="1250" dirty="0"/>
          </a:p>
        </p:txBody>
      </p:sp>
      <p:sp>
        <p:nvSpPr>
          <p:cNvPr id="35" name="Text 31"/>
          <p:cNvSpPr/>
          <p:nvPr/>
        </p:nvSpPr>
        <p:spPr>
          <a:xfrm>
            <a:off x="3610280"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Applied to cards, buttons, inputs and dialogs.</a:t>
            </a:r>
            <a:endParaRPr lang="en-US" sz="1000" dirty="0"/>
          </a:p>
        </p:txBody>
      </p:sp>
      <p:sp>
        <p:nvSpPr>
          <p:cNvPr id="36" name="Shape 32"/>
          <p:cNvSpPr/>
          <p:nvPr/>
        </p:nvSpPr>
        <p:spPr>
          <a:xfrm>
            <a:off x="6214720"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33"/>
          <p:cNvSpPr/>
          <p:nvPr/>
        </p:nvSpPr>
        <p:spPr>
          <a:xfrm>
            <a:off x="6434176" y="3529584"/>
            <a:ext cx="365760" cy="365760"/>
          </a:xfrm>
          <a:prstGeom prst="ellipse">
            <a:avLst/>
          </a:prstGeom>
          <a:solidFill>
            <a:srgbClr val="00ACC1"/>
          </a:solidFill>
          <a:ln w="12700">
            <a:solidFill>
              <a:srgbClr val="00ACC1"/>
            </a:solidFill>
            <a:prstDash val="solid"/>
          </a:ln>
        </p:spPr>
      </p:sp>
      <p:pic>
        <p:nvPicPr>
          <p:cNvPr id="38" name="Image 2" descr="preencoded.png"/>
          <p:cNvPicPr>
            <a:picLocks noChangeAspect="1"/>
          </p:cNvPicPr>
          <p:nvPr/>
        </p:nvPicPr>
        <p:blipFill>
          <a:blip r:embed="rId5"/>
          <a:stretch>
            <a:fillRect/>
          </a:stretch>
        </p:blipFill>
        <p:spPr>
          <a:xfrm>
            <a:off x="6525616" y="3621024"/>
            <a:ext cx="182880" cy="182880"/>
          </a:xfrm>
          <a:prstGeom prst="rect">
            <a:avLst/>
          </a:prstGeom>
        </p:spPr>
      </p:pic>
      <p:sp>
        <p:nvSpPr>
          <p:cNvPr id="39" name="Text 34"/>
          <p:cNvSpPr/>
          <p:nvPr/>
        </p:nvSpPr>
        <p:spPr>
          <a:xfrm>
            <a:off x="6927952"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Soft elevation</a:t>
            </a:r>
            <a:endParaRPr lang="en-US" sz="1250" dirty="0"/>
          </a:p>
        </p:txBody>
      </p:sp>
      <p:sp>
        <p:nvSpPr>
          <p:cNvPr id="40" name="Text 35"/>
          <p:cNvSpPr/>
          <p:nvPr/>
        </p:nvSpPr>
        <p:spPr>
          <a:xfrm>
            <a:off x="6434176"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Gentle shadows. Never flat, never heavy.</a:t>
            </a:r>
            <a:endParaRPr lang="en-US" sz="1000" dirty="0"/>
          </a:p>
        </p:txBody>
      </p:sp>
      <p:sp>
        <p:nvSpPr>
          <p:cNvPr id="41" name="Shape 36"/>
          <p:cNvSpPr/>
          <p:nvPr/>
        </p:nvSpPr>
        <p:spPr>
          <a:xfrm>
            <a:off x="9038615"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7"/>
          <p:cNvSpPr/>
          <p:nvPr/>
        </p:nvSpPr>
        <p:spPr>
          <a:xfrm>
            <a:off x="9258071" y="3529584"/>
            <a:ext cx="365760" cy="365760"/>
          </a:xfrm>
          <a:prstGeom prst="ellipse">
            <a:avLst/>
          </a:prstGeom>
          <a:solidFill>
            <a:srgbClr val="6B7A8C"/>
          </a:solidFill>
          <a:ln w="12700">
            <a:solidFill>
              <a:srgbClr val="6B7A8C"/>
            </a:solidFill>
            <a:prstDash val="solid"/>
          </a:ln>
        </p:spPr>
      </p:sp>
      <p:pic>
        <p:nvPicPr>
          <p:cNvPr id="43" name="Image 3" descr="preencoded.png"/>
          <p:cNvPicPr>
            <a:picLocks noChangeAspect="1"/>
          </p:cNvPicPr>
          <p:nvPr/>
        </p:nvPicPr>
        <p:blipFill>
          <a:blip r:embed="rId6"/>
          <a:stretch>
            <a:fillRect/>
          </a:stretch>
        </p:blipFill>
        <p:spPr>
          <a:xfrm>
            <a:off x="9349511" y="3621024"/>
            <a:ext cx="182880" cy="182880"/>
          </a:xfrm>
          <a:prstGeom prst="rect">
            <a:avLst/>
          </a:prstGeom>
        </p:spPr>
      </p:pic>
      <p:sp>
        <p:nvSpPr>
          <p:cNvPr id="44" name="Text 38"/>
          <p:cNvSpPr/>
          <p:nvPr/>
        </p:nvSpPr>
        <p:spPr>
          <a:xfrm>
            <a:off x="9751847"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Light mode in v1</a:t>
            </a:r>
            <a:endParaRPr lang="en-US" sz="1250" dirty="0"/>
          </a:p>
        </p:txBody>
      </p:sp>
      <p:sp>
        <p:nvSpPr>
          <p:cNvPr id="45" name="Text 39"/>
          <p:cNvSpPr/>
          <p:nvPr/>
        </p:nvSpPr>
        <p:spPr>
          <a:xfrm>
            <a:off x="9258071"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colour system is built dark-mode ready.</a:t>
            </a:r>
            <a:endParaRPr lang="en-US" sz="1000" dirty="0"/>
          </a:p>
        </p:txBody>
      </p:sp>
      <p:sp>
        <p:nvSpPr>
          <p:cNvPr id="46" name="Shape 40"/>
          <p:cNvSpPr/>
          <p:nvPr/>
        </p:nvSpPr>
        <p:spPr>
          <a:xfrm>
            <a:off x="566928" y="4892040"/>
            <a:ext cx="11057839" cy="1005840"/>
          </a:xfrm>
          <a:prstGeom prst="roundRect">
            <a:avLst>
              <a:gd name="adj" fmla="val 9091"/>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47" name="Text 41"/>
          <p:cNvSpPr/>
          <p:nvPr/>
        </p:nvSpPr>
        <p:spPr>
          <a:xfrm>
            <a:off x="786384" y="511149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Design language</a:t>
            </a:r>
            <a:endParaRPr lang="en-US" sz="1350" dirty="0"/>
          </a:p>
        </p:txBody>
      </p:sp>
      <p:sp>
        <p:nvSpPr>
          <p:cNvPr id="48" name="Text 42"/>
          <p:cNvSpPr/>
          <p:nvPr/>
        </p:nvSpPr>
        <p:spPr>
          <a:xfrm>
            <a:off x="786384" y="5431536"/>
            <a:ext cx="10618927" cy="29260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Microsoft 365 + Linear + Airtable + modern CRM + Excel productivity.   Explicitly avoided: heavy dashboards, dark-only themes, glassmorphism and decorative gradients.</a:t>
            </a:r>
            <a:endParaRPr lang="en-US" sz="1150" dirty="0"/>
          </a:p>
        </p:txBody>
      </p:sp>
      <p:pic>
        <p:nvPicPr>
          <p:cNvPr id="49" name="Picture 48">
            <a:extLst>
              <a:ext uri="{FF2B5EF4-FFF2-40B4-BE49-F238E27FC236}">
                <a16:creationId xmlns:a16="http://schemas.microsoft.com/office/drawing/2014/main" id="{EEEA5133-F3DA-8BAF-CFA9-31E0101CCC4B}"/>
              </a:ext>
            </a:extLst>
          </p:cNvPr>
          <p:cNvPicPr>
            <a:picLocks noChangeAspect="1"/>
          </p:cNvPicPr>
          <p:nvPr/>
        </p:nvPicPr>
        <p:blipFill>
          <a:blip r:embed="rId7"/>
          <a:stretch>
            <a:fillRect/>
          </a:stretch>
        </p:blipFill>
        <p:spPr>
          <a:xfrm>
            <a:off x="10505338" y="166891"/>
            <a:ext cx="1544421" cy="3726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Every module is built on one shell</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566928" y="1481328"/>
            <a:ext cx="2697480" cy="4160520"/>
          </a:xfrm>
          <a:prstGeom prst="roundRect">
            <a:avLst>
              <a:gd name="adj" fmla="val 4068"/>
            </a:avLst>
          </a:prstGeom>
          <a:solidFill>
            <a:srgbClr val="0B2E59"/>
          </a:solidFill>
          <a:ln w="12700">
            <a:solidFill>
              <a:srgbClr val="0B2E59"/>
            </a:solidFill>
            <a:prstDash val="solid"/>
          </a:ln>
          <a:effectLst>
            <a:outerShdw blurRad="127000" dist="31750" dir="5400000" algn="bl" rotWithShape="0">
              <a:srgbClr val="0B2E59">
                <a:alpha val="20000"/>
              </a:srgbClr>
            </a:outerShdw>
          </a:effectLst>
        </p:spPr>
      </p:sp>
      <p:sp>
        <p:nvSpPr>
          <p:cNvPr id="7" name="Text 5"/>
          <p:cNvSpPr/>
          <p:nvPr/>
        </p:nvSpPr>
        <p:spPr>
          <a:xfrm>
            <a:off x="804672" y="1664208"/>
            <a:ext cx="2194560" cy="256032"/>
          </a:xfrm>
          <a:prstGeom prst="rect">
            <a:avLst/>
          </a:prstGeom>
          <a:noFill/>
          <a:ln/>
        </p:spPr>
        <p:txBody>
          <a:bodyPr wrap="square" lIns="0" tIns="0" rIns="0" bIns="0" rtlCol="0" anchor="ctr"/>
          <a:lstStyle/>
          <a:p>
            <a:pPr marL="0" indent="0">
              <a:buNone/>
            </a:pPr>
            <a:r>
              <a:rPr lang="en-US" sz="950" b="1" kern="0" spc="160" dirty="0">
                <a:solidFill>
                  <a:srgbClr val="64B5F6"/>
                </a:solidFill>
                <a:latin typeface="Calibri" pitchFamily="34" charset="0"/>
                <a:ea typeface="Calibri" pitchFamily="34" charset="-122"/>
                <a:cs typeface="Calibri" pitchFamily="34" charset="-120"/>
              </a:rPr>
              <a:t>SIDEBAR</a:t>
            </a:r>
            <a:endParaRPr lang="en-US" sz="950" dirty="0"/>
          </a:p>
        </p:txBody>
      </p:sp>
      <p:sp>
        <p:nvSpPr>
          <p:cNvPr id="8" name="Shape 6"/>
          <p:cNvSpPr/>
          <p:nvPr/>
        </p:nvSpPr>
        <p:spPr>
          <a:xfrm>
            <a:off x="713232" y="1993392"/>
            <a:ext cx="2404872" cy="384048"/>
          </a:xfrm>
          <a:prstGeom prst="roundRect">
            <a:avLst>
              <a:gd name="adj" fmla="val 19048"/>
            </a:avLst>
          </a:prstGeom>
          <a:solidFill>
            <a:srgbClr val="1D5488"/>
          </a:solidFill>
          <a:ln w="12700">
            <a:solidFill>
              <a:srgbClr val="1D5488"/>
            </a:solidFill>
            <a:prstDash val="solid"/>
          </a:ln>
        </p:spPr>
      </p:sp>
      <p:sp>
        <p:nvSpPr>
          <p:cNvPr id="9" name="Text 7"/>
          <p:cNvSpPr/>
          <p:nvPr/>
        </p:nvSpPr>
        <p:spPr>
          <a:xfrm>
            <a:off x="841248" y="2029968"/>
            <a:ext cx="22860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1   Dashboard</a:t>
            </a:r>
            <a:endParaRPr lang="en-US" sz="1050" dirty="0"/>
          </a:p>
        </p:txBody>
      </p:sp>
      <p:sp>
        <p:nvSpPr>
          <p:cNvPr id="10" name="Text 8"/>
          <p:cNvSpPr/>
          <p:nvPr/>
        </p:nvSpPr>
        <p:spPr>
          <a:xfrm>
            <a:off x="841248" y="246430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2   User Management</a:t>
            </a:r>
            <a:endParaRPr lang="en-US" sz="1050" dirty="0"/>
          </a:p>
        </p:txBody>
      </p:sp>
      <p:sp>
        <p:nvSpPr>
          <p:cNvPr id="11" name="Text 9"/>
          <p:cNvSpPr/>
          <p:nvPr/>
        </p:nvSpPr>
        <p:spPr>
          <a:xfrm>
            <a:off x="841248" y="289864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3   Master Company Database</a:t>
            </a:r>
            <a:endParaRPr lang="en-US" sz="1050" dirty="0"/>
          </a:p>
        </p:txBody>
      </p:sp>
      <p:sp>
        <p:nvSpPr>
          <p:cNvPr id="12" name="Text 10"/>
          <p:cNvSpPr/>
          <p:nvPr/>
        </p:nvSpPr>
        <p:spPr>
          <a:xfrm>
            <a:off x="841248" y="333298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4   Daily Tracker</a:t>
            </a:r>
            <a:endParaRPr lang="en-US" sz="1050" dirty="0"/>
          </a:p>
        </p:txBody>
      </p:sp>
      <p:sp>
        <p:nvSpPr>
          <p:cNvPr id="13" name="Text 11"/>
          <p:cNvSpPr/>
          <p:nvPr/>
        </p:nvSpPr>
        <p:spPr>
          <a:xfrm>
            <a:off x="841248" y="376732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5   Weekly Tracker</a:t>
            </a:r>
            <a:endParaRPr lang="en-US" sz="1050" dirty="0"/>
          </a:p>
        </p:txBody>
      </p:sp>
      <p:sp>
        <p:nvSpPr>
          <p:cNvPr id="14" name="Text 12"/>
          <p:cNvSpPr/>
          <p:nvPr/>
        </p:nvSpPr>
        <p:spPr>
          <a:xfrm>
            <a:off x="841248" y="420166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6   Monthly Tracker</a:t>
            </a:r>
            <a:endParaRPr lang="en-US" sz="1050" dirty="0"/>
          </a:p>
        </p:txBody>
      </p:sp>
      <p:sp>
        <p:nvSpPr>
          <p:cNvPr id="15" name="Text 13"/>
          <p:cNvSpPr/>
          <p:nvPr/>
        </p:nvSpPr>
        <p:spPr>
          <a:xfrm>
            <a:off x="841248" y="463600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7   Reports &amp; Analytics</a:t>
            </a:r>
            <a:endParaRPr lang="en-US" sz="1050" dirty="0"/>
          </a:p>
        </p:txBody>
      </p:sp>
      <p:sp>
        <p:nvSpPr>
          <p:cNvPr id="16" name="Text 14"/>
          <p:cNvSpPr/>
          <p:nvPr/>
        </p:nvSpPr>
        <p:spPr>
          <a:xfrm>
            <a:off x="841248" y="507034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8   Settings</a:t>
            </a:r>
            <a:endParaRPr lang="en-US" sz="1050" dirty="0"/>
          </a:p>
        </p:txBody>
      </p:sp>
      <p:sp>
        <p:nvSpPr>
          <p:cNvPr id="17" name="Shape 15"/>
          <p:cNvSpPr/>
          <p:nvPr/>
        </p:nvSpPr>
        <p:spPr>
          <a:xfrm>
            <a:off x="3538728" y="1481328"/>
            <a:ext cx="8086039" cy="603504"/>
          </a:xfrm>
          <a:prstGeom prst="roundRect">
            <a:avLst>
              <a:gd name="adj" fmla="val 13636"/>
            </a:avLst>
          </a:prstGeom>
          <a:solidFill>
            <a:srgbClr val="F4F7FA"/>
          </a:solidFill>
          <a:ln w="9525">
            <a:solidFill>
              <a:srgbClr val="E1E8F0"/>
            </a:solidFill>
            <a:prstDash val="solid"/>
          </a:ln>
        </p:spPr>
      </p:sp>
      <p:sp>
        <p:nvSpPr>
          <p:cNvPr id="18" name="Text 16"/>
          <p:cNvSpPr/>
          <p:nvPr/>
        </p:nvSpPr>
        <p:spPr>
          <a:xfrm>
            <a:off x="3758184" y="1481328"/>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Header</a:t>
            </a:r>
            <a:endParaRPr lang="en-US" sz="1250" dirty="0"/>
          </a:p>
        </p:txBody>
      </p:sp>
      <p:sp>
        <p:nvSpPr>
          <p:cNvPr id="19" name="Text 17"/>
          <p:cNvSpPr/>
          <p:nvPr/>
        </p:nvSpPr>
        <p:spPr>
          <a:xfrm>
            <a:off x="6556248" y="1481328"/>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Branding, global search, notifications, profile menu</a:t>
            </a:r>
            <a:endParaRPr lang="en-US" sz="1050" dirty="0"/>
          </a:p>
        </p:txBody>
      </p:sp>
      <p:sp>
        <p:nvSpPr>
          <p:cNvPr id="20" name="Shape 18"/>
          <p:cNvSpPr/>
          <p:nvPr/>
        </p:nvSpPr>
        <p:spPr>
          <a:xfrm>
            <a:off x="3538728" y="2194560"/>
            <a:ext cx="8086039" cy="603504"/>
          </a:xfrm>
          <a:prstGeom prst="roundRect">
            <a:avLst>
              <a:gd name="adj" fmla="val 13636"/>
            </a:avLst>
          </a:prstGeom>
          <a:solidFill>
            <a:srgbClr val="F4F7FA"/>
          </a:solidFill>
          <a:ln w="9525">
            <a:solidFill>
              <a:srgbClr val="E1E8F0"/>
            </a:solidFill>
            <a:prstDash val="solid"/>
          </a:ln>
        </p:spPr>
      </p:sp>
      <p:sp>
        <p:nvSpPr>
          <p:cNvPr id="21" name="Text 19"/>
          <p:cNvSpPr/>
          <p:nvPr/>
        </p:nvSpPr>
        <p:spPr>
          <a:xfrm>
            <a:off x="3758184" y="2194560"/>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Breadcrumb + Module Title</a:t>
            </a:r>
            <a:endParaRPr lang="en-US" sz="1250" dirty="0"/>
          </a:p>
        </p:txBody>
      </p:sp>
      <p:sp>
        <p:nvSpPr>
          <p:cNvPr id="22" name="Text 20"/>
          <p:cNvSpPr/>
          <p:nvPr/>
        </p:nvSpPr>
        <p:spPr>
          <a:xfrm>
            <a:off x="6556248" y="2194560"/>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Where you are, and what this screen is</a:t>
            </a:r>
            <a:endParaRPr lang="en-US" sz="1050" dirty="0"/>
          </a:p>
        </p:txBody>
      </p:sp>
      <p:sp>
        <p:nvSpPr>
          <p:cNvPr id="23" name="Shape 21"/>
          <p:cNvSpPr/>
          <p:nvPr/>
        </p:nvSpPr>
        <p:spPr>
          <a:xfrm>
            <a:off x="3538728" y="2907792"/>
            <a:ext cx="8086039" cy="603504"/>
          </a:xfrm>
          <a:prstGeom prst="roundRect">
            <a:avLst>
              <a:gd name="adj" fmla="val 13636"/>
            </a:avLst>
          </a:prstGeom>
          <a:solidFill>
            <a:srgbClr val="F4F7FA"/>
          </a:solidFill>
          <a:ln w="9525">
            <a:solidFill>
              <a:srgbClr val="E1E8F0"/>
            </a:solidFill>
            <a:prstDash val="solid"/>
          </a:ln>
        </p:spPr>
      </p:sp>
      <p:sp>
        <p:nvSpPr>
          <p:cNvPr id="24" name="Text 22"/>
          <p:cNvSpPr/>
          <p:nvPr/>
        </p:nvSpPr>
        <p:spPr>
          <a:xfrm>
            <a:off x="3758184" y="2907792"/>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Toolbar</a:t>
            </a:r>
            <a:endParaRPr lang="en-US" sz="1250" dirty="0"/>
          </a:p>
        </p:txBody>
      </p:sp>
      <p:sp>
        <p:nvSpPr>
          <p:cNvPr id="25" name="Text 23"/>
          <p:cNvSpPr/>
          <p:nvPr/>
        </p:nvSpPr>
        <p:spPr>
          <a:xfrm>
            <a:off x="6556248" y="2907792"/>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The actions specific to this module</a:t>
            </a:r>
            <a:endParaRPr lang="en-US" sz="1050" dirty="0"/>
          </a:p>
        </p:txBody>
      </p:sp>
      <p:sp>
        <p:nvSpPr>
          <p:cNvPr id="26" name="Shape 24"/>
          <p:cNvSpPr/>
          <p:nvPr/>
        </p:nvSpPr>
        <p:spPr>
          <a:xfrm>
            <a:off x="3538728" y="3621024"/>
            <a:ext cx="8086039" cy="603504"/>
          </a:xfrm>
          <a:prstGeom prst="roundRect">
            <a:avLst>
              <a:gd name="adj" fmla="val 13636"/>
            </a:avLst>
          </a:prstGeom>
          <a:solidFill>
            <a:srgbClr val="F4F7FA"/>
          </a:solidFill>
          <a:ln w="9525">
            <a:solidFill>
              <a:srgbClr val="E1E8F0"/>
            </a:solidFill>
            <a:prstDash val="solid"/>
          </a:ln>
        </p:spPr>
      </p:sp>
      <p:sp>
        <p:nvSpPr>
          <p:cNvPr id="27" name="Text 25"/>
          <p:cNvSpPr/>
          <p:nvPr/>
        </p:nvSpPr>
        <p:spPr>
          <a:xfrm>
            <a:off x="3758184" y="3621024"/>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KPI Cards</a:t>
            </a:r>
            <a:endParaRPr lang="en-US" sz="1250" dirty="0"/>
          </a:p>
        </p:txBody>
      </p:sp>
      <p:sp>
        <p:nvSpPr>
          <p:cNvPr id="28" name="Text 26"/>
          <p:cNvSpPr/>
          <p:nvPr/>
        </p:nvSpPr>
        <p:spPr>
          <a:xfrm>
            <a:off x="6556248" y="3621024"/>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Optional live counters for the module</a:t>
            </a:r>
            <a:endParaRPr lang="en-US" sz="1050" dirty="0"/>
          </a:p>
        </p:txBody>
      </p:sp>
      <p:sp>
        <p:nvSpPr>
          <p:cNvPr id="29" name="Shape 27"/>
          <p:cNvSpPr/>
          <p:nvPr/>
        </p:nvSpPr>
        <p:spPr>
          <a:xfrm>
            <a:off x="3538728" y="4334256"/>
            <a:ext cx="8086039" cy="603504"/>
          </a:xfrm>
          <a:prstGeom prst="roundRect">
            <a:avLst>
              <a:gd name="adj" fmla="val 13636"/>
            </a:avLst>
          </a:prstGeom>
          <a:solidFill>
            <a:srgbClr val="E3EEFB"/>
          </a:solidFill>
          <a:ln w="9525">
            <a:solidFill>
              <a:srgbClr val="BBD4F0"/>
            </a:solidFill>
            <a:prstDash val="solid"/>
          </a:ln>
        </p:spPr>
      </p:sp>
      <p:sp>
        <p:nvSpPr>
          <p:cNvPr id="30" name="Text 28"/>
          <p:cNvSpPr/>
          <p:nvPr/>
        </p:nvSpPr>
        <p:spPr>
          <a:xfrm>
            <a:off x="3758184" y="4334256"/>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Main Data Grid</a:t>
            </a:r>
            <a:endParaRPr lang="en-US" sz="1250" dirty="0"/>
          </a:p>
        </p:txBody>
      </p:sp>
      <p:sp>
        <p:nvSpPr>
          <p:cNvPr id="31" name="Text 29"/>
          <p:cNvSpPr/>
          <p:nvPr/>
        </p:nvSpPr>
        <p:spPr>
          <a:xfrm>
            <a:off x="6556248" y="4334256"/>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The primary working area for almost every module</a:t>
            </a:r>
            <a:endParaRPr lang="en-US" sz="1050" dirty="0"/>
          </a:p>
        </p:txBody>
      </p:sp>
      <p:sp>
        <p:nvSpPr>
          <p:cNvPr id="32" name="Shape 30"/>
          <p:cNvSpPr/>
          <p:nvPr/>
        </p:nvSpPr>
        <p:spPr>
          <a:xfrm>
            <a:off x="3538728" y="5047488"/>
            <a:ext cx="8086039" cy="603504"/>
          </a:xfrm>
          <a:prstGeom prst="roundRect">
            <a:avLst>
              <a:gd name="adj" fmla="val 13636"/>
            </a:avLst>
          </a:prstGeom>
          <a:solidFill>
            <a:srgbClr val="F4F7FA"/>
          </a:solidFill>
          <a:ln w="9525">
            <a:solidFill>
              <a:srgbClr val="E1E8F0"/>
            </a:solidFill>
            <a:prstDash val="solid"/>
          </a:ln>
        </p:spPr>
      </p:sp>
      <p:sp>
        <p:nvSpPr>
          <p:cNvPr id="33" name="Text 31"/>
          <p:cNvSpPr/>
          <p:nvPr/>
        </p:nvSpPr>
        <p:spPr>
          <a:xfrm>
            <a:off x="3758184" y="5047488"/>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Bottom Status Bar</a:t>
            </a:r>
            <a:endParaRPr lang="en-US" sz="1250" dirty="0"/>
          </a:p>
        </p:txBody>
      </p:sp>
      <p:sp>
        <p:nvSpPr>
          <p:cNvPr id="34" name="Text 32"/>
          <p:cNvSpPr/>
          <p:nvPr/>
        </p:nvSpPr>
        <p:spPr>
          <a:xfrm>
            <a:off x="6556248" y="5047488"/>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Save status, record counts, today's progress</a:t>
            </a:r>
            <a:endParaRPr lang="en-US" sz="1050" dirty="0"/>
          </a:p>
        </p:txBody>
      </p:sp>
      <p:sp>
        <p:nvSpPr>
          <p:cNvPr id="35" name="Text 33"/>
          <p:cNvSpPr/>
          <p:nvPr/>
        </p:nvSpPr>
        <p:spPr>
          <a:xfrm>
            <a:off x="566928" y="5797296"/>
            <a:ext cx="11057839" cy="274320"/>
          </a:xfrm>
          <a:prstGeom prst="rect">
            <a:avLst/>
          </a:prstGeom>
          <a:noFill/>
          <a:ln/>
        </p:spPr>
        <p:txBody>
          <a:bodyPr wrap="square" lIns="0" tIns="0" rIns="0" bIns="0" rtlCol="0" anchor="ctr"/>
          <a:lstStyle/>
          <a:p>
            <a:pPr marL="0" indent="0">
              <a:buNone/>
            </a:pPr>
            <a:r>
              <a:rPr lang="en-US" sz="1050" i="1" dirty="0">
                <a:solidFill>
                  <a:srgbClr val="7B8794"/>
                </a:solidFill>
                <a:latin typeface="Calibri" pitchFamily="34" charset="0"/>
                <a:ea typeface="Calibri" pitchFamily="34" charset="-122"/>
                <a:cs typeface="Calibri" pitchFamily="34" charset="-120"/>
              </a:rPr>
              <a:t>The sidebar collapses from ~250px to ~75px, because iPOMS is table-first — every pixel saved goes to the data grid.</a:t>
            </a:r>
            <a:endParaRPr lang="en-US" sz="1050" dirty="0"/>
          </a:p>
        </p:txBody>
      </p:sp>
      <p:pic>
        <p:nvPicPr>
          <p:cNvPr id="36" name="Picture 35">
            <a:extLst>
              <a:ext uri="{FF2B5EF4-FFF2-40B4-BE49-F238E27FC236}">
                <a16:creationId xmlns:a16="http://schemas.microsoft.com/office/drawing/2014/main" id="{4F345D9F-9B2D-6C09-6127-D9CE81F7B009}"/>
              </a:ext>
            </a:extLst>
          </p:cNvPr>
          <p:cNvPicPr>
            <a:picLocks noChangeAspect="1"/>
          </p:cNvPicPr>
          <p:nvPr/>
        </p:nvPicPr>
        <p:blipFill>
          <a:blip r:embed="rId3"/>
          <a:stretch>
            <a:fillRect/>
          </a:stretch>
        </p:blipFill>
        <p:spPr>
          <a:xfrm>
            <a:off x="10505338" y="166891"/>
            <a:ext cx="1544421" cy="3726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colour system, six UX rules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14</a:t>
            </a:r>
            <a:endParaRPr lang="en-US" sz="950" dirty="0"/>
          </a:p>
        </p:txBody>
      </p:sp>
      <p:sp>
        <p:nvSpPr>
          <p:cNvPr id="6" name="Text 4"/>
          <p:cNvSpPr/>
          <p:nvPr/>
        </p:nvSpPr>
        <p:spPr>
          <a:xfrm>
            <a:off x="566928" y="1444752"/>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STATUS COLOURS — USED IDENTICALLY IN EVERY MODULE</a:t>
            </a:r>
            <a:endParaRPr lang="en-US" sz="950" dirty="0"/>
          </a:p>
        </p:txBody>
      </p:sp>
      <p:sp>
        <p:nvSpPr>
          <p:cNvPr id="7" name="Shape 5"/>
          <p:cNvSpPr/>
          <p:nvPr/>
        </p:nvSpPr>
        <p:spPr>
          <a:xfrm>
            <a:off x="566928" y="1755648"/>
            <a:ext cx="5212080" cy="566928"/>
          </a:xfrm>
          <a:prstGeom prst="roundRect">
            <a:avLst>
              <a:gd name="adj" fmla="val 14516"/>
            </a:avLst>
          </a:prstGeom>
          <a:solidFill>
            <a:srgbClr val="F4F7FA"/>
          </a:solidFill>
          <a:ln w="9525">
            <a:solidFill>
              <a:srgbClr val="E1E8F0"/>
            </a:solidFill>
            <a:prstDash val="solid"/>
          </a:ln>
        </p:spPr>
      </p:sp>
      <p:sp>
        <p:nvSpPr>
          <p:cNvPr id="8" name="Shape 6"/>
          <p:cNvSpPr/>
          <p:nvPr/>
        </p:nvSpPr>
        <p:spPr>
          <a:xfrm>
            <a:off x="749808" y="1883664"/>
            <a:ext cx="457200" cy="310896"/>
          </a:xfrm>
          <a:prstGeom prst="roundRect">
            <a:avLst>
              <a:gd name="adj" fmla="val 17647"/>
            </a:avLst>
          </a:prstGeom>
          <a:solidFill>
            <a:srgbClr val="2E7D32"/>
          </a:solidFill>
          <a:ln w="12700">
            <a:solidFill>
              <a:srgbClr val="2E7D32"/>
            </a:solidFill>
            <a:prstDash val="solid"/>
          </a:ln>
        </p:spPr>
      </p:sp>
      <p:sp>
        <p:nvSpPr>
          <p:cNvPr id="9" name="Text 7"/>
          <p:cNvSpPr/>
          <p:nvPr/>
        </p:nvSpPr>
        <p:spPr>
          <a:xfrm>
            <a:off x="1353312" y="1755648"/>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Green</a:t>
            </a:r>
            <a:endParaRPr lang="en-US" sz="1200" dirty="0"/>
          </a:p>
        </p:txBody>
      </p:sp>
      <p:sp>
        <p:nvSpPr>
          <p:cNvPr id="10" name="Text 8"/>
          <p:cNvSpPr/>
          <p:nvPr/>
        </p:nvSpPr>
        <p:spPr>
          <a:xfrm>
            <a:off x="2377440" y="1755648"/>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Success / Completed</a:t>
            </a:r>
            <a:endParaRPr lang="en-US" sz="1100" dirty="0"/>
          </a:p>
        </p:txBody>
      </p:sp>
      <p:sp>
        <p:nvSpPr>
          <p:cNvPr id="11" name="Shape 9"/>
          <p:cNvSpPr/>
          <p:nvPr/>
        </p:nvSpPr>
        <p:spPr>
          <a:xfrm>
            <a:off x="566928" y="2414016"/>
            <a:ext cx="5212080" cy="566928"/>
          </a:xfrm>
          <a:prstGeom prst="roundRect">
            <a:avLst>
              <a:gd name="adj" fmla="val 14516"/>
            </a:avLst>
          </a:prstGeom>
          <a:solidFill>
            <a:srgbClr val="F4F7FA"/>
          </a:solidFill>
          <a:ln w="9525">
            <a:solidFill>
              <a:srgbClr val="E1E8F0"/>
            </a:solidFill>
            <a:prstDash val="solid"/>
          </a:ln>
        </p:spPr>
      </p:sp>
      <p:sp>
        <p:nvSpPr>
          <p:cNvPr id="12" name="Shape 10"/>
          <p:cNvSpPr/>
          <p:nvPr/>
        </p:nvSpPr>
        <p:spPr>
          <a:xfrm>
            <a:off x="749808" y="2542032"/>
            <a:ext cx="457200" cy="310896"/>
          </a:xfrm>
          <a:prstGeom prst="roundRect">
            <a:avLst>
              <a:gd name="adj" fmla="val 17647"/>
            </a:avLst>
          </a:prstGeom>
          <a:solidFill>
            <a:srgbClr val="1D6FD0"/>
          </a:solidFill>
          <a:ln w="12700">
            <a:solidFill>
              <a:srgbClr val="1D6FD0"/>
            </a:solidFill>
            <a:prstDash val="solid"/>
          </a:ln>
        </p:spPr>
      </p:sp>
      <p:sp>
        <p:nvSpPr>
          <p:cNvPr id="13" name="Text 11"/>
          <p:cNvSpPr/>
          <p:nvPr/>
        </p:nvSpPr>
        <p:spPr>
          <a:xfrm>
            <a:off x="1353312" y="2414016"/>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Blue</a:t>
            </a:r>
            <a:endParaRPr lang="en-US" sz="1200" dirty="0"/>
          </a:p>
        </p:txBody>
      </p:sp>
      <p:sp>
        <p:nvSpPr>
          <p:cNvPr id="14" name="Text 12"/>
          <p:cNvSpPr/>
          <p:nvPr/>
        </p:nvSpPr>
        <p:spPr>
          <a:xfrm>
            <a:off x="2377440" y="2414016"/>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Active / In Progress</a:t>
            </a:r>
            <a:endParaRPr lang="en-US" sz="1100" dirty="0"/>
          </a:p>
        </p:txBody>
      </p:sp>
      <p:sp>
        <p:nvSpPr>
          <p:cNvPr id="15" name="Shape 13"/>
          <p:cNvSpPr/>
          <p:nvPr/>
        </p:nvSpPr>
        <p:spPr>
          <a:xfrm>
            <a:off x="566928" y="3072384"/>
            <a:ext cx="5212080" cy="566928"/>
          </a:xfrm>
          <a:prstGeom prst="roundRect">
            <a:avLst>
              <a:gd name="adj" fmla="val 14516"/>
            </a:avLst>
          </a:prstGeom>
          <a:solidFill>
            <a:srgbClr val="F4F7FA"/>
          </a:solidFill>
          <a:ln w="9525">
            <a:solidFill>
              <a:srgbClr val="E1E8F0"/>
            </a:solidFill>
            <a:prstDash val="solid"/>
          </a:ln>
        </p:spPr>
      </p:sp>
      <p:sp>
        <p:nvSpPr>
          <p:cNvPr id="16" name="Shape 14"/>
          <p:cNvSpPr/>
          <p:nvPr/>
        </p:nvSpPr>
        <p:spPr>
          <a:xfrm>
            <a:off x="749808" y="3200400"/>
            <a:ext cx="457200" cy="310896"/>
          </a:xfrm>
          <a:prstGeom prst="roundRect">
            <a:avLst>
              <a:gd name="adj" fmla="val 17647"/>
            </a:avLst>
          </a:prstGeom>
          <a:solidFill>
            <a:srgbClr val="F59E0B"/>
          </a:solidFill>
          <a:ln w="12700">
            <a:solidFill>
              <a:srgbClr val="F59E0B"/>
            </a:solidFill>
            <a:prstDash val="solid"/>
          </a:ln>
        </p:spPr>
      </p:sp>
      <p:sp>
        <p:nvSpPr>
          <p:cNvPr id="17" name="Text 15"/>
          <p:cNvSpPr/>
          <p:nvPr/>
        </p:nvSpPr>
        <p:spPr>
          <a:xfrm>
            <a:off x="1353312" y="3072384"/>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Amber</a:t>
            </a:r>
            <a:endParaRPr lang="en-US" sz="1200" dirty="0"/>
          </a:p>
        </p:txBody>
      </p:sp>
      <p:sp>
        <p:nvSpPr>
          <p:cNvPr id="18" name="Text 16"/>
          <p:cNvSpPr/>
          <p:nvPr/>
        </p:nvSpPr>
        <p:spPr>
          <a:xfrm>
            <a:off x="2377440" y="3072384"/>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Pending</a:t>
            </a:r>
            <a:endParaRPr lang="en-US" sz="1100" dirty="0"/>
          </a:p>
        </p:txBody>
      </p:sp>
      <p:sp>
        <p:nvSpPr>
          <p:cNvPr id="19" name="Shape 17"/>
          <p:cNvSpPr/>
          <p:nvPr/>
        </p:nvSpPr>
        <p:spPr>
          <a:xfrm>
            <a:off x="566928" y="3730752"/>
            <a:ext cx="5212080" cy="566928"/>
          </a:xfrm>
          <a:prstGeom prst="roundRect">
            <a:avLst>
              <a:gd name="adj" fmla="val 14516"/>
            </a:avLst>
          </a:prstGeom>
          <a:solidFill>
            <a:srgbClr val="F4F7FA"/>
          </a:solidFill>
          <a:ln w="9525">
            <a:solidFill>
              <a:srgbClr val="E1E8F0"/>
            </a:solidFill>
            <a:prstDash val="solid"/>
          </a:ln>
        </p:spPr>
      </p:sp>
      <p:sp>
        <p:nvSpPr>
          <p:cNvPr id="20" name="Shape 18"/>
          <p:cNvSpPr/>
          <p:nvPr/>
        </p:nvSpPr>
        <p:spPr>
          <a:xfrm>
            <a:off x="749808" y="3858768"/>
            <a:ext cx="457200" cy="310896"/>
          </a:xfrm>
          <a:prstGeom prst="roundRect">
            <a:avLst>
              <a:gd name="adj" fmla="val 17647"/>
            </a:avLst>
          </a:prstGeom>
          <a:solidFill>
            <a:srgbClr val="E07A1F"/>
          </a:solidFill>
          <a:ln w="12700">
            <a:solidFill>
              <a:srgbClr val="E07A1F"/>
            </a:solidFill>
            <a:prstDash val="solid"/>
          </a:ln>
        </p:spPr>
      </p:sp>
      <p:sp>
        <p:nvSpPr>
          <p:cNvPr id="21" name="Text 19"/>
          <p:cNvSpPr/>
          <p:nvPr/>
        </p:nvSpPr>
        <p:spPr>
          <a:xfrm>
            <a:off x="1353312" y="3730752"/>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Orange</a:t>
            </a:r>
            <a:endParaRPr lang="en-US" sz="1200" dirty="0"/>
          </a:p>
        </p:txBody>
      </p:sp>
      <p:sp>
        <p:nvSpPr>
          <p:cNvPr id="22" name="Text 20"/>
          <p:cNvSpPr/>
          <p:nvPr/>
        </p:nvSpPr>
        <p:spPr>
          <a:xfrm>
            <a:off x="2377440" y="3730752"/>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Follow-up / Warning</a:t>
            </a:r>
            <a:endParaRPr lang="en-US" sz="1100" dirty="0"/>
          </a:p>
        </p:txBody>
      </p:sp>
      <p:sp>
        <p:nvSpPr>
          <p:cNvPr id="23" name="Shape 21"/>
          <p:cNvSpPr/>
          <p:nvPr/>
        </p:nvSpPr>
        <p:spPr>
          <a:xfrm>
            <a:off x="566928" y="4389120"/>
            <a:ext cx="5212080" cy="566928"/>
          </a:xfrm>
          <a:prstGeom prst="roundRect">
            <a:avLst>
              <a:gd name="adj" fmla="val 14516"/>
            </a:avLst>
          </a:prstGeom>
          <a:solidFill>
            <a:srgbClr val="F4F7FA"/>
          </a:solidFill>
          <a:ln w="9525">
            <a:solidFill>
              <a:srgbClr val="E1E8F0"/>
            </a:solidFill>
            <a:prstDash val="solid"/>
          </a:ln>
        </p:spPr>
      </p:sp>
      <p:sp>
        <p:nvSpPr>
          <p:cNvPr id="24" name="Shape 22"/>
          <p:cNvSpPr/>
          <p:nvPr/>
        </p:nvSpPr>
        <p:spPr>
          <a:xfrm>
            <a:off x="749808" y="4517136"/>
            <a:ext cx="457200" cy="310896"/>
          </a:xfrm>
          <a:prstGeom prst="roundRect">
            <a:avLst>
              <a:gd name="adj" fmla="val 17647"/>
            </a:avLst>
          </a:prstGeom>
          <a:solidFill>
            <a:srgbClr val="C62828"/>
          </a:solidFill>
          <a:ln w="12700">
            <a:solidFill>
              <a:srgbClr val="C62828"/>
            </a:solidFill>
            <a:prstDash val="solid"/>
          </a:ln>
        </p:spPr>
      </p:sp>
      <p:sp>
        <p:nvSpPr>
          <p:cNvPr id="25" name="Text 23"/>
          <p:cNvSpPr/>
          <p:nvPr/>
        </p:nvSpPr>
        <p:spPr>
          <a:xfrm>
            <a:off x="1353312" y="4389120"/>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Red</a:t>
            </a:r>
            <a:endParaRPr lang="en-US" sz="1200" dirty="0"/>
          </a:p>
        </p:txBody>
      </p:sp>
      <p:sp>
        <p:nvSpPr>
          <p:cNvPr id="26" name="Text 24"/>
          <p:cNvSpPr/>
          <p:nvPr/>
        </p:nvSpPr>
        <p:spPr>
          <a:xfrm>
            <a:off x="2377440" y="4389120"/>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Critical / Error</a:t>
            </a:r>
            <a:endParaRPr lang="en-US" sz="1100" dirty="0"/>
          </a:p>
        </p:txBody>
      </p:sp>
      <p:sp>
        <p:nvSpPr>
          <p:cNvPr id="27" name="Shape 25"/>
          <p:cNvSpPr/>
          <p:nvPr/>
        </p:nvSpPr>
        <p:spPr>
          <a:xfrm>
            <a:off x="566928" y="5047488"/>
            <a:ext cx="5212080" cy="566928"/>
          </a:xfrm>
          <a:prstGeom prst="roundRect">
            <a:avLst>
              <a:gd name="adj" fmla="val 14516"/>
            </a:avLst>
          </a:prstGeom>
          <a:solidFill>
            <a:srgbClr val="F4F7FA"/>
          </a:solidFill>
          <a:ln w="9525">
            <a:solidFill>
              <a:srgbClr val="E1E8F0"/>
            </a:solidFill>
            <a:prstDash val="solid"/>
          </a:ln>
        </p:spPr>
      </p:sp>
      <p:sp>
        <p:nvSpPr>
          <p:cNvPr id="28" name="Shape 26"/>
          <p:cNvSpPr/>
          <p:nvPr/>
        </p:nvSpPr>
        <p:spPr>
          <a:xfrm>
            <a:off x="749808" y="5175504"/>
            <a:ext cx="457200" cy="310896"/>
          </a:xfrm>
          <a:prstGeom prst="roundRect">
            <a:avLst>
              <a:gd name="adj" fmla="val 17647"/>
            </a:avLst>
          </a:prstGeom>
          <a:solidFill>
            <a:srgbClr val="90A4AE"/>
          </a:solidFill>
          <a:ln w="12700">
            <a:solidFill>
              <a:srgbClr val="90A4AE"/>
            </a:solidFill>
            <a:prstDash val="solid"/>
          </a:ln>
        </p:spPr>
      </p:sp>
      <p:sp>
        <p:nvSpPr>
          <p:cNvPr id="29" name="Text 27"/>
          <p:cNvSpPr/>
          <p:nvPr/>
        </p:nvSpPr>
        <p:spPr>
          <a:xfrm>
            <a:off x="1353312" y="5047488"/>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Grey</a:t>
            </a:r>
            <a:endParaRPr lang="en-US" sz="1200" dirty="0"/>
          </a:p>
        </p:txBody>
      </p:sp>
      <p:sp>
        <p:nvSpPr>
          <p:cNvPr id="30" name="Text 28"/>
          <p:cNvSpPr/>
          <p:nvPr/>
        </p:nvSpPr>
        <p:spPr>
          <a:xfrm>
            <a:off x="2377440" y="5047488"/>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Inactive / Disabled</a:t>
            </a:r>
            <a:endParaRPr lang="en-US" sz="1100" dirty="0"/>
          </a:p>
        </p:txBody>
      </p:sp>
      <p:sp>
        <p:nvSpPr>
          <p:cNvPr id="31" name="Text 29"/>
          <p:cNvSpPr/>
          <p:nvPr/>
        </p:nvSpPr>
        <p:spPr>
          <a:xfrm>
            <a:off x="6089904" y="1444752"/>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UX PRINCIPLES — EVERY SCREEN, NO EXCEPTIONS</a:t>
            </a:r>
            <a:endParaRPr lang="en-US" sz="950" dirty="0"/>
          </a:p>
        </p:txBody>
      </p:sp>
      <p:sp>
        <p:nvSpPr>
          <p:cNvPr id="32" name="Shape 30"/>
          <p:cNvSpPr/>
          <p:nvPr/>
        </p:nvSpPr>
        <p:spPr>
          <a:xfrm>
            <a:off x="6089904" y="1755648"/>
            <a:ext cx="5532120" cy="566928"/>
          </a:xfrm>
          <a:prstGeom prst="roundRect">
            <a:avLst>
              <a:gd name="adj" fmla="val 14516"/>
            </a:avLst>
          </a:prstGeom>
          <a:solidFill>
            <a:srgbClr val="F4F7FA"/>
          </a:solidFill>
          <a:ln w="9525">
            <a:solidFill>
              <a:srgbClr val="E1E8F0"/>
            </a:solidFill>
            <a:prstDash val="solid"/>
          </a:ln>
        </p:spPr>
      </p:sp>
      <p:sp>
        <p:nvSpPr>
          <p:cNvPr id="33" name="Shape 31"/>
          <p:cNvSpPr/>
          <p:nvPr/>
        </p:nvSpPr>
        <p:spPr>
          <a:xfrm>
            <a:off x="6272784" y="1856232"/>
            <a:ext cx="365760" cy="365760"/>
          </a:xfrm>
          <a:prstGeom prst="ellipse">
            <a:avLst/>
          </a:prstGeom>
          <a:solidFill>
            <a:srgbClr val="175496"/>
          </a:solidFill>
          <a:ln w="12700">
            <a:solidFill>
              <a:srgbClr val="175496"/>
            </a:solidFill>
            <a:prstDash val="solid"/>
          </a:ln>
        </p:spPr>
      </p:sp>
      <p:pic>
        <p:nvPicPr>
          <p:cNvPr id="34" name="Image 0" descr="preencoded.png"/>
          <p:cNvPicPr>
            <a:picLocks noChangeAspect="1"/>
          </p:cNvPicPr>
          <p:nvPr/>
        </p:nvPicPr>
        <p:blipFill>
          <a:blip r:embed="rId3"/>
          <a:stretch>
            <a:fillRect/>
          </a:stretch>
        </p:blipFill>
        <p:spPr>
          <a:xfrm>
            <a:off x="6364224" y="1947672"/>
            <a:ext cx="182880" cy="182880"/>
          </a:xfrm>
          <a:prstGeom prst="rect">
            <a:avLst/>
          </a:prstGeom>
        </p:spPr>
      </p:pic>
      <p:sp>
        <p:nvSpPr>
          <p:cNvPr id="35" name="Text 32"/>
          <p:cNvSpPr/>
          <p:nvPr/>
        </p:nvSpPr>
        <p:spPr>
          <a:xfrm>
            <a:off x="6803136" y="1755648"/>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Minimise clicks</a:t>
            </a:r>
            <a:endParaRPr lang="en-US" sz="1250" dirty="0"/>
          </a:p>
        </p:txBody>
      </p:sp>
      <p:sp>
        <p:nvSpPr>
          <p:cNvPr id="36" name="Shape 33"/>
          <p:cNvSpPr/>
          <p:nvPr/>
        </p:nvSpPr>
        <p:spPr>
          <a:xfrm>
            <a:off x="6089904" y="2414016"/>
            <a:ext cx="5532120" cy="566928"/>
          </a:xfrm>
          <a:prstGeom prst="roundRect">
            <a:avLst>
              <a:gd name="adj" fmla="val 14516"/>
            </a:avLst>
          </a:prstGeom>
          <a:solidFill>
            <a:srgbClr val="F4F7FA"/>
          </a:solidFill>
          <a:ln w="9525">
            <a:solidFill>
              <a:srgbClr val="E1E8F0"/>
            </a:solidFill>
            <a:prstDash val="solid"/>
          </a:ln>
        </p:spPr>
      </p:sp>
      <p:sp>
        <p:nvSpPr>
          <p:cNvPr id="37" name="Shape 34"/>
          <p:cNvSpPr/>
          <p:nvPr/>
        </p:nvSpPr>
        <p:spPr>
          <a:xfrm>
            <a:off x="6272784" y="2514600"/>
            <a:ext cx="365760" cy="365760"/>
          </a:xfrm>
          <a:prstGeom prst="ellipse">
            <a:avLst/>
          </a:prstGeom>
          <a:solidFill>
            <a:srgbClr val="175496"/>
          </a:solidFill>
          <a:ln w="12700">
            <a:solidFill>
              <a:srgbClr val="175496"/>
            </a:solidFill>
            <a:prstDash val="solid"/>
          </a:ln>
        </p:spPr>
      </p:sp>
      <p:pic>
        <p:nvPicPr>
          <p:cNvPr id="38" name="Image 1" descr="preencoded.png"/>
          <p:cNvPicPr>
            <a:picLocks noChangeAspect="1"/>
          </p:cNvPicPr>
          <p:nvPr/>
        </p:nvPicPr>
        <p:blipFill>
          <a:blip r:embed="rId4"/>
          <a:stretch>
            <a:fillRect/>
          </a:stretch>
        </p:blipFill>
        <p:spPr>
          <a:xfrm>
            <a:off x="6364224" y="2606040"/>
            <a:ext cx="182880" cy="182880"/>
          </a:xfrm>
          <a:prstGeom prst="rect">
            <a:avLst/>
          </a:prstGeom>
        </p:spPr>
      </p:pic>
      <p:sp>
        <p:nvSpPr>
          <p:cNvPr id="39" name="Text 35"/>
          <p:cNvSpPr/>
          <p:nvPr/>
        </p:nvSpPr>
        <p:spPr>
          <a:xfrm>
            <a:off x="6803136" y="2414016"/>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Keyboard-first where it matters</a:t>
            </a:r>
            <a:endParaRPr lang="en-US" sz="1250" dirty="0"/>
          </a:p>
        </p:txBody>
      </p:sp>
      <p:sp>
        <p:nvSpPr>
          <p:cNvPr id="40" name="Shape 36"/>
          <p:cNvSpPr/>
          <p:nvPr/>
        </p:nvSpPr>
        <p:spPr>
          <a:xfrm>
            <a:off x="6089904" y="3072384"/>
            <a:ext cx="5532120" cy="566928"/>
          </a:xfrm>
          <a:prstGeom prst="roundRect">
            <a:avLst>
              <a:gd name="adj" fmla="val 14516"/>
            </a:avLst>
          </a:prstGeom>
          <a:solidFill>
            <a:srgbClr val="F4F7FA"/>
          </a:solidFill>
          <a:ln w="9525">
            <a:solidFill>
              <a:srgbClr val="E1E8F0"/>
            </a:solidFill>
            <a:prstDash val="solid"/>
          </a:ln>
        </p:spPr>
      </p:sp>
      <p:sp>
        <p:nvSpPr>
          <p:cNvPr id="41" name="Shape 37"/>
          <p:cNvSpPr/>
          <p:nvPr/>
        </p:nvSpPr>
        <p:spPr>
          <a:xfrm>
            <a:off x="6272784" y="3172968"/>
            <a:ext cx="365760" cy="365760"/>
          </a:xfrm>
          <a:prstGeom prst="ellipse">
            <a:avLst/>
          </a:prstGeom>
          <a:solidFill>
            <a:srgbClr val="175496"/>
          </a:solidFill>
          <a:ln w="12700">
            <a:solidFill>
              <a:srgbClr val="175496"/>
            </a:solidFill>
            <a:prstDash val="solid"/>
          </a:ln>
        </p:spPr>
      </p:sp>
      <p:pic>
        <p:nvPicPr>
          <p:cNvPr id="42" name="Image 2" descr="preencoded.png"/>
          <p:cNvPicPr>
            <a:picLocks noChangeAspect="1"/>
          </p:cNvPicPr>
          <p:nvPr/>
        </p:nvPicPr>
        <p:blipFill>
          <a:blip r:embed="rId5"/>
          <a:stretch>
            <a:fillRect/>
          </a:stretch>
        </p:blipFill>
        <p:spPr>
          <a:xfrm>
            <a:off x="6364224" y="3264408"/>
            <a:ext cx="182880" cy="182880"/>
          </a:xfrm>
          <a:prstGeom prst="rect">
            <a:avLst/>
          </a:prstGeom>
        </p:spPr>
      </p:pic>
      <p:sp>
        <p:nvSpPr>
          <p:cNvPr id="43" name="Text 38"/>
          <p:cNvSpPr/>
          <p:nvPr/>
        </p:nvSpPr>
        <p:spPr>
          <a:xfrm>
            <a:off x="6803136" y="3072384"/>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Warn, don't block</a:t>
            </a:r>
            <a:endParaRPr lang="en-US" sz="1250" dirty="0"/>
          </a:p>
        </p:txBody>
      </p:sp>
      <p:sp>
        <p:nvSpPr>
          <p:cNvPr id="44" name="Shape 39"/>
          <p:cNvSpPr/>
          <p:nvPr/>
        </p:nvSpPr>
        <p:spPr>
          <a:xfrm>
            <a:off x="6089904" y="3730752"/>
            <a:ext cx="5532120" cy="566928"/>
          </a:xfrm>
          <a:prstGeom prst="roundRect">
            <a:avLst>
              <a:gd name="adj" fmla="val 14516"/>
            </a:avLst>
          </a:prstGeom>
          <a:solidFill>
            <a:srgbClr val="F4F7FA"/>
          </a:solidFill>
          <a:ln w="9525">
            <a:solidFill>
              <a:srgbClr val="E1E8F0"/>
            </a:solidFill>
            <a:prstDash val="solid"/>
          </a:ln>
        </p:spPr>
      </p:sp>
      <p:sp>
        <p:nvSpPr>
          <p:cNvPr id="45" name="Shape 40"/>
          <p:cNvSpPr/>
          <p:nvPr/>
        </p:nvSpPr>
        <p:spPr>
          <a:xfrm>
            <a:off x="6272784" y="3831336"/>
            <a:ext cx="365760" cy="365760"/>
          </a:xfrm>
          <a:prstGeom prst="ellipse">
            <a:avLst/>
          </a:prstGeom>
          <a:solidFill>
            <a:srgbClr val="175496"/>
          </a:solidFill>
          <a:ln w="12700">
            <a:solidFill>
              <a:srgbClr val="175496"/>
            </a:solidFill>
            <a:prstDash val="solid"/>
          </a:ln>
        </p:spPr>
      </p:sp>
      <p:pic>
        <p:nvPicPr>
          <p:cNvPr id="46" name="Image 3" descr="preencoded.png"/>
          <p:cNvPicPr>
            <a:picLocks noChangeAspect="1"/>
          </p:cNvPicPr>
          <p:nvPr/>
        </p:nvPicPr>
        <p:blipFill>
          <a:blip r:embed="rId6"/>
          <a:stretch>
            <a:fillRect/>
          </a:stretch>
        </p:blipFill>
        <p:spPr>
          <a:xfrm>
            <a:off x="6364224" y="3922776"/>
            <a:ext cx="182880" cy="182880"/>
          </a:xfrm>
          <a:prstGeom prst="rect">
            <a:avLst/>
          </a:prstGeom>
        </p:spPr>
      </p:pic>
      <p:sp>
        <p:nvSpPr>
          <p:cNvPr id="47" name="Text 41"/>
          <p:cNvSpPr/>
          <p:nvPr/>
        </p:nvSpPr>
        <p:spPr>
          <a:xfrm>
            <a:off x="6803136" y="3730752"/>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Readable at high data density</a:t>
            </a:r>
            <a:endParaRPr lang="en-US" sz="1250" dirty="0"/>
          </a:p>
        </p:txBody>
      </p:sp>
      <p:sp>
        <p:nvSpPr>
          <p:cNvPr id="48" name="Shape 42"/>
          <p:cNvSpPr/>
          <p:nvPr/>
        </p:nvSpPr>
        <p:spPr>
          <a:xfrm>
            <a:off x="6089904" y="4389120"/>
            <a:ext cx="5532120" cy="566928"/>
          </a:xfrm>
          <a:prstGeom prst="roundRect">
            <a:avLst>
              <a:gd name="adj" fmla="val 14516"/>
            </a:avLst>
          </a:prstGeom>
          <a:solidFill>
            <a:srgbClr val="F4F7FA"/>
          </a:solidFill>
          <a:ln w="9525">
            <a:solidFill>
              <a:srgbClr val="E1E8F0"/>
            </a:solidFill>
            <a:prstDash val="solid"/>
          </a:ln>
        </p:spPr>
      </p:sp>
      <p:sp>
        <p:nvSpPr>
          <p:cNvPr id="49" name="Shape 43"/>
          <p:cNvSpPr/>
          <p:nvPr/>
        </p:nvSpPr>
        <p:spPr>
          <a:xfrm>
            <a:off x="6272784" y="4489704"/>
            <a:ext cx="365760" cy="365760"/>
          </a:xfrm>
          <a:prstGeom prst="ellipse">
            <a:avLst/>
          </a:prstGeom>
          <a:solidFill>
            <a:srgbClr val="175496"/>
          </a:solidFill>
          <a:ln w="12700">
            <a:solidFill>
              <a:srgbClr val="175496"/>
            </a:solidFill>
            <a:prstDash val="solid"/>
          </a:ln>
        </p:spPr>
      </p:sp>
      <p:pic>
        <p:nvPicPr>
          <p:cNvPr id="50" name="Image 4" descr="preencoded.png"/>
          <p:cNvPicPr>
            <a:picLocks noChangeAspect="1"/>
          </p:cNvPicPr>
          <p:nvPr/>
        </p:nvPicPr>
        <p:blipFill>
          <a:blip r:embed="rId7"/>
          <a:stretch>
            <a:fillRect/>
          </a:stretch>
        </p:blipFill>
        <p:spPr>
          <a:xfrm>
            <a:off x="6364224" y="4581144"/>
            <a:ext cx="182880" cy="182880"/>
          </a:xfrm>
          <a:prstGeom prst="rect">
            <a:avLst/>
          </a:prstGeom>
        </p:spPr>
      </p:pic>
      <p:sp>
        <p:nvSpPr>
          <p:cNvPr id="51" name="Text 44"/>
          <p:cNvSpPr/>
          <p:nvPr/>
        </p:nvSpPr>
        <p:spPr>
          <a:xfrm>
            <a:off x="6803136" y="4389120"/>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Consistent button placement</a:t>
            </a:r>
            <a:endParaRPr lang="en-US" sz="1250" dirty="0"/>
          </a:p>
        </p:txBody>
      </p:sp>
      <p:sp>
        <p:nvSpPr>
          <p:cNvPr id="52" name="Shape 45"/>
          <p:cNvSpPr/>
          <p:nvPr/>
        </p:nvSpPr>
        <p:spPr>
          <a:xfrm>
            <a:off x="6089904" y="5047488"/>
            <a:ext cx="5532120" cy="566928"/>
          </a:xfrm>
          <a:prstGeom prst="roundRect">
            <a:avLst>
              <a:gd name="adj" fmla="val 14516"/>
            </a:avLst>
          </a:prstGeom>
          <a:solidFill>
            <a:srgbClr val="F4F7FA"/>
          </a:solidFill>
          <a:ln w="9525">
            <a:solidFill>
              <a:srgbClr val="E1E8F0"/>
            </a:solidFill>
            <a:prstDash val="solid"/>
          </a:ln>
        </p:spPr>
      </p:sp>
      <p:sp>
        <p:nvSpPr>
          <p:cNvPr id="53" name="Shape 46"/>
          <p:cNvSpPr/>
          <p:nvPr/>
        </p:nvSpPr>
        <p:spPr>
          <a:xfrm>
            <a:off x="6272784" y="5148072"/>
            <a:ext cx="365760" cy="365760"/>
          </a:xfrm>
          <a:prstGeom prst="ellipse">
            <a:avLst/>
          </a:prstGeom>
          <a:solidFill>
            <a:srgbClr val="175496"/>
          </a:solidFill>
          <a:ln w="12700">
            <a:solidFill>
              <a:srgbClr val="175496"/>
            </a:solidFill>
            <a:prstDash val="solid"/>
          </a:ln>
        </p:spPr>
      </p:sp>
      <p:pic>
        <p:nvPicPr>
          <p:cNvPr id="54" name="Image 5" descr="preencoded.png"/>
          <p:cNvPicPr>
            <a:picLocks noChangeAspect="1"/>
          </p:cNvPicPr>
          <p:nvPr/>
        </p:nvPicPr>
        <p:blipFill>
          <a:blip r:embed="rId8"/>
          <a:stretch>
            <a:fillRect/>
          </a:stretch>
        </p:blipFill>
        <p:spPr>
          <a:xfrm>
            <a:off x="6364224" y="5239512"/>
            <a:ext cx="182880" cy="182880"/>
          </a:xfrm>
          <a:prstGeom prst="rect">
            <a:avLst/>
          </a:prstGeom>
        </p:spPr>
      </p:pic>
      <p:sp>
        <p:nvSpPr>
          <p:cNvPr id="55" name="Text 47"/>
          <p:cNvSpPr/>
          <p:nvPr/>
        </p:nvSpPr>
        <p:spPr>
          <a:xfrm>
            <a:off x="6803136" y="5047488"/>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Always show save status and progress</a:t>
            </a:r>
            <a:endParaRPr lang="en-US" sz="1250" dirty="0"/>
          </a:p>
        </p:txBody>
      </p:sp>
      <p:pic>
        <p:nvPicPr>
          <p:cNvPr id="56" name="Picture 55">
            <a:extLst>
              <a:ext uri="{FF2B5EF4-FFF2-40B4-BE49-F238E27FC236}">
                <a16:creationId xmlns:a16="http://schemas.microsoft.com/office/drawing/2014/main" id="{4E5063E2-CD8E-09D9-71AD-4D194863599A}"/>
              </a:ext>
            </a:extLst>
          </p:cNvPr>
          <p:cNvPicPr>
            <a:picLocks noChangeAspect="1"/>
          </p:cNvPicPr>
          <p:nvPr/>
        </p:nvPicPr>
        <p:blipFill>
          <a:blip r:embed="rId9"/>
          <a:stretch>
            <a:fillRect/>
          </a:stretch>
        </p:blipFill>
        <p:spPr>
          <a:xfrm>
            <a:off x="10505338" y="166891"/>
            <a:ext cx="1544421" cy="3726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E5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90CAF9"/>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4" name="Text 1"/>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CAF9"/>
                </a:solidFill>
                <a:latin typeface="Calibri" pitchFamily="34" charset="0"/>
                <a:ea typeface="Calibri" pitchFamily="34" charset="-122"/>
                <a:cs typeface="Calibri" pitchFamily="34" charset="-120"/>
              </a:rPr>
              <a:t>15</a:t>
            </a:r>
            <a:endParaRPr lang="en-US" sz="950" dirty="0"/>
          </a:p>
        </p:txBody>
      </p:sp>
      <p:sp>
        <p:nvSpPr>
          <p:cNvPr id="5" name="Text 2"/>
          <p:cNvSpPr/>
          <p:nvPr/>
        </p:nvSpPr>
        <p:spPr>
          <a:xfrm>
            <a:off x="566928" y="2286000"/>
            <a:ext cx="7315200" cy="292608"/>
          </a:xfrm>
          <a:prstGeom prst="rect">
            <a:avLst/>
          </a:prstGeom>
          <a:noFill/>
          <a:ln/>
        </p:spPr>
        <p:txBody>
          <a:bodyPr wrap="square" lIns="0" tIns="0" rIns="0" bIns="0" rtlCol="0" anchor="ctr"/>
          <a:lstStyle/>
          <a:p>
            <a:pPr marL="0" indent="0">
              <a:buNone/>
            </a:pPr>
            <a:r>
              <a:rPr lang="en-US" sz="1200" b="1" kern="0" spc="350" dirty="0">
                <a:solidFill>
                  <a:srgbClr val="00ACC1"/>
                </a:solidFill>
                <a:latin typeface="Calibri" pitchFamily="34" charset="0"/>
                <a:ea typeface="Calibri" pitchFamily="34" charset="-122"/>
                <a:cs typeface="Calibri" pitchFamily="34" charset="-120"/>
              </a:rPr>
              <a:t>PART FOUR</a:t>
            </a:r>
            <a:endParaRPr lang="en-US" sz="1200" dirty="0"/>
          </a:p>
        </p:txBody>
      </p:sp>
      <p:sp>
        <p:nvSpPr>
          <p:cNvPr id="6" name="Text 3"/>
          <p:cNvSpPr/>
          <p:nvPr/>
        </p:nvSpPr>
        <p:spPr>
          <a:xfrm>
            <a:off x="566928" y="2697480"/>
            <a:ext cx="9144000" cy="96012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The Modules</a:t>
            </a:r>
            <a:endParaRPr lang="en-US" sz="5400" dirty="0"/>
          </a:p>
        </p:txBody>
      </p:sp>
      <p:sp>
        <p:nvSpPr>
          <p:cNvPr id="7" name="Text 4"/>
          <p:cNvSpPr/>
          <p:nvPr/>
        </p:nvSpPr>
        <p:spPr>
          <a:xfrm>
            <a:off x="566928" y="3749040"/>
            <a:ext cx="8778240" cy="640080"/>
          </a:xfrm>
          <a:prstGeom prst="rect">
            <a:avLst/>
          </a:prstGeom>
          <a:noFill/>
          <a:ln/>
        </p:spPr>
        <p:txBody>
          <a:bodyPr wrap="square" lIns="0" tIns="0" rIns="0" bIns="0" rtlCol="0" anchor="t"/>
          <a:lstStyle/>
          <a:p>
            <a:pPr marL="0" indent="0">
              <a:lnSpc>
                <a:spcPct val="115000"/>
              </a:lnSpc>
              <a:buNone/>
            </a:pPr>
            <a:r>
              <a:rPr lang="en-US" sz="1500" dirty="0">
                <a:solidFill>
                  <a:srgbClr val="90CAF9"/>
                </a:solidFill>
                <a:latin typeface="Calibri" pitchFamily="34" charset="0"/>
                <a:ea typeface="Calibri" pitchFamily="34" charset="-122"/>
                <a:cs typeface="Calibri" pitchFamily="34" charset="-120"/>
              </a:rPr>
              <a:t>Module 01 through Module 10, in the order they were designed — what each one does, and the decisions behind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01 — USER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security foundation</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16</a:t>
            </a:r>
            <a:endParaRPr lang="en-US" sz="950" dirty="0"/>
          </a:p>
        </p:txBody>
      </p:sp>
      <p:sp>
        <p:nvSpPr>
          <p:cNvPr id="8" name="Shape 6"/>
          <p:cNvSpPr/>
          <p:nvPr/>
        </p:nvSpPr>
        <p:spPr>
          <a:xfrm>
            <a:off x="566928" y="1417320"/>
            <a:ext cx="5410048" cy="1874520"/>
          </a:xfrm>
          <a:prstGeom prst="roundRect">
            <a:avLst>
              <a:gd name="adj" fmla="val 487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636776"/>
            <a:ext cx="420624" cy="420624"/>
          </a:xfrm>
          <a:prstGeom prst="ellipse">
            <a:avLst/>
          </a:prstGeom>
          <a:solidFill>
            <a:srgbClr val="0B2E59"/>
          </a:solidFill>
          <a:ln w="12700">
            <a:solidFill>
              <a:srgbClr val="0B2E59"/>
            </a:solidFill>
            <a:prstDash val="solid"/>
          </a:ln>
        </p:spPr>
      </p:sp>
      <p:pic>
        <p:nvPicPr>
          <p:cNvPr id="10" name="Image 0" descr="preencoded.png"/>
          <p:cNvPicPr>
            <a:picLocks noChangeAspect="1"/>
          </p:cNvPicPr>
          <p:nvPr/>
        </p:nvPicPr>
        <p:blipFill>
          <a:blip r:embed="rId3"/>
          <a:stretch>
            <a:fillRect/>
          </a:stretch>
        </p:blipFill>
        <p:spPr>
          <a:xfrm>
            <a:off x="891540" y="1741932"/>
            <a:ext cx="210312" cy="210312"/>
          </a:xfrm>
          <a:prstGeom prst="rect">
            <a:avLst/>
          </a:prstGeom>
        </p:spPr>
      </p:pic>
      <p:sp>
        <p:nvSpPr>
          <p:cNvPr id="11" name="Text 8"/>
          <p:cNvSpPr/>
          <p:nvPr/>
        </p:nvSpPr>
        <p:spPr>
          <a:xfrm>
            <a:off x="786384" y="218541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One login screen for everybody</a:t>
            </a:r>
            <a:endParaRPr lang="en-US" sz="1350" dirty="0"/>
          </a:p>
        </p:txBody>
      </p:sp>
      <p:sp>
        <p:nvSpPr>
          <p:cNvPr id="12" name="Text 9"/>
          <p:cNvSpPr/>
          <p:nvPr/>
        </p:nvSpPr>
        <p:spPr>
          <a:xfrm>
            <a:off x="786384" y="2505456"/>
            <a:ext cx="4971136" cy="6126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There is no separate login page per role. After authentication the system detects the user's role and redirects them to the matching dashboard.</a:t>
            </a:r>
            <a:endParaRPr lang="en-US" sz="1050" dirty="0"/>
          </a:p>
        </p:txBody>
      </p:sp>
      <p:sp>
        <p:nvSpPr>
          <p:cNvPr id="13" name="Shape 10"/>
          <p:cNvSpPr/>
          <p:nvPr/>
        </p:nvSpPr>
        <p:spPr>
          <a:xfrm>
            <a:off x="6214720" y="1417320"/>
            <a:ext cx="5410048" cy="1874520"/>
          </a:xfrm>
          <a:prstGeom prst="roundRect">
            <a:avLst>
              <a:gd name="adj" fmla="val 487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6434176" y="1636776"/>
            <a:ext cx="420624" cy="420624"/>
          </a:xfrm>
          <a:prstGeom prst="ellipse">
            <a:avLst/>
          </a:prstGeom>
          <a:solidFill>
            <a:srgbClr val="175496"/>
          </a:solidFill>
          <a:ln w="12700">
            <a:solidFill>
              <a:srgbClr val="175496"/>
            </a:solidFill>
            <a:prstDash val="solid"/>
          </a:ln>
        </p:spPr>
      </p:sp>
      <p:pic>
        <p:nvPicPr>
          <p:cNvPr id="15" name="Image 1" descr="preencoded.png"/>
          <p:cNvPicPr>
            <a:picLocks noChangeAspect="1"/>
          </p:cNvPicPr>
          <p:nvPr/>
        </p:nvPicPr>
        <p:blipFill>
          <a:blip r:embed="rId4"/>
          <a:stretch>
            <a:fillRect/>
          </a:stretch>
        </p:blipFill>
        <p:spPr>
          <a:xfrm>
            <a:off x="6539332" y="1741932"/>
            <a:ext cx="210312" cy="210312"/>
          </a:xfrm>
          <a:prstGeom prst="rect">
            <a:avLst/>
          </a:prstGeom>
        </p:spPr>
      </p:pic>
      <p:sp>
        <p:nvSpPr>
          <p:cNvPr id="16" name="Text 12"/>
          <p:cNvSpPr/>
          <p:nvPr/>
        </p:nvSpPr>
        <p:spPr>
          <a:xfrm>
            <a:off x="6434176" y="218541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 two-panel screen, not a bare form</a:t>
            </a:r>
            <a:endParaRPr lang="en-US" sz="1350" dirty="0"/>
          </a:p>
        </p:txBody>
      </p:sp>
      <p:sp>
        <p:nvSpPr>
          <p:cNvPr id="17" name="Text 13"/>
          <p:cNvSpPr/>
          <p:nvPr/>
        </p:nvSpPr>
        <p:spPr>
          <a:xfrm>
            <a:off x="6434176" y="2505456"/>
            <a:ext cx="4971136" cy="6126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Branding on the left — logo, welcome, product name, tagline. Authentication on the right — Username, Password, Remember Me, Forgot Password, Sign In.</a:t>
            </a:r>
            <a:endParaRPr lang="en-US" sz="1050" dirty="0"/>
          </a:p>
        </p:txBody>
      </p:sp>
      <p:sp>
        <p:nvSpPr>
          <p:cNvPr id="18" name="Text 14"/>
          <p:cNvSpPr/>
          <p:nvPr/>
        </p:nvSpPr>
        <p:spPr>
          <a:xfrm>
            <a:off x="566928" y="34564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FORGOT PASSWORD — THE FINAL FLOW</a:t>
            </a:r>
            <a:endParaRPr lang="en-US" sz="950" dirty="0"/>
          </a:p>
        </p:txBody>
      </p:sp>
      <p:sp>
        <p:nvSpPr>
          <p:cNvPr id="19" name="Shape 15"/>
          <p:cNvSpPr/>
          <p:nvPr/>
        </p:nvSpPr>
        <p:spPr>
          <a:xfrm>
            <a:off x="566928" y="3730752"/>
            <a:ext cx="1690573" cy="585216"/>
          </a:xfrm>
          <a:prstGeom prst="roundRect">
            <a:avLst>
              <a:gd name="adj" fmla="val 78125"/>
            </a:avLst>
          </a:prstGeom>
          <a:solidFill>
            <a:srgbClr val="F4F7FA"/>
          </a:solidFill>
          <a:ln w="9525">
            <a:solidFill>
              <a:srgbClr val="E1E8F0"/>
            </a:solidFill>
            <a:prstDash val="solid"/>
          </a:ln>
        </p:spPr>
      </p:sp>
      <p:sp>
        <p:nvSpPr>
          <p:cNvPr id="20" name="Text 16"/>
          <p:cNvSpPr/>
          <p:nvPr/>
        </p:nvSpPr>
        <p:spPr>
          <a:xfrm>
            <a:off x="612648"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Forgot Password</a:t>
            </a:r>
            <a:endParaRPr lang="en-US" sz="950" dirty="0"/>
          </a:p>
        </p:txBody>
      </p:sp>
      <p:sp>
        <p:nvSpPr>
          <p:cNvPr id="21" name="Text 17"/>
          <p:cNvSpPr/>
          <p:nvPr/>
        </p:nvSpPr>
        <p:spPr>
          <a:xfrm>
            <a:off x="2257501"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2" name="Shape 18"/>
          <p:cNvSpPr/>
          <p:nvPr/>
        </p:nvSpPr>
        <p:spPr>
          <a:xfrm>
            <a:off x="2440381" y="3730752"/>
            <a:ext cx="1690573" cy="585216"/>
          </a:xfrm>
          <a:prstGeom prst="roundRect">
            <a:avLst>
              <a:gd name="adj" fmla="val 78125"/>
            </a:avLst>
          </a:prstGeom>
          <a:solidFill>
            <a:srgbClr val="F4F7FA"/>
          </a:solidFill>
          <a:ln w="9525">
            <a:solidFill>
              <a:srgbClr val="E1E8F0"/>
            </a:solidFill>
            <a:prstDash val="solid"/>
          </a:ln>
        </p:spPr>
      </p:sp>
      <p:sp>
        <p:nvSpPr>
          <p:cNvPr id="23" name="Text 19"/>
          <p:cNvSpPr/>
          <p:nvPr/>
        </p:nvSpPr>
        <p:spPr>
          <a:xfrm>
            <a:off x="2486101"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Enter registered email</a:t>
            </a:r>
            <a:endParaRPr lang="en-US" sz="950" dirty="0"/>
          </a:p>
        </p:txBody>
      </p:sp>
      <p:sp>
        <p:nvSpPr>
          <p:cNvPr id="24" name="Text 20"/>
          <p:cNvSpPr/>
          <p:nvPr/>
        </p:nvSpPr>
        <p:spPr>
          <a:xfrm>
            <a:off x="4130954"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5" name="Shape 21"/>
          <p:cNvSpPr/>
          <p:nvPr/>
        </p:nvSpPr>
        <p:spPr>
          <a:xfrm>
            <a:off x="4313834" y="3730752"/>
            <a:ext cx="1690573" cy="585216"/>
          </a:xfrm>
          <a:prstGeom prst="roundRect">
            <a:avLst>
              <a:gd name="adj" fmla="val 78125"/>
            </a:avLst>
          </a:prstGeom>
          <a:solidFill>
            <a:srgbClr val="F4F7FA"/>
          </a:solidFill>
          <a:ln w="9525">
            <a:solidFill>
              <a:srgbClr val="E1E8F0"/>
            </a:solidFill>
            <a:prstDash val="solid"/>
          </a:ln>
        </p:spPr>
      </p:sp>
      <p:sp>
        <p:nvSpPr>
          <p:cNvPr id="26" name="Text 22"/>
          <p:cNvSpPr/>
          <p:nvPr/>
        </p:nvSpPr>
        <p:spPr>
          <a:xfrm>
            <a:off x="4359554"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Send OTP</a:t>
            </a:r>
            <a:endParaRPr lang="en-US" sz="950" dirty="0"/>
          </a:p>
        </p:txBody>
      </p:sp>
      <p:sp>
        <p:nvSpPr>
          <p:cNvPr id="27" name="Text 23"/>
          <p:cNvSpPr/>
          <p:nvPr/>
        </p:nvSpPr>
        <p:spPr>
          <a:xfrm>
            <a:off x="6004408"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8" name="Shape 24"/>
          <p:cNvSpPr/>
          <p:nvPr/>
        </p:nvSpPr>
        <p:spPr>
          <a:xfrm>
            <a:off x="6187288" y="3730752"/>
            <a:ext cx="1690573" cy="585216"/>
          </a:xfrm>
          <a:prstGeom prst="roundRect">
            <a:avLst>
              <a:gd name="adj" fmla="val 78125"/>
            </a:avLst>
          </a:prstGeom>
          <a:solidFill>
            <a:srgbClr val="F4F7FA"/>
          </a:solidFill>
          <a:ln w="9525">
            <a:solidFill>
              <a:srgbClr val="E1E8F0"/>
            </a:solidFill>
            <a:prstDash val="solid"/>
          </a:ln>
        </p:spPr>
      </p:sp>
      <p:sp>
        <p:nvSpPr>
          <p:cNvPr id="29" name="Text 25"/>
          <p:cNvSpPr/>
          <p:nvPr/>
        </p:nvSpPr>
        <p:spPr>
          <a:xfrm>
            <a:off x="6233008"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Verify OTP</a:t>
            </a:r>
            <a:endParaRPr lang="en-US" sz="950" dirty="0"/>
          </a:p>
        </p:txBody>
      </p:sp>
      <p:sp>
        <p:nvSpPr>
          <p:cNvPr id="30" name="Text 26"/>
          <p:cNvSpPr/>
          <p:nvPr/>
        </p:nvSpPr>
        <p:spPr>
          <a:xfrm>
            <a:off x="7877861"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1" name="Shape 27"/>
          <p:cNvSpPr/>
          <p:nvPr/>
        </p:nvSpPr>
        <p:spPr>
          <a:xfrm>
            <a:off x="8060741" y="3730752"/>
            <a:ext cx="1690573" cy="585216"/>
          </a:xfrm>
          <a:prstGeom prst="roundRect">
            <a:avLst>
              <a:gd name="adj" fmla="val 78125"/>
            </a:avLst>
          </a:prstGeom>
          <a:solidFill>
            <a:srgbClr val="F4F7FA"/>
          </a:solidFill>
          <a:ln w="9525">
            <a:solidFill>
              <a:srgbClr val="E1E8F0"/>
            </a:solidFill>
            <a:prstDash val="solid"/>
          </a:ln>
        </p:spPr>
      </p:sp>
      <p:sp>
        <p:nvSpPr>
          <p:cNvPr id="32" name="Text 28"/>
          <p:cNvSpPr/>
          <p:nvPr/>
        </p:nvSpPr>
        <p:spPr>
          <a:xfrm>
            <a:off x="8106461"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Reset password</a:t>
            </a:r>
            <a:endParaRPr lang="en-US" sz="950" dirty="0"/>
          </a:p>
        </p:txBody>
      </p:sp>
      <p:sp>
        <p:nvSpPr>
          <p:cNvPr id="33" name="Text 29"/>
          <p:cNvSpPr/>
          <p:nvPr/>
        </p:nvSpPr>
        <p:spPr>
          <a:xfrm>
            <a:off x="9751314"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4" name="Shape 30"/>
          <p:cNvSpPr/>
          <p:nvPr/>
        </p:nvSpPr>
        <p:spPr>
          <a:xfrm>
            <a:off x="9934194" y="3730752"/>
            <a:ext cx="1690573" cy="585216"/>
          </a:xfrm>
          <a:prstGeom prst="roundRect">
            <a:avLst>
              <a:gd name="adj" fmla="val 78125"/>
            </a:avLst>
          </a:prstGeom>
          <a:solidFill>
            <a:srgbClr val="F4F7FA"/>
          </a:solidFill>
          <a:ln w="9525">
            <a:solidFill>
              <a:srgbClr val="E1E8F0"/>
            </a:solidFill>
            <a:prstDash val="solid"/>
          </a:ln>
        </p:spPr>
      </p:sp>
      <p:sp>
        <p:nvSpPr>
          <p:cNvPr id="35" name="Text 31"/>
          <p:cNvSpPr/>
          <p:nvPr/>
        </p:nvSpPr>
        <p:spPr>
          <a:xfrm>
            <a:off x="9979914"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Back to login</a:t>
            </a:r>
            <a:endParaRPr lang="en-US" sz="950" dirty="0"/>
          </a:p>
        </p:txBody>
      </p:sp>
      <p:sp>
        <p:nvSpPr>
          <p:cNvPr id="36" name="Shape 32"/>
          <p:cNvSpPr/>
          <p:nvPr/>
        </p:nvSpPr>
        <p:spPr>
          <a:xfrm>
            <a:off x="566928" y="4572000"/>
            <a:ext cx="11057839" cy="1234440"/>
          </a:xfrm>
          <a:prstGeom prst="roundRect">
            <a:avLst>
              <a:gd name="adj" fmla="val 7407"/>
            </a:avLst>
          </a:prstGeom>
          <a:solidFill>
            <a:srgbClr val="EEF4FB"/>
          </a:solidFill>
          <a:ln w="9525">
            <a:solidFill>
              <a:srgbClr val="D6E4F5"/>
            </a:solidFill>
            <a:prstDash val="solid"/>
          </a:ln>
        </p:spPr>
      </p:sp>
      <p:sp>
        <p:nvSpPr>
          <p:cNvPr id="37" name="Text 33"/>
          <p:cNvSpPr/>
          <p:nvPr/>
        </p:nvSpPr>
        <p:spPr>
          <a:xfrm>
            <a:off x="877824" y="4736592"/>
            <a:ext cx="10436047" cy="667512"/>
          </a:xfrm>
          <a:prstGeom prst="rect">
            <a:avLst/>
          </a:prstGeom>
          <a:noFill/>
          <a:ln/>
        </p:spPr>
        <p:txBody>
          <a:bodyPr wrap="square" lIns="0" tIns="0" rIns="0" bIns="0" rtlCol="0" anchor="ctr"/>
          <a:lstStyle/>
          <a:p>
            <a:pPr marL="0" indent="0">
              <a:lnSpc>
                <a:spcPct val="112000"/>
              </a:lnSpc>
              <a:buNone/>
            </a:pPr>
            <a:r>
              <a:rPr lang="en-US" sz="1700" i="1" dirty="0">
                <a:solidFill>
                  <a:srgbClr val="0B2E59"/>
                </a:solidFill>
                <a:latin typeface="Calibri" pitchFamily="34" charset="0"/>
                <a:ea typeface="Calibri" pitchFamily="34" charset="-122"/>
                <a:cs typeface="Calibri" pitchFamily="34" charset="-120"/>
              </a:rPr>
              <a:t>“Every positive call creates a new opportunity for our students.”</a:t>
            </a:r>
            <a:endParaRPr lang="en-US" sz="1700" dirty="0"/>
          </a:p>
        </p:txBody>
      </p:sp>
      <p:sp>
        <p:nvSpPr>
          <p:cNvPr id="38" name="Text 34"/>
          <p:cNvSpPr/>
          <p:nvPr/>
        </p:nvSpPr>
        <p:spPr>
          <a:xfrm>
            <a:off x="877824" y="538581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The motivational line shown under the Sign In button — a deliberate design decision, not filler.</a:t>
            </a:r>
            <a:endParaRPr lang="en-US" sz="1000" dirty="0"/>
          </a:p>
        </p:txBody>
      </p:sp>
      <p:pic>
        <p:nvPicPr>
          <p:cNvPr id="39" name="Picture 38">
            <a:extLst>
              <a:ext uri="{FF2B5EF4-FFF2-40B4-BE49-F238E27FC236}">
                <a16:creationId xmlns:a16="http://schemas.microsoft.com/office/drawing/2014/main" id="{84C7DF4E-F35E-B5D8-BB57-8BE4CE2C0FAB}"/>
              </a:ext>
            </a:extLst>
          </p:cNvPr>
          <p:cNvPicPr>
            <a:picLocks noChangeAspect="1"/>
          </p:cNvPicPr>
          <p:nvPr/>
        </p:nvPicPr>
        <p:blipFill>
          <a:blip r:embed="rId5"/>
          <a:stretch>
            <a:fillRect/>
          </a:stretch>
        </p:blipFill>
        <p:spPr>
          <a:xfrm>
            <a:off x="10505338" y="166891"/>
            <a:ext cx="1544421" cy="37260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01 — USER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Who is allowed to do what</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2715768"/>
        </p:xfrm>
        <a:graphic>
          <a:graphicData uri="http://schemas.openxmlformats.org/drawingml/2006/table">
            <a:tbl>
              <a:tblPr/>
              <a:tblGrid>
                <a:gridCol w="374263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01752">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Feature / 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Administrator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TPO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Daily Call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Positive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Export reports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Edit company contact info  (operational)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Edit master company info  (protected)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Create coordinator accounts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Delete / disable users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View audit logs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9" name="Text 6"/>
          <p:cNvSpPr/>
          <p:nvPr/>
        </p:nvSpPr>
        <p:spPr>
          <a:xfrm>
            <a:off x="566928" y="4224528"/>
            <a:ext cx="11057839" cy="256032"/>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8 of the 22 rows in the full matrix.   Y* = permitted only where company policy allows.</a:t>
            </a:r>
            <a:endParaRPr lang="en-US" sz="1000" dirty="0"/>
          </a:p>
        </p:txBody>
      </p:sp>
      <p:sp>
        <p:nvSpPr>
          <p:cNvPr id="10" name="Shape 7"/>
          <p:cNvSpPr/>
          <p:nvPr/>
        </p:nvSpPr>
        <p:spPr>
          <a:xfrm>
            <a:off x="566928" y="4535424"/>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Shape 8"/>
          <p:cNvSpPr/>
          <p:nvPr/>
        </p:nvSpPr>
        <p:spPr>
          <a:xfrm>
            <a:off x="786384" y="4754880"/>
            <a:ext cx="365760" cy="365760"/>
          </a:xfrm>
          <a:prstGeom prst="ellipse">
            <a:avLst/>
          </a:prstGeom>
          <a:solidFill>
            <a:srgbClr val="0B2E59"/>
          </a:solidFill>
          <a:ln w="12700">
            <a:solidFill>
              <a:srgbClr val="0B2E59"/>
            </a:solidFill>
            <a:prstDash val="solid"/>
          </a:ln>
        </p:spPr>
      </p:sp>
      <p:pic>
        <p:nvPicPr>
          <p:cNvPr id="12" name="Image 0" descr="preencoded.png"/>
          <p:cNvPicPr>
            <a:picLocks noChangeAspect="1"/>
          </p:cNvPicPr>
          <p:nvPr/>
        </p:nvPicPr>
        <p:blipFill>
          <a:blip r:embed="rId3"/>
          <a:stretch>
            <a:fillRect/>
          </a:stretch>
        </p:blipFill>
        <p:spPr>
          <a:xfrm>
            <a:off x="877824" y="4846320"/>
            <a:ext cx="182880" cy="182880"/>
          </a:xfrm>
          <a:prstGeom prst="rect">
            <a:avLst/>
          </a:prstGeom>
        </p:spPr>
      </p:pic>
      <p:sp>
        <p:nvSpPr>
          <p:cNvPr id="13" name="Text 9"/>
          <p:cNvSpPr/>
          <p:nvPr/>
        </p:nvSpPr>
        <p:spPr>
          <a:xfrm>
            <a:off x="1280160" y="475488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Master company data — protected</a:t>
            </a:r>
            <a:endParaRPr lang="en-US" sz="1350" dirty="0"/>
          </a:p>
        </p:txBody>
      </p:sp>
      <p:sp>
        <p:nvSpPr>
          <p:cNvPr id="14" name="Text 10"/>
          <p:cNvSpPr/>
          <p:nvPr/>
        </p:nvSpPr>
        <p:spPr>
          <a:xfrm>
            <a:off x="786384" y="5166360"/>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Company Name · Website · Industry · Address · Company ID.  Editable only by a Team Leader or Administrator.</a:t>
            </a:r>
            <a:endParaRPr lang="en-US" sz="1050" dirty="0"/>
          </a:p>
        </p:txBody>
      </p:sp>
      <p:sp>
        <p:nvSpPr>
          <p:cNvPr id="15" name="Shape 11"/>
          <p:cNvSpPr/>
          <p:nvPr/>
        </p:nvSpPr>
        <p:spPr>
          <a:xfrm>
            <a:off x="6214720" y="4535424"/>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6" name="Shape 12"/>
          <p:cNvSpPr/>
          <p:nvPr/>
        </p:nvSpPr>
        <p:spPr>
          <a:xfrm>
            <a:off x="6434176" y="4754880"/>
            <a:ext cx="365760" cy="365760"/>
          </a:xfrm>
          <a:prstGeom prst="ellipse">
            <a:avLst/>
          </a:prstGeom>
          <a:solidFill>
            <a:srgbClr val="00ACC1"/>
          </a:solidFill>
          <a:ln w="12700">
            <a:solidFill>
              <a:srgbClr val="00ACC1"/>
            </a:solidFill>
            <a:prstDash val="solid"/>
          </a:ln>
        </p:spPr>
      </p:sp>
      <p:pic>
        <p:nvPicPr>
          <p:cNvPr id="17" name="Image 1" descr="preencoded.png"/>
          <p:cNvPicPr>
            <a:picLocks noChangeAspect="1"/>
          </p:cNvPicPr>
          <p:nvPr/>
        </p:nvPicPr>
        <p:blipFill>
          <a:blip r:embed="rId4"/>
          <a:stretch>
            <a:fillRect/>
          </a:stretch>
        </p:blipFill>
        <p:spPr>
          <a:xfrm>
            <a:off x="6525616" y="4846320"/>
            <a:ext cx="182880" cy="182880"/>
          </a:xfrm>
          <a:prstGeom prst="rect">
            <a:avLst/>
          </a:prstGeom>
        </p:spPr>
      </p:pic>
      <p:sp>
        <p:nvSpPr>
          <p:cNvPr id="8" name="Text 13"/>
          <p:cNvSpPr/>
          <p:nvPr/>
        </p:nvSpPr>
        <p:spPr>
          <a:xfrm>
            <a:off x="6927952" y="475488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Contact data — operational</a:t>
            </a:r>
            <a:endParaRPr lang="en-US" sz="1350" dirty="0"/>
          </a:p>
        </p:txBody>
      </p:sp>
      <p:sp>
        <p:nvSpPr>
          <p:cNvPr id="19" name="Text 14"/>
          <p:cNvSpPr/>
          <p:nvPr/>
        </p:nvSpPr>
        <p:spPr>
          <a:xfrm>
            <a:off x="6434176" y="5166360"/>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HR Name · Mobile · Email · Designation · Remarks.  Coordinators edit these, because they discover them while calling.</a:t>
            </a:r>
            <a:endParaRPr lang="en-US" sz="1050" dirty="0"/>
          </a:p>
        </p:txBody>
      </p:sp>
      <p:pic>
        <p:nvPicPr>
          <p:cNvPr id="20" name="Picture 19">
            <a:extLst>
              <a:ext uri="{FF2B5EF4-FFF2-40B4-BE49-F238E27FC236}">
                <a16:creationId xmlns:a16="http://schemas.microsoft.com/office/drawing/2014/main" id="{D2B3332E-BC54-A5BB-B42D-3CFF681E7901}"/>
              </a:ext>
            </a:extLst>
          </p:cNvPr>
          <p:cNvPicPr>
            <a:picLocks noChangeAspect="1"/>
          </p:cNvPicPr>
          <p:nvPr/>
        </p:nvPicPr>
        <p:blipFill>
          <a:blip r:embed="rId5"/>
          <a:stretch>
            <a:fillRect/>
          </a:stretch>
        </p:blipFill>
        <p:spPr>
          <a:xfrm>
            <a:off x="10505338" y="166891"/>
            <a:ext cx="1544421" cy="37260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02 — MASTER COMPANY DATABASE</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single source of truth</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18</a:t>
            </a:r>
            <a:endParaRPr lang="en-US" sz="950" dirty="0"/>
          </a:p>
        </p:txBody>
      </p:sp>
      <p:sp>
        <p:nvSpPr>
          <p:cNvPr id="8" name="Shape 6"/>
          <p:cNvSpPr/>
          <p:nvPr/>
        </p:nvSpPr>
        <p:spPr>
          <a:xfrm>
            <a:off x="566928"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Text 7"/>
          <p:cNvSpPr/>
          <p:nvPr/>
        </p:nvSpPr>
        <p:spPr>
          <a:xfrm>
            <a:off x="566928"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7,000+</a:t>
            </a:r>
            <a:endParaRPr lang="en-US" sz="3000" dirty="0"/>
          </a:p>
        </p:txBody>
      </p:sp>
      <p:sp>
        <p:nvSpPr>
          <p:cNvPr id="10" name="Text 8"/>
          <p:cNvSpPr/>
          <p:nvPr/>
        </p:nvSpPr>
        <p:spPr>
          <a:xfrm>
            <a:off x="621792"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Companies</a:t>
            </a:r>
            <a:endParaRPr lang="en-US" sz="950" dirty="0"/>
          </a:p>
        </p:txBody>
      </p:sp>
      <p:sp>
        <p:nvSpPr>
          <p:cNvPr id="11" name="Shape 9"/>
          <p:cNvSpPr/>
          <p:nvPr/>
        </p:nvSpPr>
        <p:spPr>
          <a:xfrm>
            <a:off x="3377108"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Text 10"/>
          <p:cNvSpPr/>
          <p:nvPr/>
        </p:nvSpPr>
        <p:spPr>
          <a:xfrm>
            <a:off x="3377108"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10,000+</a:t>
            </a:r>
            <a:endParaRPr lang="en-US" sz="3000" dirty="0"/>
          </a:p>
        </p:txBody>
      </p:sp>
      <p:sp>
        <p:nvSpPr>
          <p:cNvPr id="13" name="Text 11"/>
          <p:cNvSpPr/>
          <p:nvPr/>
        </p:nvSpPr>
        <p:spPr>
          <a:xfrm>
            <a:off x="3431972"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HR contacts</a:t>
            </a:r>
            <a:endParaRPr lang="en-US" sz="950" dirty="0"/>
          </a:p>
        </p:txBody>
      </p:sp>
      <p:sp>
        <p:nvSpPr>
          <p:cNvPr id="14" name="Shape 12"/>
          <p:cNvSpPr/>
          <p:nvPr/>
        </p:nvSpPr>
        <p:spPr>
          <a:xfrm>
            <a:off x="6187288"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Text 13"/>
          <p:cNvSpPr/>
          <p:nvPr/>
        </p:nvSpPr>
        <p:spPr>
          <a:xfrm>
            <a:off x="6187288"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58+</a:t>
            </a:r>
            <a:endParaRPr lang="en-US" sz="3000" dirty="0"/>
          </a:p>
        </p:txBody>
      </p:sp>
      <p:sp>
        <p:nvSpPr>
          <p:cNvPr id="16" name="Text 14"/>
          <p:cNvSpPr/>
          <p:nvPr/>
        </p:nvSpPr>
        <p:spPr>
          <a:xfrm>
            <a:off x="6242152"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Colleges</a:t>
            </a:r>
            <a:endParaRPr lang="en-US" sz="950" dirty="0"/>
          </a:p>
        </p:txBody>
      </p:sp>
      <p:sp>
        <p:nvSpPr>
          <p:cNvPr id="17" name="Shape 15"/>
          <p:cNvSpPr/>
          <p:nvPr/>
        </p:nvSpPr>
        <p:spPr>
          <a:xfrm>
            <a:off x="8997467"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8" name="Text 16"/>
          <p:cNvSpPr/>
          <p:nvPr/>
        </p:nvSpPr>
        <p:spPr>
          <a:xfrm>
            <a:off x="8997467"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~70</a:t>
            </a:r>
            <a:endParaRPr lang="en-US" sz="3000" dirty="0"/>
          </a:p>
        </p:txBody>
      </p:sp>
      <p:sp>
        <p:nvSpPr>
          <p:cNvPr id="19" name="Text 17"/>
          <p:cNvSpPr/>
          <p:nvPr/>
        </p:nvSpPr>
        <p:spPr>
          <a:xfrm>
            <a:off x="9052331"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Calls per coordinator, per day</a:t>
            </a:r>
            <a:endParaRPr lang="en-US" sz="950" dirty="0"/>
          </a:p>
        </p:txBody>
      </p:sp>
      <p:sp>
        <p:nvSpPr>
          <p:cNvPr id="20" name="Shape 18"/>
          <p:cNvSpPr/>
          <p:nvPr/>
        </p:nvSpPr>
        <p:spPr>
          <a:xfrm>
            <a:off x="566928" y="2834640"/>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1" name="Shape 19"/>
          <p:cNvSpPr/>
          <p:nvPr/>
        </p:nvSpPr>
        <p:spPr>
          <a:xfrm>
            <a:off x="786384" y="3054096"/>
            <a:ext cx="365760" cy="365760"/>
          </a:xfrm>
          <a:prstGeom prst="ellipse">
            <a:avLst/>
          </a:prstGeom>
          <a:solidFill>
            <a:srgbClr val="0B2E59"/>
          </a:solidFill>
          <a:ln w="12700">
            <a:solidFill>
              <a:srgbClr val="0B2E59"/>
            </a:solidFill>
            <a:prstDash val="solid"/>
          </a:ln>
        </p:spPr>
      </p:sp>
      <p:pic>
        <p:nvPicPr>
          <p:cNvPr id="22" name="Image 0" descr="preencoded.png"/>
          <p:cNvPicPr>
            <a:picLocks noChangeAspect="1"/>
          </p:cNvPicPr>
          <p:nvPr/>
        </p:nvPicPr>
        <p:blipFill>
          <a:blip r:embed="rId3"/>
          <a:stretch>
            <a:fillRect/>
          </a:stretch>
        </p:blipFill>
        <p:spPr>
          <a:xfrm>
            <a:off x="877824" y="3145536"/>
            <a:ext cx="182880" cy="182880"/>
          </a:xfrm>
          <a:prstGeom prst="rect">
            <a:avLst/>
          </a:prstGeom>
        </p:spPr>
      </p:pic>
      <p:sp>
        <p:nvSpPr>
          <p:cNvPr id="23" name="Text 20"/>
          <p:cNvSpPr/>
          <p:nvPr/>
        </p:nvSpPr>
        <p:spPr>
          <a:xfrm>
            <a:off x="1280160" y="305409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Identity is the company name</a:t>
            </a:r>
            <a:endParaRPr lang="en-US" sz="1350" dirty="0"/>
          </a:p>
        </p:txBody>
      </p:sp>
      <p:sp>
        <p:nvSpPr>
          <p:cNvPr id="24" name="Text 21"/>
          <p:cNvSpPr/>
          <p:nvPr/>
        </p:nvSpPr>
        <p:spPr>
          <a:xfrm>
            <a:off x="786384" y="3465576"/>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No company ID, no website key. The name is the identity — which is exactly how the team already thinks about it.</a:t>
            </a:r>
            <a:endParaRPr lang="en-US" sz="1050" dirty="0"/>
          </a:p>
        </p:txBody>
      </p:sp>
      <p:sp>
        <p:nvSpPr>
          <p:cNvPr id="25" name="Shape 22"/>
          <p:cNvSpPr/>
          <p:nvPr/>
        </p:nvSpPr>
        <p:spPr>
          <a:xfrm>
            <a:off x="4332122" y="2834640"/>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Shape 23"/>
          <p:cNvSpPr/>
          <p:nvPr/>
        </p:nvSpPr>
        <p:spPr>
          <a:xfrm>
            <a:off x="4551578" y="3054096"/>
            <a:ext cx="365760" cy="365760"/>
          </a:xfrm>
          <a:prstGeom prst="ellipse">
            <a:avLst/>
          </a:prstGeom>
          <a:solidFill>
            <a:srgbClr val="175496"/>
          </a:solidFill>
          <a:ln w="12700">
            <a:solidFill>
              <a:srgbClr val="175496"/>
            </a:solidFill>
            <a:prstDash val="solid"/>
          </a:ln>
        </p:spPr>
      </p:sp>
      <p:pic>
        <p:nvPicPr>
          <p:cNvPr id="27" name="Image 1" descr="preencoded.png"/>
          <p:cNvPicPr>
            <a:picLocks noChangeAspect="1"/>
          </p:cNvPicPr>
          <p:nvPr/>
        </p:nvPicPr>
        <p:blipFill>
          <a:blip r:embed="rId4"/>
          <a:stretch>
            <a:fillRect/>
          </a:stretch>
        </p:blipFill>
        <p:spPr>
          <a:xfrm>
            <a:off x="4643018" y="3145536"/>
            <a:ext cx="182880" cy="182880"/>
          </a:xfrm>
          <a:prstGeom prst="rect">
            <a:avLst/>
          </a:prstGeom>
        </p:spPr>
      </p:pic>
      <p:sp>
        <p:nvSpPr>
          <p:cNvPr id="28" name="Text 24"/>
          <p:cNvSpPr/>
          <p:nvPr/>
        </p:nvSpPr>
        <p:spPr>
          <a:xfrm>
            <a:off x="5045354" y="305409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One company, many contacts</a:t>
            </a:r>
            <a:endParaRPr lang="en-US" sz="1350" dirty="0"/>
          </a:p>
        </p:txBody>
      </p:sp>
      <p:sp>
        <p:nvSpPr>
          <p:cNvPr id="29" name="Text 25"/>
          <p:cNvSpPr/>
          <p:nvPr/>
        </p:nvSpPr>
        <p:spPr>
          <a:xfrm>
            <a:off x="4551578" y="3465576"/>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company can hold unlimited HR contacts. Search results show one row per contact, because coordinators call people, not companies.</a:t>
            </a:r>
            <a:endParaRPr lang="en-US" sz="1050" dirty="0"/>
          </a:p>
        </p:txBody>
      </p:sp>
      <p:sp>
        <p:nvSpPr>
          <p:cNvPr id="30" name="Shape 26"/>
          <p:cNvSpPr/>
          <p:nvPr/>
        </p:nvSpPr>
        <p:spPr>
          <a:xfrm>
            <a:off x="8097317" y="2834640"/>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1" name="Shape 27"/>
          <p:cNvSpPr/>
          <p:nvPr/>
        </p:nvSpPr>
        <p:spPr>
          <a:xfrm>
            <a:off x="8316773" y="3054096"/>
            <a:ext cx="365760" cy="365760"/>
          </a:xfrm>
          <a:prstGeom prst="ellipse">
            <a:avLst/>
          </a:prstGeom>
          <a:solidFill>
            <a:srgbClr val="00ACC1"/>
          </a:solidFill>
          <a:ln w="12700">
            <a:solidFill>
              <a:srgbClr val="00ACC1"/>
            </a:solidFill>
            <a:prstDash val="solid"/>
          </a:ln>
        </p:spPr>
      </p:sp>
      <p:pic>
        <p:nvPicPr>
          <p:cNvPr id="32" name="Image 2" descr="preencoded.png"/>
          <p:cNvPicPr>
            <a:picLocks noChangeAspect="1"/>
          </p:cNvPicPr>
          <p:nvPr/>
        </p:nvPicPr>
        <p:blipFill>
          <a:blip r:embed="rId5"/>
          <a:stretch>
            <a:fillRect/>
          </a:stretch>
        </p:blipFill>
        <p:spPr>
          <a:xfrm>
            <a:off x="8408213" y="3145536"/>
            <a:ext cx="182880" cy="182880"/>
          </a:xfrm>
          <a:prstGeom prst="rect">
            <a:avLst/>
          </a:prstGeom>
        </p:spPr>
      </p:pic>
      <p:sp>
        <p:nvSpPr>
          <p:cNvPr id="33" name="Text 28"/>
          <p:cNvSpPr/>
          <p:nvPr/>
        </p:nvSpPr>
        <p:spPr>
          <a:xfrm>
            <a:off x="8810549" y="305409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Five fields, nothing more</a:t>
            </a:r>
            <a:endParaRPr lang="en-US" sz="1350" dirty="0"/>
          </a:p>
        </p:txBody>
      </p:sp>
      <p:sp>
        <p:nvSpPr>
          <p:cNvPr id="34" name="Text 29"/>
          <p:cNvSpPr/>
          <p:nvPr/>
        </p:nvSpPr>
        <p:spPr>
          <a:xfrm>
            <a:off x="8316773" y="3465576"/>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Company Name · HR Name · HR Mobile · HR Email · Company Type. This is an operational database, not a CRM.</a:t>
            </a:r>
            <a:endParaRPr lang="en-US" sz="1050" dirty="0"/>
          </a:p>
        </p:txBody>
      </p:sp>
      <p:sp>
        <p:nvSpPr>
          <p:cNvPr id="35" name="Text 30"/>
          <p:cNvSpPr/>
          <p:nvPr/>
        </p:nvSpPr>
        <p:spPr>
          <a:xfrm>
            <a:off x="566928" y="45720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COMPANY TYPE — A CONTROLLED LIST IN V1</a:t>
            </a:r>
            <a:endParaRPr lang="en-US" sz="950" dirty="0"/>
          </a:p>
        </p:txBody>
      </p:sp>
      <p:sp>
        <p:nvSpPr>
          <p:cNvPr id="36" name="Shape 31"/>
          <p:cNvSpPr/>
          <p:nvPr/>
        </p:nvSpPr>
        <p:spPr>
          <a:xfrm>
            <a:off x="566928" y="4846320"/>
            <a:ext cx="1736293" cy="438912"/>
          </a:xfrm>
          <a:prstGeom prst="roundRect">
            <a:avLst>
              <a:gd name="adj" fmla="val 104167"/>
            </a:avLst>
          </a:prstGeom>
          <a:solidFill>
            <a:srgbClr val="F4F7FA"/>
          </a:solidFill>
          <a:ln w="9525">
            <a:solidFill>
              <a:srgbClr val="E1E8F0"/>
            </a:solidFill>
            <a:prstDash val="solid"/>
          </a:ln>
        </p:spPr>
      </p:sp>
      <p:sp>
        <p:nvSpPr>
          <p:cNvPr id="37" name="Text 32"/>
          <p:cNvSpPr/>
          <p:nvPr/>
        </p:nvSpPr>
        <p:spPr>
          <a:xfrm>
            <a:off x="640080"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Software</a:t>
            </a:r>
            <a:endParaRPr lang="en-US" sz="1100" dirty="0"/>
          </a:p>
        </p:txBody>
      </p:sp>
      <p:sp>
        <p:nvSpPr>
          <p:cNvPr id="38" name="Shape 33"/>
          <p:cNvSpPr/>
          <p:nvPr/>
        </p:nvSpPr>
        <p:spPr>
          <a:xfrm>
            <a:off x="2431237" y="4846320"/>
            <a:ext cx="1736293" cy="438912"/>
          </a:xfrm>
          <a:prstGeom prst="roundRect">
            <a:avLst>
              <a:gd name="adj" fmla="val 104167"/>
            </a:avLst>
          </a:prstGeom>
          <a:solidFill>
            <a:srgbClr val="F4F7FA"/>
          </a:solidFill>
          <a:ln w="9525">
            <a:solidFill>
              <a:srgbClr val="E1E8F0"/>
            </a:solidFill>
            <a:prstDash val="solid"/>
          </a:ln>
        </p:spPr>
      </p:sp>
      <p:sp>
        <p:nvSpPr>
          <p:cNvPr id="39" name="Text 34"/>
          <p:cNvSpPr/>
          <p:nvPr/>
        </p:nvSpPr>
        <p:spPr>
          <a:xfrm>
            <a:off x="2504389"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AI</a:t>
            </a:r>
            <a:endParaRPr lang="en-US" sz="1100" dirty="0"/>
          </a:p>
        </p:txBody>
      </p:sp>
      <p:sp>
        <p:nvSpPr>
          <p:cNvPr id="40" name="Shape 35"/>
          <p:cNvSpPr/>
          <p:nvPr/>
        </p:nvSpPr>
        <p:spPr>
          <a:xfrm>
            <a:off x="4295546" y="4846320"/>
            <a:ext cx="1736293" cy="438912"/>
          </a:xfrm>
          <a:prstGeom prst="roundRect">
            <a:avLst>
              <a:gd name="adj" fmla="val 104167"/>
            </a:avLst>
          </a:prstGeom>
          <a:solidFill>
            <a:srgbClr val="F4F7FA"/>
          </a:solidFill>
          <a:ln w="9525">
            <a:solidFill>
              <a:srgbClr val="E1E8F0"/>
            </a:solidFill>
            <a:prstDash val="solid"/>
          </a:ln>
        </p:spPr>
      </p:sp>
      <p:sp>
        <p:nvSpPr>
          <p:cNvPr id="41" name="Text 36"/>
          <p:cNvSpPr/>
          <p:nvPr/>
        </p:nvSpPr>
        <p:spPr>
          <a:xfrm>
            <a:off x="4368698"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BPO</a:t>
            </a:r>
            <a:endParaRPr lang="en-US" sz="1100" dirty="0"/>
          </a:p>
        </p:txBody>
      </p:sp>
      <p:sp>
        <p:nvSpPr>
          <p:cNvPr id="42" name="Shape 37"/>
          <p:cNvSpPr/>
          <p:nvPr/>
        </p:nvSpPr>
        <p:spPr>
          <a:xfrm>
            <a:off x="6159856" y="4846320"/>
            <a:ext cx="1736293" cy="438912"/>
          </a:xfrm>
          <a:prstGeom prst="roundRect">
            <a:avLst>
              <a:gd name="adj" fmla="val 104167"/>
            </a:avLst>
          </a:prstGeom>
          <a:solidFill>
            <a:srgbClr val="F4F7FA"/>
          </a:solidFill>
          <a:ln w="9525">
            <a:solidFill>
              <a:srgbClr val="E1E8F0"/>
            </a:solidFill>
            <a:prstDash val="solid"/>
          </a:ln>
        </p:spPr>
      </p:sp>
      <p:sp>
        <p:nvSpPr>
          <p:cNvPr id="43" name="Text 38"/>
          <p:cNvSpPr/>
          <p:nvPr/>
        </p:nvSpPr>
        <p:spPr>
          <a:xfrm>
            <a:off x="6233008"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Banking</a:t>
            </a:r>
            <a:endParaRPr lang="en-US" sz="1100" dirty="0"/>
          </a:p>
        </p:txBody>
      </p:sp>
      <p:sp>
        <p:nvSpPr>
          <p:cNvPr id="44" name="Shape 39"/>
          <p:cNvSpPr/>
          <p:nvPr/>
        </p:nvSpPr>
        <p:spPr>
          <a:xfrm>
            <a:off x="8024165" y="4846320"/>
            <a:ext cx="1736293" cy="438912"/>
          </a:xfrm>
          <a:prstGeom prst="roundRect">
            <a:avLst>
              <a:gd name="adj" fmla="val 104167"/>
            </a:avLst>
          </a:prstGeom>
          <a:solidFill>
            <a:srgbClr val="F4F7FA"/>
          </a:solidFill>
          <a:ln w="9525">
            <a:solidFill>
              <a:srgbClr val="E1E8F0"/>
            </a:solidFill>
            <a:prstDash val="solid"/>
          </a:ln>
        </p:spPr>
      </p:sp>
      <p:sp>
        <p:nvSpPr>
          <p:cNvPr id="45" name="Text 40"/>
          <p:cNvSpPr/>
          <p:nvPr/>
        </p:nvSpPr>
        <p:spPr>
          <a:xfrm>
            <a:off x="8097317"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Education</a:t>
            </a:r>
            <a:endParaRPr lang="en-US" sz="1100" dirty="0"/>
          </a:p>
        </p:txBody>
      </p:sp>
      <p:sp>
        <p:nvSpPr>
          <p:cNvPr id="46" name="Shape 41"/>
          <p:cNvSpPr/>
          <p:nvPr/>
        </p:nvSpPr>
        <p:spPr>
          <a:xfrm>
            <a:off x="9888474" y="4846320"/>
            <a:ext cx="1736293" cy="438912"/>
          </a:xfrm>
          <a:prstGeom prst="roundRect">
            <a:avLst>
              <a:gd name="adj" fmla="val 104167"/>
            </a:avLst>
          </a:prstGeom>
          <a:solidFill>
            <a:srgbClr val="F4F7FA"/>
          </a:solidFill>
          <a:ln w="9525">
            <a:solidFill>
              <a:srgbClr val="E1E8F0"/>
            </a:solidFill>
            <a:prstDash val="solid"/>
          </a:ln>
        </p:spPr>
      </p:sp>
      <p:sp>
        <p:nvSpPr>
          <p:cNvPr id="47" name="Text 42"/>
          <p:cNvSpPr/>
          <p:nvPr/>
        </p:nvSpPr>
        <p:spPr>
          <a:xfrm>
            <a:off x="9961626"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Finance</a:t>
            </a:r>
            <a:endParaRPr lang="en-US" sz="1100" dirty="0"/>
          </a:p>
        </p:txBody>
      </p:sp>
      <p:pic>
        <p:nvPicPr>
          <p:cNvPr id="48" name="Picture 47">
            <a:extLst>
              <a:ext uri="{FF2B5EF4-FFF2-40B4-BE49-F238E27FC236}">
                <a16:creationId xmlns:a16="http://schemas.microsoft.com/office/drawing/2014/main" id="{61549587-9EB9-54AE-431C-0E862FB4D8E9}"/>
              </a:ext>
            </a:extLst>
          </p:cNvPr>
          <p:cNvPicPr>
            <a:picLocks noChangeAspect="1"/>
          </p:cNvPicPr>
          <p:nvPr/>
        </p:nvPicPr>
        <p:blipFill>
          <a:blip r:embed="rId6"/>
          <a:stretch>
            <a:fillRect/>
          </a:stretch>
        </p:blipFill>
        <p:spPr>
          <a:xfrm>
            <a:off x="10505338" y="166891"/>
            <a:ext cx="1544421" cy="37260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02 — MASTER COMPANY DATABASE</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How 7,000 records stay clean</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19</a:t>
            </a:r>
            <a:endParaRPr lang="en-US" sz="950" dirty="0"/>
          </a:p>
        </p:txBody>
      </p:sp>
      <p:sp>
        <p:nvSpPr>
          <p:cNvPr id="8" name="Shape 6"/>
          <p:cNvSpPr/>
          <p:nvPr/>
        </p:nvSpPr>
        <p:spPr>
          <a:xfrm>
            <a:off x="566928" y="1417320"/>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636776"/>
            <a:ext cx="365760" cy="365760"/>
          </a:xfrm>
          <a:prstGeom prst="ellipse">
            <a:avLst/>
          </a:prstGeom>
          <a:solidFill>
            <a:srgbClr val="175496"/>
          </a:solidFill>
          <a:ln w="12700">
            <a:solidFill>
              <a:srgbClr val="175496"/>
            </a:solidFill>
            <a:prstDash val="solid"/>
          </a:ln>
        </p:spPr>
      </p:sp>
      <p:pic>
        <p:nvPicPr>
          <p:cNvPr id="10" name="Image 0" descr="preencoded.png"/>
          <p:cNvPicPr>
            <a:picLocks noChangeAspect="1"/>
          </p:cNvPicPr>
          <p:nvPr/>
        </p:nvPicPr>
        <p:blipFill>
          <a:blip r:embed="rId3"/>
          <a:stretch>
            <a:fillRect/>
          </a:stretch>
        </p:blipFill>
        <p:spPr>
          <a:xfrm>
            <a:off x="877824" y="1728216"/>
            <a:ext cx="182880" cy="182880"/>
          </a:xfrm>
          <a:prstGeom prst="rect">
            <a:avLst/>
          </a:prstGeom>
        </p:spPr>
      </p:pic>
      <p:sp>
        <p:nvSpPr>
          <p:cNvPr id="11" name="Text 8"/>
          <p:cNvSpPr/>
          <p:nvPr/>
        </p:nvSpPr>
        <p:spPr>
          <a:xfrm>
            <a:off x="1280160" y="163677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Search that predicts</a:t>
            </a:r>
            <a:endParaRPr lang="en-US" sz="1350" dirty="0"/>
          </a:p>
        </p:txBody>
      </p:sp>
      <p:sp>
        <p:nvSpPr>
          <p:cNvPr id="12" name="Text 9"/>
          <p:cNvSpPr/>
          <p:nvPr/>
        </p:nvSpPr>
        <p:spPr>
          <a:xfrm>
            <a:off x="786384" y="2048256"/>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Type “ACC” and get Accenture, ACC Limited, Accops. Type “9840” and get every matching mobile number.</a:t>
            </a:r>
            <a:endParaRPr lang="en-US" sz="1050" dirty="0"/>
          </a:p>
        </p:txBody>
      </p:sp>
      <p:sp>
        <p:nvSpPr>
          <p:cNvPr id="13" name="Shape 10"/>
          <p:cNvSpPr/>
          <p:nvPr/>
        </p:nvSpPr>
        <p:spPr>
          <a:xfrm>
            <a:off x="4332122" y="1417320"/>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4551578" y="1636776"/>
            <a:ext cx="365760" cy="365760"/>
          </a:xfrm>
          <a:prstGeom prst="ellipse">
            <a:avLst/>
          </a:prstGeom>
          <a:solidFill>
            <a:srgbClr val="F59E0B"/>
          </a:solidFill>
          <a:ln w="12700">
            <a:solidFill>
              <a:srgbClr val="F59E0B"/>
            </a:solidFill>
            <a:prstDash val="solid"/>
          </a:ln>
        </p:spPr>
      </p:sp>
      <p:pic>
        <p:nvPicPr>
          <p:cNvPr id="15" name="Image 1" descr="preencoded.png"/>
          <p:cNvPicPr>
            <a:picLocks noChangeAspect="1"/>
          </p:cNvPicPr>
          <p:nvPr/>
        </p:nvPicPr>
        <p:blipFill>
          <a:blip r:embed="rId4"/>
          <a:stretch>
            <a:fillRect/>
          </a:stretch>
        </p:blipFill>
        <p:spPr>
          <a:xfrm>
            <a:off x="4643018" y="1728216"/>
            <a:ext cx="182880" cy="182880"/>
          </a:xfrm>
          <a:prstGeom prst="rect">
            <a:avLst/>
          </a:prstGeom>
        </p:spPr>
      </p:pic>
      <p:sp>
        <p:nvSpPr>
          <p:cNvPr id="16" name="Text 12"/>
          <p:cNvSpPr/>
          <p:nvPr/>
        </p:nvSpPr>
        <p:spPr>
          <a:xfrm>
            <a:off x="5045354" y="163677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Duplicate detection that explains</a:t>
            </a:r>
            <a:endParaRPr lang="en-US" sz="1350" dirty="0"/>
          </a:p>
        </p:txBody>
      </p:sp>
      <p:sp>
        <p:nvSpPr>
          <p:cNvPr id="17" name="Text 13"/>
          <p:cNvSpPr/>
          <p:nvPr/>
        </p:nvSpPr>
        <p:spPr>
          <a:xfrm>
            <a:off x="4551578" y="2048256"/>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It says why the record is a duplicate and shows the existing row, then offers View Existing, Continue Save or Cancel.</a:t>
            </a:r>
            <a:endParaRPr lang="en-US" sz="1050" dirty="0"/>
          </a:p>
        </p:txBody>
      </p:sp>
      <p:sp>
        <p:nvSpPr>
          <p:cNvPr id="18" name="Shape 14"/>
          <p:cNvSpPr/>
          <p:nvPr/>
        </p:nvSpPr>
        <p:spPr>
          <a:xfrm>
            <a:off x="8097317" y="1417320"/>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9" name="Shape 15"/>
          <p:cNvSpPr/>
          <p:nvPr/>
        </p:nvSpPr>
        <p:spPr>
          <a:xfrm>
            <a:off x="8316773" y="1636776"/>
            <a:ext cx="365760" cy="365760"/>
          </a:xfrm>
          <a:prstGeom prst="ellipse">
            <a:avLst/>
          </a:prstGeom>
          <a:solidFill>
            <a:srgbClr val="0B2E59"/>
          </a:solidFill>
          <a:ln w="12700">
            <a:solidFill>
              <a:srgbClr val="0B2E59"/>
            </a:solidFill>
            <a:prstDash val="solid"/>
          </a:ln>
        </p:spPr>
      </p:sp>
      <p:pic>
        <p:nvPicPr>
          <p:cNvPr id="20" name="Image 2" descr="preencoded.png"/>
          <p:cNvPicPr>
            <a:picLocks noChangeAspect="1"/>
          </p:cNvPicPr>
          <p:nvPr/>
        </p:nvPicPr>
        <p:blipFill>
          <a:blip r:embed="rId5"/>
          <a:stretch>
            <a:fillRect/>
          </a:stretch>
        </p:blipFill>
        <p:spPr>
          <a:xfrm>
            <a:off x="8408213" y="1728216"/>
            <a:ext cx="182880" cy="182880"/>
          </a:xfrm>
          <a:prstGeom prst="rect">
            <a:avLst/>
          </a:prstGeom>
        </p:spPr>
      </p:pic>
      <p:sp>
        <p:nvSpPr>
          <p:cNvPr id="21" name="Text 16"/>
          <p:cNvSpPr/>
          <p:nvPr/>
        </p:nvSpPr>
        <p:spPr>
          <a:xfrm>
            <a:off x="8810549" y="163677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Edit in a popup, not inline</a:t>
            </a:r>
            <a:endParaRPr lang="en-US" sz="1350" dirty="0"/>
          </a:p>
        </p:txBody>
      </p:sp>
      <p:sp>
        <p:nvSpPr>
          <p:cNvPr id="22" name="Text 17"/>
          <p:cNvSpPr/>
          <p:nvPr/>
        </p:nvSpPr>
        <p:spPr>
          <a:xfrm>
            <a:off x="8316773" y="2048256"/>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Chosen for better validation, a cleaner grid and fewer mistakes — and it runs a duplicate check before anything saves.</a:t>
            </a:r>
            <a:endParaRPr lang="en-US" sz="1050" dirty="0"/>
          </a:p>
        </p:txBody>
      </p:sp>
      <p:sp>
        <p:nvSpPr>
          <p:cNvPr id="23" name="Shape 18"/>
          <p:cNvSpPr/>
          <p:nvPr/>
        </p:nvSpPr>
        <p:spPr>
          <a:xfrm>
            <a:off x="566928" y="3387852"/>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4" name="Shape 19"/>
          <p:cNvSpPr/>
          <p:nvPr/>
        </p:nvSpPr>
        <p:spPr>
          <a:xfrm>
            <a:off x="786384" y="3607308"/>
            <a:ext cx="365760" cy="365760"/>
          </a:xfrm>
          <a:prstGeom prst="ellipse">
            <a:avLst/>
          </a:prstGeom>
          <a:solidFill>
            <a:srgbClr val="C62828"/>
          </a:solidFill>
          <a:ln w="12700">
            <a:solidFill>
              <a:srgbClr val="C62828"/>
            </a:solidFill>
            <a:prstDash val="solid"/>
          </a:ln>
        </p:spPr>
      </p:sp>
      <p:pic>
        <p:nvPicPr>
          <p:cNvPr id="25" name="Image 3" descr="preencoded.png"/>
          <p:cNvPicPr>
            <a:picLocks noChangeAspect="1"/>
          </p:cNvPicPr>
          <p:nvPr/>
        </p:nvPicPr>
        <p:blipFill>
          <a:blip r:embed="rId6"/>
          <a:stretch>
            <a:fillRect/>
          </a:stretch>
        </p:blipFill>
        <p:spPr>
          <a:xfrm>
            <a:off x="877824" y="3698748"/>
            <a:ext cx="182880" cy="182880"/>
          </a:xfrm>
          <a:prstGeom prst="rect">
            <a:avLst/>
          </a:prstGeom>
        </p:spPr>
      </p:pic>
      <p:sp>
        <p:nvSpPr>
          <p:cNvPr id="26" name="Text 20"/>
          <p:cNvSpPr/>
          <p:nvPr/>
        </p:nvSpPr>
        <p:spPr>
          <a:xfrm>
            <a:off x="1280160" y="360730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Recycle Bin, never delete</a:t>
            </a:r>
            <a:endParaRPr lang="en-US" sz="1350" dirty="0"/>
          </a:p>
        </p:txBody>
      </p:sp>
      <p:sp>
        <p:nvSpPr>
          <p:cNvPr id="27" name="Text 21"/>
          <p:cNvSpPr/>
          <p:nvPr/>
        </p:nvSpPr>
        <p:spPr>
          <a:xfrm>
            <a:off x="786384" y="4018788"/>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Deleted records move to a bin. Only a Team Leader or Administrator restores them, and the Team Leader is emailed.</a:t>
            </a:r>
            <a:endParaRPr lang="en-US" sz="1050" dirty="0"/>
          </a:p>
        </p:txBody>
      </p:sp>
      <p:sp>
        <p:nvSpPr>
          <p:cNvPr id="28" name="Shape 22"/>
          <p:cNvSpPr/>
          <p:nvPr/>
        </p:nvSpPr>
        <p:spPr>
          <a:xfrm>
            <a:off x="4332122" y="3387852"/>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9" name="Shape 23"/>
          <p:cNvSpPr/>
          <p:nvPr/>
        </p:nvSpPr>
        <p:spPr>
          <a:xfrm>
            <a:off x="4551578" y="3607308"/>
            <a:ext cx="365760" cy="365760"/>
          </a:xfrm>
          <a:prstGeom prst="ellipse">
            <a:avLst/>
          </a:prstGeom>
          <a:solidFill>
            <a:srgbClr val="00ACC1"/>
          </a:solidFill>
          <a:ln w="12700">
            <a:solidFill>
              <a:srgbClr val="00ACC1"/>
            </a:solidFill>
            <a:prstDash val="solid"/>
          </a:ln>
        </p:spPr>
      </p:sp>
      <p:pic>
        <p:nvPicPr>
          <p:cNvPr id="30" name="Image 4" descr="preencoded.png"/>
          <p:cNvPicPr>
            <a:picLocks noChangeAspect="1"/>
          </p:cNvPicPr>
          <p:nvPr/>
        </p:nvPicPr>
        <p:blipFill>
          <a:blip r:embed="rId7"/>
          <a:stretch>
            <a:fillRect/>
          </a:stretch>
        </p:blipFill>
        <p:spPr>
          <a:xfrm>
            <a:off x="4643018" y="3698748"/>
            <a:ext cx="182880" cy="182880"/>
          </a:xfrm>
          <a:prstGeom prst="rect">
            <a:avLst/>
          </a:prstGeom>
        </p:spPr>
      </p:pic>
      <p:sp>
        <p:nvSpPr>
          <p:cNvPr id="31" name="Text 24"/>
          <p:cNvSpPr/>
          <p:nvPr/>
        </p:nvSpPr>
        <p:spPr>
          <a:xfrm>
            <a:off x="5045354" y="360730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Bulk paste from Excel</a:t>
            </a:r>
            <a:endParaRPr lang="en-US" sz="1350" dirty="0"/>
          </a:p>
        </p:txBody>
      </p:sp>
      <p:sp>
        <p:nvSpPr>
          <p:cNvPr id="32" name="Text 25"/>
          <p:cNvSpPr/>
          <p:nvPr/>
        </p:nvSpPr>
        <p:spPr>
          <a:xfrm>
            <a:off x="4551578" y="4018788"/>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Paste rows straight into a popup. Valid rows are added, duplicates flagged, and every error reported back to you.</a:t>
            </a:r>
            <a:endParaRPr lang="en-US" sz="1050" dirty="0"/>
          </a:p>
        </p:txBody>
      </p:sp>
      <p:sp>
        <p:nvSpPr>
          <p:cNvPr id="33" name="Shape 26"/>
          <p:cNvSpPr/>
          <p:nvPr/>
        </p:nvSpPr>
        <p:spPr>
          <a:xfrm>
            <a:off x="8097317" y="3387852"/>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4" name="Shape 27"/>
          <p:cNvSpPr/>
          <p:nvPr/>
        </p:nvSpPr>
        <p:spPr>
          <a:xfrm>
            <a:off x="8316773" y="3607308"/>
            <a:ext cx="365760" cy="365760"/>
          </a:xfrm>
          <a:prstGeom prst="ellipse">
            <a:avLst/>
          </a:prstGeom>
          <a:solidFill>
            <a:srgbClr val="2E7D32"/>
          </a:solidFill>
          <a:ln w="12700">
            <a:solidFill>
              <a:srgbClr val="2E7D32"/>
            </a:solidFill>
            <a:prstDash val="solid"/>
          </a:ln>
        </p:spPr>
      </p:sp>
      <p:pic>
        <p:nvPicPr>
          <p:cNvPr id="35" name="Image 5" descr="preencoded.png"/>
          <p:cNvPicPr>
            <a:picLocks noChangeAspect="1"/>
          </p:cNvPicPr>
          <p:nvPr/>
        </p:nvPicPr>
        <p:blipFill>
          <a:blip r:embed="rId8"/>
          <a:stretch>
            <a:fillRect/>
          </a:stretch>
        </p:blipFill>
        <p:spPr>
          <a:xfrm>
            <a:off x="8408213" y="3698748"/>
            <a:ext cx="182880" cy="182880"/>
          </a:xfrm>
          <a:prstGeom prst="rect">
            <a:avLst/>
          </a:prstGeom>
        </p:spPr>
      </p:pic>
      <p:sp>
        <p:nvSpPr>
          <p:cNvPr id="36" name="Text 28"/>
          <p:cNvSpPr/>
          <p:nvPr/>
        </p:nvSpPr>
        <p:spPr>
          <a:xfrm>
            <a:off x="8810549" y="360730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Presence and audit trail</a:t>
            </a:r>
            <a:endParaRPr lang="en-US" sz="1350" dirty="0"/>
          </a:p>
        </p:txBody>
      </p:sp>
      <p:sp>
        <p:nvSpPr>
          <p:cNvPr id="37" name="Text 29"/>
          <p:cNvSpPr/>
          <p:nvPr/>
        </p:nvSpPr>
        <p:spPr>
          <a:xfrm>
            <a:off x="8316773" y="4018788"/>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Live Viewing and Editing indicators, plus Created By / On and Last Updated By / On stamped on every record.</a:t>
            </a:r>
            <a:endParaRPr lang="en-US" sz="1050" dirty="0"/>
          </a:p>
        </p:txBody>
      </p:sp>
      <p:sp>
        <p:nvSpPr>
          <p:cNvPr id="38" name="Shape 30"/>
          <p:cNvSpPr/>
          <p:nvPr/>
        </p:nvSpPr>
        <p:spPr>
          <a:xfrm>
            <a:off x="566928" y="5285232"/>
            <a:ext cx="11057839" cy="777240"/>
          </a:xfrm>
          <a:prstGeom prst="roundRect">
            <a:avLst>
              <a:gd name="adj" fmla="val 1176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39" name="Text 31"/>
          <p:cNvSpPr/>
          <p:nvPr/>
        </p:nvSpPr>
        <p:spPr>
          <a:xfrm>
            <a:off x="786384" y="5504688"/>
            <a:ext cx="10618927" cy="38404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When two people open the same record, iPOMS says so: “This record was updated by Radha at 10:42 AM.”  No silent overwrites.</a:t>
            </a:r>
            <a:endParaRPr lang="en-US" sz="1150" dirty="0"/>
          </a:p>
        </p:txBody>
      </p:sp>
      <p:pic>
        <p:nvPicPr>
          <p:cNvPr id="40" name="Picture 39">
            <a:extLst>
              <a:ext uri="{FF2B5EF4-FFF2-40B4-BE49-F238E27FC236}">
                <a16:creationId xmlns:a16="http://schemas.microsoft.com/office/drawing/2014/main" id="{6A003458-F826-8BC5-53C3-9461A46AFCD5}"/>
              </a:ext>
            </a:extLst>
          </p:cNvPr>
          <p:cNvPicPr>
            <a:picLocks noChangeAspect="1"/>
          </p:cNvPicPr>
          <p:nvPr/>
        </p:nvPicPr>
        <p:blipFill>
          <a:blip r:embed="rId9"/>
          <a:stretch>
            <a:fillRect/>
          </a:stretch>
        </p:blipFill>
        <p:spPr>
          <a:xfrm>
            <a:off x="10505338" y="166891"/>
            <a:ext cx="1544421" cy="37260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03 — DAILY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coordinator's daily workspace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20</a:t>
            </a:r>
            <a:endParaRPr lang="en-US" sz="950" dirty="0"/>
          </a:p>
        </p:txBody>
      </p:sp>
      <p:sp>
        <p:nvSpPr>
          <p:cNvPr id="8" name="Shape 6"/>
          <p:cNvSpPr/>
          <p:nvPr/>
        </p:nvSpPr>
        <p:spPr>
          <a:xfrm>
            <a:off x="566928" y="1371600"/>
            <a:ext cx="5410048" cy="1280160"/>
          </a:xfrm>
          <a:prstGeom prst="roundRect">
            <a:avLst>
              <a:gd name="adj" fmla="val 7143"/>
            </a:avLst>
          </a:prstGeom>
          <a:solidFill>
            <a:srgbClr val="FDF1F1"/>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591056"/>
            <a:ext cx="365760" cy="365760"/>
          </a:xfrm>
          <a:prstGeom prst="ellipse">
            <a:avLst/>
          </a:prstGeom>
          <a:solidFill>
            <a:srgbClr val="C62828"/>
          </a:solidFill>
          <a:ln w="12700">
            <a:solidFill>
              <a:srgbClr val="C62828"/>
            </a:solidFill>
            <a:prstDash val="solid"/>
          </a:ln>
        </p:spPr>
      </p:sp>
      <p:pic>
        <p:nvPicPr>
          <p:cNvPr id="10" name="Image 0" descr="preencoded.png"/>
          <p:cNvPicPr>
            <a:picLocks noChangeAspect="1"/>
          </p:cNvPicPr>
          <p:nvPr/>
        </p:nvPicPr>
        <p:blipFill>
          <a:blip r:embed="rId3"/>
          <a:stretch>
            <a:fillRect/>
          </a:stretch>
        </p:blipFill>
        <p:spPr>
          <a:xfrm>
            <a:off x="877824" y="1682496"/>
            <a:ext cx="182880" cy="182880"/>
          </a:xfrm>
          <a:prstGeom prst="rect">
            <a:avLst/>
          </a:prstGeom>
        </p:spPr>
      </p:pic>
      <p:sp>
        <p:nvSpPr>
          <p:cNvPr id="11" name="Text 8"/>
          <p:cNvSpPr/>
          <p:nvPr/>
        </p:nvSpPr>
        <p:spPr>
          <a:xfrm>
            <a:off x="1280160" y="159105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Before — the morning ritual</a:t>
            </a:r>
            <a:endParaRPr lang="en-US" sz="1350" dirty="0"/>
          </a:p>
        </p:txBody>
      </p:sp>
      <p:sp>
        <p:nvSpPr>
          <p:cNvPr id="12" name="Text 9"/>
          <p:cNvSpPr/>
          <p:nvPr/>
        </p:nvSpPr>
        <p:spPr>
          <a:xfrm>
            <a:off x="786384" y="2002536"/>
            <a:ext cx="4971136"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Copy 30 to 70 contacts out of the master sheet, paste them into today's tracker, then start calling.</a:t>
            </a:r>
            <a:endParaRPr lang="en-US" sz="1050" dirty="0"/>
          </a:p>
        </p:txBody>
      </p:sp>
      <p:sp>
        <p:nvSpPr>
          <p:cNvPr id="13" name="Shape 10"/>
          <p:cNvSpPr/>
          <p:nvPr/>
        </p:nvSpPr>
        <p:spPr>
          <a:xfrm>
            <a:off x="6214720" y="1371600"/>
            <a:ext cx="5410048" cy="1280160"/>
          </a:xfrm>
          <a:prstGeom prst="roundRect">
            <a:avLst>
              <a:gd name="adj" fmla="val 7143"/>
            </a:avLst>
          </a:prstGeom>
          <a:solidFill>
            <a:srgbClr val="F0F8F1"/>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6434176" y="1591056"/>
            <a:ext cx="365760" cy="365760"/>
          </a:xfrm>
          <a:prstGeom prst="ellipse">
            <a:avLst/>
          </a:prstGeom>
          <a:solidFill>
            <a:srgbClr val="2E7D32"/>
          </a:solidFill>
          <a:ln w="12700">
            <a:solidFill>
              <a:srgbClr val="2E7D32"/>
            </a:solidFill>
            <a:prstDash val="solid"/>
          </a:ln>
        </p:spPr>
      </p:sp>
      <p:pic>
        <p:nvPicPr>
          <p:cNvPr id="15" name="Image 1" descr="preencoded.png"/>
          <p:cNvPicPr>
            <a:picLocks noChangeAspect="1"/>
          </p:cNvPicPr>
          <p:nvPr/>
        </p:nvPicPr>
        <p:blipFill>
          <a:blip r:embed="rId4"/>
          <a:stretch>
            <a:fillRect/>
          </a:stretch>
        </p:blipFill>
        <p:spPr>
          <a:xfrm>
            <a:off x="6525616" y="1682496"/>
            <a:ext cx="182880" cy="182880"/>
          </a:xfrm>
          <a:prstGeom prst="rect">
            <a:avLst/>
          </a:prstGeom>
        </p:spPr>
      </p:pic>
      <p:sp>
        <p:nvSpPr>
          <p:cNvPr id="16" name="Text 12"/>
          <p:cNvSpPr/>
          <p:nvPr/>
        </p:nvSpPr>
        <p:spPr>
          <a:xfrm>
            <a:off x="6927952" y="159105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After — one button</a:t>
            </a:r>
            <a:endParaRPr lang="en-US" sz="1350" dirty="0"/>
          </a:p>
        </p:txBody>
      </p:sp>
      <p:sp>
        <p:nvSpPr>
          <p:cNvPr id="17" name="Text 13"/>
          <p:cNvSpPr/>
          <p:nvPr/>
        </p:nvSpPr>
        <p:spPr>
          <a:xfrm>
            <a:off x="6434176" y="2002536"/>
            <a:ext cx="4971136"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“Load Today's Contacts” pulls the day's list from the Master Company Database. The copy-paste disappears.</a:t>
            </a:r>
            <a:endParaRPr lang="en-US" sz="1050" dirty="0"/>
          </a:p>
        </p:txBody>
      </p:sp>
      <p:sp>
        <p:nvSpPr>
          <p:cNvPr id="18" name="Text 14"/>
          <p:cNvSpPr/>
          <p:nvPr/>
        </p:nvSpPr>
        <p:spPr>
          <a:xfrm>
            <a:off x="566928" y="279806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GRID — TEN COLUMNS</a:t>
            </a:r>
            <a:endParaRPr lang="en-US" sz="950" dirty="0"/>
          </a:p>
        </p:txBody>
      </p:sp>
      <p:sp>
        <p:nvSpPr>
          <p:cNvPr id="19" name="Shape 15"/>
          <p:cNvSpPr/>
          <p:nvPr/>
        </p:nvSpPr>
        <p:spPr>
          <a:xfrm>
            <a:off x="566928" y="3054096"/>
            <a:ext cx="2109155" cy="365760"/>
          </a:xfrm>
          <a:prstGeom prst="roundRect">
            <a:avLst>
              <a:gd name="adj" fmla="val 125000"/>
            </a:avLst>
          </a:prstGeom>
          <a:solidFill>
            <a:srgbClr val="F4F7FA"/>
          </a:solidFill>
          <a:ln w="9525">
            <a:solidFill>
              <a:srgbClr val="E1E8F0"/>
            </a:solidFill>
            <a:prstDash val="solid"/>
          </a:ln>
        </p:spPr>
      </p:sp>
      <p:sp>
        <p:nvSpPr>
          <p:cNvPr id="20" name="Text 16"/>
          <p:cNvSpPr/>
          <p:nvPr/>
        </p:nvSpPr>
        <p:spPr>
          <a:xfrm>
            <a:off x="640080"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S.No</a:t>
            </a:r>
            <a:endParaRPr lang="en-US" sz="1000" dirty="0"/>
          </a:p>
        </p:txBody>
      </p:sp>
      <p:sp>
        <p:nvSpPr>
          <p:cNvPr id="21" name="Shape 17"/>
          <p:cNvSpPr/>
          <p:nvPr/>
        </p:nvSpPr>
        <p:spPr>
          <a:xfrm>
            <a:off x="2804099" y="3054096"/>
            <a:ext cx="2109155" cy="365760"/>
          </a:xfrm>
          <a:prstGeom prst="roundRect">
            <a:avLst>
              <a:gd name="adj" fmla="val 125000"/>
            </a:avLst>
          </a:prstGeom>
          <a:solidFill>
            <a:srgbClr val="F4F7FA"/>
          </a:solidFill>
          <a:ln w="9525">
            <a:solidFill>
              <a:srgbClr val="E1E8F0"/>
            </a:solidFill>
            <a:prstDash val="solid"/>
          </a:ln>
        </p:spPr>
      </p:sp>
      <p:sp>
        <p:nvSpPr>
          <p:cNvPr id="22" name="Text 18"/>
          <p:cNvSpPr/>
          <p:nvPr/>
        </p:nvSpPr>
        <p:spPr>
          <a:xfrm>
            <a:off x="2877251"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Start Time</a:t>
            </a:r>
            <a:endParaRPr lang="en-US" sz="1000" dirty="0"/>
          </a:p>
        </p:txBody>
      </p:sp>
      <p:sp>
        <p:nvSpPr>
          <p:cNvPr id="23" name="Shape 19"/>
          <p:cNvSpPr/>
          <p:nvPr/>
        </p:nvSpPr>
        <p:spPr>
          <a:xfrm>
            <a:off x="5041270" y="3054096"/>
            <a:ext cx="2109155" cy="365760"/>
          </a:xfrm>
          <a:prstGeom prst="roundRect">
            <a:avLst>
              <a:gd name="adj" fmla="val 125000"/>
            </a:avLst>
          </a:prstGeom>
          <a:solidFill>
            <a:srgbClr val="F4F7FA"/>
          </a:solidFill>
          <a:ln w="9525">
            <a:solidFill>
              <a:srgbClr val="E1E8F0"/>
            </a:solidFill>
            <a:prstDash val="solid"/>
          </a:ln>
        </p:spPr>
      </p:sp>
      <p:sp>
        <p:nvSpPr>
          <p:cNvPr id="24" name="Text 20"/>
          <p:cNvSpPr/>
          <p:nvPr/>
        </p:nvSpPr>
        <p:spPr>
          <a:xfrm>
            <a:off x="5114422"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End Time</a:t>
            </a:r>
            <a:endParaRPr lang="en-US" sz="1000" dirty="0"/>
          </a:p>
        </p:txBody>
      </p:sp>
      <p:sp>
        <p:nvSpPr>
          <p:cNvPr id="25" name="Shape 21"/>
          <p:cNvSpPr/>
          <p:nvPr/>
        </p:nvSpPr>
        <p:spPr>
          <a:xfrm>
            <a:off x="7278441" y="3054096"/>
            <a:ext cx="2109155" cy="365760"/>
          </a:xfrm>
          <a:prstGeom prst="roundRect">
            <a:avLst>
              <a:gd name="adj" fmla="val 125000"/>
            </a:avLst>
          </a:prstGeom>
          <a:solidFill>
            <a:srgbClr val="F4F7FA"/>
          </a:solidFill>
          <a:ln w="9525">
            <a:solidFill>
              <a:srgbClr val="E1E8F0"/>
            </a:solidFill>
            <a:prstDash val="solid"/>
          </a:ln>
        </p:spPr>
      </p:sp>
      <p:sp>
        <p:nvSpPr>
          <p:cNvPr id="26" name="Text 22"/>
          <p:cNvSpPr/>
          <p:nvPr/>
        </p:nvSpPr>
        <p:spPr>
          <a:xfrm>
            <a:off x="7351593"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Duration</a:t>
            </a:r>
            <a:endParaRPr lang="en-US" sz="1000" dirty="0"/>
          </a:p>
        </p:txBody>
      </p:sp>
      <p:sp>
        <p:nvSpPr>
          <p:cNvPr id="27" name="Shape 23"/>
          <p:cNvSpPr/>
          <p:nvPr/>
        </p:nvSpPr>
        <p:spPr>
          <a:xfrm>
            <a:off x="9515612" y="3054096"/>
            <a:ext cx="2109155" cy="365760"/>
          </a:xfrm>
          <a:prstGeom prst="roundRect">
            <a:avLst>
              <a:gd name="adj" fmla="val 125000"/>
            </a:avLst>
          </a:prstGeom>
          <a:solidFill>
            <a:srgbClr val="F4F7FA"/>
          </a:solidFill>
          <a:ln w="9525">
            <a:solidFill>
              <a:srgbClr val="E1E8F0"/>
            </a:solidFill>
            <a:prstDash val="solid"/>
          </a:ln>
        </p:spPr>
      </p:sp>
      <p:sp>
        <p:nvSpPr>
          <p:cNvPr id="28" name="Text 24"/>
          <p:cNvSpPr/>
          <p:nvPr/>
        </p:nvSpPr>
        <p:spPr>
          <a:xfrm>
            <a:off x="9588764"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Company Name</a:t>
            </a:r>
            <a:endParaRPr lang="en-US" sz="1000" dirty="0"/>
          </a:p>
        </p:txBody>
      </p:sp>
      <p:sp>
        <p:nvSpPr>
          <p:cNvPr id="29" name="Shape 25"/>
          <p:cNvSpPr/>
          <p:nvPr/>
        </p:nvSpPr>
        <p:spPr>
          <a:xfrm>
            <a:off x="566928" y="3474720"/>
            <a:ext cx="2109155" cy="365760"/>
          </a:xfrm>
          <a:prstGeom prst="roundRect">
            <a:avLst>
              <a:gd name="adj" fmla="val 125000"/>
            </a:avLst>
          </a:prstGeom>
          <a:solidFill>
            <a:srgbClr val="F4F7FA"/>
          </a:solidFill>
          <a:ln w="9525">
            <a:solidFill>
              <a:srgbClr val="E1E8F0"/>
            </a:solidFill>
            <a:prstDash val="solid"/>
          </a:ln>
        </p:spPr>
      </p:sp>
      <p:sp>
        <p:nvSpPr>
          <p:cNvPr id="30" name="Text 26"/>
          <p:cNvSpPr/>
          <p:nvPr/>
        </p:nvSpPr>
        <p:spPr>
          <a:xfrm>
            <a:off x="640080"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HR Name</a:t>
            </a:r>
            <a:endParaRPr lang="en-US" sz="1000" dirty="0"/>
          </a:p>
        </p:txBody>
      </p:sp>
      <p:sp>
        <p:nvSpPr>
          <p:cNvPr id="31" name="Shape 27"/>
          <p:cNvSpPr/>
          <p:nvPr/>
        </p:nvSpPr>
        <p:spPr>
          <a:xfrm>
            <a:off x="2804099" y="3474720"/>
            <a:ext cx="2109155" cy="365760"/>
          </a:xfrm>
          <a:prstGeom prst="roundRect">
            <a:avLst>
              <a:gd name="adj" fmla="val 125000"/>
            </a:avLst>
          </a:prstGeom>
          <a:solidFill>
            <a:srgbClr val="F4F7FA"/>
          </a:solidFill>
          <a:ln w="9525">
            <a:solidFill>
              <a:srgbClr val="E1E8F0"/>
            </a:solidFill>
            <a:prstDash val="solid"/>
          </a:ln>
        </p:spPr>
      </p:sp>
      <p:sp>
        <p:nvSpPr>
          <p:cNvPr id="32" name="Text 28"/>
          <p:cNvSpPr/>
          <p:nvPr/>
        </p:nvSpPr>
        <p:spPr>
          <a:xfrm>
            <a:off x="2877251"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Mobile Number</a:t>
            </a:r>
            <a:endParaRPr lang="en-US" sz="1000" dirty="0"/>
          </a:p>
        </p:txBody>
      </p:sp>
      <p:sp>
        <p:nvSpPr>
          <p:cNvPr id="33" name="Shape 29"/>
          <p:cNvSpPr/>
          <p:nvPr/>
        </p:nvSpPr>
        <p:spPr>
          <a:xfrm>
            <a:off x="5041270" y="3474720"/>
            <a:ext cx="2109155" cy="365760"/>
          </a:xfrm>
          <a:prstGeom prst="roundRect">
            <a:avLst>
              <a:gd name="adj" fmla="val 125000"/>
            </a:avLst>
          </a:prstGeom>
          <a:solidFill>
            <a:srgbClr val="F4F7FA"/>
          </a:solidFill>
          <a:ln w="9525">
            <a:solidFill>
              <a:srgbClr val="E1E8F0"/>
            </a:solidFill>
            <a:prstDash val="solid"/>
          </a:ln>
        </p:spPr>
      </p:sp>
      <p:sp>
        <p:nvSpPr>
          <p:cNvPr id="34" name="Text 30"/>
          <p:cNvSpPr/>
          <p:nvPr/>
        </p:nvSpPr>
        <p:spPr>
          <a:xfrm>
            <a:off x="5114422"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Email ID</a:t>
            </a:r>
            <a:endParaRPr lang="en-US" sz="1000" dirty="0"/>
          </a:p>
        </p:txBody>
      </p:sp>
      <p:sp>
        <p:nvSpPr>
          <p:cNvPr id="35" name="Shape 31"/>
          <p:cNvSpPr/>
          <p:nvPr/>
        </p:nvSpPr>
        <p:spPr>
          <a:xfrm>
            <a:off x="7278441" y="3474720"/>
            <a:ext cx="2109155" cy="365760"/>
          </a:xfrm>
          <a:prstGeom prst="roundRect">
            <a:avLst>
              <a:gd name="adj" fmla="val 125000"/>
            </a:avLst>
          </a:prstGeom>
          <a:solidFill>
            <a:srgbClr val="F4F7FA"/>
          </a:solidFill>
          <a:ln w="9525">
            <a:solidFill>
              <a:srgbClr val="E1E8F0"/>
            </a:solidFill>
            <a:prstDash val="solid"/>
          </a:ln>
        </p:spPr>
      </p:sp>
      <p:sp>
        <p:nvSpPr>
          <p:cNvPr id="36" name="Text 32"/>
          <p:cNvSpPr/>
          <p:nvPr/>
        </p:nvSpPr>
        <p:spPr>
          <a:xfrm>
            <a:off x="7351593"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Call Outcome</a:t>
            </a:r>
            <a:endParaRPr lang="en-US" sz="1000" dirty="0"/>
          </a:p>
        </p:txBody>
      </p:sp>
      <p:sp>
        <p:nvSpPr>
          <p:cNvPr id="37" name="Shape 33"/>
          <p:cNvSpPr/>
          <p:nvPr/>
        </p:nvSpPr>
        <p:spPr>
          <a:xfrm>
            <a:off x="9515612" y="3474720"/>
            <a:ext cx="2109155" cy="365760"/>
          </a:xfrm>
          <a:prstGeom prst="roundRect">
            <a:avLst>
              <a:gd name="adj" fmla="val 125000"/>
            </a:avLst>
          </a:prstGeom>
          <a:solidFill>
            <a:srgbClr val="F4F7FA"/>
          </a:solidFill>
          <a:ln w="9525">
            <a:solidFill>
              <a:srgbClr val="E1E8F0"/>
            </a:solidFill>
            <a:prstDash val="solid"/>
          </a:ln>
        </p:spPr>
      </p:sp>
      <p:sp>
        <p:nvSpPr>
          <p:cNvPr id="38" name="Text 34"/>
          <p:cNvSpPr/>
          <p:nvPr/>
        </p:nvSpPr>
        <p:spPr>
          <a:xfrm>
            <a:off x="9588764"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Comments</a:t>
            </a:r>
            <a:endParaRPr lang="en-US" sz="1000" dirty="0"/>
          </a:p>
        </p:txBody>
      </p:sp>
      <p:sp>
        <p:nvSpPr>
          <p:cNvPr id="39" name="Text 35"/>
          <p:cNvSpPr/>
          <p:nvPr/>
        </p:nvSpPr>
        <p:spPr>
          <a:xfrm>
            <a:off x="566928" y="404164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CALL OUTCOME — THE ONE FIELD THAT DRIVES EVERYTHING DOWNSTREAM</a:t>
            </a:r>
            <a:endParaRPr lang="en-US" sz="950" dirty="0"/>
          </a:p>
        </p:txBody>
      </p:sp>
      <p:sp>
        <p:nvSpPr>
          <p:cNvPr id="40" name="Shape 36"/>
          <p:cNvSpPr/>
          <p:nvPr/>
        </p:nvSpPr>
        <p:spPr>
          <a:xfrm>
            <a:off x="566928" y="4297680"/>
            <a:ext cx="2109155" cy="402336"/>
          </a:xfrm>
          <a:prstGeom prst="roundRect">
            <a:avLst>
              <a:gd name="adj" fmla="val 113636"/>
            </a:avLst>
          </a:prstGeom>
          <a:solidFill>
            <a:srgbClr val="F1F4F8"/>
          </a:solidFill>
          <a:ln w="9525">
            <a:solidFill>
              <a:srgbClr val="E1E8F0"/>
            </a:solidFill>
            <a:prstDash val="solid"/>
          </a:ln>
        </p:spPr>
      </p:sp>
      <p:sp>
        <p:nvSpPr>
          <p:cNvPr id="41" name="Text 37"/>
          <p:cNvSpPr/>
          <p:nvPr/>
        </p:nvSpPr>
        <p:spPr>
          <a:xfrm>
            <a:off x="640080" y="4297680"/>
            <a:ext cx="1962851" cy="402336"/>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No Response</a:t>
            </a:r>
            <a:endParaRPr lang="en-US" sz="1050" dirty="0"/>
          </a:p>
        </p:txBody>
      </p:sp>
      <p:sp>
        <p:nvSpPr>
          <p:cNvPr id="42" name="Shape 38"/>
          <p:cNvSpPr/>
          <p:nvPr/>
        </p:nvSpPr>
        <p:spPr>
          <a:xfrm>
            <a:off x="2804099" y="4297680"/>
            <a:ext cx="2109155" cy="402336"/>
          </a:xfrm>
          <a:prstGeom prst="roundRect">
            <a:avLst>
              <a:gd name="adj" fmla="val 113636"/>
            </a:avLst>
          </a:prstGeom>
          <a:solidFill>
            <a:srgbClr val="FEF4E4"/>
          </a:solidFill>
          <a:ln w="9525">
            <a:solidFill>
              <a:srgbClr val="E1E8F0"/>
            </a:solidFill>
            <a:prstDash val="solid"/>
          </a:ln>
        </p:spPr>
      </p:sp>
      <p:sp>
        <p:nvSpPr>
          <p:cNvPr id="43" name="Text 39"/>
          <p:cNvSpPr/>
          <p:nvPr/>
        </p:nvSpPr>
        <p:spPr>
          <a:xfrm>
            <a:off x="2877251" y="4297680"/>
            <a:ext cx="1962851" cy="402336"/>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Follow Up</a:t>
            </a:r>
            <a:endParaRPr lang="en-US" sz="1050" dirty="0"/>
          </a:p>
        </p:txBody>
      </p:sp>
      <p:sp>
        <p:nvSpPr>
          <p:cNvPr id="44" name="Shape 40"/>
          <p:cNvSpPr/>
          <p:nvPr/>
        </p:nvSpPr>
        <p:spPr>
          <a:xfrm>
            <a:off x="5041270" y="4297680"/>
            <a:ext cx="2109155" cy="402336"/>
          </a:xfrm>
          <a:prstGeom prst="roundRect">
            <a:avLst>
              <a:gd name="adj" fmla="val 113636"/>
            </a:avLst>
          </a:prstGeom>
          <a:solidFill>
            <a:srgbClr val="E7F3FD"/>
          </a:solidFill>
          <a:ln w="9525">
            <a:solidFill>
              <a:srgbClr val="E1E8F0"/>
            </a:solidFill>
            <a:prstDash val="solid"/>
          </a:ln>
        </p:spPr>
      </p:sp>
      <p:sp>
        <p:nvSpPr>
          <p:cNvPr id="45" name="Text 41"/>
          <p:cNvSpPr/>
          <p:nvPr/>
        </p:nvSpPr>
        <p:spPr>
          <a:xfrm>
            <a:off x="5114422" y="4297680"/>
            <a:ext cx="1962851" cy="402336"/>
          </a:xfrm>
          <a:prstGeom prst="rect">
            <a:avLst/>
          </a:prstGeom>
          <a:noFill/>
          <a:ln/>
        </p:spPr>
        <p:txBody>
          <a:bodyPr wrap="square" lIns="0" tIns="0" rIns="0" bIns="0" rtlCol="0" anchor="ctr"/>
          <a:lstStyle/>
          <a:p>
            <a:pPr marL="0" indent="0" algn="ctr">
              <a:buNone/>
            </a:pPr>
            <a:r>
              <a:rPr lang="en-US" sz="1050" b="1" dirty="0">
                <a:solidFill>
                  <a:srgbClr val="175496"/>
                </a:solidFill>
                <a:latin typeface="Calibri" pitchFamily="34" charset="0"/>
                <a:ea typeface="Calibri" pitchFamily="34" charset="-122"/>
                <a:cs typeface="Calibri" pitchFamily="34" charset="-120"/>
              </a:rPr>
              <a:t>Invite Mail</a:t>
            </a:r>
            <a:endParaRPr lang="en-US" sz="1050" dirty="0"/>
          </a:p>
        </p:txBody>
      </p:sp>
      <p:sp>
        <p:nvSpPr>
          <p:cNvPr id="46" name="Shape 42"/>
          <p:cNvSpPr/>
          <p:nvPr/>
        </p:nvSpPr>
        <p:spPr>
          <a:xfrm>
            <a:off x="7278441" y="4297680"/>
            <a:ext cx="2109155" cy="402336"/>
          </a:xfrm>
          <a:prstGeom prst="roundRect">
            <a:avLst>
              <a:gd name="adj" fmla="val 113636"/>
            </a:avLst>
          </a:prstGeom>
          <a:solidFill>
            <a:srgbClr val="EAF5EB"/>
          </a:solidFill>
          <a:ln w="9525">
            <a:solidFill>
              <a:srgbClr val="E1E8F0"/>
            </a:solidFill>
            <a:prstDash val="solid"/>
          </a:ln>
        </p:spPr>
      </p:sp>
      <p:sp>
        <p:nvSpPr>
          <p:cNvPr id="47" name="Text 43"/>
          <p:cNvSpPr/>
          <p:nvPr/>
        </p:nvSpPr>
        <p:spPr>
          <a:xfrm>
            <a:off x="7351593" y="4297680"/>
            <a:ext cx="1962851" cy="402336"/>
          </a:xfrm>
          <a:prstGeom prst="rect">
            <a:avLst/>
          </a:prstGeom>
          <a:noFill/>
          <a:ln/>
        </p:spPr>
        <p:txBody>
          <a:bodyPr wrap="square" lIns="0" tIns="0" rIns="0" bIns="0" rtlCol="0" anchor="ctr"/>
          <a:lstStyle/>
          <a:p>
            <a:pPr marL="0" indent="0" algn="ctr">
              <a:buNone/>
            </a:pPr>
            <a:r>
              <a:rPr lang="en-US" sz="1050" b="1" dirty="0">
                <a:solidFill>
                  <a:srgbClr val="2E7D32"/>
                </a:solidFill>
                <a:latin typeface="Calibri" pitchFamily="34" charset="0"/>
                <a:ea typeface="Calibri" pitchFamily="34" charset="-122"/>
                <a:cs typeface="Calibri" pitchFamily="34" charset="-120"/>
              </a:rPr>
              <a:t>Drive Scheduled</a:t>
            </a:r>
            <a:endParaRPr lang="en-US" sz="1050" dirty="0"/>
          </a:p>
        </p:txBody>
      </p:sp>
      <p:sp>
        <p:nvSpPr>
          <p:cNvPr id="48" name="Shape 44"/>
          <p:cNvSpPr/>
          <p:nvPr/>
        </p:nvSpPr>
        <p:spPr>
          <a:xfrm>
            <a:off x="9515612" y="4297680"/>
            <a:ext cx="2109155" cy="402336"/>
          </a:xfrm>
          <a:prstGeom prst="roundRect">
            <a:avLst>
              <a:gd name="adj" fmla="val 113636"/>
            </a:avLst>
          </a:prstGeom>
          <a:solidFill>
            <a:srgbClr val="FBEDED"/>
          </a:solidFill>
          <a:ln w="9525">
            <a:solidFill>
              <a:srgbClr val="E1E8F0"/>
            </a:solidFill>
            <a:prstDash val="solid"/>
          </a:ln>
        </p:spPr>
      </p:sp>
      <p:sp>
        <p:nvSpPr>
          <p:cNvPr id="49" name="Text 45"/>
          <p:cNvSpPr/>
          <p:nvPr/>
        </p:nvSpPr>
        <p:spPr>
          <a:xfrm>
            <a:off x="9588764" y="4297680"/>
            <a:ext cx="1962851" cy="402336"/>
          </a:xfrm>
          <a:prstGeom prst="rect">
            <a:avLst/>
          </a:prstGeom>
          <a:noFill/>
          <a:ln/>
        </p:spPr>
        <p:txBody>
          <a:bodyPr wrap="square" lIns="0" tIns="0" rIns="0" bIns="0" rtlCol="0" anchor="ctr"/>
          <a:lstStyle/>
          <a:p>
            <a:pPr marL="0" indent="0" algn="ctr">
              <a:buNone/>
            </a:pPr>
            <a:r>
              <a:rPr lang="en-US" sz="1050" b="1" dirty="0">
                <a:solidFill>
                  <a:srgbClr val="C62828"/>
                </a:solidFill>
                <a:latin typeface="Calibri" pitchFamily="34" charset="0"/>
                <a:ea typeface="Calibri" pitchFamily="34" charset="-122"/>
                <a:cs typeface="Calibri" pitchFamily="34" charset="-120"/>
              </a:rPr>
              <a:t>Not Hiring</a:t>
            </a:r>
            <a:endParaRPr lang="en-US" sz="1050" dirty="0"/>
          </a:p>
        </p:txBody>
      </p:sp>
      <p:sp>
        <p:nvSpPr>
          <p:cNvPr id="50" name="Text 46"/>
          <p:cNvSpPr/>
          <p:nvPr/>
        </p:nvSpPr>
        <p:spPr>
          <a:xfrm>
            <a:off x="566928" y="488289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LIVE COUNTERS, ALWAYS ON SCREEN</a:t>
            </a:r>
            <a:endParaRPr lang="en-US" sz="950" dirty="0"/>
          </a:p>
        </p:txBody>
      </p:sp>
      <p:sp>
        <p:nvSpPr>
          <p:cNvPr id="51" name="Shape 47"/>
          <p:cNvSpPr/>
          <p:nvPr/>
        </p:nvSpPr>
        <p:spPr>
          <a:xfrm>
            <a:off x="566928"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2" name="Text 48"/>
          <p:cNvSpPr/>
          <p:nvPr/>
        </p:nvSpPr>
        <p:spPr>
          <a:xfrm>
            <a:off x="566928" y="5257800"/>
            <a:ext cx="1690573" cy="475488"/>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28</a:t>
            </a:r>
            <a:endParaRPr lang="en-US" sz="2200" dirty="0"/>
          </a:p>
        </p:txBody>
      </p:sp>
      <p:sp>
        <p:nvSpPr>
          <p:cNvPr id="53" name="Text 49"/>
          <p:cNvSpPr/>
          <p:nvPr/>
        </p:nvSpPr>
        <p:spPr>
          <a:xfrm>
            <a:off x="621792"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Completed</a:t>
            </a:r>
            <a:endParaRPr lang="en-US" sz="950" dirty="0"/>
          </a:p>
        </p:txBody>
      </p:sp>
      <p:sp>
        <p:nvSpPr>
          <p:cNvPr id="54" name="Shape 50"/>
          <p:cNvSpPr/>
          <p:nvPr/>
        </p:nvSpPr>
        <p:spPr>
          <a:xfrm>
            <a:off x="2440381"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5" name="Text 51"/>
          <p:cNvSpPr/>
          <p:nvPr/>
        </p:nvSpPr>
        <p:spPr>
          <a:xfrm>
            <a:off x="2440381" y="5257800"/>
            <a:ext cx="1690573" cy="475488"/>
          </a:xfrm>
          <a:prstGeom prst="rect">
            <a:avLst/>
          </a:prstGeom>
          <a:noFill/>
          <a:ln/>
        </p:spPr>
        <p:txBody>
          <a:bodyPr wrap="square" lIns="0" tIns="0" rIns="0" bIns="0" rtlCol="0" anchor="ctr"/>
          <a:lstStyle/>
          <a:p>
            <a:pPr marL="0" indent="0" algn="ctr">
              <a:buNone/>
            </a:pPr>
            <a:r>
              <a:rPr lang="en-US" sz="2200" b="1" dirty="0">
                <a:solidFill>
                  <a:srgbClr val="B26A00"/>
                </a:solidFill>
                <a:latin typeface="Calibri" pitchFamily="34" charset="0"/>
                <a:ea typeface="Calibri" pitchFamily="34" charset="-122"/>
                <a:cs typeface="Calibri" pitchFamily="34" charset="-120"/>
              </a:rPr>
              <a:t>42</a:t>
            </a:r>
            <a:endParaRPr lang="en-US" sz="2200" dirty="0"/>
          </a:p>
        </p:txBody>
      </p:sp>
      <p:sp>
        <p:nvSpPr>
          <p:cNvPr id="56" name="Text 52"/>
          <p:cNvSpPr/>
          <p:nvPr/>
        </p:nvSpPr>
        <p:spPr>
          <a:xfrm>
            <a:off x="2495245"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Pending</a:t>
            </a:r>
            <a:endParaRPr lang="en-US" sz="950" dirty="0"/>
          </a:p>
        </p:txBody>
      </p:sp>
      <p:sp>
        <p:nvSpPr>
          <p:cNvPr id="57" name="Shape 53"/>
          <p:cNvSpPr/>
          <p:nvPr/>
        </p:nvSpPr>
        <p:spPr>
          <a:xfrm>
            <a:off x="4313834"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8" name="Text 54"/>
          <p:cNvSpPr/>
          <p:nvPr/>
        </p:nvSpPr>
        <p:spPr>
          <a:xfrm>
            <a:off x="4313834" y="5257800"/>
            <a:ext cx="1690573" cy="475488"/>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6</a:t>
            </a:r>
            <a:endParaRPr lang="en-US" sz="2200" dirty="0"/>
          </a:p>
        </p:txBody>
      </p:sp>
      <p:sp>
        <p:nvSpPr>
          <p:cNvPr id="59" name="Text 55"/>
          <p:cNvSpPr/>
          <p:nvPr/>
        </p:nvSpPr>
        <p:spPr>
          <a:xfrm>
            <a:off x="4368698"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Positive</a:t>
            </a:r>
            <a:endParaRPr lang="en-US" sz="950" dirty="0"/>
          </a:p>
        </p:txBody>
      </p:sp>
      <p:sp>
        <p:nvSpPr>
          <p:cNvPr id="60" name="Shape 56"/>
          <p:cNvSpPr/>
          <p:nvPr/>
        </p:nvSpPr>
        <p:spPr>
          <a:xfrm>
            <a:off x="6187288"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61" name="Text 57"/>
          <p:cNvSpPr/>
          <p:nvPr/>
        </p:nvSpPr>
        <p:spPr>
          <a:xfrm>
            <a:off x="6187288" y="5257800"/>
            <a:ext cx="1690573" cy="475488"/>
          </a:xfrm>
          <a:prstGeom prst="rect">
            <a:avLst/>
          </a:prstGeom>
          <a:noFill/>
          <a:ln/>
        </p:spPr>
        <p:txBody>
          <a:bodyPr wrap="square" lIns="0" tIns="0" rIns="0" bIns="0" rtlCol="0" anchor="ctr"/>
          <a:lstStyle/>
          <a:p>
            <a:pPr marL="0" indent="0" algn="ctr">
              <a:buNone/>
            </a:pPr>
            <a:r>
              <a:rPr lang="en-US" sz="2200" b="1" dirty="0">
                <a:solidFill>
                  <a:srgbClr val="6B7A8C"/>
                </a:solidFill>
                <a:latin typeface="Calibri" pitchFamily="34" charset="0"/>
                <a:ea typeface="Calibri" pitchFamily="34" charset="-122"/>
                <a:cs typeface="Calibri" pitchFamily="34" charset="-120"/>
              </a:rPr>
              <a:t>9</a:t>
            </a:r>
            <a:endParaRPr lang="en-US" sz="2200" dirty="0"/>
          </a:p>
        </p:txBody>
      </p:sp>
      <p:sp>
        <p:nvSpPr>
          <p:cNvPr id="62" name="Text 58"/>
          <p:cNvSpPr/>
          <p:nvPr/>
        </p:nvSpPr>
        <p:spPr>
          <a:xfrm>
            <a:off x="6242152"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No Response</a:t>
            </a:r>
            <a:endParaRPr lang="en-US" sz="950" dirty="0"/>
          </a:p>
        </p:txBody>
      </p:sp>
      <p:sp>
        <p:nvSpPr>
          <p:cNvPr id="63" name="Shape 59"/>
          <p:cNvSpPr/>
          <p:nvPr/>
        </p:nvSpPr>
        <p:spPr>
          <a:xfrm>
            <a:off x="8060741"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64" name="Text 60"/>
          <p:cNvSpPr/>
          <p:nvPr/>
        </p:nvSpPr>
        <p:spPr>
          <a:xfrm>
            <a:off x="8060741" y="5257800"/>
            <a:ext cx="1690573" cy="475488"/>
          </a:xfrm>
          <a:prstGeom prst="rect">
            <a:avLst/>
          </a:prstGeom>
          <a:noFill/>
          <a:ln/>
        </p:spPr>
        <p:txBody>
          <a:bodyPr wrap="square" lIns="0" tIns="0" rIns="0" bIns="0" rtlCol="0" anchor="ctr"/>
          <a:lstStyle/>
          <a:p>
            <a:pPr marL="0" indent="0" algn="ctr">
              <a:buNone/>
            </a:pPr>
            <a:r>
              <a:rPr lang="en-US" sz="2200" b="1" dirty="0">
                <a:solidFill>
                  <a:srgbClr val="B26A00"/>
                </a:solidFill>
                <a:latin typeface="Calibri" pitchFamily="34" charset="0"/>
                <a:ea typeface="Calibri" pitchFamily="34" charset="-122"/>
                <a:cs typeface="Calibri" pitchFamily="34" charset="-120"/>
              </a:rPr>
              <a:t>5</a:t>
            </a:r>
            <a:endParaRPr lang="en-US" sz="2200" dirty="0"/>
          </a:p>
        </p:txBody>
      </p:sp>
      <p:sp>
        <p:nvSpPr>
          <p:cNvPr id="65" name="Text 61"/>
          <p:cNvSpPr/>
          <p:nvPr/>
        </p:nvSpPr>
        <p:spPr>
          <a:xfrm>
            <a:off x="8115605"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Follow Up</a:t>
            </a:r>
            <a:endParaRPr lang="en-US" sz="950" dirty="0"/>
          </a:p>
        </p:txBody>
      </p:sp>
      <p:sp>
        <p:nvSpPr>
          <p:cNvPr id="66" name="Shape 62"/>
          <p:cNvSpPr/>
          <p:nvPr/>
        </p:nvSpPr>
        <p:spPr>
          <a:xfrm>
            <a:off x="9934194"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67" name="Text 63"/>
          <p:cNvSpPr/>
          <p:nvPr/>
        </p:nvSpPr>
        <p:spPr>
          <a:xfrm>
            <a:off x="9934194" y="5257800"/>
            <a:ext cx="1690573" cy="475488"/>
          </a:xfrm>
          <a:prstGeom prst="rect">
            <a:avLst/>
          </a:prstGeom>
          <a:noFill/>
          <a:ln/>
        </p:spPr>
        <p:txBody>
          <a:bodyPr wrap="square" lIns="0" tIns="0" rIns="0" bIns="0" rtlCol="0" anchor="ctr"/>
          <a:lstStyle/>
          <a:p>
            <a:pPr marL="0" indent="0" algn="ctr">
              <a:buNone/>
            </a:pPr>
            <a:r>
              <a:rPr lang="en-US" sz="2200" b="1" dirty="0">
                <a:solidFill>
                  <a:srgbClr val="6B7A8C"/>
                </a:solidFill>
                <a:latin typeface="Calibri" pitchFamily="34" charset="0"/>
                <a:ea typeface="Calibri" pitchFamily="34" charset="-122"/>
                <a:cs typeface="Calibri" pitchFamily="34" charset="-120"/>
              </a:rPr>
              <a:t>2</a:t>
            </a:r>
            <a:endParaRPr lang="en-US" sz="2200" dirty="0"/>
          </a:p>
        </p:txBody>
      </p:sp>
      <p:sp>
        <p:nvSpPr>
          <p:cNvPr id="68" name="Text 64"/>
          <p:cNvSpPr/>
          <p:nvPr/>
        </p:nvSpPr>
        <p:spPr>
          <a:xfrm>
            <a:off x="9989058"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Skipped</a:t>
            </a:r>
            <a:endParaRPr lang="en-US" sz="950" dirty="0"/>
          </a:p>
        </p:txBody>
      </p:sp>
      <p:pic>
        <p:nvPicPr>
          <p:cNvPr id="69" name="Picture 68">
            <a:extLst>
              <a:ext uri="{FF2B5EF4-FFF2-40B4-BE49-F238E27FC236}">
                <a16:creationId xmlns:a16="http://schemas.microsoft.com/office/drawing/2014/main" id="{AC36F24E-256D-22EB-E25D-F9AA1498128E}"/>
              </a:ext>
            </a:extLst>
          </p:cNvPr>
          <p:cNvPicPr>
            <a:picLocks noChangeAspect="1"/>
          </p:cNvPicPr>
          <p:nvPr/>
        </p:nvPicPr>
        <p:blipFill>
          <a:blip r:embed="rId5"/>
          <a:stretch>
            <a:fillRect/>
          </a:stretch>
        </p:blipFill>
        <p:spPr>
          <a:xfrm>
            <a:off x="10505338" y="166891"/>
            <a:ext cx="1544421" cy="3726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03 — DAILY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Built for speed, not for ceremony</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21</a:t>
            </a:r>
            <a:endParaRPr lang="en-US" sz="950" dirty="0"/>
          </a:p>
        </p:txBody>
      </p:sp>
      <p:sp>
        <p:nvSpPr>
          <p:cNvPr id="8" name="Text 6"/>
          <p:cNvSpPr/>
          <p:nvPr/>
        </p:nvSpPr>
        <p:spPr>
          <a:xfrm>
            <a:off x="566928" y="1417320"/>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KEYBOARD SHORTCUTS</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5212080" cy="1975104"/>
        </p:xfrm>
        <a:graphic>
          <a:graphicData uri="http://schemas.openxmlformats.org/drawingml/2006/table">
            <a:tbl>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2918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Key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Stamp the current time as Start Time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Tab</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Move to the next editable cell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Enter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Save the row and drop to the next one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Ctrl + 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Manual save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Delete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Clear the editable cell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bl>
          </a:graphicData>
        </a:graphic>
      </p:graphicFrame>
      <p:sp>
        <p:nvSpPr>
          <p:cNvPr id="10" name="Shape 7"/>
          <p:cNvSpPr/>
          <p:nvPr/>
        </p:nvSpPr>
        <p:spPr>
          <a:xfrm>
            <a:off x="6089904" y="1691640"/>
            <a:ext cx="5532120" cy="1993392"/>
          </a:xfrm>
          <a:prstGeom prst="roundRect">
            <a:avLst>
              <a:gd name="adj" fmla="val 458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Shape 8"/>
          <p:cNvSpPr/>
          <p:nvPr/>
        </p:nvSpPr>
        <p:spPr>
          <a:xfrm>
            <a:off x="6309360" y="1911096"/>
            <a:ext cx="420624" cy="420624"/>
          </a:xfrm>
          <a:prstGeom prst="ellipse">
            <a:avLst/>
          </a:prstGeom>
          <a:solidFill>
            <a:srgbClr val="00ACC1"/>
          </a:solidFill>
          <a:ln w="12700">
            <a:solidFill>
              <a:srgbClr val="00ACC1"/>
            </a:solidFill>
            <a:prstDash val="solid"/>
          </a:ln>
        </p:spPr>
      </p:sp>
      <p:pic>
        <p:nvPicPr>
          <p:cNvPr id="12" name="Image 0" descr="preencoded.png"/>
          <p:cNvPicPr>
            <a:picLocks noChangeAspect="1"/>
          </p:cNvPicPr>
          <p:nvPr/>
        </p:nvPicPr>
        <p:blipFill>
          <a:blip r:embed="rId3"/>
          <a:stretch>
            <a:fillRect/>
          </a:stretch>
        </p:blipFill>
        <p:spPr>
          <a:xfrm>
            <a:off x="6414516" y="2016252"/>
            <a:ext cx="210312" cy="210312"/>
          </a:xfrm>
          <a:prstGeom prst="rect">
            <a:avLst/>
          </a:prstGeom>
        </p:spPr>
      </p:pic>
      <p:sp>
        <p:nvSpPr>
          <p:cNvPr id="13" name="Text 9"/>
          <p:cNvSpPr/>
          <p:nvPr/>
        </p:nvSpPr>
        <p:spPr>
          <a:xfrm>
            <a:off x="6309360" y="2459736"/>
            <a:ext cx="509320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The clock runs itself</a:t>
            </a:r>
            <a:endParaRPr lang="en-US" sz="1350" dirty="0"/>
          </a:p>
        </p:txBody>
      </p:sp>
      <p:sp>
        <p:nvSpPr>
          <p:cNvPr id="14" name="Text 10"/>
          <p:cNvSpPr/>
          <p:nvPr/>
        </p:nvSpPr>
        <p:spPr>
          <a:xfrm>
            <a:off x="6309360" y="2779776"/>
            <a:ext cx="5093208" cy="731520"/>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End Time is written the moment a Call Outcome is chosen. Duration calculates itself. Everything is stored as HH:MM:SS AM/PM — the coordinator never types a time.</a:t>
            </a:r>
            <a:endParaRPr lang="en-US" sz="1100" dirty="0"/>
          </a:p>
        </p:txBody>
      </p:sp>
      <p:sp>
        <p:nvSpPr>
          <p:cNvPr id="15" name="Text 11"/>
          <p:cNvSpPr/>
          <p:nvPr/>
        </p:nvSpPr>
        <p:spPr>
          <a:xfrm>
            <a:off x="566928" y="387705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SUBMIT DAY — WARN, NEVER BLOCK</a:t>
            </a:r>
            <a:endParaRPr lang="en-US" sz="950" dirty="0"/>
          </a:p>
        </p:txBody>
      </p:sp>
      <p:sp>
        <p:nvSpPr>
          <p:cNvPr id="16" name="Shape 12"/>
          <p:cNvSpPr/>
          <p:nvPr/>
        </p:nvSpPr>
        <p:spPr>
          <a:xfrm>
            <a:off x="566928" y="4151376"/>
            <a:ext cx="11057839" cy="1207008"/>
          </a:xfrm>
          <a:prstGeom prst="roundRect">
            <a:avLst>
              <a:gd name="adj" fmla="val 7576"/>
            </a:avLst>
          </a:prstGeom>
          <a:solidFill>
            <a:srgbClr val="FEF8EC"/>
          </a:solidFill>
          <a:ln w="9525">
            <a:solidFill>
              <a:srgbClr val="F3DFB4"/>
            </a:solidFill>
            <a:prstDash val="solid"/>
          </a:ln>
          <a:effectLst>
            <a:outerShdw blurRad="76200" dist="19050" dir="5400000" algn="bl" rotWithShape="0">
              <a:srgbClr val="94A3B8">
                <a:alpha val="16000"/>
              </a:srgbClr>
            </a:outerShdw>
          </a:effectLst>
        </p:spPr>
      </p:sp>
      <p:sp>
        <p:nvSpPr>
          <p:cNvPr id="17" name="Text 13"/>
          <p:cNvSpPr/>
          <p:nvPr/>
        </p:nvSpPr>
        <p:spPr>
          <a:xfrm>
            <a:off x="841248" y="4297680"/>
            <a:ext cx="6766560" cy="914400"/>
          </a:xfrm>
          <a:prstGeom prst="rect">
            <a:avLst/>
          </a:prstGeom>
          <a:noFill/>
          <a:ln/>
        </p:spPr>
        <p:txBody>
          <a:bodyPr wrap="square" lIns="0" tIns="0" rIns="0" bIns="0" rtlCol="0" anchor="t"/>
          <a:lstStyle/>
          <a:p>
            <a:pPr marL="0" indent="0">
              <a:lnSpc>
                <a:spcPct val="120000"/>
              </a:lnSpc>
              <a:buNone/>
            </a:pPr>
            <a:r>
              <a:rPr lang="en-US" sz="1200" b="1" dirty="0">
                <a:solidFill>
                  <a:srgbClr val="2E7D32"/>
                </a:solidFill>
                <a:latin typeface="Calibri" pitchFamily="34" charset="0"/>
                <a:ea typeface="Calibri" pitchFamily="34" charset="-122"/>
                <a:cs typeface="Calibri" pitchFamily="34" charset="-120"/>
              </a:rPr>
              <a:t>✓  68 rows completed</a:t>
            </a:r>
            <a:endParaRPr lang="en-US" sz="1200" dirty="0"/>
          </a:p>
          <a:p>
            <a:pPr marL="0" indent="0">
              <a:lnSpc>
                <a:spcPct val="120000"/>
              </a:lnSpc>
              <a:buNone/>
            </a:pPr>
            <a:r>
              <a:rPr lang="en-US" sz="1200" b="1" dirty="0">
                <a:solidFill>
                  <a:srgbClr val="B26A00"/>
                </a:solidFill>
                <a:latin typeface="Calibri" pitchFamily="34" charset="0"/>
                <a:ea typeface="Calibri" pitchFamily="34" charset="-122"/>
                <a:cs typeface="Calibri" pitchFamily="34" charset="-120"/>
              </a:rPr>
              <a:t>⚠  2 companies still require an Email ID</a:t>
            </a:r>
            <a:endParaRPr lang="en-US" sz="1200" dirty="0"/>
          </a:p>
          <a:p>
            <a:pPr marL="0" indent="0">
              <a:lnSpc>
                <a:spcPct val="120000"/>
              </a:lnSpc>
              <a:buNone/>
            </a:pPr>
            <a:r>
              <a:rPr lang="en-US" sz="1200" dirty="0">
                <a:solidFill>
                  <a:srgbClr val="3E4C59"/>
                </a:solidFill>
                <a:latin typeface="Calibri" pitchFamily="34" charset="0"/>
                <a:ea typeface="Calibri" pitchFamily="34" charset="-122"/>
                <a:cs typeface="Calibri" pitchFamily="34" charset="-120"/>
              </a:rPr>
              <a:t>A missing email never stops the day being submitted. The reminder simply carries over to tomorrow's login.</a:t>
            </a:r>
            <a:endParaRPr lang="en-US" sz="1200" dirty="0"/>
          </a:p>
        </p:txBody>
      </p:sp>
      <p:sp>
        <p:nvSpPr>
          <p:cNvPr id="18" name="Shape 14"/>
          <p:cNvSpPr/>
          <p:nvPr/>
        </p:nvSpPr>
        <p:spPr>
          <a:xfrm>
            <a:off x="7863840" y="4443984"/>
            <a:ext cx="1737360" cy="402336"/>
          </a:xfrm>
          <a:prstGeom prst="roundRect">
            <a:avLst>
              <a:gd name="adj" fmla="val 113636"/>
            </a:avLst>
          </a:prstGeom>
          <a:solidFill>
            <a:srgbClr val="0B2E59"/>
          </a:solidFill>
          <a:ln w="9525">
            <a:solidFill>
              <a:srgbClr val="0B2E59"/>
            </a:solidFill>
            <a:prstDash val="solid"/>
          </a:ln>
        </p:spPr>
      </p:sp>
      <p:sp>
        <p:nvSpPr>
          <p:cNvPr id="19" name="Text 15"/>
          <p:cNvSpPr/>
          <p:nvPr/>
        </p:nvSpPr>
        <p:spPr>
          <a:xfrm>
            <a:off x="7936992" y="4443984"/>
            <a:ext cx="159105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Submit Anyway</a:t>
            </a:r>
            <a:endParaRPr lang="en-US" sz="1100" dirty="0"/>
          </a:p>
        </p:txBody>
      </p:sp>
      <p:sp>
        <p:nvSpPr>
          <p:cNvPr id="20" name="Shape 16"/>
          <p:cNvSpPr/>
          <p:nvPr/>
        </p:nvSpPr>
        <p:spPr>
          <a:xfrm>
            <a:off x="9747504" y="4443984"/>
            <a:ext cx="1737360" cy="402336"/>
          </a:xfrm>
          <a:prstGeom prst="roundRect">
            <a:avLst>
              <a:gd name="adj" fmla="val 113636"/>
            </a:avLst>
          </a:prstGeom>
          <a:solidFill>
            <a:srgbClr val="FFFFFF"/>
          </a:solidFill>
          <a:ln w="9525">
            <a:solidFill>
              <a:srgbClr val="E1E8F0"/>
            </a:solidFill>
            <a:prstDash val="solid"/>
          </a:ln>
        </p:spPr>
      </p:sp>
      <p:sp>
        <p:nvSpPr>
          <p:cNvPr id="21" name="Text 17"/>
          <p:cNvSpPr/>
          <p:nvPr/>
        </p:nvSpPr>
        <p:spPr>
          <a:xfrm>
            <a:off x="9820656" y="4443984"/>
            <a:ext cx="1591056" cy="40233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Go Back</a:t>
            </a:r>
            <a:endParaRPr lang="en-US" sz="1100" dirty="0"/>
          </a:p>
        </p:txBody>
      </p:sp>
      <p:sp>
        <p:nvSpPr>
          <p:cNvPr id="9" name="Shape 18"/>
          <p:cNvSpPr/>
          <p:nvPr/>
        </p:nvSpPr>
        <p:spPr>
          <a:xfrm>
            <a:off x="566928" y="5532120"/>
            <a:ext cx="2109155" cy="402336"/>
          </a:xfrm>
          <a:prstGeom prst="roundRect">
            <a:avLst>
              <a:gd name="adj" fmla="val 113636"/>
            </a:avLst>
          </a:prstGeom>
          <a:solidFill>
            <a:srgbClr val="F1F4F8"/>
          </a:solidFill>
          <a:ln w="9525">
            <a:solidFill>
              <a:srgbClr val="E1E8F0"/>
            </a:solidFill>
            <a:prstDash val="solid"/>
          </a:ln>
        </p:spPr>
      </p:sp>
      <p:sp>
        <p:nvSpPr>
          <p:cNvPr id="23" name="Text 19"/>
          <p:cNvSpPr/>
          <p:nvPr/>
        </p:nvSpPr>
        <p:spPr>
          <a:xfrm>
            <a:off x="640080"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Auto Saved</a:t>
            </a:r>
            <a:endParaRPr lang="en-US" sz="1000" dirty="0"/>
          </a:p>
        </p:txBody>
      </p:sp>
      <p:sp>
        <p:nvSpPr>
          <p:cNvPr id="24" name="Shape 20"/>
          <p:cNvSpPr/>
          <p:nvPr/>
        </p:nvSpPr>
        <p:spPr>
          <a:xfrm>
            <a:off x="2804099" y="5532120"/>
            <a:ext cx="2109155" cy="402336"/>
          </a:xfrm>
          <a:prstGeom prst="roundRect">
            <a:avLst>
              <a:gd name="adj" fmla="val 113636"/>
            </a:avLst>
          </a:prstGeom>
          <a:solidFill>
            <a:srgbClr val="F1F4F8"/>
          </a:solidFill>
          <a:ln w="9525">
            <a:solidFill>
              <a:srgbClr val="E1E8F0"/>
            </a:solidFill>
            <a:prstDash val="solid"/>
          </a:ln>
        </p:spPr>
      </p:sp>
      <p:sp>
        <p:nvSpPr>
          <p:cNvPr id="25" name="Text 21"/>
          <p:cNvSpPr/>
          <p:nvPr/>
        </p:nvSpPr>
        <p:spPr>
          <a:xfrm>
            <a:off x="2877251"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Last Saved 10:42:18 AM</a:t>
            </a:r>
            <a:endParaRPr lang="en-US" sz="1000" dirty="0"/>
          </a:p>
        </p:txBody>
      </p:sp>
      <p:sp>
        <p:nvSpPr>
          <p:cNvPr id="26" name="Shape 22"/>
          <p:cNvSpPr/>
          <p:nvPr/>
        </p:nvSpPr>
        <p:spPr>
          <a:xfrm>
            <a:off x="5041270" y="5532120"/>
            <a:ext cx="2109155" cy="402336"/>
          </a:xfrm>
          <a:prstGeom prst="roundRect">
            <a:avLst>
              <a:gd name="adj" fmla="val 113636"/>
            </a:avLst>
          </a:prstGeom>
          <a:solidFill>
            <a:srgbClr val="F1F4F8"/>
          </a:solidFill>
          <a:ln w="9525">
            <a:solidFill>
              <a:srgbClr val="E1E8F0"/>
            </a:solidFill>
            <a:prstDash val="solid"/>
          </a:ln>
        </p:spPr>
      </p:sp>
      <p:sp>
        <p:nvSpPr>
          <p:cNvPr id="27" name="Text 23"/>
          <p:cNvSpPr/>
          <p:nvPr/>
        </p:nvSpPr>
        <p:spPr>
          <a:xfrm>
            <a:off x="5114422"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Rows 32</a:t>
            </a:r>
            <a:endParaRPr lang="en-US" sz="1000" dirty="0"/>
          </a:p>
        </p:txBody>
      </p:sp>
      <p:sp>
        <p:nvSpPr>
          <p:cNvPr id="28" name="Shape 24"/>
          <p:cNvSpPr/>
          <p:nvPr/>
        </p:nvSpPr>
        <p:spPr>
          <a:xfrm>
            <a:off x="7278441" y="5532120"/>
            <a:ext cx="2109155" cy="402336"/>
          </a:xfrm>
          <a:prstGeom prst="roundRect">
            <a:avLst>
              <a:gd name="adj" fmla="val 113636"/>
            </a:avLst>
          </a:prstGeom>
          <a:solidFill>
            <a:srgbClr val="F1F4F8"/>
          </a:solidFill>
          <a:ln w="9525">
            <a:solidFill>
              <a:srgbClr val="E1E8F0"/>
            </a:solidFill>
            <a:prstDash val="solid"/>
          </a:ln>
        </p:spPr>
      </p:sp>
      <p:sp>
        <p:nvSpPr>
          <p:cNvPr id="29" name="Text 25"/>
          <p:cNvSpPr/>
          <p:nvPr/>
        </p:nvSpPr>
        <p:spPr>
          <a:xfrm>
            <a:off x="7351593"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Selected Row 15</a:t>
            </a:r>
            <a:endParaRPr lang="en-US" sz="1000" dirty="0"/>
          </a:p>
        </p:txBody>
      </p:sp>
      <p:sp>
        <p:nvSpPr>
          <p:cNvPr id="30" name="Shape 26"/>
          <p:cNvSpPr/>
          <p:nvPr/>
        </p:nvSpPr>
        <p:spPr>
          <a:xfrm>
            <a:off x="9515612" y="5532120"/>
            <a:ext cx="2109155" cy="402336"/>
          </a:xfrm>
          <a:prstGeom prst="roundRect">
            <a:avLst>
              <a:gd name="adj" fmla="val 113636"/>
            </a:avLst>
          </a:prstGeom>
          <a:solidFill>
            <a:srgbClr val="F1F4F8"/>
          </a:solidFill>
          <a:ln w="9525">
            <a:solidFill>
              <a:srgbClr val="E1E8F0"/>
            </a:solidFill>
            <a:prstDash val="solid"/>
          </a:ln>
        </p:spPr>
      </p:sp>
      <p:sp>
        <p:nvSpPr>
          <p:cNvPr id="31" name="Text 27"/>
          <p:cNvSpPr/>
          <p:nvPr/>
        </p:nvSpPr>
        <p:spPr>
          <a:xfrm>
            <a:off x="9588764"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Today's Progress 40%</a:t>
            </a:r>
            <a:endParaRPr lang="en-US" sz="1000" dirty="0"/>
          </a:p>
        </p:txBody>
      </p:sp>
      <p:pic>
        <p:nvPicPr>
          <p:cNvPr id="32" name="Picture 31">
            <a:extLst>
              <a:ext uri="{FF2B5EF4-FFF2-40B4-BE49-F238E27FC236}">
                <a16:creationId xmlns:a16="http://schemas.microsoft.com/office/drawing/2014/main" id="{F8CC0E7B-51A1-11F5-5355-91338EA40DCD}"/>
              </a:ext>
            </a:extLst>
          </p:cNvPr>
          <p:cNvPicPr>
            <a:picLocks noChangeAspect="1"/>
          </p:cNvPicPr>
          <p:nvPr/>
        </p:nvPicPr>
        <p:blipFill>
          <a:blip r:embed="rId4"/>
          <a:stretch>
            <a:fillRect/>
          </a:stretch>
        </p:blipFill>
        <p:spPr>
          <a:xfrm>
            <a:off x="10505338" y="166891"/>
            <a:ext cx="1544421" cy="37260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04 — WEEKLY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life of an opportunity</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22</a:t>
            </a:r>
            <a:endParaRPr lang="en-US" sz="950" dirty="0"/>
          </a:p>
        </p:txBody>
      </p:sp>
      <p:sp>
        <p:nvSpPr>
          <p:cNvPr id="8" name="Shape 6"/>
          <p:cNvSpPr/>
          <p:nvPr/>
        </p:nvSpPr>
        <p:spPr>
          <a:xfrm>
            <a:off x="566928" y="1371600"/>
            <a:ext cx="11057839" cy="960120"/>
          </a:xfrm>
          <a:prstGeom prst="roundRect">
            <a:avLst>
              <a:gd name="adj" fmla="val 9524"/>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9" name="Text 7"/>
          <p:cNvSpPr/>
          <p:nvPr/>
        </p:nvSpPr>
        <p:spPr>
          <a:xfrm>
            <a:off x="786384" y="159105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The Weekly Tracker does not record calls</a:t>
            </a:r>
            <a:endParaRPr lang="en-US" sz="1350" dirty="0"/>
          </a:p>
        </p:txBody>
      </p:sp>
      <p:sp>
        <p:nvSpPr>
          <p:cNvPr id="10" name="Text 8"/>
          <p:cNvSpPr/>
          <p:nvPr/>
        </p:nvSpPr>
        <p:spPr>
          <a:xfrm>
            <a:off x="786384" y="1911096"/>
            <a:ext cx="10618927" cy="24688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It manages the complete lifecycle of every positive opportunity the Daily Tracker produces — from the first invite email all the way through to offers received.</a:t>
            </a:r>
            <a:endParaRPr lang="en-US" sz="1150" dirty="0"/>
          </a:p>
        </p:txBody>
      </p:sp>
      <p:sp>
        <p:nvSpPr>
          <p:cNvPr id="11" name="Text 9"/>
          <p:cNvSpPr/>
          <p:nvPr/>
        </p:nvSpPr>
        <p:spPr>
          <a:xfrm>
            <a:off x="566928" y="252374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LIFECYCLE</a:t>
            </a:r>
            <a:endParaRPr lang="en-US" sz="950" dirty="0"/>
          </a:p>
        </p:txBody>
      </p:sp>
      <p:sp>
        <p:nvSpPr>
          <p:cNvPr id="12" name="Shape 10"/>
          <p:cNvSpPr/>
          <p:nvPr/>
        </p:nvSpPr>
        <p:spPr>
          <a:xfrm>
            <a:off x="566928" y="2798064"/>
            <a:ext cx="2627300" cy="548640"/>
          </a:xfrm>
          <a:prstGeom prst="roundRect">
            <a:avLst>
              <a:gd name="adj" fmla="val 83333"/>
            </a:avLst>
          </a:prstGeom>
          <a:solidFill>
            <a:srgbClr val="F4F7FA"/>
          </a:solidFill>
          <a:ln w="9525">
            <a:solidFill>
              <a:srgbClr val="E1E8F0"/>
            </a:solidFill>
            <a:prstDash val="solid"/>
          </a:ln>
        </p:spPr>
      </p:sp>
      <p:sp>
        <p:nvSpPr>
          <p:cNvPr id="13" name="Text 11"/>
          <p:cNvSpPr/>
          <p:nvPr/>
        </p:nvSpPr>
        <p:spPr>
          <a:xfrm>
            <a:off x="612648"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Invite Sent</a:t>
            </a:r>
            <a:endParaRPr lang="en-US" sz="1100" dirty="0"/>
          </a:p>
        </p:txBody>
      </p:sp>
      <p:sp>
        <p:nvSpPr>
          <p:cNvPr id="14" name="Text 12"/>
          <p:cNvSpPr/>
          <p:nvPr/>
        </p:nvSpPr>
        <p:spPr>
          <a:xfrm>
            <a:off x="3194228" y="2798064"/>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5" name="Shape 13"/>
          <p:cNvSpPr/>
          <p:nvPr/>
        </p:nvSpPr>
        <p:spPr>
          <a:xfrm>
            <a:off x="3377108" y="2798064"/>
            <a:ext cx="2627300" cy="548640"/>
          </a:xfrm>
          <a:prstGeom prst="roundRect">
            <a:avLst>
              <a:gd name="adj" fmla="val 83333"/>
            </a:avLst>
          </a:prstGeom>
          <a:solidFill>
            <a:srgbClr val="F4F7FA"/>
          </a:solidFill>
          <a:ln w="9525">
            <a:solidFill>
              <a:srgbClr val="E1E8F0"/>
            </a:solidFill>
            <a:prstDash val="solid"/>
          </a:ln>
        </p:spPr>
      </p:sp>
      <p:sp>
        <p:nvSpPr>
          <p:cNvPr id="16" name="Text 14"/>
          <p:cNvSpPr/>
          <p:nvPr/>
        </p:nvSpPr>
        <p:spPr>
          <a:xfrm>
            <a:off x="3422828"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JD Requested</a:t>
            </a:r>
            <a:endParaRPr lang="en-US" sz="1100" dirty="0"/>
          </a:p>
        </p:txBody>
      </p:sp>
      <p:sp>
        <p:nvSpPr>
          <p:cNvPr id="17" name="Text 15"/>
          <p:cNvSpPr/>
          <p:nvPr/>
        </p:nvSpPr>
        <p:spPr>
          <a:xfrm>
            <a:off x="6004408" y="2798064"/>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6187288" y="2798064"/>
            <a:ext cx="2627300" cy="548640"/>
          </a:xfrm>
          <a:prstGeom prst="roundRect">
            <a:avLst>
              <a:gd name="adj" fmla="val 83333"/>
            </a:avLst>
          </a:prstGeom>
          <a:solidFill>
            <a:srgbClr val="F4F7FA"/>
          </a:solidFill>
          <a:ln w="9525">
            <a:solidFill>
              <a:srgbClr val="E1E8F0"/>
            </a:solidFill>
            <a:prstDash val="solid"/>
          </a:ln>
        </p:spPr>
      </p:sp>
      <p:sp>
        <p:nvSpPr>
          <p:cNvPr id="19" name="Text 17"/>
          <p:cNvSpPr/>
          <p:nvPr/>
        </p:nvSpPr>
        <p:spPr>
          <a:xfrm>
            <a:off x="6233008"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JD Received</a:t>
            </a:r>
            <a:endParaRPr lang="en-US" sz="1100" dirty="0"/>
          </a:p>
        </p:txBody>
      </p:sp>
      <p:sp>
        <p:nvSpPr>
          <p:cNvPr id="20" name="Text 18"/>
          <p:cNvSpPr/>
          <p:nvPr/>
        </p:nvSpPr>
        <p:spPr>
          <a:xfrm>
            <a:off x="8814587" y="2798064"/>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1" name="Shape 19"/>
          <p:cNvSpPr/>
          <p:nvPr/>
        </p:nvSpPr>
        <p:spPr>
          <a:xfrm>
            <a:off x="8997467" y="2798064"/>
            <a:ext cx="2627300" cy="548640"/>
          </a:xfrm>
          <a:prstGeom prst="roundRect">
            <a:avLst>
              <a:gd name="adj" fmla="val 83333"/>
            </a:avLst>
          </a:prstGeom>
          <a:solidFill>
            <a:srgbClr val="F4F7FA"/>
          </a:solidFill>
          <a:ln w="9525">
            <a:solidFill>
              <a:srgbClr val="E1E8F0"/>
            </a:solidFill>
            <a:prstDash val="solid"/>
          </a:ln>
        </p:spPr>
      </p:sp>
      <p:sp>
        <p:nvSpPr>
          <p:cNvPr id="22" name="Text 20"/>
          <p:cNvSpPr/>
          <p:nvPr/>
        </p:nvSpPr>
        <p:spPr>
          <a:xfrm>
            <a:off x="9043187"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Drive Scheduled</a:t>
            </a:r>
            <a:endParaRPr lang="en-US" sz="1100" dirty="0"/>
          </a:p>
        </p:txBody>
      </p:sp>
      <p:sp>
        <p:nvSpPr>
          <p:cNvPr id="23" name="Shape 21"/>
          <p:cNvSpPr/>
          <p:nvPr/>
        </p:nvSpPr>
        <p:spPr>
          <a:xfrm>
            <a:off x="566928" y="3493008"/>
            <a:ext cx="2627300" cy="548640"/>
          </a:xfrm>
          <a:prstGeom prst="roundRect">
            <a:avLst>
              <a:gd name="adj" fmla="val 83333"/>
            </a:avLst>
          </a:prstGeom>
          <a:solidFill>
            <a:srgbClr val="F4F7FA"/>
          </a:solidFill>
          <a:ln w="9525">
            <a:solidFill>
              <a:srgbClr val="E1E8F0"/>
            </a:solidFill>
            <a:prstDash val="solid"/>
          </a:ln>
        </p:spPr>
      </p:sp>
      <p:sp>
        <p:nvSpPr>
          <p:cNvPr id="24" name="Text 22"/>
          <p:cNvSpPr/>
          <p:nvPr/>
        </p:nvSpPr>
        <p:spPr>
          <a:xfrm>
            <a:off x="612648"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Drive In Progress</a:t>
            </a:r>
            <a:endParaRPr lang="en-US" sz="1100" dirty="0"/>
          </a:p>
        </p:txBody>
      </p:sp>
      <p:sp>
        <p:nvSpPr>
          <p:cNvPr id="25" name="Text 23"/>
          <p:cNvSpPr/>
          <p:nvPr/>
        </p:nvSpPr>
        <p:spPr>
          <a:xfrm>
            <a:off x="3194228" y="3493008"/>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3377108" y="3493008"/>
            <a:ext cx="2627300" cy="548640"/>
          </a:xfrm>
          <a:prstGeom prst="roundRect">
            <a:avLst>
              <a:gd name="adj" fmla="val 83333"/>
            </a:avLst>
          </a:prstGeom>
          <a:solidFill>
            <a:srgbClr val="F4F7FA"/>
          </a:solidFill>
          <a:ln w="9525">
            <a:solidFill>
              <a:srgbClr val="E1E8F0"/>
            </a:solidFill>
            <a:prstDash val="solid"/>
          </a:ln>
        </p:spPr>
      </p:sp>
      <p:sp>
        <p:nvSpPr>
          <p:cNvPr id="27" name="Text 25"/>
          <p:cNvSpPr/>
          <p:nvPr/>
        </p:nvSpPr>
        <p:spPr>
          <a:xfrm>
            <a:off x="3422828"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Interview Rounds</a:t>
            </a:r>
            <a:endParaRPr lang="en-US" sz="1100" dirty="0"/>
          </a:p>
        </p:txBody>
      </p:sp>
      <p:sp>
        <p:nvSpPr>
          <p:cNvPr id="28" name="Text 26"/>
          <p:cNvSpPr/>
          <p:nvPr/>
        </p:nvSpPr>
        <p:spPr>
          <a:xfrm>
            <a:off x="6004408" y="3493008"/>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9" name="Shape 27"/>
          <p:cNvSpPr/>
          <p:nvPr/>
        </p:nvSpPr>
        <p:spPr>
          <a:xfrm>
            <a:off x="6187288" y="3493008"/>
            <a:ext cx="2627300" cy="548640"/>
          </a:xfrm>
          <a:prstGeom prst="roundRect">
            <a:avLst>
              <a:gd name="adj" fmla="val 83333"/>
            </a:avLst>
          </a:prstGeom>
          <a:solidFill>
            <a:srgbClr val="F4F7FA"/>
          </a:solidFill>
          <a:ln w="9525">
            <a:solidFill>
              <a:srgbClr val="E1E8F0"/>
            </a:solidFill>
            <a:prstDash val="solid"/>
          </a:ln>
        </p:spPr>
      </p:sp>
      <p:sp>
        <p:nvSpPr>
          <p:cNvPr id="30" name="Text 28"/>
          <p:cNvSpPr/>
          <p:nvPr/>
        </p:nvSpPr>
        <p:spPr>
          <a:xfrm>
            <a:off x="6233008"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Awaiting Offers</a:t>
            </a:r>
            <a:endParaRPr lang="en-US" sz="1100" dirty="0"/>
          </a:p>
        </p:txBody>
      </p:sp>
      <p:sp>
        <p:nvSpPr>
          <p:cNvPr id="31" name="Text 29"/>
          <p:cNvSpPr/>
          <p:nvPr/>
        </p:nvSpPr>
        <p:spPr>
          <a:xfrm>
            <a:off x="8814587" y="3493008"/>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2" name="Shape 30"/>
          <p:cNvSpPr/>
          <p:nvPr/>
        </p:nvSpPr>
        <p:spPr>
          <a:xfrm>
            <a:off x="8997467" y="3493008"/>
            <a:ext cx="2627300" cy="548640"/>
          </a:xfrm>
          <a:prstGeom prst="roundRect">
            <a:avLst>
              <a:gd name="adj" fmla="val 83333"/>
            </a:avLst>
          </a:prstGeom>
          <a:solidFill>
            <a:srgbClr val="F4F7FA"/>
          </a:solidFill>
          <a:ln w="9525">
            <a:solidFill>
              <a:srgbClr val="E1E8F0"/>
            </a:solidFill>
            <a:prstDash val="solid"/>
          </a:ln>
        </p:spPr>
      </p:sp>
      <p:sp>
        <p:nvSpPr>
          <p:cNvPr id="33" name="Text 31"/>
          <p:cNvSpPr/>
          <p:nvPr/>
        </p:nvSpPr>
        <p:spPr>
          <a:xfrm>
            <a:off x="9043187"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Drive Completed</a:t>
            </a:r>
            <a:endParaRPr lang="en-US" sz="1100" dirty="0"/>
          </a:p>
        </p:txBody>
      </p:sp>
      <p:sp>
        <p:nvSpPr>
          <p:cNvPr id="34" name="Text 32"/>
          <p:cNvSpPr/>
          <p:nvPr/>
        </p:nvSpPr>
        <p:spPr>
          <a:xfrm>
            <a:off x="566928" y="42245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TEN COLUMNS — AND ONE DELIBERATE SEPARATION</a:t>
            </a:r>
            <a:endParaRPr lang="en-US" sz="950" dirty="0"/>
          </a:p>
        </p:txBody>
      </p:sp>
      <p:sp>
        <p:nvSpPr>
          <p:cNvPr id="35" name="Shape 33"/>
          <p:cNvSpPr/>
          <p:nvPr/>
        </p:nvSpPr>
        <p:spPr>
          <a:xfrm>
            <a:off x="566928" y="4498848"/>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6" name="Shape 34"/>
          <p:cNvSpPr/>
          <p:nvPr/>
        </p:nvSpPr>
        <p:spPr>
          <a:xfrm>
            <a:off x="786384" y="4718304"/>
            <a:ext cx="365760" cy="365760"/>
          </a:xfrm>
          <a:prstGeom prst="ellipse">
            <a:avLst/>
          </a:prstGeom>
          <a:solidFill>
            <a:srgbClr val="0B2E59"/>
          </a:solidFill>
          <a:ln w="12700">
            <a:solidFill>
              <a:srgbClr val="0B2E59"/>
            </a:solidFill>
            <a:prstDash val="solid"/>
          </a:ln>
        </p:spPr>
      </p:sp>
      <p:pic>
        <p:nvPicPr>
          <p:cNvPr id="37" name="Image 0" descr="preencoded.png"/>
          <p:cNvPicPr>
            <a:picLocks noChangeAspect="1"/>
          </p:cNvPicPr>
          <p:nvPr/>
        </p:nvPicPr>
        <p:blipFill>
          <a:blip r:embed="rId3"/>
          <a:stretch>
            <a:fillRect/>
          </a:stretch>
        </p:blipFill>
        <p:spPr>
          <a:xfrm>
            <a:off x="877824" y="4809744"/>
            <a:ext cx="182880" cy="182880"/>
          </a:xfrm>
          <a:prstGeom prst="rect">
            <a:avLst/>
          </a:prstGeom>
        </p:spPr>
      </p:pic>
      <p:sp>
        <p:nvSpPr>
          <p:cNvPr id="38" name="Text 35"/>
          <p:cNvSpPr/>
          <p:nvPr/>
        </p:nvSpPr>
        <p:spPr>
          <a:xfrm>
            <a:off x="1280160" y="471830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The row</a:t>
            </a:r>
            <a:endParaRPr lang="en-US" sz="1350" dirty="0"/>
          </a:p>
        </p:txBody>
      </p:sp>
      <p:sp>
        <p:nvSpPr>
          <p:cNvPr id="39" name="Text 36"/>
          <p:cNvSpPr/>
          <p:nvPr/>
        </p:nvSpPr>
        <p:spPr>
          <a:xfrm>
            <a:off x="786384" y="5129784"/>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S.No · Company Name · Role · CDC · Company Type · CTC · Current Stage · Status / Remarks · Last Updated · Updated By</a:t>
            </a:r>
            <a:endParaRPr lang="en-US" sz="1050" dirty="0"/>
          </a:p>
        </p:txBody>
      </p:sp>
      <p:sp>
        <p:nvSpPr>
          <p:cNvPr id="40" name="Shape 37"/>
          <p:cNvSpPr/>
          <p:nvPr/>
        </p:nvSpPr>
        <p:spPr>
          <a:xfrm>
            <a:off x="6214720" y="4498848"/>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1" name="Shape 38"/>
          <p:cNvSpPr/>
          <p:nvPr/>
        </p:nvSpPr>
        <p:spPr>
          <a:xfrm>
            <a:off x="6434176" y="4718304"/>
            <a:ext cx="365760" cy="365760"/>
          </a:xfrm>
          <a:prstGeom prst="ellipse">
            <a:avLst/>
          </a:prstGeom>
          <a:solidFill>
            <a:srgbClr val="00ACC1"/>
          </a:solidFill>
          <a:ln w="12700">
            <a:solidFill>
              <a:srgbClr val="00ACC1"/>
            </a:solidFill>
            <a:prstDash val="solid"/>
          </a:ln>
        </p:spPr>
      </p:sp>
      <p:pic>
        <p:nvPicPr>
          <p:cNvPr id="42" name="Image 1" descr="preencoded.png"/>
          <p:cNvPicPr>
            <a:picLocks noChangeAspect="1"/>
          </p:cNvPicPr>
          <p:nvPr/>
        </p:nvPicPr>
        <p:blipFill>
          <a:blip r:embed="rId4"/>
          <a:stretch>
            <a:fillRect/>
          </a:stretch>
        </p:blipFill>
        <p:spPr>
          <a:xfrm>
            <a:off x="6525616" y="4809744"/>
            <a:ext cx="182880" cy="182880"/>
          </a:xfrm>
          <a:prstGeom prst="rect">
            <a:avLst/>
          </a:prstGeom>
        </p:spPr>
      </p:pic>
      <p:sp>
        <p:nvSpPr>
          <p:cNvPr id="43" name="Text 39"/>
          <p:cNvSpPr/>
          <p:nvPr/>
        </p:nvSpPr>
        <p:spPr>
          <a:xfrm>
            <a:off x="6927952" y="471830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Stage and status are not the same field</a:t>
            </a:r>
            <a:endParaRPr lang="en-US" sz="1350" dirty="0"/>
          </a:p>
        </p:txBody>
      </p:sp>
      <p:sp>
        <p:nvSpPr>
          <p:cNvPr id="44" name="Text 40"/>
          <p:cNvSpPr/>
          <p:nvPr/>
        </p:nvSpPr>
        <p:spPr>
          <a:xfrm>
            <a:off x="6434176" y="5129784"/>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Current Stage is a dropdown, so it can be reported on. Status / Remarks is free text, for whatever the coordinator needs to remember.</a:t>
            </a:r>
            <a:endParaRPr lang="en-US" sz="1050" dirty="0"/>
          </a:p>
        </p:txBody>
      </p:sp>
      <p:pic>
        <p:nvPicPr>
          <p:cNvPr id="45" name="Picture 44">
            <a:extLst>
              <a:ext uri="{FF2B5EF4-FFF2-40B4-BE49-F238E27FC236}">
                <a16:creationId xmlns:a16="http://schemas.microsoft.com/office/drawing/2014/main" id="{553D902B-8CE2-7C72-3B13-AE51B40C3E9D}"/>
              </a:ext>
            </a:extLst>
          </p:cNvPr>
          <p:cNvPicPr>
            <a:picLocks noChangeAspect="1"/>
          </p:cNvPicPr>
          <p:nvPr/>
        </p:nvPicPr>
        <p:blipFill>
          <a:blip r:embed="rId5"/>
          <a:stretch>
            <a:fillRect/>
          </a:stretch>
        </p:blipFill>
        <p:spPr>
          <a:xfrm>
            <a:off x="10505338" y="166891"/>
            <a:ext cx="1544421" cy="37260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04 — WEEKLY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table. The status picks the section.</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23</a:t>
            </a:r>
            <a:endParaRPr lang="en-US" sz="950" dirty="0"/>
          </a:p>
        </p:txBody>
      </p:sp>
      <p:sp>
        <p:nvSpPr>
          <p:cNvPr id="8" name="Shape 6"/>
          <p:cNvSpPr/>
          <p:nvPr/>
        </p:nvSpPr>
        <p:spPr>
          <a:xfrm>
            <a:off x="566928" y="1371600"/>
            <a:ext cx="11057839" cy="1051560"/>
          </a:xfrm>
          <a:prstGeom prst="roundRect">
            <a:avLst>
              <a:gd name="adj" fmla="val 8696"/>
            </a:avLst>
          </a:prstGeom>
          <a:solidFill>
            <a:srgbClr val="EEF4FB"/>
          </a:solidFill>
          <a:ln w="9525">
            <a:solidFill>
              <a:srgbClr val="D6E4F5"/>
            </a:solidFill>
            <a:prstDash val="solid"/>
          </a:ln>
        </p:spPr>
      </p:sp>
      <p:sp>
        <p:nvSpPr>
          <p:cNvPr id="9" name="Text 7"/>
          <p:cNvSpPr/>
          <p:nvPr/>
        </p:nvSpPr>
        <p:spPr>
          <a:xfrm>
            <a:off x="877824" y="1536192"/>
            <a:ext cx="10436047" cy="484632"/>
          </a:xfrm>
          <a:prstGeom prst="rect">
            <a:avLst/>
          </a:prstGeom>
          <a:noFill/>
          <a:ln/>
        </p:spPr>
        <p:txBody>
          <a:bodyPr wrap="square" lIns="0" tIns="0" rIns="0" bIns="0" rtlCol="0" anchor="ctr"/>
          <a:lstStyle/>
          <a:p>
            <a:pPr marL="0" indent="0">
              <a:lnSpc>
                <a:spcPct val="112000"/>
              </a:lnSpc>
              <a:buNone/>
            </a:pPr>
            <a:r>
              <a:rPr lang="en-US" sz="2000" i="1" dirty="0">
                <a:solidFill>
                  <a:srgbClr val="0B2E59"/>
                </a:solidFill>
                <a:latin typeface="Calibri" pitchFamily="34" charset="0"/>
                <a:ea typeface="Calibri" pitchFamily="34" charset="-122"/>
                <a:cs typeface="Calibri" pitchFamily="34" charset="-120"/>
              </a:rPr>
              <a:t>“Nobody manually cuts and pastes rows anymore.”</a:t>
            </a:r>
            <a:endParaRPr lang="en-US" sz="2000" dirty="0"/>
          </a:p>
        </p:txBody>
      </p:sp>
      <p:sp>
        <p:nvSpPr>
          <p:cNvPr id="10" name="Text 8"/>
          <p:cNvSpPr/>
          <p:nvPr/>
        </p:nvSpPr>
        <p:spPr>
          <a:xfrm>
            <a:off x="877824" y="200253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One master table. Change the stage, and the row moves itself to the right section.</a:t>
            </a:r>
            <a:endParaRPr lang="en-US" sz="1000" dirty="0"/>
          </a:p>
        </p:txBody>
      </p:sp>
      <p:sp>
        <p:nvSpPr>
          <p:cNvPr id="11" name="Text 9"/>
          <p:cNvSpPr/>
          <p:nvPr/>
        </p:nvSpPr>
        <p:spPr>
          <a:xfrm>
            <a:off x="566928" y="259689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CHANGE THE STAGE — THE ROW RELOCATES</a:t>
            </a:r>
            <a:endParaRPr lang="en-US" sz="950" dirty="0"/>
          </a:p>
        </p:txBody>
      </p:sp>
      <p:sp>
        <p:nvSpPr>
          <p:cNvPr id="12" name="Shape 10"/>
          <p:cNvSpPr/>
          <p:nvPr/>
        </p:nvSpPr>
        <p:spPr>
          <a:xfrm>
            <a:off x="566928" y="2852928"/>
            <a:ext cx="2668448" cy="457200"/>
          </a:xfrm>
          <a:prstGeom prst="roundRect">
            <a:avLst>
              <a:gd name="adj" fmla="val 100000"/>
            </a:avLst>
          </a:prstGeom>
          <a:solidFill>
            <a:srgbClr val="E7F3FD"/>
          </a:solidFill>
          <a:ln w="9525">
            <a:solidFill>
              <a:srgbClr val="E1E8F0"/>
            </a:solidFill>
            <a:prstDash val="solid"/>
          </a:ln>
        </p:spPr>
      </p:sp>
      <p:sp>
        <p:nvSpPr>
          <p:cNvPr id="13" name="Text 11"/>
          <p:cNvSpPr/>
          <p:nvPr/>
        </p:nvSpPr>
        <p:spPr>
          <a:xfrm>
            <a:off x="640080" y="2852928"/>
            <a:ext cx="2522144" cy="457200"/>
          </a:xfrm>
          <a:prstGeom prst="rect">
            <a:avLst/>
          </a:prstGeom>
          <a:noFill/>
          <a:ln/>
        </p:spPr>
        <p:txBody>
          <a:bodyPr wrap="square" lIns="0" tIns="0" rIns="0" bIns="0" rtlCol="0" anchor="ctr"/>
          <a:lstStyle/>
          <a:p>
            <a:pPr marL="0" indent="0" algn="ctr">
              <a:buNone/>
            </a:pPr>
            <a:r>
              <a:rPr lang="en-US" sz="1000" b="1" dirty="0">
                <a:solidFill>
                  <a:srgbClr val="175496"/>
                </a:solidFill>
                <a:latin typeface="Calibri" pitchFamily="34" charset="0"/>
                <a:ea typeface="Calibri" pitchFamily="34" charset="-122"/>
                <a:cs typeface="Calibri" pitchFamily="34" charset="-120"/>
              </a:rPr>
              <a:t>Invite Email Sent  ›  Pipeline</a:t>
            </a:r>
            <a:endParaRPr lang="en-US" sz="1000" dirty="0"/>
          </a:p>
        </p:txBody>
      </p:sp>
      <p:sp>
        <p:nvSpPr>
          <p:cNvPr id="14" name="Shape 12"/>
          <p:cNvSpPr/>
          <p:nvPr/>
        </p:nvSpPr>
        <p:spPr>
          <a:xfrm>
            <a:off x="3363392" y="2852928"/>
            <a:ext cx="2668448" cy="457200"/>
          </a:xfrm>
          <a:prstGeom prst="roundRect">
            <a:avLst>
              <a:gd name="adj" fmla="val 100000"/>
            </a:avLst>
          </a:prstGeom>
          <a:solidFill>
            <a:srgbClr val="EEF4FB"/>
          </a:solidFill>
          <a:ln w="9525">
            <a:solidFill>
              <a:srgbClr val="E1E8F0"/>
            </a:solidFill>
            <a:prstDash val="solid"/>
          </a:ln>
        </p:spPr>
      </p:sp>
      <p:sp>
        <p:nvSpPr>
          <p:cNvPr id="15" name="Text 13"/>
          <p:cNvSpPr/>
          <p:nvPr/>
        </p:nvSpPr>
        <p:spPr>
          <a:xfrm>
            <a:off x="3436544" y="2852928"/>
            <a:ext cx="2522144"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JD Received  ›  In Progress</a:t>
            </a:r>
            <a:endParaRPr lang="en-US" sz="1000" dirty="0"/>
          </a:p>
        </p:txBody>
      </p:sp>
      <p:sp>
        <p:nvSpPr>
          <p:cNvPr id="16" name="Shape 14"/>
          <p:cNvSpPr/>
          <p:nvPr/>
        </p:nvSpPr>
        <p:spPr>
          <a:xfrm>
            <a:off x="6159856" y="2852928"/>
            <a:ext cx="2668448" cy="457200"/>
          </a:xfrm>
          <a:prstGeom prst="roundRect">
            <a:avLst>
              <a:gd name="adj" fmla="val 100000"/>
            </a:avLst>
          </a:prstGeom>
          <a:solidFill>
            <a:srgbClr val="EAF5EB"/>
          </a:solidFill>
          <a:ln w="9525">
            <a:solidFill>
              <a:srgbClr val="E1E8F0"/>
            </a:solidFill>
            <a:prstDash val="solid"/>
          </a:ln>
        </p:spPr>
      </p:sp>
      <p:sp>
        <p:nvSpPr>
          <p:cNvPr id="17" name="Text 15"/>
          <p:cNvSpPr/>
          <p:nvPr/>
        </p:nvSpPr>
        <p:spPr>
          <a:xfrm>
            <a:off x="6233008" y="2852928"/>
            <a:ext cx="2522144" cy="457200"/>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Drive Completed  ›  Completed</a:t>
            </a:r>
            <a:endParaRPr lang="en-US" sz="1000" dirty="0"/>
          </a:p>
        </p:txBody>
      </p:sp>
      <p:sp>
        <p:nvSpPr>
          <p:cNvPr id="18" name="Shape 16"/>
          <p:cNvSpPr/>
          <p:nvPr/>
        </p:nvSpPr>
        <p:spPr>
          <a:xfrm>
            <a:off x="8956319" y="2852928"/>
            <a:ext cx="2668448" cy="457200"/>
          </a:xfrm>
          <a:prstGeom prst="roundRect">
            <a:avLst>
              <a:gd name="adj" fmla="val 100000"/>
            </a:avLst>
          </a:prstGeom>
          <a:solidFill>
            <a:srgbClr val="FBEDED"/>
          </a:solidFill>
          <a:ln w="9525">
            <a:solidFill>
              <a:srgbClr val="E1E8F0"/>
            </a:solidFill>
            <a:prstDash val="solid"/>
          </a:ln>
        </p:spPr>
      </p:sp>
      <p:sp>
        <p:nvSpPr>
          <p:cNvPr id="19" name="Text 17"/>
          <p:cNvSpPr/>
          <p:nvPr/>
        </p:nvSpPr>
        <p:spPr>
          <a:xfrm>
            <a:off x="9029471" y="2852928"/>
            <a:ext cx="2522144" cy="457200"/>
          </a:xfrm>
          <a:prstGeom prst="rect">
            <a:avLst/>
          </a:prstGeom>
          <a:noFill/>
          <a:ln/>
        </p:spPr>
        <p:txBody>
          <a:bodyPr wrap="square" lIns="0" tIns="0" rIns="0" bIns="0" rtlCol="0" anchor="ctr"/>
          <a:lstStyle/>
          <a:p>
            <a:pPr marL="0" indent="0" algn="ctr">
              <a:buNone/>
            </a:pPr>
            <a:r>
              <a:rPr lang="en-US" sz="1000" b="1" dirty="0">
                <a:solidFill>
                  <a:srgbClr val="C62828"/>
                </a:solidFill>
                <a:latin typeface="Calibri" pitchFamily="34" charset="0"/>
                <a:ea typeface="Calibri" pitchFamily="34" charset="-122"/>
                <a:cs typeface="Calibri" pitchFamily="34" charset="-120"/>
              </a:rPr>
              <a:t>Rejected by HR  ›  Rejected</a:t>
            </a:r>
            <a:endParaRPr lang="en-US" sz="1000" dirty="0"/>
          </a:p>
        </p:txBody>
      </p:sp>
      <p:sp>
        <p:nvSpPr>
          <p:cNvPr id="20" name="Text 18"/>
          <p:cNvSpPr/>
          <p:nvPr/>
        </p:nvSpPr>
        <p:spPr>
          <a:xfrm>
            <a:off x="566928" y="3584448"/>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SEVEN SECTIONS</a:t>
            </a:r>
            <a:endParaRPr lang="en-US" sz="950" dirty="0"/>
          </a:p>
        </p:txBody>
      </p:sp>
      <p:sp>
        <p:nvSpPr>
          <p:cNvPr id="21" name="Shape 19"/>
          <p:cNvSpPr/>
          <p:nvPr/>
        </p:nvSpPr>
        <p:spPr>
          <a:xfrm>
            <a:off x="566928" y="3858768"/>
            <a:ext cx="5212080" cy="1975104"/>
          </a:xfrm>
          <a:prstGeom prst="roundRect">
            <a:avLst>
              <a:gd name="adj" fmla="val 463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Text 20"/>
          <p:cNvSpPr/>
          <p:nvPr/>
        </p:nvSpPr>
        <p:spPr>
          <a:xfrm>
            <a:off x="786384" y="4078224"/>
            <a:ext cx="4773168" cy="1581912"/>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Follow-up Due Today</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Completed</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In Progress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In Pipeline</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Top Companies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Rejected by HR</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Rejected by College</a:t>
            </a:r>
            <a:endParaRPr lang="en-US" sz="1100" dirty="0"/>
          </a:p>
        </p:txBody>
      </p:sp>
      <p:sp>
        <p:nvSpPr>
          <p:cNvPr id="23" name="Text 21"/>
          <p:cNvSpPr/>
          <p:nvPr/>
        </p:nvSpPr>
        <p:spPr>
          <a:xfrm>
            <a:off x="6089904" y="3584448"/>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SIX KPI CARDS, AND ONE AUTOMATION</a:t>
            </a:r>
            <a:endParaRPr lang="en-US" sz="950" dirty="0"/>
          </a:p>
        </p:txBody>
      </p:sp>
      <p:sp>
        <p:nvSpPr>
          <p:cNvPr id="24" name="Shape 22"/>
          <p:cNvSpPr/>
          <p:nvPr/>
        </p:nvSpPr>
        <p:spPr>
          <a:xfrm>
            <a:off x="6089904" y="3858768"/>
            <a:ext cx="5532120" cy="1975104"/>
          </a:xfrm>
          <a:prstGeom prst="roundRect">
            <a:avLst>
              <a:gd name="adj" fmla="val 463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Text 23"/>
          <p:cNvSpPr/>
          <p:nvPr/>
        </p:nvSpPr>
        <p:spPr>
          <a:xfrm>
            <a:off x="6309360" y="4078224"/>
            <a:ext cx="509320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Click a card, the table filters</a:t>
            </a:r>
            <a:endParaRPr lang="en-US" sz="1350" dirty="0"/>
          </a:p>
        </p:txBody>
      </p:sp>
      <p:sp>
        <p:nvSpPr>
          <p:cNvPr id="26" name="Text 24"/>
          <p:cNvSpPr/>
          <p:nvPr/>
        </p:nvSpPr>
        <p:spPr>
          <a:xfrm>
            <a:off x="6309360" y="4398264"/>
            <a:ext cx="5093208" cy="1261872"/>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Follow-ups Due Today · In Progress · In Pipeline · Top Companies · Completed · Rejected.</a:t>
            </a:r>
            <a:endParaRPr lang="en-US" sz="1100" dirty="0"/>
          </a:p>
          <a:p>
            <a:pPr marL="0" indent="0">
              <a:lnSpc>
                <a:spcPct val="114000"/>
              </a:lnSpc>
              <a:buNone/>
            </a:pPr>
            <a:endParaRPr lang="en-US" sz="1100" dirty="0"/>
          </a:p>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Top Companies fills itself: CTC of 4 LPA or more, a Software or IT role, and still active. A coordinator can also pin one manually.</a:t>
            </a:r>
            <a:endParaRPr lang="en-US" sz="1100" dirty="0"/>
          </a:p>
        </p:txBody>
      </p:sp>
      <p:pic>
        <p:nvPicPr>
          <p:cNvPr id="27" name="Picture 26">
            <a:extLst>
              <a:ext uri="{FF2B5EF4-FFF2-40B4-BE49-F238E27FC236}">
                <a16:creationId xmlns:a16="http://schemas.microsoft.com/office/drawing/2014/main" id="{643F212A-7A8B-F84B-7981-EE4ADE6792F4}"/>
              </a:ext>
            </a:extLst>
          </p:cNvPr>
          <p:cNvPicPr>
            <a:picLocks noChangeAspect="1"/>
          </p:cNvPicPr>
          <p:nvPr/>
        </p:nvPicPr>
        <p:blipFill>
          <a:blip r:embed="rId3"/>
          <a:stretch>
            <a:fillRect/>
          </a:stretch>
        </p:blipFill>
        <p:spPr>
          <a:xfrm>
            <a:off x="10505338" y="166891"/>
            <a:ext cx="1544421" cy="37260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05 — DAILY LEADS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Today's wins, in one register</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24</a:t>
            </a:r>
            <a:endParaRPr lang="en-US" sz="950" dirty="0"/>
          </a:p>
        </p:txBody>
      </p:sp>
      <p:sp>
        <p:nvSpPr>
          <p:cNvPr id="8" name="Shape 6"/>
          <p:cNvSpPr/>
          <p:nvPr/>
        </p:nvSpPr>
        <p:spPr>
          <a:xfrm>
            <a:off x="566928" y="1371600"/>
            <a:ext cx="5410048"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591056"/>
            <a:ext cx="365760" cy="365760"/>
          </a:xfrm>
          <a:prstGeom prst="ellipse">
            <a:avLst/>
          </a:prstGeom>
          <a:solidFill>
            <a:srgbClr val="2E7D32"/>
          </a:solidFill>
          <a:ln w="12700">
            <a:solidFill>
              <a:srgbClr val="2E7D32"/>
            </a:solidFill>
            <a:prstDash val="solid"/>
          </a:ln>
        </p:spPr>
      </p:sp>
      <p:pic>
        <p:nvPicPr>
          <p:cNvPr id="10" name="Image 0" descr="preencoded.png"/>
          <p:cNvPicPr>
            <a:picLocks noChangeAspect="1"/>
          </p:cNvPicPr>
          <p:nvPr/>
        </p:nvPicPr>
        <p:blipFill>
          <a:blip r:embed="rId3"/>
          <a:stretch>
            <a:fillRect/>
          </a:stretch>
        </p:blipFill>
        <p:spPr>
          <a:xfrm>
            <a:off x="877824" y="1682496"/>
            <a:ext cx="182880" cy="182880"/>
          </a:xfrm>
          <a:prstGeom prst="rect">
            <a:avLst/>
          </a:prstGeom>
        </p:spPr>
      </p:pic>
      <p:sp>
        <p:nvSpPr>
          <p:cNvPr id="11" name="Text 8"/>
          <p:cNvSpPr/>
          <p:nvPr/>
        </p:nvSpPr>
        <p:spPr>
          <a:xfrm>
            <a:off x="1280160" y="1591056"/>
            <a:ext cx="4477360"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What positive opportunities came in today?</a:t>
            </a:r>
            <a:endParaRPr lang="en-US" sz="1250" dirty="0"/>
          </a:p>
        </p:txBody>
      </p:sp>
      <p:sp>
        <p:nvSpPr>
          <p:cNvPr id="12" name="Text 9"/>
          <p:cNvSpPr/>
          <p:nvPr/>
        </p:nvSpPr>
        <p:spPr>
          <a:xfrm>
            <a:off x="786384" y="2002536"/>
            <a:ext cx="4971136" cy="3840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Every encouraging response, whoever it came from and however it arrived.</a:t>
            </a:r>
            <a:endParaRPr lang="en-US" sz="1050" dirty="0"/>
          </a:p>
        </p:txBody>
      </p:sp>
      <p:sp>
        <p:nvSpPr>
          <p:cNvPr id="13" name="Shape 10"/>
          <p:cNvSpPr/>
          <p:nvPr/>
        </p:nvSpPr>
        <p:spPr>
          <a:xfrm>
            <a:off x="6214720" y="1371600"/>
            <a:ext cx="5410048"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6434176" y="1591056"/>
            <a:ext cx="365760" cy="365760"/>
          </a:xfrm>
          <a:prstGeom prst="ellipse">
            <a:avLst/>
          </a:prstGeom>
          <a:solidFill>
            <a:srgbClr val="175496"/>
          </a:solidFill>
          <a:ln w="12700">
            <a:solidFill>
              <a:srgbClr val="175496"/>
            </a:solidFill>
            <a:prstDash val="solid"/>
          </a:ln>
        </p:spPr>
      </p:sp>
      <p:pic>
        <p:nvPicPr>
          <p:cNvPr id="15" name="Image 1" descr="preencoded.png"/>
          <p:cNvPicPr>
            <a:picLocks noChangeAspect="1"/>
          </p:cNvPicPr>
          <p:nvPr/>
        </p:nvPicPr>
        <p:blipFill>
          <a:blip r:embed="rId4"/>
          <a:stretch>
            <a:fillRect/>
          </a:stretch>
        </p:blipFill>
        <p:spPr>
          <a:xfrm>
            <a:off x="6525616" y="1682496"/>
            <a:ext cx="182880" cy="182880"/>
          </a:xfrm>
          <a:prstGeom prst="rect">
            <a:avLst/>
          </a:prstGeom>
        </p:spPr>
      </p:pic>
      <p:sp>
        <p:nvSpPr>
          <p:cNvPr id="16" name="Text 12"/>
          <p:cNvSpPr/>
          <p:nvPr/>
        </p:nvSpPr>
        <p:spPr>
          <a:xfrm>
            <a:off x="6927952" y="1591056"/>
            <a:ext cx="4477360"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What job descriptions did we receive today?</a:t>
            </a:r>
            <a:endParaRPr lang="en-US" sz="1250" dirty="0"/>
          </a:p>
        </p:txBody>
      </p:sp>
      <p:sp>
        <p:nvSpPr>
          <p:cNvPr id="17" name="Text 13"/>
          <p:cNvSpPr/>
          <p:nvPr/>
        </p:nvSpPr>
        <p:spPr>
          <a:xfrm>
            <a:off x="6434176" y="2002536"/>
            <a:ext cx="4971136" cy="3840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Every JD landed today, logged against the company and the college it is for.</a:t>
            </a:r>
            <a:endParaRPr lang="en-US" sz="1050" dirty="0"/>
          </a:p>
        </p:txBody>
      </p:sp>
      <p:sp>
        <p:nvSpPr>
          <p:cNvPr id="18" name="Shape 14"/>
          <p:cNvSpPr/>
          <p:nvPr/>
        </p:nvSpPr>
        <p:spPr>
          <a:xfrm>
            <a:off x="566928" y="2743200"/>
            <a:ext cx="3564026" cy="987552"/>
          </a:xfrm>
          <a:prstGeom prst="roundRect">
            <a:avLst>
              <a:gd name="adj" fmla="val 925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9" name="Text 15"/>
          <p:cNvSpPr/>
          <p:nvPr/>
        </p:nvSpPr>
        <p:spPr>
          <a:xfrm>
            <a:off x="566928" y="2862072"/>
            <a:ext cx="3564026" cy="475488"/>
          </a:xfrm>
          <a:prstGeom prst="rect">
            <a:avLst/>
          </a:prstGeom>
          <a:noFill/>
          <a:ln/>
        </p:spPr>
        <p:txBody>
          <a:bodyPr wrap="square" lIns="0" tIns="0" rIns="0" bIns="0" rtlCol="0" anchor="ctr"/>
          <a:lstStyle/>
          <a:p>
            <a:pPr marL="0" indent="0" algn="ctr">
              <a:buNone/>
            </a:pPr>
            <a:r>
              <a:rPr lang="en-US" sz="3000" b="1" dirty="0">
                <a:solidFill>
                  <a:srgbClr val="2E7D32"/>
                </a:solidFill>
                <a:latin typeface="Calibri" pitchFamily="34" charset="0"/>
                <a:ea typeface="Calibri" pitchFamily="34" charset="-122"/>
                <a:cs typeface="Calibri" pitchFamily="34" charset="-120"/>
              </a:rPr>
              <a:t>18</a:t>
            </a:r>
            <a:endParaRPr lang="en-US" sz="3000" dirty="0"/>
          </a:p>
        </p:txBody>
      </p:sp>
      <p:sp>
        <p:nvSpPr>
          <p:cNvPr id="20" name="Text 16"/>
          <p:cNvSpPr/>
          <p:nvPr/>
        </p:nvSpPr>
        <p:spPr>
          <a:xfrm>
            <a:off x="621792" y="3346704"/>
            <a:ext cx="3454298" cy="329184"/>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Today's positives</a:t>
            </a:r>
            <a:endParaRPr lang="en-US" sz="950" dirty="0"/>
          </a:p>
        </p:txBody>
      </p:sp>
      <p:sp>
        <p:nvSpPr>
          <p:cNvPr id="21" name="Shape 17"/>
          <p:cNvSpPr/>
          <p:nvPr/>
        </p:nvSpPr>
        <p:spPr>
          <a:xfrm>
            <a:off x="4313834" y="2743200"/>
            <a:ext cx="3564026" cy="987552"/>
          </a:xfrm>
          <a:prstGeom prst="roundRect">
            <a:avLst>
              <a:gd name="adj" fmla="val 925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Text 18"/>
          <p:cNvSpPr/>
          <p:nvPr/>
        </p:nvSpPr>
        <p:spPr>
          <a:xfrm>
            <a:off x="4313834" y="2862072"/>
            <a:ext cx="3564026" cy="475488"/>
          </a:xfrm>
          <a:prstGeom prst="rect">
            <a:avLst/>
          </a:prstGeom>
          <a:noFill/>
          <a:ln/>
        </p:spPr>
        <p:txBody>
          <a:bodyPr wrap="square" lIns="0" tIns="0" rIns="0" bIns="0" rtlCol="0" anchor="ctr"/>
          <a:lstStyle/>
          <a:p>
            <a:pPr marL="0" indent="0" algn="ctr">
              <a:buNone/>
            </a:pPr>
            <a:r>
              <a:rPr lang="en-US" sz="3000" b="1" dirty="0">
                <a:solidFill>
                  <a:srgbClr val="175496"/>
                </a:solidFill>
                <a:latin typeface="Calibri" pitchFamily="34" charset="0"/>
                <a:ea typeface="Calibri" pitchFamily="34" charset="-122"/>
                <a:cs typeface="Calibri" pitchFamily="34" charset="-120"/>
              </a:rPr>
              <a:t>7</a:t>
            </a:r>
            <a:endParaRPr lang="en-US" sz="3000" dirty="0"/>
          </a:p>
        </p:txBody>
      </p:sp>
      <p:sp>
        <p:nvSpPr>
          <p:cNvPr id="23" name="Text 19"/>
          <p:cNvSpPr/>
          <p:nvPr/>
        </p:nvSpPr>
        <p:spPr>
          <a:xfrm>
            <a:off x="4368698" y="3346704"/>
            <a:ext cx="3454298" cy="329184"/>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JDs received today</a:t>
            </a:r>
            <a:endParaRPr lang="en-US" sz="950" dirty="0"/>
          </a:p>
        </p:txBody>
      </p:sp>
      <p:sp>
        <p:nvSpPr>
          <p:cNvPr id="24" name="Shape 20"/>
          <p:cNvSpPr/>
          <p:nvPr/>
        </p:nvSpPr>
        <p:spPr>
          <a:xfrm>
            <a:off x="8060741" y="2743200"/>
            <a:ext cx="3564026" cy="987552"/>
          </a:xfrm>
          <a:prstGeom prst="roundRect">
            <a:avLst>
              <a:gd name="adj" fmla="val 925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Text 21"/>
          <p:cNvSpPr/>
          <p:nvPr/>
        </p:nvSpPr>
        <p:spPr>
          <a:xfrm>
            <a:off x="8060741" y="2862072"/>
            <a:ext cx="3564026"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15</a:t>
            </a:r>
            <a:endParaRPr lang="en-US" sz="3000" dirty="0"/>
          </a:p>
        </p:txBody>
      </p:sp>
      <p:sp>
        <p:nvSpPr>
          <p:cNvPr id="26" name="Text 22"/>
          <p:cNvSpPr/>
          <p:nvPr/>
        </p:nvSpPr>
        <p:spPr>
          <a:xfrm>
            <a:off x="8115605" y="3346704"/>
            <a:ext cx="3454298" cy="329184"/>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Active colleges</a:t>
            </a:r>
            <a:endParaRPr lang="en-US" sz="950" dirty="0"/>
          </a:p>
        </p:txBody>
      </p:sp>
      <p:sp>
        <p:nvSpPr>
          <p:cNvPr id="27" name="Text 23"/>
          <p:cNvSpPr/>
          <p:nvPr/>
        </p:nvSpPr>
        <p:spPr>
          <a:xfrm>
            <a:off x="566928" y="39136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ONE SCREEN, TWO TABS — THE FILTERS NEVER MOVE</a:t>
            </a:r>
            <a:endParaRPr lang="en-US" sz="950" dirty="0"/>
          </a:p>
        </p:txBody>
      </p:sp>
      <p:sp>
        <p:nvSpPr>
          <p:cNvPr id="28" name="Shape 24"/>
          <p:cNvSpPr/>
          <p:nvPr/>
        </p:nvSpPr>
        <p:spPr>
          <a:xfrm>
            <a:off x="566928" y="4187952"/>
            <a:ext cx="2194560" cy="420624"/>
          </a:xfrm>
          <a:prstGeom prst="roundRect">
            <a:avLst>
              <a:gd name="adj" fmla="val 108696"/>
            </a:avLst>
          </a:prstGeom>
          <a:solidFill>
            <a:srgbClr val="0B2E59"/>
          </a:solidFill>
          <a:ln w="9525">
            <a:solidFill>
              <a:srgbClr val="0B2E59"/>
            </a:solidFill>
            <a:prstDash val="solid"/>
          </a:ln>
        </p:spPr>
      </p:sp>
      <p:sp>
        <p:nvSpPr>
          <p:cNvPr id="29" name="Text 25"/>
          <p:cNvSpPr/>
          <p:nvPr/>
        </p:nvSpPr>
        <p:spPr>
          <a:xfrm>
            <a:off x="640080" y="4187952"/>
            <a:ext cx="2048256"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Positives</a:t>
            </a:r>
            <a:endParaRPr lang="en-US" sz="1150" dirty="0"/>
          </a:p>
        </p:txBody>
      </p:sp>
      <p:sp>
        <p:nvSpPr>
          <p:cNvPr id="30" name="Shape 26"/>
          <p:cNvSpPr/>
          <p:nvPr/>
        </p:nvSpPr>
        <p:spPr>
          <a:xfrm>
            <a:off x="2907792" y="4187952"/>
            <a:ext cx="2194560" cy="420624"/>
          </a:xfrm>
          <a:prstGeom prst="roundRect">
            <a:avLst>
              <a:gd name="adj" fmla="val 108696"/>
            </a:avLst>
          </a:prstGeom>
          <a:solidFill>
            <a:srgbClr val="F4F7FA"/>
          </a:solidFill>
          <a:ln w="9525">
            <a:solidFill>
              <a:srgbClr val="E1E8F0"/>
            </a:solidFill>
            <a:prstDash val="solid"/>
          </a:ln>
        </p:spPr>
      </p:sp>
      <p:sp>
        <p:nvSpPr>
          <p:cNvPr id="31" name="Text 27"/>
          <p:cNvSpPr/>
          <p:nvPr/>
        </p:nvSpPr>
        <p:spPr>
          <a:xfrm>
            <a:off x="2980944" y="4187952"/>
            <a:ext cx="2048256" cy="42062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JD Received</a:t>
            </a:r>
            <a:endParaRPr lang="en-US" sz="1150" dirty="0"/>
          </a:p>
        </p:txBody>
      </p:sp>
      <p:sp>
        <p:nvSpPr>
          <p:cNvPr id="32" name="Shape 28"/>
          <p:cNvSpPr/>
          <p:nvPr/>
        </p:nvSpPr>
        <p:spPr>
          <a:xfrm>
            <a:off x="566928" y="4700016"/>
            <a:ext cx="11057839" cy="731520"/>
          </a:xfrm>
          <a:prstGeom prst="roundRect">
            <a:avLst>
              <a:gd name="adj" fmla="val 125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3" name="Text 29"/>
          <p:cNvSpPr/>
          <p:nvPr/>
        </p:nvSpPr>
        <p:spPr>
          <a:xfrm>
            <a:off x="786384" y="4919472"/>
            <a:ext cx="10618927" cy="33832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Both tabs share the same columns:   S.No · Time · Date · Company · Role · CTC · College · Eligible Batch — and the same date picker, college filter and search bar sitting above them.</a:t>
            </a:r>
            <a:endParaRPr lang="en-US" sz="1100" dirty="0"/>
          </a:p>
        </p:txBody>
      </p:sp>
      <p:sp>
        <p:nvSpPr>
          <p:cNvPr id="34" name="Text 30"/>
          <p:cNvSpPr/>
          <p:nvPr/>
        </p:nvSpPr>
        <p:spPr>
          <a:xfrm>
            <a:off x="566928" y="5541264"/>
            <a:ext cx="11057839" cy="310896"/>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Deliberately manual. Positives arrive by call, by email and by WhatsApp — so this is a daily operational register, not an automated feed.</a:t>
            </a:r>
            <a:endParaRPr lang="en-US" sz="1100" dirty="0"/>
          </a:p>
        </p:txBody>
      </p:sp>
      <p:pic>
        <p:nvPicPr>
          <p:cNvPr id="35" name="Picture 34">
            <a:extLst>
              <a:ext uri="{FF2B5EF4-FFF2-40B4-BE49-F238E27FC236}">
                <a16:creationId xmlns:a16="http://schemas.microsoft.com/office/drawing/2014/main" id="{BE82B6DA-8810-7E96-B44F-E77065F5E010}"/>
              </a:ext>
            </a:extLst>
          </p:cNvPr>
          <p:cNvPicPr>
            <a:picLocks noChangeAspect="1"/>
          </p:cNvPicPr>
          <p:nvPr/>
        </p:nvPicPr>
        <p:blipFill>
          <a:blip r:embed="rId5"/>
          <a:stretch>
            <a:fillRect/>
          </a:stretch>
        </p:blipFill>
        <p:spPr>
          <a:xfrm>
            <a:off x="10505338" y="166891"/>
            <a:ext cx="1544421" cy="3726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05 — DAILY LEADS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role owns it, everyone else watches</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25</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7839" cy="2011680"/>
        </p:xfrm>
        <a:graphic>
          <a:graphicData uri="http://schemas.openxmlformats.org/drawingml/2006/table">
            <a:tbl>
              <a:tblPr/>
              <a:tblGrid>
                <a:gridCol w="4114800">
                  <a:extLst>
                    <a:ext uri="{9D8B030D-6E8A-4147-A177-3AD203B41FA5}">
                      <a16:colId xmlns:a16="http://schemas.microsoft.com/office/drawing/2014/main" val="20000"/>
                    </a:ext>
                  </a:extLst>
                </a:gridCol>
                <a:gridCol w="6943039">
                  <a:extLst>
                    <a:ext uri="{9D8B030D-6E8A-4147-A177-3AD203B41FA5}">
                      <a16:colId xmlns:a16="http://schemas.microsoft.com/office/drawing/2014/main" val="20001"/>
                    </a:ext>
                  </a:extLst>
                </a:gridCol>
              </a:tblGrid>
              <a:tr h="40233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they can do in Daily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Placement Coordinator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2E7D32"/>
                          </a:solidFill>
                          <a:latin typeface="Calibri" pitchFamily="34" charset="0"/>
                          <a:ea typeface="Calibri" pitchFamily="34" charset="-122"/>
                          <a:cs typeface="Calibri" pitchFamily="34" charset="-120"/>
                        </a:rPr>
                        <a:t>Full access — add, edit and delete entries</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Team Leader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Administrator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Training &amp; Placement Officer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6"/>
          <p:cNvSpPr/>
          <p:nvPr/>
        </p:nvSpPr>
        <p:spPr>
          <a:xfrm>
            <a:off x="566928" y="3493008"/>
            <a:ext cx="11057839" cy="310896"/>
          </a:xfrm>
          <a:prstGeom prst="rect">
            <a:avLst/>
          </a:prstGeom>
          <a:noFill/>
          <a:ln/>
        </p:spPr>
        <p:txBody>
          <a:bodyPr wrap="square" lIns="0" tIns="0" rIns="0" bIns="0" rtlCol="0" anchor="ctr"/>
          <a:lstStyle/>
          <a:p>
            <a:pPr marL="0" indent="0">
              <a:buNone/>
            </a:pPr>
            <a:r>
              <a:rPr lang="en-US" sz="1050" i="1" dirty="0">
                <a:solidFill>
                  <a:srgbClr val="7B8794"/>
                </a:solidFill>
                <a:latin typeface="Calibri" pitchFamily="34" charset="0"/>
                <a:ea typeface="Calibri" pitchFamily="34" charset="-122"/>
                <a:cs typeface="Calibri" pitchFamily="34" charset="-120"/>
              </a:rPr>
              <a:t>“Created By” is stored in the background on every entry for audit purposes — it is never shown in the grid. The system also remembers which tab you were last on.</a:t>
            </a:r>
            <a:endParaRPr lang="en-US" sz="1050" dirty="0"/>
          </a:p>
        </p:txBody>
      </p:sp>
      <p:sp>
        <p:nvSpPr>
          <p:cNvPr id="10" name="Text 7"/>
          <p:cNvSpPr/>
          <p:nvPr/>
        </p:nvSpPr>
        <p:spPr>
          <a:xfrm>
            <a:off x="566928" y="389534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NON-FUNCTIONAL REQUIREMENTS WRITTEN INTO THE SPEC</a:t>
            </a:r>
            <a:endParaRPr lang="en-US" sz="950" dirty="0"/>
          </a:p>
        </p:txBody>
      </p:sp>
      <p:sp>
        <p:nvSpPr>
          <p:cNvPr id="11" name="Shape 8"/>
          <p:cNvSpPr/>
          <p:nvPr/>
        </p:nvSpPr>
        <p:spPr>
          <a:xfrm>
            <a:off x="566928"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786384" y="4389120"/>
            <a:ext cx="365760" cy="365760"/>
          </a:xfrm>
          <a:prstGeom prst="ellipse">
            <a:avLst/>
          </a:prstGeom>
          <a:solidFill>
            <a:srgbClr val="2E7D32"/>
          </a:solidFill>
          <a:ln w="12700">
            <a:solidFill>
              <a:srgbClr val="2E7D32"/>
            </a:solidFill>
            <a:prstDash val="solid"/>
          </a:ln>
        </p:spPr>
      </p:sp>
      <p:pic>
        <p:nvPicPr>
          <p:cNvPr id="13" name="Image 0" descr="preencoded.png"/>
          <p:cNvPicPr>
            <a:picLocks noChangeAspect="1"/>
          </p:cNvPicPr>
          <p:nvPr/>
        </p:nvPicPr>
        <p:blipFill>
          <a:blip r:embed="rId3"/>
          <a:stretch>
            <a:fillRect/>
          </a:stretch>
        </p:blipFill>
        <p:spPr>
          <a:xfrm>
            <a:off x="877824" y="4480560"/>
            <a:ext cx="182880" cy="182880"/>
          </a:xfrm>
          <a:prstGeom prst="rect">
            <a:avLst/>
          </a:prstGeom>
        </p:spPr>
      </p:pic>
      <p:sp>
        <p:nvSpPr>
          <p:cNvPr id="14" name="Text 10"/>
          <p:cNvSpPr/>
          <p:nvPr/>
        </p:nvSpPr>
        <p:spPr>
          <a:xfrm>
            <a:off x="1280160"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Near-instant saves</a:t>
            </a:r>
            <a:endParaRPr lang="en-US" sz="1200" dirty="0"/>
          </a:p>
        </p:txBody>
      </p:sp>
      <p:sp>
        <p:nvSpPr>
          <p:cNvPr id="15" name="Text 11"/>
          <p:cNvSpPr/>
          <p:nvPr/>
        </p:nvSpPr>
        <p:spPr>
          <a:xfrm>
            <a:off x="786384"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No visible refresh after saving an entry — the row simply appears.</a:t>
            </a:r>
            <a:endParaRPr lang="en-US" sz="1000" dirty="0"/>
          </a:p>
        </p:txBody>
      </p:sp>
      <p:sp>
        <p:nvSpPr>
          <p:cNvPr id="16" name="Shape 12"/>
          <p:cNvSpPr/>
          <p:nvPr/>
        </p:nvSpPr>
        <p:spPr>
          <a:xfrm>
            <a:off x="3390824"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3610280" y="4389120"/>
            <a:ext cx="365760" cy="365760"/>
          </a:xfrm>
          <a:prstGeom prst="ellipse">
            <a:avLst/>
          </a:prstGeom>
          <a:solidFill>
            <a:srgbClr val="175496"/>
          </a:solidFill>
          <a:ln w="12700">
            <a:solidFill>
              <a:srgbClr val="175496"/>
            </a:solidFill>
            <a:prstDash val="solid"/>
          </a:ln>
        </p:spPr>
      </p:sp>
      <p:pic>
        <p:nvPicPr>
          <p:cNvPr id="18" name="Image 1" descr="preencoded.png"/>
          <p:cNvPicPr>
            <a:picLocks noChangeAspect="1"/>
          </p:cNvPicPr>
          <p:nvPr/>
        </p:nvPicPr>
        <p:blipFill>
          <a:blip r:embed="rId4"/>
          <a:stretch>
            <a:fillRect/>
          </a:stretch>
        </p:blipFill>
        <p:spPr>
          <a:xfrm>
            <a:off x="3701720" y="4480560"/>
            <a:ext cx="182880" cy="182880"/>
          </a:xfrm>
          <a:prstGeom prst="rect">
            <a:avLst/>
          </a:prstGeom>
        </p:spPr>
      </p:pic>
      <p:sp>
        <p:nvSpPr>
          <p:cNvPr id="19" name="Text 14"/>
          <p:cNvSpPr/>
          <p:nvPr/>
        </p:nvSpPr>
        <p:spPr>
          <a:xfrm>
            <a:off x="4104056"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No reload on tab switch</a:t>
            </a:r>
            <a:endParaRPr lang="en-US" sz="1200" dirty="0"/>
          </a:p>
        </p:txBody>
      </p:sp>
      <p:sp>
        <p:nvSpPr>
          <p:cNvPr id="20" name="Text 15"/>
          <p:cNvSpPr/>
          <p:nvPr/>
        </p:nvSpPr>
        <p:spPr>
          <a:xfrm>
            <a:off x="3610280"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A 150–250ms sliding underline. No loading animation, ever.</a:t>
            </a:r>
            <a:endParaRPr lang="en-US" sz="1000" dirty="0"/>
          </a:p>
        </p:txBody>
      </p:sp>
      <p:sp>
        <p:nvSpPr>
          <p:cNvPr id="21" name="Shape 16"/>
          <p:cNvSpPr/>
          <p:nvPr/>
        </p:nvSpPr>
        <p:spPr>
          <a:xfrm>
            <a:off x="6214720"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434176" y="4389120"/>
            <a:ext cx="365760" cy="365760"/>
          </a:xfrm>
          <a:prstGeom prst="ellipse">
            <a:avLst/>
          </a:prstGeom>
          <a:solidFill>
            <a:srgbClr val="00ACC1"/>
          </a:solidFill>
          <a:ln w="12700">
            <a:solidFill>
              <a:srgbClr val="00ACC1"/>
            </a:solidFill>
            <a:prstDash val="solid"/>
          </a:ln>
        </p:spPr>
      </p:sp>
      <p:pic>
        <p:nvPicPr>
          <p:cNvPr id="23" name="Image 2" descr="preencoded.png"/>
          <p:cNvPicPr>
            <a:picLocks noChangeAspect="1"/>
          </p:cNvPicPr>
          <p:nvPr/>
        </p:nvPicPr>
        <p:blipFill>
          <a:blip r:embed="rId5"/>
          <a:stretch>
            <a:fillRect/>
          </a:stretch>
        </p:blipFill>
        <p:spPr>
          <a:xfrm>
            <a:off x="6525616" y="4480560"/>
            <a:ext cx="182880" cy="182880"/>
          </a:xfrm>
          <a:prstGeom prst="rect">
            <a:avLst/>
          </a:prstGeom>
        </p:spPr>
      </p:pic>
      <p:sp>
        <p:nvSpPr>
          <p:cNvPr id="24" name="Text 18"/>
          <p:cNvSpPr/>
          <p:nvPr/>
        </p:nvSpPr>
        <p:spPr>
          <a:xfrm>
            <a:off x="6927952"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Fast filtering</a:t>
            </a:r>
            <a:endParaRPr lang="en-US" sz="1200" dirty="0"/>
          </a:p>
        </p:txBody>
      </p:sp>
      <p:sp>
        <p:nvSpPr>
          <p:cNvPr id="25" name="Text 19"/>
          <p:cNvSpPr/>
          <p:nvPr/>
        </p:nvSpPr>
        <p:spPr>
          <a:xfrm>
            <a:off x="6434176"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Date and college filters respond immediately, at full volume.</a:t>
            </a:r>
            <a:endParaRPr lang="en-US" sz="1000" dirty="0"/>
          </a:p>
        </p:txBody>
      </p:sp>
      <p:sp>
        <p:nvSpPr>
          <p:cNvPr id="8" name="Shape 20"/>
          <p:cNvSpPr/>
          <p:nvPr/>
        </p:nvSpPr>
        <p:spPr>
          <a:xfrm>
            <a:off x="9038615"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9258071" y="4389120"/>
            <a:ext cx="365760" cy="365760"/>
          </a:xfrm>
          <a:prstGeom prst="ellipse">
            <a:avLst/>
          </a:prstGeom>
          <a:solidFill>
            <a:srgbClr val="0B2E59"/>
          </a:solidFill>
          <a:ln w="12700">
            <a:solidFill>
              <a:srgbClr val="0B2E59"/>
            </a:solidFill>
            <a:prstDash val="solid"/>
          </a:ln>
        </p:spPr>
      </p:sp>
      <p:pic>
        <p:nvPicPr>
          <p:cNvPr id="28" name="Image 3" descr="preencoded.png"/>
          <p:cNvPicPr>
            <a:picLocks noChangeAspect="1"/>
          </p:cNvPicPr>
          <p:nvPr/>
        </p:nvPicPr>
        <p:blipFill>
          <a:blip r:embed="rId6"/>
          <a:stretch>
            <a:fillRect/>
          </a:stretch>
        </p:blipFill>
        <p:spPr>
          <a:xfrm>
            <a:off x="9349511" y="4480560"/>
            <a:ext cx="182880" cy="182880"/>
          </a:xfrm>
          <a:prstGeom prst="rect">
            <a:avLst/>
          </a:prstGeom>
        </p:spPr>
      </p:pic>
      <p:sp>
        <p:nvSpPr>
          <p:cNvPr id="29" name="Text 22"/>
          <p:cNvSpPr/>
          <p:nvPr/>
        </p:nvSpPr>
        <p:spPr>
          <a:xfrm>
            <a:off x="9751847"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Concurrent coordinators</a:t>
            </a:r>
            <a:endParaRPr lang="en-US" sz="1200" dirty="0"/>
          </a:p>
        </p:txBody>
      </p:sp>
      <p:sp>
        <p:nvSpPr>
          <p:cNvPr id="30" name="Text 23"/>
          <p:cNvSpPr/>
          <p:nvPr/>
        </p:nvSpPr>
        <p:spPr>
          <a:xfrm>
            <a:off x="9258071"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Many people entering leads at once, with no conflicts.</a:t>
            </a:r>
            <a:endParaRPr lang="en-US" sz="1000" dirty="0"/>
          </a:p>
        </p:txBody>
      </p:sp>
      <p:pic>
        <p:nvPicPr>
          <p:cNvPr id="31" name="Picture 30">
            <a:extLst>
              <a:ext uri="{FF2B5EF4-FFF2-40B4-BE49-F238E27FC236}">
                <a16:creationId xmlns:a16="http://schemas.microsoft.com/office/drawing/2014/main" id="{A8601AA4-D61E-B9EC-9D9C-E65011E2937A}"/>
              </a:ext>
            </a:extLst>
          </p:cNvPr>
          <p:cNvPicPr>
            <a:picLocks noChangeAspect="1"/>
          </p:cNvPicPr>
          <p:nvPr/>
        </p:nvPicPr>
        <p:blipFill>
          <a:blip r:embed="rId7"/>
          <a:stretch>
            <a:fillRect/>
          </a:stretch>
        </p:blipFill>
        <p:spPr>
          <a:xfrm>
            <a:off x="10505338" y="166891"/>
            <a:ext cx="1544421" cy="37260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06 — REPORTS &amp; ANALYTICS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Analytics that says something</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26</a:t>
            </a:r>
            <a:endParaRPr lang="en-US" sz="950" dirty="0"/>
          </a:p>
        </p:txBody>
      </p:sp>
      <p:sp>
        <p:nvSpPr>
          <p:cNvPr id="8" name="Shape 6"/>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9" name="Text 7"/>
          <p:cNvSpPr/>
          <p:nvPr/>
        </p:nvSpPr>
        <p:spPr>
          <a:xfrm>
            <a:off x="877824" y="1536192"/>
            <a:ext cx="10436047" cy="438912"/>
          </a:xfrm>
          <a:prstGeom prst="rect">
            <a:avLst/>
          </a:prstGeom>
          <a:noFill/>
          <a:ln/>
        </p:spPr>
        <p:txBody>
          <a:bodyPr wrap="square" lIns="0" tIns="0" rIns="0" bIns="0" rtlCol="0" anchor="ctr"/>
          <a:lstStyle/>
          <a:p>
            <a:pPr marL="0" indent="0">
              <a:lnSpc>
                <a:spcPct val="112000"/>
              </a:lnSpc>
              <a:buNone/>
            </a:pPr>
            <a:r>
              <a:rPr lang="en-US" sz="1900" i="1" dirty="0">
                <a:solidFill>
                  <a:srgbClr val="0B2E59"/>
                </a:solidFill>
                <a:latin typeface="Calibri" pitchFamily="34" charset="0"/>
                <a:ea typeface="Calibri" pitchFamily="34" charset="-122"/>
                <a:cs typeface="Calibri" pitchFamily="34" charset="-120"/>
              </a:rPr>
              <a:t>“Reports &amp; Analytics is not just for viewing data. It is a communication module.”</a:t>
            </a:r>
            <a:endParaRPr lang="en-US" sz="1900" dirty="0"/>
          </a:p>
        </p:txBody>
      </p:sp>
      <p:sp>
        <p:nvSpPr>
          <p:cNvPr id="10" name="Text 8"/>
          <p:cNvSpPr/>
          <p:nvPr/>
        </p:nvSpPr>
        <p:spPr>
          <a:xfrm>
            <a:off x="877824" y="195681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It replaces the weekly report the team currently rebuilds by hand in Canva.</a:t>
            </a:r>
            <a:endParaRPr lang="en-US" sz="1000" dirty="0"/>
          </a:p>
        </p:txBody>
      </p:sp>
      <p:sp>
        <p:nvSpPr>
          <p:cNvPr id="11" name="Text 9"/>
          <p:cNvSpPr/>
          <p:nvPr/>
        </p:nvSpPr>
        <p:spPr>
          <a:xfrm>
            <a:off x="566928" y="25420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KPI CARDS</a:t>
            </a:r>
            <a:endParaRPr lang="en-US" sz="950" dirty="0"/>
          </a:p>
        </p:txBody>
      </p:sp>
      <p:sp>
        <p:nvSpPr>
          <p:cNvPr id="12" name="Shape 10"/>
          <p:cNvSpPr/>
          <p:nvPr/>
        </p:nvSpPr>
        <p:spPr>
          <a:xfrm>
            <a:off x="566928" y="2798064"/>
            <a:ext cx="1736293" cy="420624"/>
          </a:xfrm>
          <a:prstGeom prst="roundRect">
            <a:avLst>
              <a:gd name="adj" fmla="val 108696"/>
            </a:avLst>
          </a:prstGeom>
          <a:solidFill>
            <a:srgbClr val="F4F7FA"/>
          </a:solidFill>
          <a:ln w="9525">
            <a:solidFill>
              <a:srgbClr val="E1E8F0"/>
            </a:solidFill>
            <a:prstDash val="solid"/>
          </a:ln>
        </p:spPr>
      </p:sp>
      <p:sp>
        <p:nvSpPr>
          <p:cNvPr id="13" name="Text 11"/>
          <p:cNvSpPr/>
          <p:nvPr/>
        </p:nvSpPr>
        <p:spPr>
          <a:xfrm>
            <a:off x="640080"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Total Calls</a:t>
            </a:r>
            <a:endParaRPr lang="en-US" sz="1000" dirty="0"/>
          </a:p>
        </p:txBody>
      </p:sp>
      <p:sp>
        <p:nvSpPr>
          <p:cNvPr id="14" name="Shape 12"/>
          <p:cNvSpPr/>
          <p:nvPr/>
        </p:nvSpPr>
        <p:spPr>
          <a:xfrm>
            <a:off x="2431237" y="2798064"/>
            <a:ext cx="1736293" cy="420624"/>
          </a:xfrm>
          <a:prstGeom prst="roundRect">
            <a:avLst>
              <a:gd name="adj" fmla="val 108696"/>
            </a:avLst>
          </a:prstGeom>
          <a:solidFill>
            <a:srgbClr val="F4F7FA"/>
          </a:solidFill>
          <a:ln w="9525">
            <a:solidFill>
              <a:srgbClr val="E1E8F0"/>
            </a:solidFill>
            <a:prstDash val="solid"/>
          </a:ln>
        </p:spPr>
      </p:sp>
      <p:sp>
        <p:nvSpPr>
          <p:cNvPr id="15" name="Text 13"/>
          <p:cNvSpPr/>
          <p:nvPr/>
        </p:nvSpPr>
        <p:spPr>
          <a:xfrm>
            <a:off x="2504389"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Positive Responses</a:t>
            </a:r>
            <a:endParaRPr lang="en-US" sz="1000" dirty="0"/>
          </a:p>
        </p:txBody>
      </p:sp>
      <p:sp>
        <p:nvSpPr>
          <p:cNvPr id="16" name="Shape 14"/>
          <p:cNvSpPr/>
          <p:nvPr/>
        </p:nvSpPr>
        <p:spPr>
          <a:xfrm>
            <a:off x="4295546" y="2798064"/>
            <a:ext cx="1736293" cy="420624"/>
          </a:xfrm>
          <a:prstGeom prst="roundRect">
            <a:avLst>
              <a:gd name="adj" fmla="val 108696"/>
            </a:avLst>
          </a:prstGeom>
          <a:solidFill>
            <a:srgbClr val="F4F7FA"/>
          </a:solidFill>
          <a:ln w="9525">
            <a:solidFill>
              <a:srgbClr val="E1E8F0"/>
            </a:solidFill>
            <a:prstDash val="solid"/>
          </a:ln>
        </p:spPr>
      </p:sp>
      <p:sp>
        <p:nvSpPr>
          <p:cNvPr id="17" name="Text 15"/>
          <p:cNvSpPr/>
          <p:nvPr/>
        </p:nvSpPr>
        <p:spPr>
          <a:xfrm>
            <a:off x="4368698"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Companies Contacted</a:t>
            </a:r>
            <a:endParaRPr lang="en-US" sz="1000" dirty="0"/>
          </a:p>
        </p:txBody>
      </p:sp>
      <p:sp>
        <p:nvSpPr>
          <p:cNvPr id="18" name="Shape 16"/>
          <p:cNvSpPr/>
          <p:nvPr/>
        </p:nvSpPr>
        <p:spPr>
          <a:xfrm>
            <a:off x="6159856" y="2798064"/>
            <a:ext cx="1736293" cy="420624"/>
          </a:xfrm>
          <a:prstGeom prst="roundRect">
            <a:avLst>
              <a:gd name="adj" fmla="val 108696"/>
            </a:avLst>
          </a:prstGeom>
          <a:solidFill>
            <a:srgbClr val="F4F7FA"/>
          </a:solidFill>
          <a:ln w="9525">
            <a:solidFill>
              <a:srgbClr val="E1E8F0"/>
            </a:solidFill>
            <a:prstDash val="solid"/>
          </a:ln>
        </p:spPr>
      </p:sp>
      <p:sp>
        <p:nvSpPr>
          <p:cNvPr id="19" name="Text 17"/>
          <p:cNvSpPr/>
          <p:nvPr/>
        </p:nvSpPr>
        <p:spPr>
          <a:xfrm>
            <a:off x="6233008"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Active Colleges</a:t>
            </a:r>
            <a:endParaRPr lang="en-US" sz="1000" dirty="0"/>
          </a:p>
        </p:txBody>
      </p:sp>
      <p:sp>
        <p:nvSpPr>
          <p:cNvPr id="20" name="Shape 18"/>
          <p:cNvSpPr/>
          <p:nvPr/>
        </p:nvSpPr>
        <p:spPr>
          <a:xfrm>
            <a:off x="8024165" y="2798064"/>
            <a:ext cx="1736293" cy="420624"/>
          </a:xfrm>
          <a:prstGeom prst="roundRect">
            <a:avLst>
              <a:gd name="adj" fmla="val 108696"/>
            </a:avLst>
          </a:prstGeom>
          <a:solidFill>
            <a:srgbClr val="F4F7FA"/>
          </a:solidFill>
          <a:ln w="9525">
            <a:solidFill>
              <a:srgbClr val="E1E8F0"/>
            </a:solidFill>
            <a:prstDash val="solid"/>
          </a:ln>
        </p:spPr>
      </p:sp>
      <p:sp>
        <p:nvSpPr>
          <p:cNvPr id="21" name="Text 19"/>
          <p:cNvSpPr/>
          <p:nvPr/>
        </p:nvSpPr>
        <p:spPr>
          <a:xfrm>
            <a:off x="8097317"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JD Received</a:t>
            </a:r>
            <a:endParaRPr lang="en-US" sz="1000" dirty="0"/>
          </a:p>
        </p:txBody>
      </p:sp>
      <p:sp>
        <p:nvSpPr>
          <p:cNvPr id="22" name="Shape 20"/>
          <p:cNvSpPr/>
          <p:nvPr/>
        </p:nvSpPr>
        <p:spPr>
          <a:xfrm>
            <a:off x="9888474" y="2798064"/>
            <a:ext cx="1736293" cy="420624"/>
          </a:xfrm>
          <a:prstGeom prst="roundRect">
            <a:avLst>
              <a:gd name="adj" fmla="val 108696"/>
            </a:avLst>
          </a:prstGeom>
          <a:solidFill>
            <a:srgbClr val="F4F7FA"/>
          </a:solidFill>
          <a:ln w="9525">
            <a:solidFill>
              <a:srgbClr val="E1E8F0"/>
            </a:solidFill>
            <a:prstDash val="solid"/>
          </a:ln>
        </p:spPr>
      </p:sp>
      <p:sp>
        <p:nvSpPr>
          <p:cNvPr id="23" name="Text 21"/>
          <p:cNvSpPr/>
          <p:nvPr/>
        </p:nvSpPr>
        <p:spPr>
          <a:xfrm>
            <a:off x="9961626"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Follow-ups Completed</a:t>
            </a:r>
            <a:endParaRPr lang="en-US" sz="1000" dirty="0"/>
          </a:p>
        </p:txBody>
      </p:sp>
      <p:sp>
        <p:nvSpPr>
          <p:cNvPr id="24" name="Text 22"/>
          <p:cNvSpPr/>
          <p:nvPr/>
        </p:nvSpPr>
        <p:spPr>
          <a:xfrm>
            <a:off x="566928" y="3493008"/>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COMPARISONS</a:t>
            </a:r>
            <a:endParaRPr lang="en-US" sz="950" dirty="0"/>
          </a:p>
        </p:txBody>
      </p:sp>
      <p:sp>
        <p:nvSpPr>
          <p:cNvPr id="25" name="Shape 23"/>
          <p:cNvSpPr/>
          <p:nvPr/>
        </p:nvSpPr>
        <p:spPr>
          <a:xfrm>
            <a:off x="566928" y="3749040"/>
            <a:ext cx="521208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Text 24"/>
          <p:cNvSpPr/>
          <p:nvPr/>
        </p:nvSpPr>
        <p:spPr>
          <a:xfrm>
            <a:off x="786384" y="3968496"/>
            <a:ext cx="4773168" cy="1271016"/>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This week vs last week</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This month vs last month</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Coordinator vs coordinator</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College vs college</a:t>
            </a:r>
            <a:endParaRPr lang="en-US" sz="1100" dirty="0"/>
          </a:p>
        </p:txBody>
      </p:sp>
      <p:sp>
        <p:nvSpPr>
          <p:cNvPr id="27" name="Text 25"/>
          <p:cNvSpPr/>
          <p:nvPr/>
        </p:nvSpPr>
        <p:spPr>
          <a:xfrm>
            <a:off x="6089904" y="3493008"/>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INSIGHTS PANEL — WRITTEN IN PLAIN ENGLISH</a:t>
            </a:r>
            <a:endParaRPr lang="en-US" sz="950" dirty="0"/>
          </a:p>
        </p:txBody>
      </p:sp>
      <p:sp>
        <p:nvSpPr>
          <p:cNvPr id="28" name="Shape 26"/>
          <p:cNvSpPr/>
          <p:nvPr/>
        </p:nvSpPr>
        <p:spPr>
          <a:xfrm>
            <a:off x="6089904" y="3749040"/>
            <a:ext cx="5532120" cy="1664208"/>
          </a:xfrm>
          <a:prstGeom prst="roundRect">
            <a:avLst>
              <a:gd name="adj" fmla="val 549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9" name="Text 27"/>
          <p:cNvSpPr/>
          <p:nvPr/>
        </p:nvSpPr>
        <p:spPr>
          <a:xfrm>
            <a:off x="6309360" y="3968496"/>
            <a:ext cx="5093208" cy="1271016"/>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“Pending follow-up for 12 days.”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“Calls increased by 18% this week.”</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“Positive responses improved by 10%.”</a:t>
            </a:r>
            <a:endParaRPr lang="en-US" sz="1100" dirty="0"/>
          </a:p>
        </p:txBody>
      </p:sp>
      <p:sp>
        <p:nvSpPr>
          <p:cNvPr id="30" name="Shape 28"/>
          <p:cNvSpPr/>
          <p:nvPr/>
        </p:nvSpPr>
        <p:spPr>
          <a:xfrm>
            <a:off x="566928" y="5541264"/>
            <a:ext cx="2668448" cy="402336"/>
          </a:xfrm>
          <a:prstGeom prst="roundRect">
            <a:avLst>
              <a:gd name="adj" fmla="val 113636"/>
            </a:avLst>
          </a:prstGeom>
          <a:solidFill>
            <a:srgbClr val="EAF5EB"/>
          </a:solidFill>
          <a:ln w="9525">
            <a:solidFill>
              <a:srgbClr val="E1E8F0"/>
            </a:solidFill>
            <a:prstDash val="solid"/>
          </a:ln>
        </p:spPr>
      </p:sp>
      <p:sp>
        <p:nvSpPr>
          <p:cNvPr id="31" name="Text 29"/>
          <p:cNvSpPr/>
          <p:nvPr/>
        </p:nvSpPr>
        <p:spPr>
          <a:xfrm>
            <a:off x="640080" y="5541264"/>
            <a:ext cx="2522144" cy="402336"/>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Coordinator  ✓</a:t>
            </a:r>
            <a:endParaRPr lang="en-US" sz="1000" dirty="0"/>
          </a:p>
        </p:txBody>
      </p:sp>
      <p:sp>
        <p:nvSpPr>
          <p:cNvPr id="32" name="Shape 30"/>
          <p:cNvSpPr/>
          <p:nvPr/>
        </p:nvSpPr>
        <p:spPr>
          <a:xfrm>
            <a:off x="3363392" y="5541264"/>
            <a:ext cx="2668448" cy="402336"/>
          </a:xfrm>
          <a:prstGeom prst="roundRect">
            <a:avLst>
              <a:gd name="adj" fmla="val 113636"/>
            </a:avLst>
          </a:prstGeom>
          <a:solidFill>
            <a:srgbClr val="EAF5EB"/>
          </a:solidFill>
          <a:ln w="9525">
            <a:solidFill>
              <a:srgbClr val="E1E8F0"/>
            </a:solidFill>
            <a:prstDash val="solid"/>
          </a:ln>
        </p:spPr>
      </p:sp>
      <p:sp>
        <p:nvSpPr>
          <p:cNvPr id="33" name="Text 31"/>
          <p:cNvSpPr/>
          <p:nvPr/>
        </p:nvSpPr>
        <p:spPr>
          <a:xfrm>
            <a:off x="3436544" y="5541264"/>
            <a:ext cx="2522144" cy="402336"/>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Team Leader  ✓</a:t>
            </a:r>
            <a:endParaRPr lang="en-US" sz="1000" dirty="0"/>
          </a:p>
        </p:txBody>
      </p:sp>
      <p:sp>
        <p:nvSpPr>
          <p:cNvPr id="34" name="Shape 32"/>
          <p:cNvSpPr/>
          <p:nvPr/>
        </p:nvSpPr>
        <p:spPr>
          <a:xfrm>
            <a:off x="6159856" y="5541264"/>
            <a:ext cx="2668448" cy="402336"/>
          </a:xfrm>
          <a:prstGeom prst="roundRect">
            <a:avLst>
              <a:gd name="adj" fmla="val 113636"/>
            </a:avLst>
          </a:prstGeom>
          <a:solidFill>
            <a:srgbClr val="EAF5EB"/>
          </a:solidFill>
          <a:ln w="9525">
            <a:solidFill>
              <a:srgbClr val="E1E8F0"/>
            </a:solidFill>
            <a:prstDash val="solid"/>
          </a:ln>
        </p:spPr>
      </p:sp>
      <p:sp>
        <p:nvSpPr>
          <p:cNvPr id="35" name="Text 33"/>
          <p:cNvSpPr/>
          <p:nvPr/>
        </p:nvSpPr>
        <p:spPr>
          <a:xfrm>
            <a:off x="6233008" y="5541264"/>
            <a:ext cx="2522144" cy="402336"/>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Administrator  ✓</a:t>
            </a:r>
            <a:endParaRPr lang="en-US" sz="1000" dirty="0"/>
          </a:p>
        </p:txBody>
      </p:sp>
      <p:sp>
        <p:nvSpPr>
          <p:cNvPr id="36" name="Shape 34"/>
          <p:cNvSpPr/>
          <p:nvPr/>
        </p:nvSpPr>
        <p:spPr>
          <a:xfrm>
            <a:off x="8956319" y="5541264"/>
            <a:ext cx="2668448" cy="402336"/>
          </a:xfrm>
          <a:prstGeom prst="roundRect">
            <a:avLst>
              <a:gd name="adj" fmla="val 113636"/>
            </a:avLst>
          </a:prstGeom>
          <a:solidFill>
            <a:srgbClr val="F1F4F8"/>
          </a:solidFill>
          <a:ln w="9525">
            <a:solidFill>
              <a:srgbClr val="E1E8F0"/>
            </a:solidFill>
            <a:prstDash val="solid"/>
          </a:ln>
        </p:spPr>
      </p:sp>
      <p:sp>
        <p:nvSpPr>
          <p:cNvPr id="37" name="Text 35"/>
          <p:cNvSpPr/>
          <p:nvPr/>
        </p:nvSpPr>
        <p:spPr>
          <a:xfrm>
            <a:off x="9029471" y="5541264"/>
            <a:ext cx="2522144" cy="402336"/>
          </a:xfrm>
          <a:prstGeom prst="rect">
            <a:avLst/>
          </a:prstGeom>
          <a:noFill/>
          <a:ln/>
        </p:spPr>
        <p:txBody>
          <a:bodyPr wrap="square" lIns="0" tIns="0" rIns="0" bIns="0" rtlCol="0" anchor="ctr"/>
          <a:lstStyle/>
          <a:p>
            <a:pPr marL="0" indent="0" algn="ctr">
              <a:buNone/>
            </a:pPr>
            <a:r>
              <a:rPr lang="en-US" sz="1000" b="1" dirty="0">
                <a:solidFill>
                  <a:srgbClr val="6B7A8C"/>
                </a:solidFill>
                <a:latin typeface="Calibri" pitchFamily="34" charset="0"/>
                <a:ea typeface="Calibri" pitchFamily="34" charset="-122"/>
                <a:cs typeface="Calibri" pitchFamily="34" charset="-120"/>
              </a:rPr>
              <a:t>TPO  ✗  receives exported reports instead</a:t>
            </a:r>
            <a:endParaRPr lang="en-US" sz="1000" dirty="0"/>
          </a:p>
        </p:txBody>
      </p:sp>
      <p:pic>
        <p:nvPicPr>
          <p:cNvPr id="38" name="Picture 37">
            <a:extLst>
              <a:ext uri="{FF2B5EF4-FFF2-40B4-BE49-F238E27FC236}">
                <a16:creationId xmlns:a16="http://schemas.microsoft.com/office/drawing/2014/main" id="{8EABB4A7-A001-AC86-F8AB-5265F0712018}"/>
              </a:ext>
            </a:extLst>
          </p:cNvPr>
          <p:cNvPicPr>
            <a:picLocks noChangeAspect="1"/>
          </p:cNvPicPr>
          <p:nvPr/>
        </p:nvPicPr>
        <p:blipFill>
          <a:blip r:embed="rId3"/>
          <a:stretch>
            <a:fillRect/>
          </a:stretch>
        </p:blipFill>
        <p:spPr>
          <a:xfrm>
            <a:off x="10505338" y="166891"/>
            <a:ext cx="1544421" cy="37260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06 — REPORTS &amp; ANALYTICS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Four templates, one built-in editor</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27</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FOUR REPORT TEMPLATES — CUT DOWN FROM AN ORIGINAL EIGHT TO TEN</a:t>
            </a:r>
            <a:endParaRPr lang="en-US" sz="950" dirty="0"/>
          </a:p>
        </p:txBody>
      </p:sp>
      <p:sp>
        <p:nvSpPr>
          <p:cNvPr id="9" name="Shape 7"/>
          <p:cNvSpPr/>
          <p:nvPr/>
        </p:nvSpPr>
        <p:spPr>
          <a:xfrm>
            <a:off x="566928"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365760" cy="365760"/>
          </a:xfrm>
          <a:prstGeom prst="ellipse">
            <a:avLst/>
          </a:prstGeom>
          <a:solidFill>
            <a:srgbClr val="2E7D32"/>
          </a:solidFill>
          <a:ln w="12700">
            <a:solidFill>
              <a:srgbClr val="2E7D32"/>
            </a:solidFill>
            <a:prstDash val="solid"/>
          </a:ln>
        </p:spPr>
      </p:sp>
      <p:pic>
        <p:nvPicPr>
          <p:cNvPr id="11" name="Image 0" descr="preencoded.png"/>
          <p:cNvPicPr>
            <a:picLocks noChangeAspect="1"/>
          </p:cNvPicPr>
          <p:nvPr/>
        </p:nvPicPr>
        <p:blipFill>
          <a:blip r:embed="rId3"/>
          <a:stretch>
            <a:fillRect/>
          </a:stretch>
        </p:blipFill>
        <p:spPr>
          <a:xfrm>
            <a:off x="877824" y="1938528"/>
            <a:ext cx="182880" cy="182880"/>
          </a:xfrm>
          <a:prstGeom prst="rect">
            <a:avLst/>
          </a:prstGeom>
        </p:spPr>
      </p:pic>
      <p:sp>
        <p:nvSpPr>
          <p:cNvPr id="12" name="Text 9"/>
          <p:cNvSpPr/>
          <p:nvPr/>
        </p:nvSpPr>
        <p:spPr>
          <a:xfrm>
            <a:off x="1280160"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Weekly Placement</a:t>
            </a:r>
            <a:endParaRPr lang="en-US" sz="1350" dirty="0"/>
          </a:p>
        </p:txBody>
      </p:sp>
      <p:sp>
        <p:nvSpPr>
          <p:cNvPr id="13" name="Text 10"/>
          <p:cNvSpPr/>
          <p:nvPr/>
        </p:nvSpPr>
        <p:spPr>
          <a:xfrm>
            <a:off x="786384"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The flagship. Completed, in progress and pipeline companies, follow-up summary and insights. Audience: college management and the TPO.</a:t>
            </a:r>
            <a:endParaRPr lang="en-US" sz="950" dirty="0"/>
          </a:p>
        </p:txBody>
      </p:sp>
      <p:sp>
        <p:nvSpPr>
          <p:cNvPr id="14" name="Shape 11"/>
          <p:cNvSpPr/>
          <p:nvPr/>
        </p:nvSpPr>
        <p:spPr>
          <a:xfrm>
            <a:off x="3390824"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3610280" y="1847088"/>
            <a:ext cx="365760" cy="365760"/>
          </a:xfrm>
          <a:prstGeom prst="ellipse">
            <a:avLst/>
          </a:prstGeom>
          <a:solidFill>
            <a:srgbClr val="175496"/>
          </a:solidFill>
          <a:ln w="12700">
            <a:solidFill>
              <a:srgbClr val="175496"/>
            </a:solidFill>
            <a:prstDash val="solid"/>
          </a:ln>
        </p:spPr>
      </p:sp>
      <p:pic>
        <p:nvPicPr>
          <p:cNvPr id="16" name="Image 1" descr="preencoded.png"/>
          <p:cNvPicPr>
            <a:picLocks noChangeAspect="1"/>
          </p:cNvPicPr>
          <p:nvPr/>
        </p:nvPicPr>
        <p:blipFill>
          <a:blip r:embed="rId4"/>
          <a:stretch>
            <a:fillRect/>
          </a:stretch>
        </p:blipFill>
        <p:spPr>
          <a:xfrm>
            <a:off x="3701720" y="1938528"/>
            <a:ext cx="182880" cy="182880"/>
          </a:xfrm>
          <a:prstGeom prst="rect">
            <a:avLst/>
          </a:prstGeom>
        </p:spPr>
      </p:pic>
      <p:sp>
        <p:nvSpPr>
          <p:cNvPr id="17" name="Text 13"/>
          <p:cNvSpPr/>
          <p:nvPr/>
        </p:nvSpPr>
        <p:spPr>
          <a:xfrm>
            <a:off x="4104056"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Monthly Placement</a:t>
            </a:r>
            <a:endParaRPr lang="en-US" sz="1350" dirty="0"/>
          </a:p>
        </p:txBody>
      </p:sp>
      <p:sp>
        <p:nvSpPr>
          <p:cNvPr id="18" name="Text 14"/>
          <p:cNvSpPr/>
          <p:nvPr/>
        </p:nvSpPr>
        <p:spPr>
          <a:xfrm>
            <a:off x="3610280"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Monthly KPIs, company, college and coordinator summaries, charts and a month-on-month comparison.</a:t>
            </a:r>
            <a:endParaRPr lang="en-US" sz="950" dirty="0"/>
          </a:p>
        </p:txBody>
      </p:sp>
      <p:sp>
        <p:nvSpPr>
          <p:cNvPr id="19" name="Shape 15"/>
          <p:cNvSpPr/>
          <p:nvPr/>
        </p:nvSpPr>
        <p:spPr>
          <a:xfrm>
            <a:off x="6214720"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Shape 16"/>
          <p:cNvSpPr/>
          <p:nvPr/>
        </p:nvSpPr>
        <p:spPr>
          <a:xfrm>
            <a:off x="6434176" y="1847088"/>
            <a:ext cx="365760" cy="365760"/>
          </a:xfrm>
          <a:prstGeom prst="ellipse">
            <a:avLst/>
          </a:prstGeom>
          <a:solidFill>
            <a:srgbClr val="00ACC1"/>
          </a:solidFill>
          <a:ln w="12700">
            <a:solidFill>
              <a:srgbClr val="00ACC1"/>
            </a:solidFill>
            <a:prstDash val="solid"/>
          </a:ln>
        </p:spPr>
      </p:sp>
      <p:pic>
        <p:nvPicPr>
          <p:cNvPr id="21" name="Image 2" descr="preencoded.png"/>
          <p:cNvPicPr>
            <a:picLocks noChangeAspect="1"/>
          </p:cNvPicPr>
          <p:nvPr/>
        </p:nvPicPr>
        <p:blipFill>
          <a:blip r:embed="rId5"/>
          <a:stretch>
            <a:fillRect/>
          </a:stretch>
        </p:blipFill>
        <p:spPr>
          <a:xfrm>
            <a:off x="6525616" y="1938528"/>
            <a:ext cx="182880" cy="182880"/>
          </a:xfrm>
          <a:prstGeom prst="rect">
            <a:avLst/>
          </a:prstGeom>
        </p:spPr>
      </p:pic>
      <p:sp>
        <p:nvSpPr>
          <p:cNvPr id="22" name="Text 17"/>
          <p:cNvSpPr/>
          <p:nvPr/>
        </p:nvSpPr>
        <p:spPr>
          <a:xfrm>
            <a:off x="6927952"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College Performance</a:t>
            </a:r>
            <a:endParaRPr lang="en-US" sz="1350" dirty="0"/>
          </a:p>
        </p:txBody>
      </p:sp>
      <p:sp>
        <p:nvSpPr>
          <p:cNvPr id="23" name="Text 18"/>
          <p:cNvSpPr/>
          <p:nvPr/>
        </p:nvSpPr>
        <p:spPr>
          <a:xfrm>
            <a:off x="6434176"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Companies contacted, drives conducted, offers, highest and average package, and the assigned coordinator.</a:t>
            </a:r>
            <a:endParaRPr lang="en-US" sz="950" dirty="0"/>
          </a:p>
        </p:txBody>
      </p:sp>
      <p:sp>
        <p:nvSpPr>
          <p:cNvPr id="24" name="Shape 19"/>
          <p:cNvSpPr/>
          <p:nvPr/>
        </p:nvSpPr>
        <p:spPr>
          <a:xfrm>
            <a:off x="9038615"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0"/>
          <p:cNvSpPr/>
          <p:nvPr/>
        </p:nvSpPr>
        <p:spPr>
          <a:xfrm>
            <a:off x="9258071" y="1847088"/>
            <a:ext cx="365760" cy="365760"/>
          </a:xfrm>
          <a:prstGeom prst="ellipse">
            <a:avLst/>
          </a:prstGeom>
          <a:solidFill>
            <a:srgbClr val="0B2E59"/>
          </a:solidFill>
          <a:ln w="12700">
            <a:solidFill>
              <a:srgbClr val="0B2E59"/>
            </a:solidFill>
            <a:prstDash val="solid"/>
          </a:ln>
        </p:spPr>
      </p:sp>
      <p:pic>
        <p:nvPicPr>
          <p:cNvPr id="26" name="Image 3" descr="preencoded.png"/>
          <p:cNvPicPr>
            <a:picLocks noChangeAspect="1"/>
          </p:cNvPicPr>
          <p:nvPr/>
        </p:nvPicPr>
        <p:blipFill>
          <a:blip r:embed="rId6"/>
          <a:stretch>
            <a:fillRect/>
          </a:stretch>
        </p:blipFill>
        <p:spPr>
          <a:xfrm>
            <a:off x="9349511" y="1938528"/>
            <a:ext cx="182880" cy="182880"/>
          </a:xfrm>
          <a:prstGeom prst="rect">
            <a:avLst/>
          </a:prstGeom>
        </p:spPr>
      </p:pic>
      <p:sp>
        <p:nvSpPr>
          <p:cNvPr id="27" name="Text 21"/>
          <p:cNvSpPr/>
          <p:nvPr/>
        </p:nvSpPr>
        <p:spPr>
          <a:xfrm>
            <a:off x="9751847"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Coordinator Performance</a:t>
            </a:r>
            <a:endParaRPr lang="en-US" sz="1350" dirty="0"/>
          </a:p>
        </p:txBody>
      </p:sp>
      <p:sp>
        <p:nvSpPr>
          <p:cNvPr id="28" name="Text 22"/>
          <p:cNvSpPr/>
          <p:nvPr/>
        </p:nvSpPr>
        <p:spPr>
          <a:xfrm>
            <a:off x="9258071"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Colleges handled, companies contacted, calls, positives, JDs and drives. No rankings in v1 — deliberately.</a:t>
            </a:r>
            <a:endParaRPr lang="en-US" sz="950" dirty="0"/>
          </a:p>
        </p:txBody>
      </p:sp>
      <p:sp>
        <p:nvSpPr>
          <p:cNvPr id="29" name="Text 23"/>
          <p:cNvSpPr/>
          <p:nvPr/>
        </p:nvSpPr>
        <p:spPr>
          <a:xfrm>
            <a:off x="566928" y="349300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REPORT BUILDER</a:t>
            </a:r>
            <a:endParaRPr lang="en-US" sz="950" dirty="0"/>
          </a:p>
        </p:txBody>
      </p:sp>
      <p:sp>
        <p:nvSpPr>
          <p:cNvPr id="30" name="Shape 24"/>
          <p:cNvSpPr/>
          <p:nvPr/>
        </p:nvSpPr>
        <p:spPr>
          <a:xfrm>
            <a:off x="566928" y="3749040"/>
            <a:ext cx="2065264" cy="512064"/>
          </a:xfrm>
          <a:prstGeom prst="roundRect">
            <a:avLst>
              <a:gd name="adj" fmla="val 89286"/>
            </a:avLst>
          </a:prstGeom>
          <a:solidFill>
            <a:srgbClr val="F4F7FA"/>
          </a:solidFill>
          <a:ln w="9525">
            <a:solidFill>
              <a:srgbClr val="E1E8F0"/>
            </a:solidFill>
            <a:prstDash val="solid"/>
          </a:ln>
        </p:spPr>
      </p:sp>
      <p:sp>
        <p:nvSpPr>
          <p:cNvPr id="31" name="Text 25"/>
          <p:cNvSpPr/>
          <p:nvPr/>
        </p:nvSpPr>
        <p:spPr>
          <a:xfrm>
            <a:off x="612648"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Select report type</a:t>
            </a:r>
            <a:endParaRPr lang="en-US" sz="1050" dirty="0"/>
          </a:p>
        </p:txBody>
      </p:sp>
      <p:sp>
        <p:nvSpPr>
          <p:cNvPr id="32" name="Text 26"/>
          <p:cNvSpPr/>
          <p:nvPr/>
        </p:nvSpPr>
        <p:spPr>
          <a:xfrm>
            <a:off x="2632192"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3" name="Shape 27"/>
          <p:cNvSpPr/>
          <p:nvPr/>
        </p:nvSpPr>
        <p:spPr>
          <a:xfrm>
            <a:off x="2815072" y="3749040"/>
            <a:ext cx="2065264" cy="512064"/>
          </a:xfrm>
          <a:prstGeom prst="roundRect">
            <a:avLst>
              <a:gd name="adj" fmla="val 89286"/>
            </a:avLst>
          </a:prstGeom>
          <a:solidFill>
            <a:srgbClr val="F4F7FA"/>
          </a:solidFill>
          <a:ln w="9525">
            <a:solidFill>
              <a:srgbClr val="E1E8F0"/>
            </a:solidFill>
            <a:prstDash val="solid"/>
          </a:ln>
        </p:spPr>
      </p:sp>
      <p:sp>
        <p:nvSpPr>
          <p:cNvPr id="34" name="Text 28"/>
          <p:cNvSpPr/>
          <p:nvPr/>
        </p:nvSpPr>
        <p:spPr>
          <a:xfrm>
            <a:off x="2860792"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Choose filters</a:t>
            </a:r>
            <a:endParaRPr lang="en-US" sz="1050" dirty="0"/>
          </a:p>
        </p:txBody>
      </p:sp>
      <p:sp>
        <p:nvSpPr>
          <p:cNvPr id="35" name="Text 29"/>
          <p:cNvSpPr/>
          <p:nvPr/>
        </p:nvSpPr>
        <p:spPr>
          <a:xfrm>
            <a:off x="4880336"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6" name="Shape 30"/>
          <p:cNvSpPr/>
          <p:nvPr/>
        </p:nvSpPr>
        <p:spPr>
          <a:xfrm>
            <a:off x="5063216" y="3749040"/>
            <a:ext cx="2065264" cy="512064"/>
          </a:xfrm>
          <a:prstGeom prst="roundRect">
            <a:avLst>
              <a:gd name="adj" fmla="val 89286"/>
            </a:avLst>
          </a:prstGeom>
          <a:solidFill>
            <a:srgbClr val="F4F7FA"/>
          </a:solidFill>
          <a:ln w="9525">
            <a:solidFill>
              <a:srgbClr val="E1E8F0"/>
            </a:solidFill>
            <a:prstDash val="solid"/>
          </a:ln>
        </p:spPr>
      </p:sp>
      <p:sp>
        <p:nvSpPr>
          <p:cNvPr id="37" name="Text 31"/>
          <p:cNvSpPr/>
          <p:nvPr/>
        </p:nvSpPr>
        <p:spPr>
          <a:xfrm>
            <a:off x="5108936"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Generate preview</a:t>
            </a:r>
            <a:endParaRPr lang="en-US" sz="1050" dirty="0"/>
          </a:p>
        </p:txBody>
      </p:sp>
      <p:sp>
        <p:nvSpPr>
          <p:cNvPr id="38" name="Text 32"/>
          <p:cNvSpPr/>
          <p:nvPr/>
        </p:nvSpPr>
        <p:spPr>
          <a:xfrm>
            <a:off x="7128480"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9" name="Shape 33"/>
          <p:cNvSpPr/>
          <p:nvPr/>
        </p:nvSpPr>
        <p:spPr>
          <a:xfrm>
            <a:off x="7311360" y="3749040"/>
            <a:ext cx="2065264" cy="512064"/>
          </a:xfrm>
          <a:prstGeom prst="roundRect">
            <a:avLst>
              <a:gd name="adj" fmla="val 89286"/>
            </a:avLst>
          </a:prstGeom>
          <a:solidFill>
            <a:srgbClr val="F4F7FA"/>
          </a:solidFill>
          <a:ln w="9525">
            <a:solidFill>
              <a:srgbClr val="E1E8F0"/>
            </a:solidFill>
            <a:prstDash val="solid"/>
          </a:ln>
        </p:spPr>
      </p:sp>
      <p:sp>
        <p:nvSpPr>
          <p:cNvPr id="40" name="Text 34"/>
          <p:cNvSpPr/>
          <p:nvPr/>
        </p:nvSpPr>
        <p:spPr>
          <a:xfrm>
            <a:off x="7357080"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Edit the report</a:t>
            </a:r>
            <a:endParaRPr lang="en-US" sz="1050" dirty="0"/>
          </a:p>
        </p:txBody>
      </p:sp>
      <p:sp>
        <p:nvSpPr>
          <p:cNvPr id="41" name="Text 35"/>
          <p:cNvSpPr/>
          <p:nvPr/>
        </p:nvSpPr>
        <p:spPr>
          <a:xfrm>
            <a:off x="9376623"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42" name="Shape 36"/>
          <p:cNvSpPr/>
          <p:nvPr/>
        </p:nvSpPr>
        <p:spPr>
          <a:xfrm>
            <a:off x="9559503" y="3749040"/>
            <a:ext cx="2065264" cy="512064"/>
          </a:xfrm>
          <a:prstGeom prst="roundRect">
            <a:avLst>
              <a:gd name="adj" fmla="val 89286"/>
            </a:avLst>
          </a:prstGeom>
          <a:solidFill>
            <a:srgbClr val="F4F7FA"/>
          </a:solidFill>
          <a:ln w="9525">
            <a:solidFill>
              <a:srgbClr val="E1E8F0"/>
            </a:solidFill>
            <a:prstDash val="solid"/>
          </a:ln>
        </p:spPr>
      </p:sp>
      <p:sp>
        <p:nvSpPr>
          <p:cNvPr id="43" name="Text 37"/>
          <p:cNvSpPr/>
          <p:nvPr/>
        </p:nvSpPr>
        <p:spPr>
          <a:xfrm>
            <a:off x="9605223"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Export or share</a:t>
            </a:r>
            <a:endParaRPr lang="en-US" sz="1050" dirty="0"/>
          </a:p>
        </p:txBody>
      </p:sp>
      <p:sp>
        <p:nvSpPr>
          <p:cNvPr id="44" name="Shape 38"/>
          <p:cNvSpPr/>
          <p:nvPr/>
        </p:nvSpPr>
        <p:spPr>
          <a:xfrm>
            <a:off x="566928" y="4480560"/>
            <a:ext cx="5410048"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5" name="Shape 39"/>
          <p:cNvSpPr/>
          <p:nvPr/>
        </p:nvSpPr>
        <p:spPr>
          <a:xfrm>
            <a:off x="786384" y="4700016"/>
            <a:ext cx="365760" cy="365760"/>
          </a:xfrm>
          <a:prstGeom prst="ellipse">
            <a:avLst/>
          </a:prstGeom>
          <a:solidFill>
            <a:srgbClr val="0B2E59"/>
          </a:solidFill>
          <a:ln w="12700">
            <a:solidFill>
              <a:srgbClr val="0B2E59"/>
            </a:solidFill>
            <a:prstDash val="solid"/>
          </a:ln>
        </p:spPr>
      </p:sp>
      <p:pic>
        <p:nvPicPr>
          <p:cNvPr id="46" name="Image 4" descr="preencoded.png"/>
          <p:cNvPicPr>
            <a:picLocks noChangeAspect="1"/>
          </p:cNvPicPr>
          <p:nvPr/>
        </p:nvPicPr>
        <p:blipFill>
          <a:blip r:embed="rId7"/>
          <a:stretch>
            <a:fillRect/>
          </a:stretch>
        </p:blipFill>
        <p:spPr>
          <a:xfrm>
            <a:off x="877824" y="4791456"/>
            <a:ext cx="182880" cy="182880"/>
          </a:xfrm>
          <a:prstGeom prst="rect">
            <a:avLst/>
          </a:prstGeom>
        </p:spPr>
      </p:pic>
      <p:sp>
        <p:nvSpPr>
          <p:cNvPr id="47" name="Text 40"/>
          <p:cNvSpPr/>
          <p:nvPr/>
        </p:nvSpPr>
        <p:spPr>
          <a:xfrm>
            <a:off x="1280160" y="47000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Our own editor — not Canva, not Word</a:t>
            </a:r>
            <a:endParaRPr lang="en-US" sz="1350" dirty="0"/>
          </a:p>
        </p:txBody>
      </p:sp>
      <p:sp>
        <p:nvSpPr>
          <p:cNvPr id="48" name="Text 41"/>
          <p:cNvSpPr/>
          <p:nvPr/>
        </p:nvSpPr>
        <p:spPr>
          <a:xfrm>
            <a:off x="786384" y="5111496"/>
            <a:ext cx="4971136"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Edit text, rename headers, hide or reorder sections, adjust theme colours, with a live page-by-page preview of the PDF. Branding is applied automatically.</a:t>
            </a:r>
            <a:endParaRPr lang="en-US" sz="1050" dirty="0"/>
          </a:p>
        </p:txBody>
      </p:sp>
      <p:sp>
        <p:nvSpPr>
          <p:cNvPr id="49" name="Shape 42"/>
          <p:cNvSpPr/>
          <p:nvPr/>
        </p:nvSpPr>
        <p:spPr>
          <a:xfrm>
            <a:off x="6214720" y="4480560"/>
            <a:ext cx="5410048"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0" name="Shape 43"/>
          <p:cNvSpPr/>
          <p:nvPr/>
        </p:nvSpPr>
        <p:spPr>
          <a:xfrm>
            <a:off x="6434176" y="4700016"/>
            <a:ext cx="365760" cy="365760"/>
          </a:xfrm>
          <a:prstGeom prst="ellipse">
            <a:avLst/>
          </a:prstGeom>
          <a:solidFill>
            <a:srgbClr val="00ACC1"/>
          </a:solidFill>
          <a:ln w="12700">
            <a:solidFill>
              <a:srgbClr val="00ACC1"/>
            </a:solidFill>
            <a:prstDash val="solid"/>
          </a:ln>
        </p:spPr>
      </p:sp>
      <p:pic>
        <p:nvPicPr>
          <p:cNvPr id="51" name="Image 5" descr="preencoded.png"/>
          <p:cNvPicPr>
            <a:picLocks noChangeAspect="1"/>
          </p:cNvPicPr>
          <p:nvPr/>
        </p:nvPicPr>
        <p:blipFill>
          <a:blip r:embed="rId8"/>
          <a:stretch>
            <a:fillRect/>
          </a:stretch>
        </p:blipFill>
        <p:spPr>
          <a:xfrm>
            <a:off x="6525616" y="4791456"/>
            <a:ext cx="182880" cy="182880"/>
          </a:xfrm>
          <a:prstGeom prst="rect">
            <a:avLst/>
          </a:prstGeom>
        </p:spPr>
      </p:pic>
      <p:sp>
        <p:nvSpPr>
          <p:cNvPr id="52" name="Text 44"/>
          <p:cNvSpPr/>
          <p:nvPr/>
        </p:nvSpPr>
        <p:spPr>
          <a:xfrm>
            <a:off x="6927952" y="47000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Nothing is ever stored</a:t>
            </a:r>
            <a:endParaRPr lang="en-US" sz="1350" dirty="0"/>
          </a:p>
        </p:txBody>
      </p:sp>
      <p:sp>
        <p:nvSpPr>
          <p:cNvPr id="53" name="Text 45"/>
          <p:cNvSpPr/>
          <p:nvPr/>
        </p:nvSpPr>
        <p:spPr>
          <a:xfrm>
            <a:off x="6434176" y="5111496"/>
            <a:ext cx="4971136"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Reports are generated on demand, edited, exported to PDF, Excel or PNG, and saved to your own computer. iPOMS keeps no copy.</a:t>
            </a:r>
            <a:endParaRPr lang="en-US" sz="1050" dirty="0"/>
          </a:p>
        </p:txBody>
      </p:sp>
      <p:pic>
        <p:nvPicPr>
          <p:cNvPr id="54" name="Picture 53">
            <a:extLst>
              <a:ext uri="{FF2B5EF4-FFF2-40B4-BE49-F238E27FC236}">
                <a16:creationId xmlns:a16="http://schemas.microsoft.com/office/drawing/2014/main" id="{166F51A7-4E0B-B1D9-B475-08F4DC43BC90}"/>
              </a:ext>
            </a:extLst>
          </p:cNvPr>
          <p:cNvPicPr>
            <a:picLocks noChangeAspect="1"/>
          </p:cNvPicPr>
          <p:nvPr/>
        </p:nvPicPr>
        <p:blipFill>
          <a:blip r:embed="rId9"/>
          <a:stretch>
            <a:fillRect/>
          </a:stretch>
        </p:blipFill>
        <p:spPr>
          <a:xfrm>
            <a:off x="10505338" y="166891"/>
            <a:ext cx="1544421" cy="37260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07 — ROLE-BASED DASHBOARD</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operational command centre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28</a:t>
            </a:r>
            <a:endParaRPr lang="en-US" sz="950" dirty="0"/>
          </a:p>
        </p:txBody>
      </p:sp>
      <p:sp>
        <p:nvSpPr>
          <p:cNvPr id="8" name="Shape 6"/>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9" name="Text 7"/>
          <p:cNvSpPr/>
          <p:nvPr/>
        </p:nvSpPr>
        <p:spPr>
          <a:xfrm>
            <a:off x="877824" y="1536192"/>
            <a:ext cx="10436047" cy="438912"/>
          </a:xfrm>
          <a:prstGeom prst="rect">
            <a:avLst/>
          </a:prstGeom>
          <a:noFill/>
          <a:ln/>
        </p:spPr>
        <p:txBody>
          <a:bodyPr wrap="square" lIns="0" tIns="0" rIns="0" bIns="0" rtlCol="0" anchor="ctr"/>
          <a:lstStyle/>
          <a:p>
            <a:pPr marL="0" indent="0">
              <a:lnSpc>
                <a:spcPct val="112000"/>
              </a:lnSpc>
              <a:buNone/>
            </a:pPr>
            <a:r>
              <a:rPr lang="en-US" sz="1900" i="1" dirty="0">
                <a:solidFill>
                  <a:srgbClr val="0B2E59"/>
                </a:solidFill>
                <a:latin typeface="Calibri" pitchFamily="34" charset="0"/>
                <a:ea typeface="Calibri" pitchFamily="34" charset="-122"/>
                <a:cs typeface="Calibri" pitchFamily="34" charset="-120"/>
              </a:rPr>
              <a:t>“Inform the user. Guide the user. Never make the user work from the dashboard.”</a:t>
            </a:r>
            <a:endParaRPr lang="en-US" sz="1900" dirty="0"/>
          </a:p>
        </p:txBody>
      </p:sp>
      <p:sp>
        <p:nvSpPr>
          <p:cNvPr id="10" name="Text 8"/>
          <p:cNvSpPr/>
          <p:nvPr/>
        </p:nvSpPr>
        <p:spPr>
          <a:xfrm>
            <a:off x="877824" y="195681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The landing page after login — an intelligent navigation centre, not a data-entry screen.</a:t>
            </a:r>
            <a:endParaRPr lang="en-US" sz="1000" dirty="0"/>
          </a:p>
        </p:txBody>
      </p:sp>
      <p:sp>
        <p:nvSpPr>
          <p:cNvPr id="11" name="Text 9"/>
          <p:cNvSpPr/>
          <p:nvPr/>
        </p:nvSpPr>
        <p:spPr>
          <a:xfrm>
            <a:off x="566928" y="25420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THREE QUESTIONS IT ANSWERS IN SECONDS</a:t>
            </a:r>
            <a:endParaRPr lang="en-US" sz="950" dirty="0"/>
          </a:p>
        </p:txBody>
      </p:sp>
      <p:sp>
        <p:nvSpPr>
          <p:cNvPr id="12" name="Shape 10"/>
          <p:cNvSpPr/>
          <p:nvPr/>
        </p:nvSpPr>
        <p:spPr>
          <a:xfrm>
            <a:off x="566928" y="2798064"/>
            <a:ext cx="3600602" cy="457200"/>
          </a:xfrm>
          <a:prstGeom prst="roundRect">
            <a:avLst>
              <a:gd name="adj" fmla="val 100000"/>
            </a:avLst>
          </a:prstGeom>
          <a:solidFill>
            <a:srgbClr val="F4F7FA"/>
          </a:solidFill>
          <a:ln w="9525">
            <a:solidFill>
              <a:srgbClr val="E1E8F0"/>
            </a:solidFill>
            <a:prstDash val="solid"/>
          </a:ln>
        </p:spPr>
      </p:sp>
      <p:sp>
        <p:nvSpPr>
          <p:cNvPr id="13" name="Text 11"/>
          <p:cNvSpPr/>
          <p:nvPr/>
        </p:nvSpPr>
        <p:spPr>
          <a:xfrm>
            <a:off x="640080" y="2798064"/>
            <a:ext cx="3454298"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What is my priority today?</a:t>
            </a:r>
            <a:endParaRPr lang="en-US" sz="1100" dirty="0"/>
          </a:p>
        </p:txBody>
      </p:sp>
      <p:sp>
        <p:nvSpPr>
          <p:cNvPr id="14" name="Shape 12"/>
          <p:cNvSpPr/>
          <p:nvPr/>
        </p:nvSpPr>
        <p:spPr>
          <a:xfrm>
            <a:off x="4295546" y="2798064"/>
            <a:ext cx="3600602" cy="457200"/>
          </a:xfrm>
          <a:prstGeom prst="roundRect">
            <a:avLst>
              <a:gd name="adj" fmla="val 100000"/>
            </a:avLst>
          </a:prstGeom>
          <a:solidFill>
            <a:srgbClr val="F4F7FA"/>
          </a:solidFill>
          <a:ln w="9525">
            <a:solidFill>
              <a:srgbClr val="E1E8F0"/>
            </a:solidFill>
            <a:prstDash val="solid"/>
          </a:ln>
        </p:spPr>
      </p:sp>
      <p:sp>
        <p:nvSpPr>
          <p:cNvPr id="15" name="Text 13"/>
          <p:cNvSpPr/>
          <p:nvPr/>
        </p:nvSpPr>
        <p:spPr>
          <a:xfrm>
            <a:off x="4368698" y="2798064"/>
            <a:ext cx="3454298"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What needs my attention?</a:t>
            </a:r>
            <a:endParaRPr lang="en-US" sz="1100" dirty="0"/>
          </a:p>
        </p:txBody>
      </p:sp>
      <p:sp>
        <p:nvSpPr>
          <p:cNvPr id="16" name="Shape 14"/>
          <p:cNvSpPr/>
          <p:nvPr/>
        </p:nvSpPr>
        <p:spPr>
          <a:xfrm>
            <a:off x="8024165" y="2798064"/>
            <a:ext cx="3600602" cy="457200"/>
          </a:xfrm>
          <a:prstGeom prst="roundRect">
            <a:avLst>
              <a:gd name="adj" fmla="val 100000"/>
            </a:avLst>
          </a:prstGeom>
          <a:solidFill>
            <a:srgbClr val="F4F7FA"/>
          </a:solidFill>
          <a:ln w="9525">
            <a:solidFill>
              <a:srgbClr val="E1E8F0"/>
            </a:solidFill>
            <a:prstDash val="solid"/>
          </a:ln>
        </p:spPr>
      </p:sp>
      <p:sp>
        <p:nvSpPr>
          <p:cNvPr id="17" name="Text 15"/>
          <p:cNvSpPr/>
          <p:nvPr/>
        </p:nvSpPr>
        <p:spPr>
          <a:xfrm>
            <a:off x="8097317" y="2798064"/>
            <a:ext cx="3454298"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Where should I go next?</a:t>
            </a:r>
            <a:endParaRPr lang="en-US" sz="1100" dirty="0"/>
          </a:p>
        </p:txBody>
      </p:sp>
      <p:sp>
        <p:nvSpPr>
          <p:cNvPr id="18" name="Text 16"/>
          <p:cNvSpPr/>
          <p:nvPr/>
        </p:nvSpPr>
        <p:spPr>
          <a:xfrm>
            <a:off x="566928" y="352958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EIGHT BLOCKS, IN ORDER</a:t>
            </a:r>
            <a:endParaRPr lang="en-US" sz="950" dirty="0"/>
          </a:p>
        </p:txBody>
      </p:sp>
      <p:sp>
        <p:nvSpPr>
          <p:cNvPr id="19" name="Shape 17"/>
          <p:cNvSpPr/>
          <p:nvPr/>
        </p:nvSpPr>
        <p:spPr>
          <a:xfrm>
            <a:off x="566928" y="3785616"/>
            <a:ext cx="2627300" cy="457200"/>
          </a:xfrm>
          <a:prstGeom prst="roundRect">
            <a:avLst>
              <a:gd name="adj" fmla="val 100000"/>
            </a:avLst>
          </a:prstGeom>
          <a:solidFill>
            <a:srgbClr val="F4F7FA"/>
          </a:solidFill>
          <a:ln w="9525">
            <a:solidFill>
              <a:srgbClr val="E1E8F0"/>
            </a:solidFill>
            <a:prstDash val="solid"/>
          </a:ln>
        </p:spPr>
      </p:sp>
      <p:sp>
        <p:nvSpPr>
          <p:cNvPr id="20" name="Text 18"/>
          <p:cNvSpPr/>
          <p:nvPr/>
        </p:nvSpPr>
        <p:spPr>
          <a:xfrm>
            <a:off x="612648"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Greeting</a:t>
            </a:r>
            <a:endParaRPr lang="en-US" sz="1050" dirty="0"/>
          </a:p>
        </p:txBody>
      </p:sp>
      <p:sp>
        <p:nvSpPr>
          <p:cNvPr id="21" name="Text 19"/>
          <p:cNvSpPr/>
          <p:nvPr/>
        </p:nvSpPr>
        <p:spPr>
          <a:xfrm>
            <a:off x="3194228" y="3785616"/>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3377108" y="3785616"/>
            <a:ext cx="2627300" cy="457200"/>
          </a:xfrm>
          <a:prstGeom prst="roundRect">
            <a:avLst>
              <a:gd name="adj" fmla="val 100000"/>
            </a:avLst>
          </a:prstGeom>
          <a:solidFill>
            <a:srgbClr val="F4F7FA"/>
          </a:solidFill>
          <a:ln w="9525">
            <a:solidFill>
              <a:srgbClr val="E1E8F0"/>
            </a:solidFill>
            <a:prstDash val="solid"/>
          </a:ln>
        </p:spPr>
      </p:sp>
      <p:sp>
        <p:nvSpPr>
          <p:cNvPr id="23" name="Text 21"/>
          <p:cNvSpPr/>
          <p:nvPr/>
        </p:nvSpPr>
        <p:spPr>
          <a:xfrm>
            <a:off x="3422828"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Notifications</a:t>
            </a:r>
            <a:endParaRPr lang="en-US" sz="1050" dirty="0"/>
          </a:p>
        </p:txBody>
      </p:sp>
      <p:sp>
        <p:nvSpPr>
          <p:cNvPr id="24" name="Text 22"/>
          <p:cNvSpPr/>
          <p:nvPr/>
        </p:nvSpPr>
        <p:spPr>
          <a:xfrm>
            <a:off x="6004408" y="3785616"/>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5" name="Shape 23"/>
          <p:cNvSpPr/>
          <p:nvPr/>
        </p:nvSpPr>
        <p:spPr>
          <a:xfrm>
            <a:off x="6187288" y="3785616"/>
            <a:ext cx="2627300" cy="457200"/>
          </a:xfrm>
          <a:prstGeom prst="roundRect">
            <a:avLst>
              <a:gd name="adj" fmla="val 100000"/>
            </a:avLst>
          </a:prstGeom>
          <a:solidFill>
            <a:srgbClr val="F4F7FA"/>
          </a:solidFill>
          <a:ln w="9525">
            <a:solidFill>
              <a:srgbClr val="E1E8F0"/>
            </a:solidFill>
            <a:prstDash val="solid"/>
          </a:ln>
        </p:spPr>
      </p:sp>
      <p:sp>
        <p:nvSpPr>
          <p:cNvPr id="26" name="Text 24"/>
          <p:cNvSpPr/>
          <p:nvPr/>
        </p:nvSpPr>
        <p:spPr>
          <a:xfrm>
            <a:off x="6233008"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Assigned Work</a:t>
            </a:r>
            <a:endParaRPr lang="en-US" sz="1050" dirty="0"/>
          </a:p>
        </p:txBody>
      </p:sp>
      <p:sp>
        <p:nvSpPr>
          <p:cNvPr id="27" name="Text 25"/>
          <p:cNvSpPr/>
          <p:nvPr/>
        </p:nvSpPr>
        <p:spPr>
          <a:xfrm>
            <a:off x="8814587" y="3785616"/>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8" name="Shape 26"/>
          <p:cNvSpPr/>
          <p:nvPr/>
        </p:nvSpPr>
        <p:spPr>
          <a:xfrm>
            <a:off x="8997467" y="3785616"/>
            <a:ext cx="2627300" cy="457200"/>
          </a:xfrm>
          <a:prstGeom prst="roundRect">
            <a:avLst>
              <a:gd name="adj" fmla="val 100000"/>
            </a:avLst>
          </a:prstGeom>
          <a:solidFill>
            <a:srgbClr val="F4F7FA"/>
          </a:solidFill>
          <a:ln w="9525">
            <a:solidFill>
              <a:srgbClr val="E1E8F0"/>
            </a:solidFill>
            <a:prstDash val="solid"/>
          </a:ln>
        </p:spPr>
      </p:sp>
      <p:sp>
        <p:nvSpPr>
          <p:cNvPr id="29" name="Text 27"/>
          <p:cNvSpPr/>
          <p:nvPr/>
        </p:nvSpPr>
        <p:spPr>
          <a:xfrm>
            <a:off x="9043187"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Priority College</a:t>
            </a:r>
            <a:endParaRPr lang="en-US" sz="1050" dirty="0"/>
          </a:p>
        </p:txBody>
      </p:sp>
      <p:sp>
        <p:nvSpPr>
          <p:cNvPr id="30" name="Shape 28"/>
          <p:cNvSpPr/>
          <p:nvPr/>
        </p:nvSpPr>
        <p:spPr>
          <a:xfrm>
            <a:off x="566928" y="4389120"/>
            <a:ext cx="2627300" cy="457200"/>
          </a:xfrm>
          <a:prstGeom prst="roundRect">
            <a:avLst>
              <a:gd name="adj" fmla="val 100000"/>
            </a:avLst>
          </a:prstGeom>
          <a:solidFill>
            <a:srgbClr val="F4F7FA"/>
          </a:solidFill>
          <a:ln w="9525">
            <a:solidFill>
              <a:srgbClr val="E1E8F0"/>
            </a:solidFill>
            <a:prstDash val="solid"/>
          </a:ln>
        </p:spPr>
      </p:sp>
      <p:sp>
        <p:nvSpPr>
          <p:cNvPr id="31" name="Text 29"/>
          <p:cNvSpPr/>
          <p:nvPr/>
        </p:nvSpPr>
        <p:spPr>
          <a:xfrm>
            <a:off x="612648"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Today's Tasks</a:t>
            </a:r>
            <a:endParaRPr lang="en-US" sz="1050" dirty="0"/>
          </a:p>
        </p:txBody>
      </p:sp>
      <p:sp>
        <p:nvSpPr>
          <p:cNvPr id="32" name="Text 30"/>
          <p:cNvSpPr/>
          <p:nvPr/>
        </p:nvSpPr>
        <p:spPr>
          <a:xfrm>
            <a:off x="3194228" y="4389120"/>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3" name="Shape 31"/>
          <p:cNvSpPr/>
          <p:nvPr/>
        </p:nvSpPr>
        <p:spPr>
          <a:xfrm>
            <a:off x="3377108" y="4389120"/>
            <a:ext cx="2627300" cy="457200"/>
          </a:xfrm>
          <a:prstGeom prst="roundRect">
            <a:avLst>
              <a:gd name="adj" fmla="val 100000"/>
            </a:avLst>
          </a:prstGeom>
          <a:solidFill>
            <a:srgbClr val="F4F7FA"/>
          </a:solidFill>
          <a:ln w="9525">
            <a:solidFill>
              <a:srgbClr val="E1E8F0"/>
            </a:solidFill>
            <a:prstDash val="solid"/>
          </a:ln>
        </p:spPr>
      </p:sp>
      <p:sp>
        <p:nvSpPr>
          <p:cNvPr id="34" name="Text 32"/>
          <p:cNvSpPr/>
          <p:nvPr/>
        </p:nvSpPr>
        <p:spPr>
          <a:xfrm>
            <a:off x="3422828"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Today's KPIs</a:t>
            </a:r>
            <a:endParaRPr lang="en-US" sz="1050" dirty="0"/>
          </a:p>
        </p:txBody>
      </p:sp>
      <p:sp>
        <p:nvSpPr>
          <p:cNvPr id="35" name="Text 33"/>
          <p:cNvSpPr/>
          <p:nvPr/>
        </p:nvSpPr>
        <p:spPr>
          <a:xfrm>
            <a:off x="6004408" y="4389120"/>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6" name="Shape 34"/>
          <p:cNvSpPr/>
          <p:nvPr/>
        </p:nvSpPr>
        <p:spPr>
          <a:xfrm>
            <a:off x="6187288" y="4389120"/>
            <a:ext cx="2627300" cy="457200"/>
          </a:xfrm>
          <a:prstGeom prst="roundRect">
            <a:avLst>
              <a:gd name="adj" fmla="val 100000"/>
            </a:avLst>
          </a:prstGeom>
          <a:solidFill>
            <a:srgbClr val="F4F7FA"/>
          </a:solidFill>
          <a:ln w="9525">
            <a:solidFill>
              <a:srgbClr val="E1E8F0"/>
            </a:solidFill>
            <a:prstDash val="solid"/>
          </a:ln>
        </p:spPr>
      </p:sp>
      <p:sp>
        <p:nvSpPr>
          <p:cNvPr id="37" name="Text 35"/>
          <p:cNvSpPr/>
          <p:nvPr/>
        </p:nvSpPr>
        <p:spPr>
          <a:xfrm>
            <a:off x="6233008"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Quick Navigation</a:t>
            </a:r>
            <a:endParaRPr lang="en-US" sz="1050" dirty="0"/>
          </a:p>
        </p:txBody>
      </p:sp>
      <p:sp>
        <p:nvSpPr>
          <p:cNvPr id="38" name="Text 36"/>
          <p:cNvSpPr/>
          <p:nvPr/>
        </p:nvSpPr>
        <p:spPr>
          <a:xfrm>
            <a:off x="8814587" y="4389120"/>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9" name="Shape 37"/>
          <p:cNvSpPr/>
          <p:nvPr/>
        </p:nvSpPr>
        <p:spPr>
          <a:xfrm>
            <a:off x="8997467" y="4389120"/>
            <a:ext cx="2627300" cy="457200"/>
          </a:xfrm>
          <a:prstGeom prst="roundRect">
            <a:avLst>
              <a:gd name="adj" fmla="val 100000"/>
            </a:avLst>
          </a:prstGeom>
          <a:solidFill>
            <a:srgbClr val="F4F7FA"/>
          </a:solidFill>
          <a:ln w="9525">
            <a:solidFill>
              <a:srgbClr val="E1E8F0"/>
            </a:solidFill>
            <a:prstDash val="solid"/>
          </a:ln>
        </p:spPr>
      </p:sp>
      <p:sp>
        <p:nvSpPr>
          <p:cNvPr id="40" name="Text 38"/>
          <p:cNvSpPr/>
          <p:nvPr/>
        </p:nvSpPr>
        <p:spPr>
          <a:xfrm>
            <a:off x="9043187"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Insights</a:t>
            </a:r>
            <a:endParaRPr lang="en-US" sz="1050" dirty="0"/>
          </a:p>
        </p:txBody>
      </p:sp>
      <p:sp>
        <p:nvSpPr>
          <p:cNvPr id="41" name="Text 39"/>
          <p:cNvSpPr/>
          <p:nvPr/>
        </p:nvSpPr>
        <p:spPr>
          <a:xfrm>
            <a:off x="566928" y="50292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FOUR RULES THE DASHBOARD NEVER BREAKS</a:t>
            </a:r>
            <a:endParaRPr lang="en-US" sz="950" dirty="0"/>
          </a:p>
        </p:txBody>
      </p:sp>
      <p:sp>
        <p:nvSpPr>
          <p:cNvPr id="42" name="Shape 40"/>
          <p:cNvSpPr/>
          <p:nvPr/>
        </p:nvSpPr>
        <p:spPr>
          <a:xfrm>
            <a:off x="566928" y="5285232"/>
            <a:ext cx="2668448" cy="457200"/>
          </a:xfrm>
          <a:prstGeom prst="roundRect">
            <a:avLst>
              <a:gd name="adj" fmla="val 100000"/>
            </a:avLst>
          </a:prstGeom>
          <a:solidFill>
            <a:srgbClr val="E7F3FD"/>
          </a:solidFill>
          <a:ln w="9525">
            <a:solidFill>
              <a:srgbClr val="E1E8F0"/>
            </a:solidFill>
            <a:prstDash val="solid"/>
          </a:ln>
        </p:spPr>
      </p:sp>
      <p:sp>
        <p:nvSpPr>
          <p:cNvPr id="43" name="Text 41"/>
          <p:cNvSpPr/>
          <p:nvPr/>
        </p:nvSpPr>
        <p:spPr>
          <a:xfrm>
            <a:off x="640080" y="5285232"/>
            <a:ext cx="2522144" cy="457200"/>
          </a:xfrm>
          <a:prstGeom prst="rect">
            <a:avLst/>
          </a:prstGeom>
          <a:noFill/>
          <a:ln/>
        </p:spPr>
        <p:txBody>
          <a:bodyPr wrap="square" lIns="0" tIns="0" rIns="0" bIns="0" rtlCol="0" anchor="ctr"/>
          <a:lstStyle/>
          <a:p>
            <a:pPr marL="0" indent="0" algn="ctr">
              <a:buNone/>
            </a:pPr>
            <a:r>
              <a:rPr lang="en-US" sz="1100" b="1" dirty="0">
                <a:solidFill>
                  <a:srgbClr val="175496"/>
                </a:solidFill>
                <a:latin typeface="Calibri" pitchFamily="34" charset="0"/>
                <a:ea typeface="Calibri" pitchFamily="34" charset="-122"/>
                <a:cs typeface="Calibri" pitchFamily="34" charset="-120"/>
              </a:rPr>
              <a:t>Interactive</a:t>
            </a:r>
            <a:endParaRPr lang="en-US" sz="1100" dirty="0"/>
          </a:p>
        </p:txBody>
      </p:sp>
      <p:sp>
        <p:nvSpPr>
          <p:cNvPr id="44" name="Shape 42"/>
          <p:cNvSpPr/>
          <p:nvPr/>
        </p:nvSpPr>
        <p:spPr>
          <a:xfrm>
            <a:off x="3363392" y="5285232"/>
            <a:ext cx="2668448" cy="457200"/>
          </a:xfrm>
          <a:prstGeom prst="roundRect">
            <a:avLst>
              <a:gd name="adj" fmla="val 100000"/>
            </a:avLst>
          </a:prstGeom>
          <a:solidFill>
            <a:srgbClr val="F1F4F8"/>
          </a:solidFill>
          <a:ln w="9525">
            <a:solidFill>
              <a:srgbClr val="E1E8F0"/>
            </a:solidFill>
            <a:prstDash val="solid"/>
          </a:ln>
        </p:spPr>
      </p:sp>
      <p:sp>
        <p:nvSpPr>
          <p:cNvPr id="45" name="Text 43"/>
          <p:cNvSpPr/>
          <p:nvPr/>
        </p:nvSpPr>
        <p:spPr>
          <a:xfrm>
            <a:off x="3436544" y="5285232"/>
            <a:ext cx="2522144" cy="457200"/>
          </a:xfrm>
          <a:prstGeom prst="rect">
            <a:avLst/>
          </a:prstGeom>
          <a:noFill/>
          <a:ln/>
        </p:spPr>
        <p:txBody>
          <a:bodyPr wrap="square" lIns="0" tIns="0" rIns="0" bIns="0" rtlCol="0" anchor="ctr"/>
          <a:lstStyle/>
          <a:p>
            <a:pPr marL="0" indent="0" algn="ctr">
              <a:buNone/>
            </a:pPr>
            <a:r>
              <a:rPr lang="en-US" sz="1100" b="1" dirty="0">
                <a:solidFill>
                  <a:srgbClr val="6B7A8C"/>
                </a:solidFill>
                <a:latin typeface="Calibri" pitchFamily="34" charset="0"/>
                <a:ea typeface="Calibri" pitchFamily="34" charset="-122"/>
                <a:cs typeface="Calibri" pitchFamily="34" charset="-120"/>
              </a:rPr>
              <a:t>Non-editable</a:t>
            </a:r>
            <a:endParaRPr lang="en-US" sz="1100" dirty="0"/>
          </a:p>
        </p:txBody>
      </p:sp>
      <p:sp>
        <p:nvSpPr>
          <p:cNvPr id="46" name="Shape 44"/>
          <p:cNvSpPr/>
          <p:nvPr/>
        </p:nvSpPr>
        <p:spPr>
          <a:xfrm>
            <a:off x="6159856" y="5285232"/>
            <a:ext cx="2668448" cy="457200"/>
          </a:xfrm>
          <a:prstGeom prst="roundRect">
            <a:avLst>
              <a:gd name="adj" fmla="val 100000"/>
            </a:avLst>
          </a:prstGeom>
          <a:solidFill>
            <a:srgbClr val="EAF5EB"/>
          </a:solidFill>
          <a:ln w="9525">
            <a:solidFill>
              <a:srgbClr val="E1E8F0"/>
            </a:solidFill>
            <a:prstDash val="solid"/>
          </a:ln>
        </p:spPr>
      </p:sp>
      <p:sp>
        <p:nvSpPr>
          <p:cNvPr id="47" name="Text 45"/>
          <p:cNvSpPr/>
          <p:nvPr/>
        </p:nvSpPr>
        <p:spPr>
          <a:xfrm>
            <a:off x="6233008" y="52852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Live — no manual refresh</a:t>
            </a:r>
            <a:endParaRPr lang="en-US" sz="1100" dirty="0"/>
          </a:p>
        </p:txBody>
      </p:sp>
      <p:sp>
        <p:nvSpPr>
          <p:cNvPr id="48" name="Shape 46"/>
          <p:cNvSpPr/>
          <p:nvPr/>
        </p:nvSpPr>
        <p:spPr>
          <a:xfrm>
            <a:off x="8956319" y="5285232"/>
            <a:ext cx="2668448" cy="457200"/>
          </a:xfrm>
          <a:prstGeom prst="roundRect">
            <a:avLst>
              <a:gd name="adj" fmla="val 100000"/>
            </a:avLst>
          </a:prstGeom>
          <a:solidFill>
            <a:srgbClr val="EEF4FB"/>
          </a:solidFill>
          <a:ln w="9525">
            <a:solidFill>
              <a:srgbClr val="E1E8F0"/>
            </a:solidFill>
            <a:prstDash val="solid"/>
          </a:ln>
        </p:spPr>
      </p:sp>
      <p:sp>
        <p:nvSpPr>
          <p:cNvPr id="49" name="Text 47"/>
          <p:cNvSpPr/>
          <p:nvPr/>
        </p:nvSpPr>
        <p:spPr>
          <a:xfrm>
            <a:off x="9029471" y="5285232"/>
            <a:ext cx="2522144"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Minimal</a:t>
            </a:r>
            <a:endParaRPr lang="en-US" sz="1100" dirty="0"/>
          </a:p>
        </p:txBody>
      </p:sp>
      <p:pic>
        <p:nvPicPr>
          <p:cNvPr id="50" name="Picture 49">
            <a:extLst>
              <a:ext uri="{FF2B5EF4-FFF2-40B4-BE49-F238E27FC236}">
                <a16:creationId xmlns:a16="http://schemas.microsoft.com/office/drawing/2014/main" id="{BBFBBB4B-049E-E5B0-07E9-A9AECCCD8D17}"/>
              </a:ext>
            </a:extLst>
          </p:cNvPr>
          <p:cNvPicPr>
            <a:picLocks noChangeAspect="1"/>
          </p:cNvPicPr>
          <p:nvPr/>
        </p:nvPicPr>
        <p:blipFill>
          <a:blip r:embed="rId3"/>
          <a:stretch>
            <a:fillRect/>
          </a:stretch>
        </p:blipFill>
        <p:spPr>
          <a:xfrm>
            <a:off x="10505338" y="166891"/>
            <a:ext cx="1544421" cy="37260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07 — ROLE-BASED DASHBOARD</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Assigned work, and the merge engine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29</a:t>
            </a:r>
            <a:endParaRPr lang="en-US" sz="950" dirty="0"/>
          </a:p>
        </p:txBody>
      </p:sp>
      <p:sp>
        <p:nvSpPr>
          <p:cNvPr id="8" name="Text 6"/>
          <p:cNvSpPr/>
          <p:nvPr/>
        </p:nvSpPr>
        <p:spPr>
          <a:xfrm>
            <a:off x="566928" y="1371600"/>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TEAM LEADERS ASSIGN WORK, NOT CHAT MESSAGES</a:t>
            </a:r>
            <a:endParaRPr lang="en-US" sz="950" dirty="0"/>
          </a:p>
        </p:txBody>
      </p:sp>
      <p:sp>
        <p:nvSpPr>
          <p:cNvPr id="9" name="Shape 7"/>
          <p:cNvSpPr/>
          <p:nvPr/>
        </p:nvSpPr>
        <p:spPr>
          <a:xfrm>
            <a:off x="566928" y="1627632"/>
            <a:ext cx="5212080" cy="2615184"/>
          </a:xfrm>
          <a:prstGeom prst="roundRect">
            <a:avLst>
              <a:gd name="adj" fmla="val 34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420624" cy="420624"/>
          </a:xfrm>
          <a:prstGeom prst="ellipse">
            <a:avLst/>
          </a:prstGeom>
          <a:solidFill>
            <a:srgbClr val="00ACC1"/>
          </a:solidFill>
          <a:ln w="12700">
            <a:solidFill>
              <a:srgbClr val="00ACC1"/>
            </a:solidFill>
            <a:prstDash val="solid"/>
          </a:ln>
        </p:spPr>
      </p:sp>
      <p:pic>
        <p:nvPicPr>
          <p:cNvPr id="11" name="Image 0" descr="preencoded.png"/>
          <p:cNvPicPr>
            <a:picLocks noChangeAspect="1"/>
          </p:cNvPicPr>
          <p:nvPr/>
        </p:nvPicPr>
        <p:blipFill>
          <a:blip r:embed="rId3"/>
          <a:stretch>
            <a:fillRect/>
          </a:stretch>
        </p:blipFill>
        <p:spPr>
          <a:xfrm>
            <a:off x="891540" y="1952244"/>
            <a:ext cx="210312" cy="210312"/>
          </a:xfrm>
          <a:prstGeom prst="rect">
            <a:avLst/>
          </a:prstGeom>
        </p:spPr>
      </p:pic>
      <p:sp>
        <p:nvSpPr>
          <p:cNvPr id="12" name="Text 9"/>
          <p:cNvSpPr/>
          <p:nvPr/>
        </p:nvSpPr>
        <p:spPr>
          <a:xfrm>
            <a:off x="786384" y="2395728"/>
            <a:ext cx="477316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How an assignment travels</a:t>
            </a:r>
            <a:endParaRPr lang="en-US" sz="1350" dirty="0"/>
          </a:p>
        </p:txBody>
      </p:sp>
      <p:sp>
        <p:nvSpPr>
          <p:cNvPr id="13" name="Text 10"/>
          <p:cNvSpPr/>
          <p:nvPr/>
        </p:nvSpPr>
        <p:spPr>
          <a:xfrm>
            <a:off x="786384" y="2715768"/>
            <a:ext cx="4773168" cy="135331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Create assignment › pick the coordinator › pick the college › send. It appears on that coordinator's dashboard as a card, sorted by priority — High, Medium or Low.</a:t>
            </a:r>
            <a:endParaRPr lang="en-US" sz="1050" dirty="0"/>
          </a:p>
          <a:p>
            <a:pPr marL="0" indent="0">
              <a:lnSpc>
                <a:spcPct val="114000"/>
              </a:lnSpc>
              <a:buNone/>
            </a:pPr>
            <a:endParaRPr lang="en-US" sz="1050" dirty="0"/>
          </a:p>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Card actions:  Load to Metadata · Mark Completed · View Details.</a:t>
            </a:r>
            <a:endParaRPr lang="en-US" sz="1050" dirty="0"/>
          </a:p>
        </p:txBody>
      </p:sp>
      <p:sp>
        <p:nvSpPr>
          <p:cNvPr id="14" name="Shape 11"/>
          <p:cNvSpPr/>
          <p:nvPr/>
        </p:nvSpPr>
        <p:spPr>
          <a:xfrm>
            <a:off x="566928" y="4443984"/>
            <a:ext cx="5212080"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786384" y="4663440"/>
            <a:ext cx="365760" cy="365760"/>
          </a:xfrm>
          <a:prstGeom prst="ellipse">
            <a:avLst/>
          </a:prstGeom>
          <a:solidFill>
            <a:srgbClr val="0B2E59"/>
          </a:solidFill>
          <a:ln w="12700">
            <a:solidFill>
              <a:srgbClr val="0B2E59"/>
            </a:solidFill>
            <a:prstDash val="solid"/>
          </a:ln>
        </p:spPr>
      </p:sp>
      <p:pic>
        <p:nvPicPr>
          <p:cNvPr id="16" name="Image 1" descr="preencoded.png"/>
          <p:cNvPicPr>
            <a:picLocks noChangeAspect="1"/>
          </p:cNvPicPr>
          <p:nvPr/>
        </p:nvPicPr>
        <p:blipFill>
          <a:blip r:embed="rId4"/>
          <a:stretch>
            <a:fillRect/>
          </a:stretch>
        </p:blipFill>
        <p:spPr>
          <a:xfrm>
            <a:off x="877824" y="4754880"/>
            <a:ext cx="182880" cy="182880"/>
          </a:xfrm>
          <a:prstGeom prst="rect">
            <a:avLst/>
          </a:prstGeom>
        </p:spPr>
      </p:pic>
      <p:sp>
        <p:nvSpPr>
          <p:cNvPr id="17" name="Text 13"/>
          <p:cNvSpPr/>
          <p:nvPr/>
        </p:nvSpPr>
        <p:spPr>
          <a:xfrm>
            <a:off x="1280160" y="4663440"/>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It cleans up after itself</a:t>
            </a:r>
            <a:endParaRPr lang="en-US" sz="1350" dirty="0"/>
          </a:p>
        </p:txBody>
      </p:sp>
      <p:sp>
        <p:nvSpPr>
          <p:cNvPr id="18" name="Text 14"/>
          <p:cNvSpPr/>
          <p:nvPr/>
        </p:nvSpPr>
        <p:spPr>
          <a:xfrm>
            <a:off x="786384" y="5074920"/>
            <a:ext cx="4773168"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completed card disappears from the dashboard, and is cleared from operational storage after seven days.</a:t>
            </a:r>
            <a:endParaRPr lang="en-US" sz="1050" dirty="0"/>
          </a:p>
        </p:txBody>
      </p:sp>
      <p:sp>
        <p:nvSpPr>
          <p:cNvPr id="19" name="Text 15"/>
          <p:cNvSpPr/>
          <p:nvPr/>
        </p:nvSpPr>
        <p:spPr>
          <a:xfrm>
            <a:off x="6089904" y="1371600"/>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METADATA MERGE ENGINE — FIVE CASES</a:t>
            </a:r>
            <a:endParaRPr lang="en-US" sz="9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089904" y="1627632"/>
          <a:ext cx="5532120" cy="2414016"/>
        </p:xfrm>
        <a:graphic>
          <a:graphicData uri="http://schemas.openxmlformats.org/drawingml/2006/table">
            <a:tbl>
              <a:tblPr/>
              <a:tblGrid>
                <a:gridCol w="24688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40233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the system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New company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Creates the company record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Same company, new HR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Adds another contact under 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Same HR, new mobile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Appends the extra number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Same HR, new 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Appends the extra 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Exact duplicate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2E7D32"/>
                          </a:solidFill>
                          <a:latin typeface="Calibri" pitchFamily="34" charset="0"/>
                          <a:ea typeface="Calibri" pitchFamily="34" charset="-122"/>
                          <a:cs typeface="Calibri" pitchFamily="34" charset="-120"/>
                        </a:rPr>
                        <a:t>Ignored automatically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bl>
          </a:graphicData>
        </a:graphic>
      </p:graphicFrame>
      <p:sp>
        <p:nvSpPr>
          <p:cNvPr id="21" name="Shape 16"/>
          <p:cNvSpPr/>
          <p:nvPr/>
        </p:nvSpPr>
        <p:spPr>
          <a:xfrm>
            <a:off x="6089904" y="4443984"/>
            <a:ext cx="5532120"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309360" y="4663440"/>
            <a:ext cx="365760" cy="365760"/>
          </a:xfrm>
          <a:prstGeom prst="ellipse">
            <a:avLst/>
          </a:prstGeom>
          <a:solidFill>
            <a:srgbClr val="175496"/>
          </a:solidFill>
          <a:ln w="12700">
            <a:solidFill>
              <a:srgbClr val="175496"/>
            </a:solidFill>
            <a:prstDash val="solid"/>
          </a:ln>
        </p:spPr>
      </p:sp>
      <p:pic>
        <p:nvPicPr>
          <p:cNvPr id="23" name="Image 2" descr="preencoded.png"/>
          <p:cNvPicPr>
            <a:picLocks noChangeAspect="1"/>
          </p:cNvPicPr>
          <p:nvPr/>
        </p:nvPicPr>
        <p:blipFill>
          <a:blip r:embed="rId5"/>
          <a:stretch>
            <a:fillRect/>
          </a:stretch>
        </p:blipFill>
        <p:spPr>
          <a:xfrm>
            <a:off x="6400800" y="4754880"/>
            <a:ext cx="182880" cy="182880"/>
          </a:xfrm>
          <a:prstGeom prst="rect">
            <a:avLst/>
          </a:prstGeom>
        </p:spPr>
      </p:pic>
      <p:sp>
        <p:nvSpPr>
          <p:cNvPr id="24" name="Text 18"/>
          <p:cNvSpPr/>
          <p:nvPr/>
        </p:nvSpPr>
        <p:spPr>
          <a:xfrm>
            <a:off x="6803136" y="4663440"/>
            <a:ext cx="459943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Every merged record is attributable</a:t>
            </a:r>
            <a:endParaRPr lang="en-US" sz="1350" dirty="0"/>
          </a:p>
        </p:txBody>
      </p:sp>
      <p:sp>
        <p:nvSpPr>
          <p:cNvPr id="25" name="Text 19"/>
          <p:cNvSpPr/>
          <p:nvPr/>
        </p:nvSpPr>
        <p:spPr>
          <a:xfrm>
            <a:off x="6309360" y="5074920"/>
            <a:ext cx="5093208"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Added By · Added Date · Assigned By are stamped on the record, so you can always trace where a contact came from.</a:t>
            </a:r>
            <a:endParaRPr lang="en-US" sz="1050" dirty="0"/>
          </a:p>
        </p:txBody>
      </p:sp>
      <p:pic>
        <p:nvPicPr>
          <p:cNvPr id="20" name="Picture 19">
            <a:extLst>
              <a:ext uri="{FF2B5EF4-FFF2-40B4-BE49-F238E27FC236}">
                <a16:creationId xmlns:a16="http://schemas.microsoft.com/office/drawing/2014/main" id="{75CD2B28-36F4-BF57-B1AD-E7696BEFCB62}"/>
              </a:ext>
            </a:extLst>
          </p:cNvPr>
          <p:cNvPicPr>
            <a:picLocks noChangeAspect="1"/>
          </p:cNvPicPr>
          <p:nvPr/>
        </p:nvPicPr>
        <p:blipFill>
          <a:blip r:embed="rId6"/>
          <a:stretch>
            <a:fillRect/>
          </a:stretch>
        </p:blipFill>
        <p:spPr>
          <a:xfrm>
            <a:off x="10505338" y="166891"/>
            <a:ext cx="1544421" cy="37260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08 — USER &amp; ACCESS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Identity and access control</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30</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WHO CAN OPEN THIS MODULE</a:t>
            </a:r>
            <a:endParaRPr lang="en-US" sz="950" dirty="0"/>
          </a:p>
        </p:txBody>
      </p:sp>
      <p:sp>
        <p:nvSpPr>
          <p:cNvPr id="9" name="Shape 7"/>
          <p:cNvSpPr/>
          <p:nvPr/>
        </p:nvSpPr>
        <p:spPr>
          <a:xfrm>
            <a:off x="566928" y="1627632"/>
            <a:ext cx="2668448" cy="457200"/>
          </a:xfrm>
          <a:prstGeom prst="roundRect">
            <a:avLst>
              <a:gd name="adj" fmla="val 100000"/>
            </a:avLst>
          </a:prstGeom>
          <a:solidFill>
            <a:srgbClr val="EAF5EB"/>
          </a:solidFill>
          <a:ln w="9525">
            <a:solidFill>
              <a:srgbClr val="E1E8F0"/>
            </a:solidFill>
            <a:prstDash val="solid"/>
          </a:ln>
        </p:spPr>
      </p:sp>
      <p:sp>
        <p:nvSpPr>
          <p:cNvPr id="10" name="Text 8"/>
          <p:cNvSpPr/>
          <p:nvPr/>
        </p:nvSpPr>
        <p:spPr>
          <a:xfrm>
            <a:off x="640080" y="16276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Team Leader  ✓</a:t>
            </a:r>
            <a:endParaRPr lang="en-US" sz="1100" dirty="0"/>
          </a:p>
        </p:txBody>
      </p:sp>
      <p:sp>
        <p:nvSpPr>
          <p:cNvPr id="11" name="Shape 9"/>
          <p:cNvSpPr/>
          <p:nvPr/>
        </p:nvSpPr>
        <p:spPr>
          <a:xfrm>
            <a:off x="3363392" y="1627632"/>
            <a:ext cx="2668448" cy="457200"/>
          </a:xfrm>
          <a:prstGeom prst="roundRect">
            <a:avLst>
              <a:gd name="adj" fmla="val 100000"/>
            </a:avLst>
          </a:prstGeom>
          <a:solidFill>
            <a:srgbClr val="EAF5EB"/>
          </a:solidFill>
          <a:ln w="9525">
            <a:solidFill>
              <a:srgbClr val="E1E8F0"/>
            </a:solidFill>
            <a:prstDash val="solid"/>
          </a:ln>
        </p:spPr>
      </p:sp>
      <p:sp>
        <p:nvSpPr>
          <p:cNvPr id="12" name="Text 10"/>
          <p:cNvSpPr/>
          <p:nvPr/>
        </p:nvSpPr>
        <p:spPr>
          <a:xfrm>
            <a:off x="3436544" y="16276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Director  ✓</a:t>
            </a:r>
            <a:endParaRPr lang="en-US" sz="1100" dirty="0"/>
          </a:p>
        </p:txBody>
      </p:sp>
      <p:sp>
        <p:nvSpPr>
          <p:cNvPr id="13" name="Shape 11"/>
          <p:cNvSpPr/>
          <p:nvPr/>
        </p:nvSpPr>
        <p:spPr>
          <a:xfrm>
            <a:off x="6159856" y="1627632"/>
            <a:ext cx="2668448" cy="457200"/>
          </a:xfrm>
          <a:prstGeom prst="roundRect">
            <a:avLst>
              <a:gd name="adj" fmla="val 100000"/>
            </a:avLst>
          </a:prstGeom>
          <a:solidFill>
            <a:srgbClr val="EAF5EB"/>
          </a:solidFill>
          <a:ln w="9525">
            <a:solidFill>
              <a:srgbClr val="E1E8F0"/>
            </a:solidFill>
            <a:prstDash val="solid"/>
          </a:ln>
        </p:spPr>
      </p:sp>
      <p:sp>
        <p:nvSpPr>
          <p:cNvPr id="14" name="Text 12"/>
          <p:cNvSpPr/>
          <p:nvPr/>
        </p:nvSpPr>
        <p:spPr>
          <a:xfrm>
            <a:off x="6233008" y="16276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CEO  ✓</a:t>
            </a:r>
            <a:endParaRPr lang="en-US" sz="1100" dirty="0"/>
          </a:p>
        </p:txBody>
      </p:sp>
      <p:sp>
        <p:nvSpPr>
          <p:cNvPr id="15" name="Shape 13"/>
          <p:cNvSpPr/>
          <p:nvPr/>
        </p:nvSpPr>
        <p:spPr>
          <a:xfrm>
            <a:off x="8956319" y="1627632"/>
            <a:ext cx="2668448" cy="457200"/>
          </a:xfrm>
          <a:prstGeom prst="roundRect">
            <a:avLst>
              <a:gd name="adj" fmla="val 100000"/>
            </a:avLst>
          </a:prstGeom>
          <a:solidFill>
            <a:srgbClr val="FBEDED"/>
          </a:solidFill>
          <a:ln w="9525">
            <a:solidFill>
              <a:srgbClr val="E1E8F0"/>
            </a:solidFill>
            <a:prstDash val="solid"/>
          </a:ln>
        </p:spPr>
      </p:sp>
      <p:sp>
        <p:nvSpPr>
          <p:cNvPr id="16" name="Text 14"/>
          <p:cNvSpPr/>
          <p:nvPr/>
        </p:nvSpPr>
        <p:spPr>
          <a:xfrm>
            <a:off x="9029471" y="1627632"/>
            <a:ext cx="2522144" cy="457200"/>
          </a:xfrm>
          <a:prstGeom prst="rect">
            <a:avLst/>
          </a:prstGeom>
          <a:noFill/>
          <a:ln/>
        </p:spPr>
        <p:txBody>
          <a:bodyPr wrap="square" lIns="0" tIns="0" rIns="0" bIns="0"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Placement Coordinator  ✗</a:t>
            </a:r>
            <a:endParaRPr lang="en-US" sz="1100" dirty="0"/>
          </a:p>
        </p:txBody>
      </p:sp>
      <p:sp>
        <p:nvSpPr>
          <p:cNvPr id="17" name="Text 15"/>
          <p:cNvSpPr/>
          <p:nvPr/>
        </p:nvSpPr>
        <p:spPr>
          <a:xfrm>
            <a:off x="566928" y="2194560"/>
            <a:ext cx="11057839" cy="292608"/>
          </a:xfrm>
          <a:prstGeom prst="rect">
            <a:avLst/>
          </a:prstGeom>
          <a:noFill/>
          <a:ln/>
        </p:spPr>
        <p:txBody>
          <a:bodyPr wrap="square" lIns="0" tIns="0" rIns="0" bIns="0" rtlCol="0" anchor="ctr"/>
          <a:lstStyle/>
          <a:p>
            <a:pPr marL="0" indent="0">
              <a:buNone/>
            </a:pPr>
            <a:r>
              <a:rPr lang="en-US" sz="1050" i="1" dirty="0">
                <a:solidFill>
                  <a:srgbClr val="7B8794"/>
                </a:solidFill>
                <a:latin typeface="Calibri" pitchFamily="34" charset="0"/>
                <a:ea typeface="Calibri" pitchFamily="34" charset="-122"/>
                <a:cs typeface="Calibri" pitchFamily="34" charset="-120"/>
              </a:rPr>
              <a:t>Team Leaders are included because they routinely act on behalf of the CEO or Director — waiting for an approval would stop the day.</a:t>
            </a:r>
            <a:endParaRPr lang="en-US" sz="1050" dirty="0"/>
          </a:p>
        </p:txBody>
      </p:sp>
      <p:sp>
        <p:nvSpPr>
          <p:cNvPr id="18" name="Text 16"/>
          <p:cNvSpPr/>
          <p:nvPr/>
        </p:nvSpPr>
        <p:spPr>
          <a:xfrm>
            <a:off x="566928" y="259689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SIX ACCOUNT STATUSES</a:t>
            </a:r>
            <a:endParaRPr lang="en-US" sz="950" dirty="0"/>
          </a:p>
        </p:txBody>
      </p:sp>
      <p:sp>
        <p:nvSpPr>
          <p:cNvPr id="19" name="Shape 17"/>
          <p:cNvSpPr/>
          <p:nvPr/>
        </p:nvSpPr>
        <p:spPr>
          <a:xfrm>
            <a:off x="566928" y="2852928"/>
            <a:ext cx="1736293" cy="457200"/>
          </a:xfrm>
          <a:prstGeom prst="roundRect">
            <a:avLst>
              <a:gd name="adj" fmla="val 100000"/>
            </a:avLst>
          </a:prstGeom>
          <a:solidFill>
            <a:srgbClr val="EAF5EB"/>
          </a:solidFill>
          <a:ln w="9525">
            <a:solidFill>
              <a:srgbClr val="E1E8F0"/>
            </a:solidFill>
            <a:prstDash val="solid"/>
          </a:ln>
        </p:spPr>
      </p:sp>
      <p:sp>
        <p:nvSpPr>
          <p:cNvPr id="20" name="Text 18"/>
          <p:cNvSpPr/>
          <p:nvPr/>
        </p:nvSpPr>
        <p:spPr>
          <a:xfrm>
            <a:off x="640080" y="2852928"/>
            <a:ext cx="1589989"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Active</a:t>
            </a:r>
            <a:endParaRPr lang="en-US" sz="1100" dirty="0"/>
          </a:p>
        </p:txBody>
      </p:sp>
      <p:sp>
        <p:nvSpPr>
          <p:cNvPr id="21" name="Shape 19"/>
          <p:cNvSpPr/>
          <p:nvPr/>
        </p:nvSpPr>
        <p:spPr>
          <a:xfrm>
            <a:off x="2431237" y="2852928"/>
            <a:ext cx="1736293" cy="457200"/>
          </a:xfrm>
          <a:prstGeom prst="roundRect">
            <a:avLst>
              <a:gd name="adj" fmla="val 100000"/>
            </a:avLst>
          </a:prstGeom>
          <a:solidFill>
            <a:srgbClr val="FEF4E4"/>
          </a:solidFill>
          <a:ln w="9525">
            <a:solidFill>
              <a:srgbClr val="E1E8F0"/>
            </a:solidFill>
            <a:prstDash val="solid"/>
          </a:ln>
        </p:spPr>
      </p:sp>
      <p:sp>
        <p:nvSpPr>
          <p:cNvPr id="22" name="Text 20"/>
          <p:cNvSpPr/>
          <p:nvPr/>
        </p:nvSpPr>
        <p:spPr>
          <a:xfrm>
            <a:off x="2504389" y="2852928"/>
            <a:ext cx="1589989" cy="457200"/>
          </a:xfrm>
          <a:prstGeom prst="rect">
            <a:avLst/>
          </a:prstGeom>
          <a:noFill/>
          <a:ln/>
        </p:spPr>
        <p:txBody>
          <a:bodyPr wrap="square" lIns="0" tIns="0" rIns="0" bIns="0" rtlCol="0" anchor="ctr"/>
          <a:lstStyle/>
          <a:p>
            <a:pPr marL="0" indent="0" algn="ctr">
              <a:buNone/>
            </a:pPr>
            <a:r>
              <a:rPr lang="en-US" sz="1100" b="1" dirty="0">
                <a:solidFill>
                  <a:srgbClr val="B26A00"/>
                </a:solidFill>
                <a:latin typeface="Calibri" pitchFamily="34" charset="0"/>
                <a:ea typeface="Calibri" pitchFamily="34" charset="-122"/>
                <a:cs typeface="Calibri" pitchFamily="34" charset="-120"/>
              </a:rPr>
              <a:t>Partial Working</a:t>
            </a:r>
            <a:endParaRPr lang="en-US" sz="1100" dirty="0"/>
          </a:p>
        </p:txBody>
      </p:sp>
      <p:sp>
        <p:nvSpPr>
          <p:cNvPr id="23" name="Shape 21"/>
          <p:cNvSpPr/>
          <p:nvPr/>
        </p:nvSpPr>
        <p:spPr>
          <a:xfrm>
            <a:off x="4295546" y="2852928"/>
            <a:ext cx="1736293" cy="457200"/>
          </a:xfrm>
          <a:prstGeom prst="roundRect">
            <a:avLst>
              <a:gd name="adj" fmla="val 100000"/>
            </a:avLst>
          </a:prstGeom>
          <a:solidFill>
            <a:srgbClr val="E7F3FD"/>
          </a:solidFill>
          <a:ln w="9525">
            <a:solidFill>
              <a:srgbClr val="E1E8F0"/>
            </a:solidFill>
            <a:prstDash val="solid"/>
          </a:ln>
        </p:spPr>
      </p:sp>
      <p:sp>
        <p:nvSpPr>
          <p:cNvPr id="24" name="Text 22"/>
          <p:cNvSpPr/>
          <p:nvPr/>
        </p:nvSpPr>
        <p:spPr>
          <a:xfrm>
            <a:off x="4368698" y="2852928"/>
            <a:ext cx="1589989" cy="457200"/>
          </a:xfrm>
          <a:prstGeom prst="rect">
            <a:avLst/>
          </a:prstGeom>
          <a:noFill/>
          <a:ln/>
        </p:spPr>
        <p:txBody>
          <a:bodyPr wrap="square" lIns="0" tIns="0" rIns="0" bIns="0" rtlCol="0" anchor="ctr"/>
          <a:lstStyle/>
          <a:p>
            <a:pPr marL="0" indent="0" algn="ctr">
              <a:buNone/>
            </a:pPr>
            <a:r>
              <a:rPr lang="en-US" sz="1100" b="1" dirty="0">
                <a:solidFill>
                  <a:srgbClr val="175496"/>
                </a:solidFill>
                <a:latin typeface="Calibri" pitchFamily="34" charset="0"/>
                <a:ea typeface="Calibri" pitchFamily="34" charset="-122"/>
                <a:cs typeface="Calibri" pitchFamily="34" charset="-120"/>
              </a:rPr>
              <a:t>On Leave</a:t>
            </a:r>
            <a:endParaRPr lang="en-US" sz="1100" dirty="0"/>
          </a:p>
        </p:txBody>
      </p:sp>
      <p:sp>
        <p:nvSpPr>
          <p:cNvPr id="25" name="Shape 23"/>
          <p:cNvSpPr/>
          <p:nvPr/>
        </p:nvSpPr>
        <p:spPr>
          <a:xfrm>
            <a:off x="6159856" y="2852928"/>
            <a:ext cx="1736293" cy="457200"/>
          </a:xfrm>
          <a:prstGeom prst="roundRect">
            <a:avLst>
              <a:gd name="adj" fmla="val 100000"/>
            </a:avLst>
          </a:prstGeom>
          <a:solidFill>
            <a:srgbClr val="FBEDED"/>
          </a:solidFill>
          <a:ln w="9525">
            <a:solidFill>
              <a:srgbClr val="E1E8F0"/>
            </a:solidFill>
            <a:prstDash val="solid"/>
          </a:ln>
        </p:spPr>
      </p:sp>
      <p:sp>
        <p:nvSpPr>
          <p:cNvPr id="26" name="Text 24"/>
          <p:cNvSpPr/>
          <p:nvPr/>
        </p:nvSpPr>
        <p:spPr>
          <a:xfrm>
            <a:off x="6233008" y="2852928"/>
            <a:ext cx="1589989" cy="457200"/>
          </a:xfrm>
          <a:prstGeom prst="rect">
            <a:avLst/>
          </a:prstGeom>
          <a:noFill/>
          <a:ln/>
        </p:spPr>
        <p:txBody>
          <a:bodyPr wrap="square" lIns="0" tIns="0" rIns="0" bIns="0"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Inactive</a:t>
            </a:r>
            <a:endParaRPr lang="en-US" sz="1100" dirty="0"/>
          </a:p>
        </p:txBody>
      </p:sp>
      <p:sp>
        <p:nvSpPr>
          <p:cNvPr id="27" name="Shape 25"/>
          <p:cNvSpPr/>
          <p:nvPr/>
        </p:nvSpPr>
        <p:spPr>
          <a:xfrm>
            <a:off x="8024165" y="2852928"/>
            <a:ext cx="1736293" cy="457200"/>
          </a:xfrm>
          <a:prstGeom prst="roundRect">
            <a:avLst>
              <a:gd name="adj" fmla="val 100000"/>
            </a:avLst>
          </a:prstGeom>
          <a:solidFill>
            <a:srgbClr val="F6E9E9"/>
          </a:solidFill>
          <a:ln w="9525">
            <a:solidFill>
              <a:srgbClr val="E1E8F0"/>
            </a:solidFill>
            <a:prstDash val="solid"/>
          </a:ln>
        </p:spPr>
      </p:sp>
      <p:sp>
        <p:nvSpPr>
          <p:cNvPr id="28" name="Text 26"/>
          <p:cNvSpPr/>
          <p:nvPr/>
        </p:nvSpPr>
        <p:spPr>
          <a:xfrm>
            <a:off x="8097317" y="2852928"/>
            <a:ext cx="1589989" cy="457200"/>
          </a:xfrm>
          <a:prstGeom prst="rect">
            <a:avLst/>
          </a:prstGeom>
          <a:noFill/>
          <a:ln/>
        </p:spPr>
        <p:txBody>
          <a:bodyPr wrap="square" lIns="0" tIns="0" rIns="0" bIns="0"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Blocked</a:t>
            </a:r>
            <a:endParaRPr lang="en-US" sz="1100" dirty="0"/>
          </a:p>
        </p:txBody>
      </p:sp>
      <p:sp>
        <p:nvSpPr>
          <p:cNvPr id="29" name="Shape 27"/>
          <p:cNvSpPr/>
          <p:nvPr/>
        </p:nvSpPr>
        <p:spPr>
          <a:xfrm>
            <a:off x="9888474" y="2852928"/>
            <a:ext cx="1736293" cy="457200"/>
          </a:xfrm>
          <a:prstGeom prst="roundRect">
            <a:avLst>
              <a:gd name="adj" fmla="val 100000"/>
            </a:avLst>
          </a:prstGeom>
          <a:solidFill>
            <a:srgbClr val="F1F4F8"/>
          </a:solidFill>
          <a:ln w="9525">
            <a:solidFill>
              <a:srgbClr val="E1E8F0"/>
            </a:solidFill>
            <a:prstDash val="solid"/>
          </a:ln>
        </p:spPr>
      </p:sp>
      <p:sp>
        <p:nvSpPr>
          <p:cNvPr id="30" name="Text 28"/>
          <p:cNvSpPr/>
          <p:nvPr/>
        </p:nvSpPr>
        <p:spPr>
          <a:xfrm>
            <a:off x="9961626" y="2852928"/>
            <a:ext cx="1589989" cy="457200"/>
          </a:xfrm>
          <a:prstGeom prst="rect">
            <a:avLst/>
          </a:prstGeom>
          <a:noFill/>
          <a:ln/>
        </p:spPr>
        <p:txBody>
          <a:bodyPr wrap="square" lIns="0" tIns="0" rIns="0" bIns="0" rtlCol="0" anchor="ctr"/>
          <a:lstStyle/>
          <a:p>
            <a:pPr marL="0" indent="0" algn="ctr">
              <a:buNone/>
            </a:pPr>
            <a:r>
              <a:rPr lang="en-US" sz="1100" b="1" dirty="0">
                <a:solidFill>
                  <a:srgbClr val="6B7A8C"/>
                </a:solidFill>
                <a:latin typeface="Calibri" pitchFamily="34" charset="0"/>
                <a:ea typeface="Calibri" pitchFamily="34" charset="-122"/>
                <a:cs typeface="Calibri" pitchFamily="34" charset="-120"/>
              </a:rPr>
              <a:t>Deactivated</a:t>
            </a:r>
            <a:endParaRPr lang="en-US" sz="1100" dirty="0"/>
          </a:p>
        </p:txBody>
      </p:sp>
      <p:sp>
        <p:nvSpPr>
          <p:cNvPr id="31" name="Shape 29"/>
          <p:cNvSpPr/>
          <p:nvPr/>
        </p:nvSpPr>
        <p:spPr>
          <a:xfrm>
            <a:off x="566928" y="3566160"/>
            <a:ext cx="3527450" cy="1600200"/>
          </a:xfrm>
          <a:prstGeom prst="roundRect">
            <a:avLst>
              <a:gd name="adj" fmla="val 57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30"/>
          <p:cNvSpPr/>
          <p:nvPr/>
        </p:nvSpPr>
        <p:spPr>
          <a:xfrm>
            <a:off x="786384" y="3785616"/>
            <a:ext cx="365760" cy="365760"/>
          </a:xfrm>
          <a:prstGeom prst="ellipse">
            <a:avLst/>
          </a:prstGeom>
          <a:solidFill>
            <a:srgbClr val="F59E0B"/>
          </a:solidFill>
          <a:ln w="12700">
            <a:solidFill>
              <a:srgbClr val="F59E0B"/>
            </a:solidFill>
            <a:prstDash val="solid"/>
          </a:ln>
        </p:spPr>
      </p:sp>
      <p:pic>
        <p:nvPicPr>
          <p:cNvPr id="33" name="Image 0" descr="preencoded.png"/>
          <p:cNvPicPr>
            <a:picLocks noChangeAspect="1"/>
          </p:cNvPicPr>
          <p:nvPr/>
        </p:nvPicPr>
        <p:blipFill>
          <a:blip r:embed="rId3"/>
          <a:stretch>
            <a:fillRect/>
          </a:stretch>
        </p:blipFill>
        <p:spPr>
          <a:xfrm>
            <a:off x="877824" y="3877056"/>
            <a:ext cx="182880" cy="182880"/>
          </a:xfrm>
          <a:prstGeom prst="rect">
            <a:avLst/>
          </a:prstGeom>
        </p:spPr>
      </p:pic>
      <p:sp>
        <p:nvSpPr>
          <p:cNvPr id="34" name="Text 31"/>
          <p:cNvSpPr/>
          <p:nvPr/>
        </p:nvSpPr>
        <p:spPr>
          <a:xfrm>
            <a:off x="1280160" y="378561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“Partial Working” came from the business</a:t>
            </a:r>
            <a:endParaRPr lang="en-US" sz="1350" dirty="0"/>
          </a:p>
        </p:txBody>
      </p:sp>
      <p:sp>
        <p:nvSpPr>
          <p:cNvPr id="35" name="Text 32"/>
          <p:cNvSpPr/>
          <p:nvPr/>
        </p:nvSpPr>
        <p:spPr>
          <a:xfrm>
            <a:off x="786384" y="4197096"/>
            <a:ext cx="3088538" cy="7955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Half a day, mornings only, a medical appointment. It was not in the original design — the team asked for it, because it is what actually happens.</a:t>
            </a:r>
            <a:endParaRPr lang="en-US" sz="1050" dirty="0"/>
          </a:p>
        </p:txBody>
      </p:sp>
      <p:sp>
        <p:nvSpPr>
          <p:cNvPr id="36" name="Shape 33"/>
          <p:cNvSpPr/>
          <p:nvPr/>
        </p:nvSpPr>
        <p:spPr>
          <a:xfrm>
            <a:off x="4332122" y="3566160"/>
            <a:ext cx="3527450" cy="1600200"/>
          </a:xfrm>
          <a:prstGeom prst="roundRect">
            <a:avLst>
              <a:gd name="adj" fmla="val 57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34"/>
          <p:cNvSpPr/>
          <p:nvPr/>
        </p:nvSpPr>
        <p:spPr>
          <a:xfrm>
            <a:off x="4551578" y="3785616"/>
            <a:ext cx="365760" cy="365760"/>
          </a:xfrm>
          <a:prstGeom prst="ellipse">
            <a:avLst/>
          </a:prstGeom>
          <a:solidFill>
            <a:srgbClr val="C62828"/>
          </a:solidFill>
          <a:ln w="12700">
            <a:solidFill>
              <a:srgbClr val="C62828"/>
            </a:solidFill>
            <a:prstDash val="solid"/>
          </a:ln>
        </p:spPr>
      </p:sp>
      <p:pic>
        <p:nvPicPr>
          <p:cNvPr id="38" name="Image 1" descr="preencoded.png"/>
          <p:cNvPicPr>
            <a:picLocks noChangeAspect="1"/>
          </p:cNvPicPr>
          <p:nvPr/>
        </p:nvPicPr>
        <p:blipFill>
          <a:blip r:embed="rId4"/>
          <a:stretch>
            <a:fillRect/>
          </a:stretch>
        </p:blipFill>
        <p:spPr>
          <a:xfrm>
            <a:off x="4643018" y="3877056"/>
            <a:ext cx="182880" cy="182880"/>
          </a:xfrm>
          <a:prstGeom prst="rect">
            <a:avLst/>
          </a:prstGeom>
        </p:spPr>
      </p:pic>
      <p:sp>
        <p:nvSpPr>
          <p:cNvPr id="39" name="Text 35"/>
          <p:cNvSpPr/>
          <p:nvPr/>
        </p:nvSpPr>
        <p:spPr>
          <a:xfrm>
            <a:off x="5045354" y="378561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Blocked is temporary</a:t>
            </a:r>
            <a:endParaRPr lang="en-US" sz="1350" dirty="0"/>
          </a:p>
        </p:txBody>
      </p:sp>
      <p:sp>
        <p:nvSpPr>
          <p:cNvPr id="40" name="Text 36"/>
          <p:cNvSpPr/>
          <p:nvPr/>
        </p:nvSpPr>
        <p:spPr>
          <a:xfrm>
            <a:off x="4551578" y="4197096"/>
            <a:ext cx="3088538" cy="7955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reversible state. The user cannot log in, but nothing is lost and a Team Leader can lift it at any time.</a:t>
            </a:r>
            <a:endParaRPr lang="en-US" sz="1050" dirty="0"/>
          </a:p>
        </p:txBody>
      </p:sp>
      <p:sp>
        <p:nvSpPr>
          <p:cNvPr id="41" name="Shape 37"/>
          <p:cNvSpPr/>
          <p:nvPr/>
        </p:nvSpPr>
        <p:spPr>
          <a:xfrm>
            <a:off x="8097317" y="3566160"/>
            <a:ext cx="3527450" cy="1600200"/>
          </a:xfrm>
          <a:prstGeom prst="roundRect">
            <a:avLst>
              <a:gd name="adj" fmla="val 57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8"/>
          <p:cNvSpPr/>
          <p:nvPr/>
        </p:nvSpPr>
        <p:spPr>
          <a:xfrm>
            <a:off x="8316773" y="3785616"/>
            <a:ext cx="365760" cy="365760"/>
          </a:xfrm>
          <a:prstGeom prst="ellipse">
            <a:avLst/>
          </a:prstGeom>
          <a:solidFill>
            <a:srgbClr val="6B7A8C"/>
          </a:solidFill>
          <a:ln w="12700">
            <a:solidFill>
              <a:srgbClr val="6B7A8C"/>
            </a:solidFill>
            <a:prstDash val="solid"/>
          </a:ln>
        </p:spPr>
      </p:sp>
      <p:pic>
        <p:nvPicPr>
          <p:cNvPr id="43" name="Image 2" descr="preencoded.png"/>
          <p:cNvPicPr>
            <a:picLocks noChangeAspect="1"/>
          </p:cNvPicPr>
          <p:nvPr/>
        </p:nvPicPr>
        <p:blipFill>
          <a:blip r:embed="rId5"/>
          <a:stretch>
            <a:fillRect/>
          </a:stretch>
        </p:blipFill>
        <p:spPr>
          <a:xfrm>
            <a:off x="8408213" y="3877056"/>
            <a:ext cx="182880" cy="182880"/>
          </a:xfrm>
          <a:prstGeom prst="rect">
            <a:avLst/>
          </a:prstGeom>
        </p:spPr>
      </p:pic>
      <p:sp>
        <p:nvSpPr>
          <p:cNvPr id="44" name="Text 39"/>
          <p:cNvSpPr/>
          <p:nvPr/>
        </p:nvSpPr>
        <p:spPr>
          <a:xfrm>
            <a:off x="8810549" y="378561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Deactivated is for people who have left</a:t>
            </a:r>
            <a:endParaRPr lang="en-US" sz="1350" dirty="0"/>
          </a:p>
        </p:txBody>
      </p:sp>
      <p:sp>
        <p:nvSpPr>
          <p:cNvPr id="45" name="Text 40"/>
          <p:cNvSpPr/>
          <p:nvPr/>
        </p:nvSpPr>
        <p:spPr>
          <a:xfrm>
            <a:off x="8316773" y="4197096"/>
            <a:ext cx="3088538" cy="7955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account is retained rather than deleted, so every tracker, report and audit record they touched stays intact.</a:t>
            </a:r>
            <a:endParaRPr lang="en-US" sz="1050" dirty="0"/>
          </a:p>
        </p:txBody>
      </p:sp>
      <p:sp>
        <p:nvSpPr>
          <p:cNvPr id="46" name="Shape 41"/>
          <p:cNvSpPr/>
          <p:nvPr/>
        </p:nvSpPr>
        <p:spPr>
          <a:xfrm>
            <a:off x="566928" y="5321808"/>
            <a:ext cx="11057839" cy="749808"/>
          </a:xfrm>
          <a:prstGeom prst="roundRect">
            <a:avLst>
              <a:gd name="adj" fmla="val 1219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47" name="Text 42"/>
          <p:cNvSpPr/>
          <p:nvPr/>
        </p:nvSpPr>
        <p:spPr>
          <a:xfrm>
            <a:off x="786384" y="5541264"/>
            <a:ext cx="10618927" cy="356616"/>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Nothing in iPOMS is ever deleted to remove a person. History is retained in every case — which is what makes the audit trail worth having.</a:t>
            </a:r>
            <a:endParaRPr lang="en-US" sz="1150" dirty="0"/>
          </a:p>
        </p:txBody>
      </p:sp>
      <p:pic>
        <p:nvPicPr>
          <p:cNvPr id="48" name="Picture 47">
            <a:extLst>
              <a:ext uri="{FF2B5EF4-FFF2-40B4-BE49-F238E27FC236}">
                <a16:creationId xmlns:a16="http://schemas.microsoft.com/office/drawing/2014/main" id="{8ACF250A-B540-4DC1-7E96-EA679EEB222B}"/>
              </a:ext>
            </a:extLst>
          </p:cNvPr>
          <p:cNvPicPr>
            <a:picLocks noChangeAspect="1"/>
          </p:cNvPicPr>
          <p:nvPr/>
        </p:nvPicPr>
        <p:blipFill>
          <a:blip r:embed="rId6"/>
          <a:stretch>
            <a:fillRect/>
          </a:stretch>
        </p:blipFill>
        <p:spPr>
          <a:xfrm>
            <a:off x="10505338" y="166891"/>
            <a:ext cx="1544421" cy="37260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08 — USER &amp; ACCESS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Getting in, and staying secure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31</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TWO WAYS IN</a:t>
            </a:r>
            <a:endParaRPr lang="en-US" sz="950" dirty="0"/>
          </a:p>
        </p:txBody>
      </p:sp>
      <p:sp>
        <p:nvSpPr>
          <p:cNvPr id="9" name="Shape 7"/>
          <p:cNvSpPr/>
          <p:nvPr/>
        </p:nvSpPr>
        <p:spPr>
          <a:xfrm>
            <a:off x="566928" y="1627632"/>
            <a:ext cx="5212080" cy="1481328"/>
          </a:xfrm>
          <a:prstGeom prst="roundRect">
            <a:avLst>
              <a:gd name="adj" fmla="val 617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365760" cy="365760"/>
          </a:xfrm>
          <a:prstGeom prst="ellipse">
            <a:avLst/>
          </a:prstGeom>
          <a:solidFill>
            <a:srgbClr val="175496"/>
          </a:solidFill>
          <a:ln w="12700">
            <a:solidFill>
              <a:srgbClr val="175496"/>
            </a:solidFill>
            <a:prstDash val="solid"/>
          </a:ln>
        </p:spPr>
      </p:sp>
      <p:pic>
        <p:nvPicPr>
          <p:cNvPr id="11" name="Image 0" descr="preencoded.png"/>
          <p:cNvPicPr>
            <a:picLocks noChangeAspect="1"/>
          </p:cNvPicPr>
          <p:nvPr/>
        </p:nvPicPr>
        <p:blipFill>
          <a:blip r:embed="rId3"/>
          <a:stretch>
            <a:fillRect/>
          </a:stretch>
        </p:blipFill>
        <p:spPr>
          <a:xfrm>
            <a:off x="877824" y="1938528"/>
            <a:ext cx="182880" cy="182880"/>
          </a:xfrm>
          <a:prstGeom prst="rect">
            <a:avLst/>
          </a:prstGeom>
        </p:spPr>
      </p:pic>
      <p:sp>
        <p:nvSpPr>
          <p:cNvPr id="12" name="Text 9"/>
          <p:cNvSpPr/>
          <p:nvPr/>
        </p:nvSpPr>
        <p:spPr>
          <a:xfrm>
            <a:off x="1280160" y="1847088"/>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Placement Coordinator</a:t>
            </a:r>
            <a:endParaRPr lang="en-US" sz="1350" dirty="0"/>
          </a:p>
        </p:txBody>
      </p:sp>
      <p:sp>
        <p:nvSpPr>
          <p:cNvPr id="13" name="Text 10"/>
          <p:cNvSpPr/>
          <p:nvPr/>
        </p:nvSpPr>
        <p:spPr>
          <a:xfrm>
            <a:off x="786384" y="2258568"/>
            <a:ext cx="4773168" cy="6766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Sign up › email OTP verification › account created › login. The role dropdown offers only “Placement Coordinator”. Colleges are assigned afterwards by a Team Leader.</a:t>
            </a:r>
            <a:endParaRPr lang="en-US" sz="1050" dirty="0"/>
          </a:p>
        </p:txBody>
      </p:sp>
      <p:sp>
        <p:nvSpPr>
          <p:cNvPr id="14" name="Shape 11"/>
          <p:cNvSpPr/>
          <p:nvPr/>
        </p:nvSpPr>
        <p:spPr>
          <a:xfrm>
            <a:off x="6089904" y="1627632"/>
            <a:ext cx="5532120" cy="1481328"/>
          </a:xfrm>
          <a:prstGeom prst="roundRect">
            <a:avLst>
              <a:gd name="adj" fmla="val 617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6309360" y="1847088"/>
            <a:ext cx="365760" cy="365760"/>
          </a:xfrm>
          <a:prstGeom prst="ellipse">
            <a:avLst/>
          </a:prstGeom>
          <a:solidFill>
            <a:srgbClr val="0B2E59"/>
          </a:solidFill>
          <a:ln w="12700">
            <a:solidFill>
              <a:srgbClr val="0B2E59"/>
            </a:solidFill>
            <a:prstDash val="solid"/>
          </a:ln>
        </p:spPr>
      </p:sp>
      <p:pic>
        <p:nvPicPr>
          <p:cNvPr id="16" name="Image 1" descr="preencoded.png"/>
          <p:cNvPicPr>
            <a:picLocks noChangeAspect="1"/>
          </p:cNvPicPr>
          <p:nvPr/>
        </p:nvPicPr>
        <p:blipFill>
          <a:blip r:embed="rId4"/>
          <a:stretch>
            <a:fillRect/>
          </a:stretch>
        </p:blipFill>
        <p:spPr>
          <a:xfrm>
            <a:off x="6400800" y="1938528"/>
            <a:ext cx="182880" cy="182880"/>
          </a:xfrm>
          <a:prstGeom prst="rect">
            <a:avLst/>
          </a:prstGeom>
        </p:spPr>
      </p:pic>
      <p:sp>
        <p:nvSpPr>
          <p:cNvPr id="17" name="Text 13"/>
          <p:cNvSpPr/>
          <p:nvPr/>
        </p:nvSpPr>
        <p:spPr>
          <a:xfrm>
            <a:off x="6803136" y="1847088"/>
            <a:ext cx="459943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Team Leader · Director · CEO</a:t>
            </a:r>
            <a:endParaRPr lang="en-US" sz="1350" dirty="0"/>
          </a:p>
        </p:txBody>
      </p:sp>
      <p:sp>
        <p:nvSpPr>
          <p:cNvPr id="18" name="Text 14"/>
          <p:cNvSpPr/>
          <p:nvPr/>
        </p:nvSpPr>
        <p:spPr>
          <a:xfrm>
            <a:off x="6309360" y="2258568"/>
            <a:ext cx="5093208" cy="6766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Username › password › login. There is no signup page for these roles at all — the accounts are created for them.</a:t>
            </a:r>
            <a:endParaRPr lang="en-US" sz="1050" dirty="0"/>
          </a:p>
        </p:txBody>
      </p:sp>
      <p:sp>
        <p:nvSpPr>
          <p:cNvPr id="19" name="Text 15"/>
          <p:cNvSpPr/>
          <p:nvPr/>
        </p:nvSpPr>
        <p:spPr>
          <a:xfrm>
            <a:off x="566928" y="33101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FORGOT PASSWORD — NO ADMINISTRATOR INVOLVED</a:t>
            </a:r>
            <a:endParaRPr lang="en-US" sz="950" dirty="0"/>
          </a:p>
        </p:txBody>
      </p:sp>
      <p:sp>
        <p:nvSpPr>
          <p:cNvPr id="20" name="Shape 16"/>
          <p:cNvSpPr/>
          <p:nvPr/>
        </p:nvSpPr>
        <p:spPr>
          <a:xfrm>
            <a:off x="566928" y="3566160"/>
            <a:ext cx="2627300" cy="493776"/>
          </a:xfrm>
          <a:prstGeom prst="roundRect">
            <a:avLst>
              <a:gd name="adj" fmla="val 92593"/>
            </a:avLst>
          </a:prstGeom>
          <a:solidFill>
            <a:srgbClr val="F4F7FA"/>
          </a:solidFill>
          <a:ln w="9525">
            <a:solidFill>
              <a:srgbClr val="E1E8F0"/>
            </a:solidFill>
            <a:prstDash val="solid"/>
          </a:ln>
        </p:spPr>
      </p:sp>
      <p:sp>
        <p:nvSpPr>
          <p:cNvPr id="21" name="Text 17"/>
          <p:cNvSpPr/>
          <p:nvPr/>
        </p:nvSpPr>
        <p:spPr>
          <a:xfrm>
            <a:off x="612648"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Enter username</a:t>
            </a:r>
            <a:endParaRPr lang="en-US" sz="1100" dirty="0"/>
          </a:p>
        </p:txBody>
      </p:sp>
      <p:sp>
        <p:nvSpPr>
          <p:cNvPr id="22" name="Text 18"/>
          <p:cNvSpPr/>
          <p:nvPr/>
        </p:nvSpPr>
        <p:spPr>
          <a:xfrm>
            <a:off x="3194228" y="3566160"/>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19"/>
          <p:cNvSpPr/>
          <p:nvPr/>
        </p:nvSpPr>
        <p:spPr>
          <a:xfrm>
            <a:off x="3377108" y="3566160"/>
            <a:ext cx="2627300" cy="493776"/>
          </a:xfrm>
          <a:prstGeom prst="roundRect">
            <a:avLst>
              <a:gd name="adj" fmla="val 92593"/>
            </a:avLst>
          </a:prstGeom>
          <a:solidFill>
            <a:srgbClr val="F4F7FA"/>
          </a:solidFill>
          <a:ln w="9525">
            <a:solidFill>
              <a:srgbClr val="E1E8F0"/>
            </a:solidFill>
            <a:prstDash val="solid"/>
          </a:ln>
        </p:spPr>
      </p:sp>
      <p:sp>
        <p:nvSpPr>
          <p:cNvPr id="24" name="Text 20"/>
          <p:cNvSpPr/>
          <p:nvPr/>
        </p:nvSpPr>
        <p:spPr>
          <a:xfrm>
            <a:off x="3422828"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Email verification</a:t>
            </a:r>
            <a:endParaRPr lang="en-US" sz="1100" dirty="0"/>
          </a:p>
        </p:txBody>
      </p:sp>
      <p:sp>
        <p:nvSpPr>
          <p:cNvPr id="25" name="Text 21"/>
          <p:cNvSpPr/>
          <p:nvPr/>
        </p:nvSpPr>
        <p:spPr>
          <a:xfrm>
            <a:off x="6004408" y="3566160"/>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2"/>
          <p:cNvSpPr/>
          <p:nvPr/>
        </p:nvSpPr>
        <p:spPr>
          <a:xfrm>
            <a:off x="6187288" y="3566160"/>
            <a:ext cx="2627300" cy="493776"/>
          </a:xfrm>
          <a:prstGeom prst="roundRect">
            <a:avLst>
              <a:gd name="adj" fmla="val 92593"/>
            </a:avLst>
          </a:prstGeom>
          <a:solidFill>
            <a:srgbClr val="F4F7FA"/>
          </a:solidFill>
          <a:ln w="9525">
            <a:solidFill>
              <a:srgbClr val="E1E8F0"/>
            </a:solidFill>
            <a:prstDash val="solid"/>
          </a:ln>
        </p:spPr>
      </p:sp>
      <p:sp>
        <p:nvSpPr>
          <p:cNvPr id="27" name="Text 23"/>
          <p:cNvSpPr/>
          <p:nvPr/>
        </p:nvSpPr>
        <p:spPr>
          <a:xfrm>
            <a:off x="6233008"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Create new password</a:t>
            </a:r>
            <a:endParaRPr lang="en-US" sz="1100" dirty="0"/>
          </a:p>
        </p:txBody>
      </p:sp>
      <p:sp>
        <p:nvSpPr>
          <p:cNvPr id="28" name="Text 24"/>
          <p:cNvSpPr/>
          <p:nvPr/>
        </p:nvSpPr>
        <p:spPr>
          <a:xfrm>
            <a:off x="8814587" y="3566160"/>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9" name="Shape 25"/>
          <p:cNvSpPr/>
          <p:nvPr/>
        </p:nvSpPr>
        <p:spPr>
          <a:xfrm>
            <a:off x="8997467" y="3566160"/>
            <a:ext cx="2627300" cy="493776"/>
          </a:xfrm>
          <a:prstGeom prst="roundRect">
            <a:avLst>
              <a:gd name="adj" fmla="val 92593"/>
            </a:avLst>
          </a:prstGeom>
          <a:solidFill>
            <a:srgbClr val="F4F7FA"/>
          </a:solidFill>
          <a:ln w="9525">
            <a:solidFill>
              <a:srgbClr val="E1E8F0"/>
            </a:solidFill>
            <a:prstDash val="solid"/>
          </a:ln>
        </p:spPr>
      </p:sp>
      <p:sp>
        <p:nvSpPr>
          <p:cNvPr id="30" name="Text 26"/>
          <p:cNvSpPr/>
          <p:nvPr/>
        </p:nvSpPr>
        <p:spPr>
          <a:xfrm>
            <a:off x="9043187"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Login</a:t>
            </a:r>
            <a:endParaRPr lang="en-US" sz="1100" dirty="0"/>
          </a:p>
        </p:txBody>
      </p:sp>
      <p:sp>
        <p:nvSpPr>
          <p:cNvPr id="31" name="Shape 27"/>
          <p:cNvSpPr/>
          <p:nvPr/>
        </p:nvSpPr>
        <p:spPr>
          <a:xfrm>
            <a:off x="566928" y="4279392"/>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8"/>
          <p:cNvSpPr/>
          <p:nvPr/>
        </p:nvSpPr>
        <p:spPr>
          <a:xfrm>
            <a:off x="786384" y="4498848"/>
            <a:ext cx="365760" cy="365760"/>
          </a:xfrm>
          <a:prstGeom prst="ellipse">
            <a:avLst/>
          </a:prstGeom>
          <a:solidFill>
            <a:srgbClr val="0B2E59"/>
          </a:solidFill>
          <a:ln w="12700">
            <a:solidFill>
              <a:srgbClr val="0B2E59"/>
            </a:solidFill>
            <a:prstDash val="solid"/>
          </a:ln>
        </p:spPr>
      </p:sp>
      <p:pic>
        <p:nvPicPr>
          <p:cNvPr id="33" name="Image 2" descr="preencoded.png"/>
          <p:cNvPicPr>
            <a:picLocks noChangeAspect="1"/>
          </p:cNvPicPr>
          <p:nvPr/>
        </p:nvPicPr>
        <p:blipFill>
          <a:blip r:embed="rId5"/>
          <a:stretch>
            <a:fillRect/>
          </a:stretch>
        </p:blipFill>
        <p:spPr>
          <a:xfrm>
            <a:off x="877824" y="4590288"/>
            <a:ext cx="182880" cy="182880"/>
          </a:xfrm>
          <a:prstGeom prst="rect">
            <a:avLst/>
          </a:prstGeom>
        </p:spPr>
      </p:pic>
      <p:sp>
        <p:nvSpPr>
          <p:cNvPr id="34" name="Text 29"/>
          <p:cNvSpPr/>
          <p:nvPr/>
        </p:nvSpPr>
        <p:spPr>
          <a:xfrm>
            <a:off x="1280160" y="449884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Password policy</a:t>
            </a:r>
            <a:endParaRPr lang="en-US" sz="1350" dirty="0"/>
          </a:p>
        </p:txBody>
      </p:sp>
      <p:sp>
        <p:nvSpPr>
          <p:cNvPr id="35" name="Text 30"/>
          <p:cNvSpPr/>
          <p:nvPr/>
        </p:nvSpPr>
        <p:spPr>
          <a:xfrm>
            <a:off x="786384" y="4910328"/>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Minimum 8 characters, with one uppercase, one lowercase, one number and one special character — for example Info@2026. No admin-generated or temporary passwords, ever.</a:t>
            </a:r>
            <a:endParaRPr lang="en-US" sz="1050" dirty="0"/>
          </a:p>
        </p:txBody>
      </p:sp>
      <p:sp>
        <p:nvSpPr>
          <p:cNvPr id="36" name="Shape 31"/>
          <p:cNvSpPr/>
          <p:nvPr/>
        </p:nvSpPr>
        <p:spPr>
          <a:xfrm>
            <a:off x="4332122" y="4279392"/>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32"/>
          <p:cNvSpPr/>
          <p:nvPr/>
        </p:nvSpPr>
        <p:spPr>
          <a:xfrm>
            <a:off x="4551578" y="4498848"/>
            <a:ext cx="365760" cy="365760"/>
          </a:xfrm>
          <a:prstGeom prst="ellipse">
            <a:avLst/>
          </a:prstGeom>
          <a:solidFill>
            <a:srgbClr val="00ACC1"/>
          </a:solidFill>
          <a:ln w="12700">
            <a:solidFill>
              <a:srgbClr val="00ACC1"/>
            </a:solidFill>
            <a:prstDash val="solid"/>
          </a:ln>
        </p:spPr>
      </p:sp>
      <p:pic>
        <p:nvPicPr>
          <p:cNvPr id="38" name="Image 3" descr="preencoded.png"/>
          <p:cNvPicPr>
            <a:picLocks noChangeAspect="1"/>
          </p:cNvPicPr>
          <p:nvPr/>
        </p:nvPicPr>
        <p:blipFill>
          <a:blip r:embed="rId6"/>
          <a:stretch>
            <a:fillRect/>
          </a:stretch>
        </p:blipFill>
        <p:spPr>
          <a:xfrm>
            <a:off x="4643018" y="4590288"/>
            <a:ext cx="182880" cy="182880"/>
          </a:xfrm>
          <a:prstGeom prst="rect">
            <a:avLst/>
          </a:prstGeom>
        </p:spPr>
      </p:pic>
      <p:sp>
        <p:nvSpPr>
          <p:cNvPr id="39" name="Text 33"/>
          <p:cNvSpPr/>
          <p:nvPr/>
        </p:nvSpPr>
        <p:spPr>
          <a:xfrm>
            <a:off x="5045354" y="449884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Change vs Reset</a:t>
            </a:r>
            <a:endParaRPr lang="en-US" sz="1350" dirty="0"/>
          </a:p>
        </p:txBody>
      </p:sp>
      <p:sp>
        <p:nvSpPr>
          <p:cNvPr id="40" name="Text 34"/>
          <p:cNvSpPr/>
          <p:nvPr/>
        </p:nvSpPr>
        <p:spPr>
          <a:xfrm>
            <a:off x="4551578" y="4910328"/>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Every user can Change their own password. Only a Team Leader, Director or CEO can Reset somebody else's. The two are deliberately different actions.</a:t>
            </a:r>
            <a:endParaRPr lang="en-US" sz="1050" dirty="0"/>
          </a:p>
        </p:txBody>
      </p:sp>
      <p:sp>
        <p:nvSpPr>
          <p:cNvPr id="41" name="Shape 35"/>
          <p:cNvSpPr/>
          <p:nvPr/>
        </p:nvSpPr>
        <p:spPr>
          <a:xfrm>
            <a:off x="8097317" y="4279392"/>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6"/>
          <p:cNvSpPr/>
          <p:nvPr/>
        </p:nvSpPr>
        <p:spPr>
          <a:xfrm>
            <a:off x="8316773" y="4498848"/>
            <a:ext cx="365760" cy="365760"/>
          </a:xfrm>
          <a:prstGeom prst="ellipse">
            <a:avLst/>
          </a:prstGeom>
          <a:solidFill>
            <a:srgbClr val="175496"/>
          </a:solidFill>
          <a:ln w="12700">
            <a:solidFill>
              <a:srgbClr val="175496"/>
            </a:solidFill>
            <a:prstDash val="solid"/>
          </a:ln>
        </p:spPr>
      </p:sp>
      <p:pic>
        <p:nvPicPr>
          <p:cNvPr id="43" name="Image 4" descr="preencoded.png"/>
          <p:cNvPicPr>
            <a:picLocks noChangeAspect="1"/>
          </p:cNvPicPr>
          <p:nvPr/>
        </p:nvPicPr>
        <p:blipFill>
          <a:blip r:embed="rId7"/>
          <a:stretch>
            <a:fillRect/>
          </a:stretch>
        </p:blipFill>
        <p:spPr>
          <a:xfrm>
            <a:off x="8408213" y="4590288"/>
            <a:ext cx="182880" cy="182880"/>
          </a:xfrm>
          <a:prstGeom prst="rect">
            <a:avLst/>
          </a:prstGeom>
        </p:spPr>
      </p:pic>
      <p:sp>
        <p:nvSpPr>
          <p:cNvPr id="44" name="Text 37"/>
          <p:cNvSpPr/>
          <p:nvPr/>
        </p:nvSpPr>
        <p:spPr>
          <a:xfrm>
            <a:off x="8810549" y="449884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Workload rule</a:t>
            </a:r>
            <a:endParaRPr lang="en-US" sz="1350" dirty="0"/>
          </a:p>
        </p:txBody>
      </p:sp>
      <p:sp>
        <p:nvSpPr>
          <p:cNvPr id="45" name="Text 38"/>
          <p:cNvSpPr/>
          <p:nvPr/>
        </p:nvSpPr>
        <p:spPr>
          <a:xfrm>
            <a:off x="8316773" y="4910328"/>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Three colleges per coordinator is normal, four is the practical maximum. The rule is written into the module, not left to judgement.</a:t>
            </a:r>
            <a:endParaRPr lang="en-US" sz="1050" dirty="0"/>
          </a:p>
        </p:txBody>
      </p:sp>
      <p:pic>
        <p:nvPicPr>
          <p:cNvPr id="46" name="Picture 45">
            <a:extLst>
              <a:ext uri="{FF2B5EF4-FFF2-40B4-BE49-F238E27FC236}">
                <a16:creationId xmlns:a16="http://schemas.microsoft.com/office/drawing/2014/main" id="{5EAF121F-2295-CF44-F663-1160085067DE}"/>
              </a:ext>
            </a:extLst>
          </p:cNvPr>
          <p:cNvPicPr>
            <a:picLocks noChangeAspect="1"/>
          </p:cNvPicPr>
          <p:nvPr/>
        </p:nvPicPr>
        <p:blipFill>
          <a:blip r:embed="rId8"/>
          <a:stretch>
            <a:fillRect/>
          </a:stretch>
        </p:blipFill>
        <p:spPr>
          <a:xfrm>
            <a:off x="10505338" y="166891"/>
            <a:ext cx="1544421" cy="37260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09 — SETTINGS &amp; CONFIGURATION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Customize the app, never the workflow</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32</a:t>
            </a:r>
            <a:endParaRPr lang="en-US" sz="950" dirty="0"/>
          </a:p>
        </p:txBody>
      </p:sp>
      <p:sp>
        <p:nvSpPr>
          <p:cNvPr id="8" name="Shape 6"/>
          <p:cNvSpPr/>
          <p:nvPr/>
        </p:nvSpPr>
        <p:spPr>
          <a:xfrm>
            <a:off x="566928" y="1371600"/>
            <a:ext cx="11057839" cy="822960"/>
          </a:xfrm>
          <a:prstGeom prst="roundRect">
            <a:avLst>
              <a:gd name="adj" fmla="val 11111"/>
            </a:avLst>
          </a:prstGeom>
          <a:solidFill>
            <a:srgbClr val="EEF4FB"/>
          </a:solidFill>
          <a:ln w="9525">
            <a:solidFill>
              <a:srgbClr val="D6E4F5"/>
            </a:solidFill>
            <a:prstDash val="solid"/>
          </a:ln>
        </p:spPr>
      </p:sp>
      <p:sp>
        <p:nvSpPr>
          <p:cNvPr id="9" name="Text 7"/>
          <p:cNvSpPr/>
          <p:nvPr/>
        </p:nvSpPr>
        <p:spPr>
          <a:xfrm>
            <a:off x="877824" y="1536192"/>
            <a:ext cx="10436047" cy="493776"/>
          </a:xfrm>
          <a:prstGeom prst="rect">
            <a:avLst/>
          </a:prstGeom>
          <a:noFill/>
          <a:ln/>
        </p:spPr>
        <p:txBody>
          <a:bodyPr wrap="square" lIns="0" tIns="0" rIns="0" bIns="0" rtlCol="0" anchor="ctr"/>
          <a:lstStyle/>
          <a:p>
            <a:pPr marL="0" indent="0">
              <a:lnSpc>
                <a:spcPct val="112000"/>
              </a:lnSpc>
              <a:buNone/>
            </a:pPr>
            <a:r>
              <a:rPr lang="en-US" sz="2000" i="1" dirty="0">
                <a:solidFill>
                  <a:srgbClr val="0B2E59"/>
                </a:solidFill>
                <a:latin typeface="Calibri" pitchFamily="34" charset="0"/>
                <a:ea typeface="Calibri" pitchFamily="34" charset="-122"/>
                <a:cs typeface="Calibri" pitchFamily="34" charset="-120"/>
              </a:rPr>
              <a:t>“Settings should customize the application, not change the workflow.”</a:t>
            </a:r>
            <a:endParaRPr lang="en-US" sz="2000" dirty="0"/>
          </a:p>
        </p:txBody>
      </p:sp>
      <p:sp>
        <p:nvSpPr>
          <p:cNvPr id="10" name="Shape 8"/>
          <p:cNvSpPr/>
          <p:nvPr/>
        </p:nvSpPr>
        <p:spPr>
          <a:xfrm>
            <a:off x="566928" y="2304288"/>
            <a:ext cx="5410048" cy="1097280"/>
          </a:xfrm>
          <a:prstGeom prst="roundRect">
            <a:avLst>
              <a:gd name="adj" fmla="val 8333"/>
            </a:avLst>
          </a:prstGeom>
          <a:solidFill>
            <a:srgbClr val="F0F8F1"/>
          </a:solidFill>
          <a:ln w="9525">
            <a:solidFill>
              <a:srgbClr val="E1E8F0"/>
            </a:solidFill>
            <a:prstDash val="solid"/>
          </a:ln>
          <a:effectLst>
            <a:outerShdw blurRad="76200" dist="19050" dir="5400000" algn="bl" rotWithShape="0">
              <a:srgbClr val="94A3B8">
                <a:alpha val="16000"/>
              </a:srgbClr>
            </a:outerShdw>
          </a:effectLst>
        </p:spPr>
      </p:sp>
      <p:sp>
        <p:nvSpPr>
          <p:cNvPr id="11" name="Text 9"/>
          <p:cNvSpPr/>
          <p:nvPr/>
        </p:nvSpPr>
        <p:spPr>
          <a:xfrm>
            <a:off x="786384" y="2523744"/>
            <a:ext cx="4971136" cy="274320"/>
          </a:xfrm>
          <a:prstGeom prst="rect">
            <a:avLst/>
          </a:prstGeom>
          <a:noFill/>
          <a:ln/>
        </p:spPr>
        <p:txBody>
          <a:bodyPr wrap="square" lIns="0" tIns="0" rIns="0" bIns="0" rtlCol="0" anchor="t"/>
          <a:lstStyle/>
          <a:p>
            <a:pPr marL="0" indent="0">
              <a:buNone/>
            </a:pPr>
            <a:r>
              <a:rPr lang="en-US" sz="1350" b="1" dirty="0">
                <a:solidFill>
                  <a:srgbClr val="2E7D32"/>
                </a:solidFill>
                <a:latin typeface="Calibri" pitchFamily="34" charset="0"/>
                <a:ea typeface="Calibri" pitchFamily="34" charset="-122"/>
                <a:cs typeface="Calibri" pitchFamily="34" charset="-120"/>
              </a:rPr>
              <a:t>✓   You can change</a:t>
            </a:r>
            <a:endParaRPr lang="en-US" sz="1350" dirty="0"/>
          </a:p>
        </p:txBody>
      </p:sp>
      <p:sp>
        <p:nvSpPr>
          <p:cNvPr id="12" name="Text 10"/>
          <p:cNvSpPr/>
          <p:nvPr/>
        </p:nvSpPr>
        <p:spPr>
          <a:xfrm>
            <a:off x="786384" y="2843784"/>
            <a:ext cx="4971136" cy="38404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Your logo, your password, your profile picture, your personal contact details and your theme.</a:t>
            </a:r>
            <a:endParaRPr lang="en-US" sz="1100" dirty="0"/>
          </a:p>
        </p:txBody>
      </p:sp>
      <p:sp>
        <p:nvSpPr>
          <p:cNvPr id="13" name="Shape 11"/>
          <p:cNvSpPr/>
          <p:nvPr/>
        </p:nvSpPr>
        <p:spPr>
          <a:xfrm>
            <a:off x="6214720" y="2304288"/>
            <a:ext cx="5410048" cy="1097280"/>
          </a:xfrm>
          <a:prstGeom prst="roundRect">
            <a:avLst>
              <a:gd name="adj" fmla="val 8333"/>
            </a:avLst>
          </a:prstGeom>
          <a:solidFill>
            <a:srgbClr val="FDF1F1"/>
          </a:solidFill>
          <a:ln w="9525">
            <a:solidFill>
              <a:srgbClr val="E1E8F0"/>
            </a:solidFill>
            <a:prstDash val="solid"/>
          </a:ln>
          <a:effectLst>
            <a:outerShdw blurRad="76200" dist="19050" dir="5400000" algn="bl" rotWithShape="0">
              <a:srgbClr val="94A3B8">
                <a:alpha val="16000"/>
              </a:srgbClr>
            </a:outerShdw>
          </a:effectLst>
        </p:spPr>
      </p:sp>
      <p:sp>
        <p:nvSpPr>
          <p:cNvPr id="14" name="Text 12"/>
          <p:cNvSpPr/>
          <p:nvPr/>
        </p:nvSpPr>
        <p:spPr>
          <a:xfrm>
            <a:off x="6434176" y="2523744"/>
            <a:ext cx="4971136" cy="274320"/>
          </a:xfrm>
          <a:prstGeom prst="rect">
            <a:avLst/>
          </a:prstGeom>
          <a:noFill/>
          <a:ln/>
        </p:spPr>
        <p:txBody>
          <a:bodyPr wrap="square" lIns="0" tIns="0" rIns="0" bIns="0" rtlCol="0" anchor="t"/>
          <a:lstStyle/>
          <a:p>
            <a:pPr marL="0" indent="0">
              <a:buNone/>
            </a:pPr>
            <a:r>
              <a:rPr lang="en-US" sz="1350" b="1" dirty="0">
                <a:solidFill>
                  <a:srgbClr val="C62828"/>
                </a:solidFill>
                <a:latin typeface="Calibri" pitchFamily="34" charset="0"/>
                <a:ea typeface="Calibri" pitchFamily="34" charset="-122"/>
                <a:cs typeface="Calibri" pitchFamily="34" charset="-120"/>
              </a:rPr>
              <a:t>✗   You cannot change</a:t>
            </a:r>
            <a:endParaRPr lang="en-US" sz="1350" dirty="0"/>
          </a:p>
        </p:txBody>
      </p:sp>
      <p:sp>
        <p:nvSpPr>
          <p:cNvPr id="15" name="Text 13"/>
          <p:cNvSpPr/>
          <p:nvPr/>
        </p:nvSpPr>
        <p:spPr>
          <a:xfrm>
            <a:off x="6434176" y="2843784"/>
            <a:ext cx="4971136" cy="38404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How the Daily Tracker behaves, or how a report calculates its numbers. Those are product decisions.</a:t>
            </a:r>
            <a:endParaRPr lang="en-US" sz="1100" dirty="0"/>
          </a:p>
        </p:txBody>
      </p:sp>
      <p:sp>
        <p:nvSpPr>
          <p:cNvPr id="16" name="Text 14"/>
          <p:cNvSpPr/>
          <p:nvPr/>
        </p:nvSpPr>
        <p:spPr>
          <a:xfrm>
            <a:off x="566928" y="352958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SIX SECTIONS</a:t>
            </a:r>
            <a:endParaRPr lang="en-US" sz="950" dirty="0"/>
          </a:p>
        </p:txBody>
      </p:sp>
      <p:sp>
        <p:nvSpPr>
          <p:cNvPr id="17" name="Shape 15"/>
          <p:cNvSpPr/>
          <p:nvPr/>
        </p:nvSpPr>
        <p:spPr>
          <a:xfrm>
            <a:off x="566928"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8" name="Shape 16"/>
          <p:cNvSpPr/>
          <p:nvPr/>
        </p:nvSpPr>
        <p:spPr>
          <a:xfrm>
            <a:off x="1188187" y="3950208"/>
            <a:ext cx="402336" cy="402336"/>
          </a:xfrm>
          <a:prstGeom prst="ellipse">
            <a:avLst/>
          </a:prstGeom>
          <a:solidFill>
            <a:srgbClr val="175496"/>
          </a:solidFill>
          <a:ln w="12700">
            <a:solidFill>
              <a:srgbClr val="175496"/>
            </a:solidFill>
            <a:prstDash val="solid"/>
          </a:ln>
        </p:spPr>
      </p:sp>
      <p:pic>
        <p:nvPicPr>
          <p:cNvPr id="19" name="Image 0" descr="preencoded.png"/>
          <p:cNvPicPr>
            <a:picLocks noChangeAspect="1"/>
          </p:cNvPicPr>
          <p:nvPr/>
        </p:nvPicPr>
        <p:blipFill>
          <a:blip r:embed="rId3"/>
          <a:stretch>
            <a:fillRect/>
          </a:stretch>
        </p:blipFill>
        <p:spPr>
          <a:xfrm>
            <a:off x="1288771" y="4050792"/>
            <a:ext cx="201168" cy="201168"/>
          </a:xfrm>
          <a:prstGeom prst="rect">
            <a:avLst/>
          </a:prstGeom>
        </p:spPr>
      </p:pic>
      <p:sp>
        <p:nvSpPr>
          <p:cNvPr id="20" name="Text 17"/>
          <p:cNvSpPr/>
          <p:nvPr/>
        </p:nvSpPr>
        <p:spPr>
          <a:xfrm>
            <a:off x="621792"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My Profile</a:t>
            </a:r>
            <a:endParaRPr lang="en-US" sz="1150" dirty="0"/>
          </a:p>
        </p:txBody>
      </p:sp>
      <p:sp>
        <p:nvSpPr>
          <p:cNvPr id="21" name="Shape 18"/>
          <p:cNvSpPr/>
          <p:nvPr/>
        </p:nvSpPr>
        <p:spPr>
          <a:xfrm>
            <a:off x="2449525"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9"/>
          <p:cNvSpPr/>
          <p:nvPr/>
        </p:nvSpPr>
        <p:spPr>
          <a:xfrm>
            <a:off x="3070784" y="3950208"/>
            <a:ext cx="402336" cy="402336"/>
          </a:xfrm>
          <a:prstGeom prst="ellipse">
            <a:avLst/>
          </a:prstGeom>
          <a:solidFill>
            <a:srgbClr val="0B2E59"/>
          </a:solidFill>
          <a:ln w="12700">
            <a:solidFill>
              <a:srgbClr val="0B2E59"/>
            </a:solidFill>
            <a:prstDash val="solid"/>
          </a:ln>
        </p:spPr>
      </p:sp>
      <p:pic>
        <p:nvPicPr>
          <p:cNvPr id="23" name="Image 1" descr="preencoded.png"/>
          <p:cNvPicPr>
            <a:picLocks noChangeAspect="1"/>
          </p:cNvPicPr>
          <p:nvPr/>
        </p:nvPicPr>
        <p:blipFill>
          <a:blip r:embed="rId4"/>
          <a:stretch>
            <a:fillRect/>
          </a:stretch>
        </p:blipFill>
        <p:spPr>
          <a:xfrm>
            <a:off x="3171368" y="4050792"/>
            <a:ext cx="201168" cy="201168"/>
          </a:xfrm>
          <a:prstGeom prst="rect">
            <a:avLst/>
          </a:prstGeom>
        </p:spPr>
      </p:pic>
      <p:sp>
        <p:nvSpPr>
          <p:cNvPr id="24" name="Text 20"/>
          <p:cNvSpPr/>
          <p:nvPr/>
        </p:nvSpPr>
        <p:spPr>
          <a:xfrm>
            <a:off x="2504389"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Security</a:t>
            </a:r>
            <a:endParaRPr lang="en-US" sz="1150" dirty="0"/>
          </a:p>
        </p:txBody>
      </p:sp>
      <p:sp>
        <p:nvSpPr>
          <p:cNvPr id="25" name="Shape 21"/>
          <p:cNvSpPr/>
          <p:nvPr/>
        </p:nvSpPr>
        <p:spPr>
          <a:xfrm>
            <a:off x="4332122"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Shape 22"/>
          <p:cNvSpPr/>
          <p:nvPr/>
        </p:nvSpPr>
        <p:spPr>
          <a:xfrm>
            <a:off x="4953381" y="3950208"/>
            <a:ext cx="402336" cy="402336"/>
          </a:xfrm>
          <a:prstGeom prst="ellipse">
            <a:avLst/>
          </a:prstGeom>
          <a:solidFill>
            <a:srgbClr val="00ACC1"/>
          </a:solidFill>
          <a:ln w="12700">
            <a:solidFill>
              <a:srgbClr val="00ACC1"/>
            </a:solidFill>
            <a:prstDash val="solid"/>
          </a:ln>
        </p:spPr>
      </p:sp>
      <p:pic>
        <p:nvPicPr>
          <p:cNvPr id="27" name="Image 2" descr="preencoded.png"/>
          <p:cNvPicPr>
            <a:picLocks noChangeAspect="1"/>
          </p:cNvPicPr>
          <p:nvPr/>
        </p:nvPicPr>
        <p:blipFill>
          <a:blip r:embed="rId5"/>
          <a:stretch>
            <a:fillRect/>
          </a:stretch>
        </p:blipFill>
        <p:spPr>
          <a:xfrm>
            <a:off x="5053965" y="4050792"/>
            <a:ext cx="201168" cy="201168"/>
          </a:xfrm>
          <a:prstGeom prst="rect">
            <a:avLst/>
          </a:prstGeom>
        </p:spPr>
      </p:pic>
      <p:sp>
        <p:nvSpPr>
          <p:cNvPr id="28" name="Text 23"/>
          <p:cNvSpPr/>
          <p:nvPr/>
        </p:nvSpPr>
        <p:spPr>
          <a:xfrm>
            <a:off x="4386986"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Application</a:t>
            </a:r>
            <a:endParaRPr lang="en-US" sz="1150" dirty="0"/>
          </a:p>
        </p:txBody>
      </p:sp>
      <p:sp>
        <p:nvSpPr>
          <p:cNvPr id="29" name="Shape 24"/>
          <p:cNvSpPr/>
          <p:nvPr/>
        </p:nvSpPr>
        <p:spPr>
          <a:xfrm>
            <a:off x="6214720"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5"/>
          <p:cNvSpPr/>
          <p:nvPr/>
        </p:nvSpPr>
        <p:spPr>
          <a:xfrm>
            <a:off x="6835978" y="3950208"/>
            <a:ext cx="402336" cy="402336"/>
          </a:xfrm>
          <a:prstGeom prst="ellipse">
            <a:avLst/>
          </a:prstGeom>
          <a:solidFill>
            <a:srgbClr val="2E7D32"/>
          </a:solidFill>
          <a:ln w="12700">
            <a:solidFill>
              <a:srgbClr val="2E7D32"/>
            </a:solidFill>
            <a:prstDash val="solid"/>
          </a:ln>
        </p:spPr>
      </p:sp>
      <p:pic>
        <p:nvPicPr>
          <p:cNvPr id="31" name="Image 3" descr="preencoded.png"/>
          <p:cNvPicPr>
            <a:picLocks noChangeAspect="1"/>
          </p:cNvPicPr>
          <p:nvPr/>
        </p:nvPicPr>
        <p:blipFill>
          <a:blip r:embed="rId6"/>
          <a:stretch>
            <a:fillRect/>
          </a:stretch>
        </p:blipFill>
        <p:spPr>
          <a:xfrm>
            <a:off x="6936562" y="4050792"/>
            <a:ext cx="201168" cy="201168"/>
          </a:xfrm>
          <a:prstGeom prst="rect">
            <a:avLst/>
          </a:prstGeom>
        </p:spPr>
      </p:pic>
      <p:sp>
        <p:nvSpPr>
          <p:cNvPr id="32" name="Text 26"/>
          <p:cNvSpPr/>
          <p:nvPr/>
        </p:nvSpPr>
        <p:spPr>
          <a:xfrm>
            <a:off x="6269584"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Organization</a:t>
            </a:r>
            <a:endParaRPr lang="en-US" sz="1150" dirty="0"/>
          </a:p>
        </p:txBody>
      </p:sp>
      <p:sp>
        <p:nvSpPr>
          <p:cNvPr id="33" name="Shape 27"/>
          <p:cNvSpPr/>
          <p:nvPr/>
        </p:nvSpPr>
        <p:spPr>
          <a:xfrm>
            <a:off x="8097317"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4" name="Shape 28"/>
          <p:cNvSpPr/>
          <p:nvPr/>
        </p:nvSpPr>
        <p:spPr>
          <a:xfrm>
            <a:off x="8718575" y="3950208"/>
            <a:ext cx="402336" cy="402336"/>
          </a:xfrm>
          <a:prstGeom prst="ellipse">
            <a:avLst/>
          </a:prstGeom>
          <a:solidFill>
            <a:srgbClr val="6B7A8C"/>
          </a:solidFill>
          <a:ln w="12700">
            <a:solidFill>
              <a:srgbClr val="6B7A8C"/>
            </a:solidFill>
            <a:prstDash val="solid"/>
          </a:ln>
        </p:spPr>
      </p:sp>
      <p:pic>
        <p:nvPicPr>
          <p:cNvPr id="35" name="Image 4" descr="preencoded.png"/>
          <p:cNvPicPr>
            <a:picLocks noChangeAspect="1"/>
          </p:cNvPicPr>
          <p:nvPr/>
        </p:nvPicPr>
        <p:blipFill>
          <a:blip r:embed="rId7"/>
          <a:stretch>
            <a:fillRect/>
          </a:stretch>
        </p:blipFill>
        <p:spPr>
          <a:xfrm>
            <a:off x="8819159" y="4050792"/>
            <a:ext cx="201168" cy="201168"/>
          </a:xfrm>
          <a:prstGeom prst="rect">
            <a:avLst/>
          </a:prstGeom>
        </p:spPr>
      </p:pic>
      <p:sp>
        <p:nvSpPr>
          <p:cNvPr id="36" name="Text 29"/>
          <p:cNvSpPr/>
          <p:nvPr/>
        </p:nvSpPr>
        <p:spPr>
          <a:xfrm>
            <a:off x="8152181"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System</a:t>
            </a:r>
            <a:endParaRPr lang="en-US" sz="1150" dirty="0"/>
          </a:p>
        </p:txBody>
      </p:sp>
      <p:sp>
        <p:nvSpPr>
          <p:cNvPr id="37" name="Shape 30"/>
          <p:cNvSpPr/>
          <p:nvPr/>
        </p:nvSpPr>
        <p:spPr>
          <a:xfrm>
            <a:off x="9979914"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8" name="Shape 31"/>
          <p:cNvSpPr/>
          <p:nvPr/>
        </p:nvSpPr>
        <p:spPr>
          <a:xfrm>
            <a:off x="10601173" y="3950208"/>
            <a:ext cx="402336" cy="402336"/>
          </a:xfrm>
          <a:prstGeom prst="ellipse">
            <a:avLst/>
          </a:prstGeom>
          <a:solidFill>
            <a:srgbClr val="F59E0B"/>
          </a:solidFill>
          <a:ln w="12700">
            <a:solidFill>
              <a:srgbClr val="F59E0B"/>
            </a:solidFill>
            <a:prstDash val="solid"/>
          </a:ln>
        </p:spPr>
      </p:sp>
      <p:pic>
        <p:nvPicPr>
          <p:cNvPr id="39" name="Image 5" descr="preencoded.png"/>
          <p:cNvPicPr>
            <a:picLocks noChangeAspect="1"/>
          </p:cNvPicPr>
          <p:nvPr/>
        </p:nvPicPr>
        <p:blipFill>
          <a:blip r:embed="rId8"/>
          <a:stretch>
            <a:fillRect/>
          </a:stretch>
        </p:blipFill>
        <p:spPr>
          <a:xfrm>
            <a:off x="10701757" y="4050792"/>
            <a:ext cx="201168" cy="201168"/>
          </a:xfrm>
          <a:prstGeom prst="rect">
            <a:avLst/>
          </a:prstGeom>
        </p:spPr>
      </p:pic>
      <p:sp>
        <p:nvSpPr>
          <p:cNvPr id="40" name="Text 32"/>
          <p:cNvSpPr/>
          <p:nvPr/>
        </p:nvSpPr>
        <p:spPr>
          <a:xfrm>
            <a:off x="10034778"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Privacy</a:t>
            </a:r>
            <a:endParaRPr lang="en-US" sz="1150" dirty="0"/>
          </a:p>
        </p:txBody>
      </p:sp>
      <p:sp>
        <p:nvSpPr>
          <p:cNvPr id="41" name="Shape 33"/>
          <p:cNvSpPr/>
          <p:nvPr/>
        </p:nvSpPr>
        <p:spPr>
          <a:xfrm>
            <a:off x="566928" y="4937760"/>
            <a:ext cx="5410048" cy="1097280"/>
          </a:xfrm>
          <a:prstGeom prst="roundRect">
            <a:avLst>
              <a:gd name="adj" fmla="val 8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4"/>
          <p:cNvSpPr/>
          <p:nvPr/>
        </p:nvSpPr>
        <p:spPr>
          <a:xfrm>
            <a:off x="786384" y="5157216"/>
            <a:ext cx="365760" cy="365760"/>
          </a:xfrm>
          <a:prstGeom prst="ellipse">
            <a:avLst/>
          </a:prstGeom>
          <a:solidFill>
            <a:srgbClr val="00ACC1"/>
          </a:solidFill>
          <a:ln w="12700">
            <a:solidFill>
              <a:srgbClr val="00ACC1"/>
            </a:solidFill>
            <a:prstDash val="solid"/>
          </a:ln>
        </p:spPr>
      </p:sp>
      <p:pic>
        <p:nvPicPr>
          <p:cNvPr id="43" name="Image 6" descr="preencoded.png"/>
          <p:cNvPicPr>
            <a:picLocks noChangeAspect="1"/>
          </p:cNvPicPr>
          <p:nvPr/>
        </p:nvPicPr>
        <p:blipFill>
          <a:blip r:embed="rId9"/>
          <a:stretch>
            <a:fillRect/>
          </a:stretch>
        </p:blipFill>
        <p:spPr>
          <a:xfrm>
            <a:off x="877824" y="5248656"/>
            <a:ext cx="182880" cy="182880"/>
          </a:xfrm>
          <a:prstGeom prst="rect">
            <a:avLst/>
          </a:prstGeom>
        </p:spPr>
      </p:pic>
      <p:sp>
        <p:nvSpPr>
          <p:cNvPr id="44" name="Text 35"/>
          <p:cNvSpPr/>
          <p:nvPr/>
        </p:nvSpPr>
        <p:spPr>
          <a:xfrm>
            <a:off x="1280160" y="51572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Yours to edit</a:t>
            </a:r>
            <a:endParaRPr lang="en-US" sz="1350" dirty="0"/>
          </a:p>
        </p:txBody>
      </p:sp>
      <p:sp>
        <p:nvSpPr>
          <p:cNvPr id="45" name="Text 36"/>
          <p:cNvSpPr/>
          <p:nvPr/>
        </p:nvSpPr>
        <p:spPr>
          <a:xfrm>
            <a:off x="786384" y="5568696"/>
            <a:ext cx="4971136" cy="29260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Personal email · personal mobile · alternate mobile · residential address · profile picture.</a:t>
            </a:r>
            <a:endParaRPr lang="en-US" sz="1000" dirty="0"/>
          </a:p>
        </p:txBody>
      </p:sp>
      <p:sp>
        <p:nvSpPr>
          <p:cNvPr id="46" name="Shape 37"/>
          <p:cNvSpPr/>
          <p:nvPr/>
        </p:nvSpPr>
        <p:spPr>
          <a:xfrm>
            <a:off x="6214720" y="4937760"/>
            <a:ext cx="5410048" cy="1097280"/>
          </a:xfrm>
          <a:prstGeom prst="roundRect">
            <a:avLst>
              <a:gd name="adj" fmla="val 8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7" name="Shape 38"/>
          <p:cNvSpPr/>
          <p:nvPr/>
        </p:nvSpPr>
        <p:spPr>
          <a:xfrm>
            <a:off x="6434176" y="5157216"/>
            <a:ext cx="365760" cy="365760"/>
          </a:xfrm>
          <a:prstGeom prst="ellipse">
            <a:avLst/>
          </a:prstGeom>
          <a:solidFill>
            <a:srgbClr val="0B2E59"/>
          </a:solidFill>
          <a:ln w="12700">
            <a:solidFill>
              <a:srgbClr val="0B2E59"/>
            </a:solidFill>
            <a:prstDash val="solid"/>
          </a:ln>
        </p:spPr>
      </p:sp>
      <p:pic>
        <p:nvPicPr>
          <p:cNvPr id="48" name="Image 7" descr="preencoded.png"/>
          <p:cNvPicPr>
            <a:picLocks noChangeAspect="1"/>
          </p:cNvPicPr>
          <p:nvPr/>
        </p:nvPicPr>
        <p:blipFill>
          <a:blip r:embed="rId4"/>
          <a:stretch>
            <a:fillRect/>
          </a:stretch>
        </p:blipFill>
        <p:spPr>
          <a:xfrm>
            <a:off x="6525616" y="5248656"/>
            <a:ext cx="182880" cy="182880"/>
          </a:xfrm>
          <a:prstGeom prst="rect">
            <a:avLst/>
          </a:prstGeom>
        </p:spPr>
      </p:pic>
      <p:sp>
        <p:nvSpPr>
          <p:cNvPr id="49" name="Text 39"/>
          <p:cNvSpPr/>
          <p:nvPr/>
        </p:nvSpPr>
        <p:spPr>
          <a:xfrm>
            <a:off x="6927952" y="51572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The organization controls</a:t>
            </a:r>
            <a:endParaRPr lang="en-US" sz="1350" dirty="0"/>
          </a:p>
        </p:txBody>
      </p:sp>
      <p:sp>
        <p:nvSpPr>
          <p:cNvPr id="50" name="Text 40"/>
          <p:cNvSpPr/>
          <p:nvPr/>
        </p:nvSpPr>
        <p:spPr>
          <a:xfrm>
            <a:off x="6434176" y="5568696"/>
            <a:ext cx="4971136" cy="29260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Username · official email · role · assigned colleges. Displayed, but never editable by you.</a:t>
            </a:r>
            <a:endParaRPr lang="en-US" sz="1000" dirty="0"/>
          </a:p>
        </p:txBody>
      </p:sp>
      <p:pic>
        <p:nvPicPr>
          <p:cNvPr id="51" name="Picture 50">
            <a:extLst>
              <a:ext uri="{FF2B5EF4-FFF2-40B4-BE49-F238E27FC236}">
                <a16:creationId xmlns:a16="http://schemas.microsoft.com/office/drawing/2014/main" id="{F4FE7081-8A5F-10EF-B6D2-74CC6DCFDA42}"/>
              </a:ext>
            </a:extLst>
          </p:cNvPr>
          <p:cNvPicPr>
            <a:picLocks noChangeAspect="1"/>
          </p:cNvPicPr>
          <p:nvPr/>
        </p:nvPicPr>
        <p:blipFill>
          <a:blip r:embed="rId10"/>
          <a:stretch>
            <a:fillRect/>
          </a:stretch>
        </p:blipFill>
        <p:spPr>
          <a:xfrm>
            <a:off x="10505338" y="166891"/>
            <a:ext cx="1544421" cy="37260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09 — SETTINGS &amp; CONFIGURATION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management controls</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33</a:t>
            </a:r>
            <a:endParaRPr lang="en-US" sz="950" dirty="0"/>
          </a:p>
        </p:txBody>
      </p:sp>
      <p:sp>
        <p:nvSpPr>
          <p:cNvPr id="8" name="Text 6"/>
          <p:cNvSpPr/>
          <p:nvPr/>
        </p:nvSpPr>
        <p:spPr>
          <a:xfrm>
            <a:off x="566928" y="1371600"/>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DIRECTOR AND CEO ONLY</a:t>
            </a:r>
            <a:endParaRPr lang="en-US" sz="950" dirty="0"/>
          </a:p>
        </p:txBody>
      </p:sp>
      <p:sp>
        <p:nvSpPr>
          <p:cNvPr id="9" name="Shape 7"/>
          <p:cNvSpPr/>
          <p:nvPr/>
        </p:nvSpPr>
        <p:spPr>
          <a:xfrm>
            <a:off x="566928" y="1627632"/>
            <a:ext cx="5212080"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365760" cy="365760"/>
          </a:xfrm>
          <a:prstGeom prst="ellipse">
            <a:avLst/>
          </a:prstGeom>
          <a:solidFill>
            <a:srgbClr val="0B2E59"/>
          </a:solidFill>
          <a:ln w="12700">
            <a:solidFill>
              <a:srgbClr val="0B2E59"/>
            </a:solidFill>
            <a:prstDash val="solid"/>
          </a:ln>
        </p:spPr>
      </p:sp>
      <p:pic>
        <p:nvPicPr>
          <p:cNvPr id="11" name="Image 0" descr="preencoded.png"/>
          <p:cNvPicPr>
            <a:picLocks noChangeAspect="1"/>
          </p:cNvPicPr>
          <p:nvPr/>
        </p:nvPicPr>
        <p:blipFill>
          <a:blip r:embed="rId3"/>
          <a:stretch>
            <a:fillRect/>
          </a:stretch>
        </p:blipFill>
        <p:spPr>
          <a:xfrm>
            <a:off x="877824" y="1938528"/>
            <a:ext cx="182880" cy="182880"/>
          </a:xfrm>
          <a:prstGeom prst="rect">
            <a:avLst/>
          </a:prstGeom>
        </p:spPr>
      </p:pic>
      <p:sp>
        <p:nvSpPr>
          <p:cNvPr id="12" name="Text 9"/>
          <p:cNvSpPr/>
          <p:nvPr/>
        </p:nvSpPr>
        <p:spPr>
          <a:xfrm>
            <a:off x="1280160" y="1847088"/>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Report branding</a:t>
            </a:r>
            <a:endParaRPr lang="en-US" sz="1350" dirty="0"/>
          </a:p>
        </p:txBody>
      </p:sp>
      <p:sp>
        <p:nvSpPr>
          <p:cNvPr id="13" name="Text 10"/>
          <p:cNvSpPr/>
          <p:nvPr/>
        </p:nvSpPr>
        <p:spPr>
          <a:xfrm>
            <a:off x="786384" y="2258568"/>
            <a:ext cx="4773168"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Logo, organization name, generated-by line, generated date and footer — applied to every exported report automatically.</a:t>
            </a:r>
            <a:endParaRPr lang="en-US" sz="1050" dirty="0"/>
          </a:p>
        </p:txBody>
      </p:sp>
      <p:sp>
        <p:nvSpPr>
          <p:cNvPr id="14" name="Shape 11"/>
          <p:cNvSpPr/>
          <p:nvPr/>
        </p:nvSpPr>
        <p:spPr>
          <a:xfrm>
            <a:off x="566928" y="3035808"/>
            <a:ext cx="5212080"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786384" y="3255264"/>
            <a:ext cx="365760" cy="365760"/>
          </a:xfrm>
          <a:prstGeom prst="ellipse">
            <a:avLst/>
          </a:prstGeom>
          <a:solidFill>
            <a:srgbClr val="00ACC1"/>
          </a:solidFill>
          <a:ln w="12700">
            <a:solidFill>
              <a:srgbClr val="00ACC1"/>
            </a:solidFill>
            <a:prstDash val="solid"/>
          </a:ln>
        </p:spPr>
      </p:sp>
      <p:pic>
        <p:nvPicPr>
          <p:cNvPr id="16" name="Image 1" descr="preencoded.png"/>
          <p:cNvPicPr>
            <a:picLocks noChangeAspect="1"/>
          </p:cNvPicPr>
          <p:nvPr/>
        </p:nvPicPr>
        <p:blipFill>
          <a:blip r:embed="rId4"/>
          <a:stretch>
            <a:fillRect/>
          </a:stretch>
        </p:blipFill>
        <p:spPr>
          <a:xfrm>
            <a:off x="877824" y="3346704"/>
            <a:ext cx="182880" cy="182880"/>
          </a:xfrm>
          <a:prstGeom prst="rect">
            <a:avLst/>
          </a:prstGeom>
        </p:spPr>
      </p:pic>
      <p:sp>
        <p:nvSpPr>
          <p:cNvPr id="17" name="Text 13"/>
          <p:cNvSpPr/>
          <p:nvPr/>
        </p:nvSpPr>
        <p:spPr>
          <a:xfrm>
            <a:off x="1280160" y="3255264"/>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Organization identity</a:t>
            </a:r>
            <a:endParaRPr lang="en-US" sz="1350" dirty="0"/>
          </a:p>
        </p:txBody>
      </p:sp>
      <p:sp>
        <p:nvSpPr>
          <p:cNvPr id="18" name="Text 14"/>
          <p:cNvSpPr/>
          <p:nvPr/>
        </p:nvSpPr>
        <p:spPr>
          <a:xfrm>
            <a:off x="786384" y="3666744"/>
            <a:ext cx="4773168"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Organization name and logo, support email, support mobile and office address.</a:t>
            </a:r>
            <a:endParaRPr lang="en-US" sz="1050" dirty="0"/>
          </a:p>
        </p:txBody>
      </p:sp>
      <p:sp>
        <p:nvSpPr>
          <p:cNvPr id="19" name="Shape 15"/>
          <p:cNvSpPr/>
          <p:nvPr/>
        </p:nvSpPr>
        <p:spPr>
          <a:xfrm>
            <a:off x="566928" y="4443984"/>
            <a:ext cx="5212080"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Shape 16"/>
          <p:cNvSpPr/>
          <p:nvPr/>
        </p:nvSpPr>
        <p:spPr>
          <a:xfrm>
            <a:off x="786384" y="4663440"/>
            <a:ext cx="365760" cy="365760"/>
          </a:xfrm>
          <a:prstGeom prst="ellipse">
            <a:avLst/>
          </a:prstGeom>
          <a:solidFill>
            <a:srgbClr val="175496"/>
          </a:solidFill>
          <a:ln w="12700">
            <a:solidFill>
              <a:srgbClr val="175496"/>
            </a:solidFill>
            <a:prstDash val="solid"/>
          </a:ln>
        </p:spPr>
      </p:sp>
      <p:pic>
        <p:nvPicPr>
          <p:cNvPr id="21" name="Image 2" descr="preencoded.png"/>
          <p:cNvPicPr>
            <a:picLocks noChangeAspect="1"/>
          </p:cNvPicPr>
          <p:nvPr/>
        </p:nvPicPr>
        <p:blipFill>
          <a:blip r:embed="rId5"/>
          <a:stretch>
            <a:fillRect/>
          </a:stretch>
        </p:blipFill>
        <p:spPr>
          <a:xfrm>
            <a:off x="877824" y="4754880"/>
            <a:ext cx="182880" cy="182880"/>
          </a:xfrm>
          <a:prstGeom prst="rect">
            <a:avLst/>
          </a:prstGeom>
        </p:spPr>
      </p:pic>
      <p:sp>
        <p:nvSpPr>
          <p:cNvPr id="22" name="Text 17"/>
          <p:cNvSpPr/>
          <p:nvPr/>
        </p:nvSpPr>
        <p:spPr>
          <a:xfrm>
            <a:off x="1280160" y="4663440"/>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Database summary — read only</a:t>
            </a:r>
            <a:endParaRPr lang="en-US" sz="1350" dirty="0"/>
          </a:p>
        </p:txBody>
      </p:sp>
      <p:sp>
        <p:nvSpPr>
          <p:cNvPr id="23" name="Text 18"/>
          <p:cNvSpPr/>
          <p:nvPr/>
        </p:nvSpPr>
        <p:spPr>
          <a:xfrm>
            <a:off x="786384" y="5074920"/>
            <a:ext cx="4773168"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Total Users 23 · Companies 7,048 · HR Contacts 10,856 · Colleges 58. Displayed for confidence, not for editing.</a:t>
            </a:r>
            <a:endParaRPr lang="en-US" sz="1050" dirty="0"/>
          </a:p>
        </p:txBody>
      </p:sp>
      <p:sp>
        <p:nvSpPr>
          <p:cNvPr id="24" name="Text 19"/>
          <p:cNvSpPr/>
          <p:nvPr/>
        </p:nvSpPr>
        <p:spPr>
          <a:xfrm>
            <a:off x="6089904" y="1371600"/>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SYSTEM ANNOUNCEMENT BANNER — APPROVED FOR V1</a:t>
            </a:r>
            <a:endParaRPr lang="en-US" sz="950" dirty="0"/>
          </a:p>
        </p:txBody>
      </p:sp>
      <p:sp>
        <p:nvSpPr>
          <p:cNvPr id="25" name="Shape 20"/>
          <p:cNvSpPr/>
          <p:nvPr/>
        </p:nvSpPr>
        <p:spPr>
          <a:xfrm>
            <a:off x="6089904" y="1627632"/>
            <a:ext cx="5532120" cy="2377440"/>
          </a:xfrm>
          <a:prstGeom prst="roundRect">
            <a:avLst>
              <a:gd name="adj" fmla="val 384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Shape 21"/>
          <p:cNvSpPr/>
          <p:nvPr/>
        </p:nvSpPr>
        <p:spPr>
          <a:xfrm>
            <a:off x="6309360" y="1847088"/>
            <a:ext cx="420624" cy="420624"/>
          </a:xfrm>
          <a:prstGeom prst="ellipse">
            <a:avLst/>
          </a:prstGeom>
          <a:solidFill>
            <a:srgbClr val="F59E0B"/>
          </a:solidFill>
          <a:ln w="12700">
            <a:solidFill>
              <a:srgbClr val="F59E0B"/>
            </a:solidFill>
            <a:prstDash val="solid"/>
          </a:ln>
        </p:spPr>
      </p:sp>
      <p:pic>
        <p:nvPicPr>
          <p:cNvPr id="27" name="Image 3" descr="preencoded.png"/>
          <p:cNvPicPr>
            <a:picLocks noChangeAspect="1"/>
          </p:cNvPicPr>
          <p:nvPr/>
        </p:nvPicPr>
        <p:blipFill>
          <a:blip r:embed="rId6"/>
          <a:stretch>
            <a:fillRect/>
          </a:stretch>
        </p:blipFill>
        <p:spPr>
          <a:xfrm>
            <a:off x="6414516" y="1952244"/>
            <a:ext cx="210312" cy="210312"/>
          </a:xfrm>
          <a:prstGeom prst="rect">
            <a:avLst/>
          </a:prstGeom>
        </p:spPr>
      </p:pic>
      <p:sp>
        <p:nvSpPr>
          <p:cNvPr id="28" name="Text 22"/>
          <p:cNvSpPr/>
          <p:nvPr/>
        </p:nvSpPr>
        <p:spPr>
          <a:xfrm>
            <a:off x="6309360" y="2395728"/>
            <a:ext cx="509320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Only the Director or CEO can publish</a:t>
            </a:r>
            <a:endParaRPr lang="en-US" sz="1350" dirty="0"/>
          </a:p>
        </p:txBody>
      </p:sp>
      <p:sp>
        <p:nvSpPr>
          <p:cNvPr id="29" name="Text 23"/>
          <p:cNvSpPr/>
          <p:nvPr/>
        </p:nvSpPr>
        <p:spPr>
          <a:xfrm>
            <a:off x="6309360" y="2715768"/>
            <a:ext cx="5093208" cy="111556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banner every user sees until it expires. Typical uses: scheduled maintenance, a new placement policy, a holiday announcement, an urgent team meeting, or a system update.</a:t>
            </a:r>
            <a:endParaRPr lang="en-US" sz="1050" dirty="0"/>
          </a:p>
        </p:txBody>
      </p:sp>
      <p:sp>
        <p:nvSpPr>
          <p:cNvPr id="30" name="Text 24"/>
          <p:cNvSpPr/>
          <p:nvPr/>
        </p:nvSpPr>
        <p:spPr>
          <a:xfrm>
            <a:off x="6089904" y="4169664"/>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EXPLICITLY NOT IN VERSION 1</a:t>
            </a:r>
            <a:endParaRPr lang="en-US" sz="950" dirty="0"/>
          </a:p>
        </p:txBody>
      </p:sp>
      <p:sp>
        <p:nvSpPr>
          <p:cNvPr id="31" name="Shape 25"/>
          <p:cNvSpPr/>
          <p:nvPr/>
        </p:nvSpPr>
        <p:spPr>
          <a:xfrm>
            <a:off x="6089904" y="4425696"/>
            <a:ext cx="5532120" cy="1389888"/>
          </a:xfrm>
          <a:prstGeom prst="roundRect">
            <a:avLst>
              <a:gd name="adj" fmla="val 6579"/>
            </a:avLst>
          </a:prstGeom>
          <a:solidFill>
            <a:srgbClr val="F1F4F8"/>
          </a:solidFill>
          <a:ln w="9525">
            <a:solidFill>
              <a:srgbClr val="E1E8F0"/>
            </a:solidFill>
            <a:prstDash val="solid"/>
          </a:ln>
          <a:effectLst>
            <a:outerShdw blurRad="76200" dist="19050" dir="5400000" algn="bl" rotWithShape="0">
              <a:srgbClr val="94A3B8">
                <a:alpha val="16000"/>
              </a:srgbClr>
            </a:outerShdw>
          </a:effectLst>
        </p:spPr>
      </p:sp>
      <p:sp>
        <p:nvSpPr>
          <p:cNvPr id="32" name="Text 26"/>
          <p:cNvSpPr/>
          <p:nvPr/>
        </p:nvSpPr>
        <p:spPr>
          <a:xfrm>
            <a:off x="6309360" y="4645152"/>
            <a:ext cx="5093208" cy="9966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Multi-language · API configuration · email server configuration · developer settings · advanced dashboard customization · active session management · manual backup and restore.</a:t>
            </a:r>
            <a:endParaRPr lang="en-US" sz="1050" dirty="0"/>
          </a:p>
        </p:txBody>
      </p:sp>
      <p:pic>
        <p:nvPicPr>
          <p:cNvPr id="33" name="Picture 32">
            <a:extLst>
              <a:ext uri="{FF2B5EF4-FFF2-40B4-BE49-F238E27FC236}">
                <a16:creationId xmlns:a16="http://schemas.microsoft.com/office/drawing/2014/main" id="{0EF7CA77-0A66-FE4A-69A2-E0E202A4C84B}"/>
              </a:ext>
            </a:extLst>
          </p:cNvPr>
          <p:cNvPicPr>
            <a:picLocks noChangeAspect="1"/>
          </p:cNvPicPr>
          <p:nvPr/>
        </p:nvPicPr>
        <p:blipFill>
          <a:blip r:embed="rId7"/>
          <a:stretch>
            <a:fillRect/>
          </a:stretch>
        </p:blipFill>
        <p:spPr>
          <a:xfrm>
            <a:off x="10505338" y="166891"/>
            <a:ext cx="1544421" cy="37260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10 — SYSTEM INFORMATION &amp; ADMINISTRATION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“Is everything healthy?”</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34</a:t>
            </a:r>
            <a:endParaRPr lang="en-US" sz="950" dirty="0"/>
          </a:p>
        </p:txBody>
      </p:sp>
      <p:sp>
        <p:nvSpPr>
          <p:cNvPr id="8" name="Shape 6"/>
          <p:cNvSpPr/>
          <p:nvPr/>
        </p:nvSpPr>
        <p:spPr>
          <a:xfrm>
            <a:off x="566928" y="1371600"/>
            <a:ext cx="11057839" cy="1143000"/>
          </a:xfrm>
          <a:prstGeom prst="roundRect">
            <a:avLst>
              <a:gd name="adj" fmla="val 8000"/>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9" name="Text 7"/>
          <p:cNvSpPr/>
          <p:nvPr/>
        </p:nvSpPr>
        <p:spPr>
          <a:xfrm>
            <a:off x="786384" y="159105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Deliberately not a sysadmin console</a:t>
            </a:r>
            <a:endParaRPr lang="en-US" sz="1350" dirty="0"/>
          </a:p>
        </p:txBody>
      </p:sp>
      <p:sp>
        <p:nvSpPr>
          <p:cNvPr id="10" name="Text 8"/>
          <p:cNvSpPr/>
          <p:nvPr/>
        </p:nvSpPr>
        <p:spPr>
          <a:xfrm>
            <a:off x="786384" y="1911096"/>
            <a:ext cx="10618927" cy="42976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No CPU graphs, no server logs, no infrastructure telemetry. With around 25 users, one CEO, one Director, one Team Leader and no IT department, this module exists to give management confidence — not to give engineers metrics.</a:t>
            </a:r>
            <a:endParaRPr lang="en-US" sz="1100" dirty="0"/>
          </a:p>
        </p:txBody>
      </p:sp>
      <p:sp>
        <p:nvSpPr>
          <p:cNvPr id="11" name="Text 9"/>
          <p:cNvSpPr/>
          <p:nvPr/>
        </p:nvSpPr>
        <p:spPr>
          <a:xfrm>
            <a:off x="566928" y="272491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SYSTEM HEALTH</a:t>
            </a:r>
            <a:endParaRPr lang="en-US" sz="950" dirty="0"/>
          </a:p>
        </p:txBody>
      </p:sp>
      <p:sp>
        <p:nvSpPr>
          <p:cNvPr id="12" name="Shape 10"/>
          <p:cNvSpPr/>
          <p:nvPr/>
        </p:nvSpPr>
        <p:spPr>
          <a:xfrm>
            <a:off x="566928" y="2980944"/>
            <a:ext cx="2668448" cy="475488"/>
          </a:xfrm>
          <a:prstGeom prst="roundRect">
            <a:avLst>
              <a:gd name="adj" fmla="val 96154"/>
            </a:avLst>
          </a:prstGeom>
          <a:solidFill>
            <a:srgbClr val="EAF5EB"/>
          </a:solidFill>
          <a:ln w="9525">
            <a:solidFill>
              <a:srgbClr val="C9E3CC"/>
            </a:solidFill>
            <a:prstDash val="solid"/>
          </a:ln>
        </p:spPr>
      </p:sp>
      <p:sp>
        <p:nvSpPr>
          <p:cNvPr id="13" name="Text 11"/>
          <p:cNvSpPr/>
          <p:nvPr/>
        </p:nvSpPr>
        <p:spPr>
          <a:xfrm>
            <a:off x="640080"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Application Online</a:t>
            </a:r>
            <a:endParaRPr lang="en-US" sz="1100" dirty="0"/>
          </a:p>
        </p:txBody>
      </p:sp>
      <p:sp>
        <p:nvSpPr>
          <p:cNvPr id="14" name="Shape 12"/>
          <p:cNvSpPr/>
          <p:nvPr/>
        </p:nvSpPr>
        <p:spPr>
          <a:xfrm>
            <a:off x="3363392" y="2980944"/>
            <a:ext cx="2668448" cy="475488"/>
          </a:xfrm>
          <a:prstGeom prst="roundRect">
            <a:avLst>
              <a:gd name="adj" fmla="val 96154"/>
            </a:avLst>
          </a:prstGeom>
          <a:solidFill>
            <a:srgbClr val="EAF5EB"/>
          </a:solidFill>
          <a:ln w="9525">
            <a:solidFill>
              <a:srgbClr val="C9E3CC"/>
            </a:solidFill>
            <a:prstDash val="solid"/>
          </a:ln>
        </p:spPr>
      </p:sp>
      <p:sp>
        <p:nvSpPr>
          <p:cNvPr id="15" name="Text 13"/>
          <p:cNvSpPr/>
          <p:nvPr/>
        </p:nvSpPr>
        <p:spPr>
          <a:xfrm>
            <a:off x="3436544"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Database Connected</a:t>
            </a:r>
            <a:endParaRPr lang="en-US" sz="1100" dirty="0"/>
          </a:p>
        </p:txBody>
      </p:sp>
      <p:sp>
        <p:nvSpPr>
          <p:cNvPr id="16" name="Shape 14"/>
          <p:cNvSpPr/>
          <p:nvPr/>
        </p:nvSpPr>
        <p:spPr>
          <a:xfrm>
            <a:off x="6159856" y="2980944"/>
            <a:ext cx="2668448" cy="475488"/>
          </a:xfrm>
          <a:prstGeom prst="roundRect">
            <a:avLst>
              <a:gd name="adj" fmla="val 96154"/>
            </a:avLst>
          </a:prstGeom>
          <a:solidFill>
            <a:srgbClr val="EAF5EB"/>
          </a:solidFill>
          <a:ln w="9525">
            <a:solidFill>
              <a:srgbClr val="C9E3CC"/>
            </a:solidFill>
            <a:prstDash val="solid"/>
          </a:ln>
        </p:spPr>
      </p:sp>
      <p:sp>
        <p:nvSpPr>
          <p:cNvPr id="17" name="Text 15"/>
          <p:cNvSpPr/>
          <p:nvPr/>
        </p:nvSpPr>
        <p:spPr>
          <a:xfrm>
            <a:off x="6233008"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Storage Available</a:t>
            </a:r>
            <a:endParaRPr lang="en-US" sz="1100" dirty="0"/>
          </a:p>
        </p:txBody>
      </p:sp>
      <p:sp>
        <p:nvSpPr>
          <p:cNvPr id="18" name="Shape 16"/>
          <p:cNvSpPr/>
          <p:nvPr/>
        </p:nvSpPr>
        <p:spPr>
          <a:xfrm>
            <a:off x="8956319" y="2980944"/>
            <a:ext cx="2668448" cy="475488"/>
          </a:xfrm>
          <a:prstGeom prst="roundRect">
            <a:avLst>
              <a:gd name="adj" fmla="val 96154"/>
            </a:avLst>
          </a:prstGeom>
          <a:solidFill>
            <a:srgbClr val="EAF5EB"/>
          </a:solidFill>
          <a:ln w="9525">
            <a:solidFill>
              <a:srgbClr val="C9E3CC"/>
            </a:solidFill>
            <a:prstDash val="solid"/>
          </a:ln>
        </p:spPr>
      </p:sp>
      <p:sp>
        <p:nvSpPr>
          <p:cNvPr id="19" name="Text 17"/>
          <p:cNvSpPr/>
          <p:nvPr/>
        </p:nvSpPr>
        <p:spPr>
          <a:xfrm>
            <a:off x="9029471"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Last Sync — today 09:45 AM</a:t>
            </a:r>
            <a:endParaRPr lang="en-US" sz="1100" dirty="0"/>
          </a:p>
        </p:txBody>
      </p:sp>
      <p:sp>
        <p:nvSpPr>
          <p:cNvPr id="20" name="Text 18"/>
          <p:cNvSpPr/>
          <p:nvPr/>
        </p:nvSpPr>
        <p:spPr>
          <a:xfrm>
            <a:off x="566928" y="371246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STATUS STRIP — THE FIRST THING MANAGEMENT SEES</a:t>
            </a:r>
            <a:endParaRPr lang="en-US" sz="950" dirty="0"/>
          </a:p>
        </p:txBody>
      </p:sp>
      <p:sp>
        <p:nvSpPr>
          <p:cNvPr id="21" name="Shape 19"/>
          <p:cNvSpPr/>
          <p:nvPr/>
        </p:nvSpPr>
        <p:spPr>
          <a:xfrm>
            <a:off x="566928" y="3986784"/>
            <a:ext cx="11057839" cy="475488"/>
          </a:xfrm>
          <a:prstGeom prst="roundRect">
            <a:avLst>
              <a:gd name="adj" fmla="val 17308"/>
            </a:avLst>
          </a:prstGeom>
          <a:solidFill>
            <a:srgbClr val="EAF5EB"/>
          </a:solidFill>
          <a:ln w="9525">
            <a:solidFill>
              <a:srgbClr val="C9E3CC"/>
            </a:solidFill>
            <a:prstDash val="solid"/>
          </a:ln>
        </p:spPr>
      </p:sp>
      <p:sp>
        <p:nvSpPr>
          <p:cNvPr id="22" name="Shape 20"/>
          <p:cNvSpPr/>
          <p:nvPr/>
        </p:nvSpPr>
        <p:spPr>
          <a:xfrm>
            <a:off x="786384" y="4123944"/>
            <a:ext cx="201168" cy="201168"/>
          </a:xfrm>
          <a:prstGeom prst="ellipse">
            <a:avLst/>
          </a:prstGeom>
          <a:solidFill>
            <a:srgbClr val="2E7D32"/>
          </a:solidFill>
          <a:ln w="12700">
            <a:solidFill>
              <a:srgbClr val="2E7D32"/>
            </a:solidFill>
            <a:prstDash val="solid"/>
          </a:ln>
        </p:spPr>
      </p:sp>
      <p:sp>
        <p:nvSpPr>
          <p:cNvPr id="23" name="Text 21"/>
          <p:cNvSpPr/>
          <p:nvPr/>
        </p:nvSpPr>
        <p:spPr>
          <a:xfrm>
            <a:off x="1133856" y="3986784"/>
            <a:ext cx="2377440" cy="475488"/>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System Healthy</a:t>
            </a:r>
            <a:endParaRPr lang="en-US" sz="1200" dirty="0"/>
          </a:p>
        </p:txBody>
      </p:sp>
      <p:sp>
        <p:nvSpPr>
          <p:cNvPr id="24" name="Text 22"/>
          <p:cNvSpPr/>
          <p:nvPr/>
        </p:nvSpPr>
        <p:spPr>
          <a:xfrm>
            <a:off x="3584448" y="3986784"/>
            <a:ext cx="7811719" cy="47548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No issues detected  ·  Last checked today, 09:45 AM</a:t>
            </a:r>
            <a:endParaRPr lang="en-US" sz="1100" dirty="0"/>
          </a:p>
        </p:txBody>
      </p:sp>
      <p:sp>
        <p:nvSpPr>
          <p:cNvPr id="25" name="Shape 23"/>
          <p:cNvSpPr/>
          <p:nvPr/>
        </p:nvSpPr>
        <p:spPr>
          <a:xfrm>
            <a:off x="566928" y="4553712"/>
            <a:ext cx="11057839" cy="475488"/>
          </a:xfrm>
          <a:prstGeom prst="roundRect">
            <a:avLst>
              <a:gd name="adj" fmla="val 17308"/>
            </a:avLst>
          </a:prstGeom>
          <a:solidFill>
            <a:srgbClr val="FEF4E4"/>
          </a:solidFill>
          <a:ln w="9525">
            <a:solidFill>
              <a:srgbClr val="F3DFB4"/>
            </a:solidFill>
            <a:prstDash val="solid"/>
          </a:ln>
        </p:spPr>
      </p:sp>
      <p:sp>
        <p:nvSpPr>
          <p:cNvPr id="26" name="Shape 24"/>
          <p:cNvSpPr/>
          <p:nvPr/>
        </p:nvSpPr>
        <p:spPr>
          <a:xfrm>
            <a:off x="786384" y="4690872"/>
            <a:ext cx="201168" cy="201168"/>
          </a:xfrm>
          <a:prstGeom prst="ellipse">
            <a:avLst/>
          </a:prstGeom>
          <a:solidFill>
            <a:srgbClr val="E07A1F"/>
          </a:solidFill>
          <a:ln w="12700">
            <a:solidFill>
              <a:srgbClr val="E07A1F"/>
            </a:solidFill>
            <a:prstDash val="solid"/>
          </a:ln>
        </p:spPr>
      </p:sp>
      <p:sp>
        <p:nvSpPr>
          <p:cNvPr id="27" name="Text 25"/>
          <p:cNvSpPr/>
          <p:nvPr/>
        </p:nvSpPr>
        <p:spPr>
          <a:xfrm>
            <a:off x="1133856" y="4553712"/>
            <a:ext cx="2377440" cy="475488"/>
          </a:xfrm>
          <a:prstGeom prst="rect">
            <a:avLst/>
          </a:prstGeom>
          <a:noFill/>
          <a:ln/>
        </p:spPr>
        <p:txBody>
          <a:bodyPr wrap="square" lIns="0" tIns="0" rIns="0" bIns="0" rtlCol="0" anchor="ctr"/>
          <a:lstStyle/>
          <a:p>
            <a:pPr marL="0" indent="0">
              <a:buNone/>
            </a:pPr>
            <a:r>
              <a:rPr lang="en-US" sz="1200" b="1" dirty="0">
                <a:solidFill>
                  <a:srgbClr val="E07A1F"/>
                </a:solidFill>
                <a:latin typeface="Calibri" pitchFamily="34" charset="0"/>
                <a:ea typeface="Calibri" pitchFamily="34" charset="-122"/>
                <a:cs typeface="Calibri" pitchFamily="34" charset="-120"/>
              </a:rPr>
              <a:t>Attention Required</a:t>
            </a:r>
            <a:endParaRPr lang="en-US" sz="1200" dirty="0"/>
          </a:p>
        </p:txBody>
      </p:sp>
      <p:sp>
        <p:nvSpPr>
          <p:cNvPr id="28" name="Text 26"/>
          <p:cNvSpPr/>
          <p:nvPr/>
        </p:nvSpPr>
        <p:spPr>
          <a:xfrm>
            <a:off x="3584448" y="4553712"/>
            <a:ext cx="7811719" cy="47548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12 duplicate companies found</a:t>
            </a:r>
            <a:endParaRPr lang="en-US" sz="1100" dirty="0"/>
          </a:p>
        </p:txBody>
      </p:sp>
      <p:sp>
        <p:nvSpPr>
          <p:cNvPr id="29" name="Shape 27"/>
          <p:cNvSpPr/>
          <p:nvPr/>
        </p:nvSpPr>
        <p:spPr>
          <a:xfrm>
            <a:off x="566928" y="5120640"/>
            <a:ext cx="11057839" cy="475488"/>
          </a:xfrm>
          <a:prstGeom prst="roundRect">
            <a:avLst>
              <a:gd name="adj" fmla="val 17308"/>
            </a:avLst>
          </a:prstGeom>
          <a:solidFill>
            <a:srgbClr val="FBEDED"/>
          </a:solidFill>
          <a:ln w="9525">
            <a:solidFill>
              <a:srgbClr val="F0C9C9"/>
            </a:solidFill>
            <a:prstDash val="solid"/>
          </a:ln>
        </p:spPr>
      </p:sp>
      <p:sp>
        <p:nvSpPr>
          <p:cNvPr id="30" name="Shape 28"/>
          <p:cNvSpPr/>
          <p:nvPr/>
        </p:nvSpPr>
        <p:spPr>
          <a:xfrm>
            <a:off x="786384" y="5257800"/>
            <a:ext cx="201168" cy="201168"/>
          </a:xfrm>
          <a:prstGeom prst="ellipse">
            <a:avLst/>
          </a:prstGeom>
          <a:solidFill>
            <a:srgbClr val="C62828"/>
          </a:solidFill>
          <a:ln w="12700">
            <a:solidFill>
              <a:srgbClr val="C62828"/>
            </a:solidFill>
            <a:prstDash val="solid"/>
          </a:ln>
        </p:spPr>
      </p:sp>
      <p:sp>
        <p:nvSpPr>
          <p:cNvPr id="31" name="Text 29"/>
          <p:cNvSpPr/>
          <p:nvPr/>
        </p:nvSpPr>
        <p:spPr>
          <a:xfrm>
            <a:off x="1133856" y="5120640"/>
            <a:ext cx="2377440" cy="475488"/>
          </a:xfrm>
          <a:prstGeom prst="rect">
            <a:avLst/>
          </a:prstGeom>
          <a:noFill/>
          <a:ln/>
        </p:spPr>
        <p:txBody>
          <a:bodyPr wrap="square" lIns="0" tIns="0" rIns="0" bIns="0"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Action Required</a:t>
            </a:r>
            <a:endParaRPr lang="en-US" sz="1200" dirty="0"/>
          </a:p>
        </p:txBody>
      </p:sp>
      <p:sp>
        <p:nvSpPr>
          <p:cNvPr id="32" name="Text 30"/>
          <p:cNvSpPr/>
          <p:nvPr/>
        </p:nvSpPr>
        <p:spPr>
          <a:xfrm>
            <a:off x="3584448" y="5120640"/>
            <a:ext cx="7811719" cy="47548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Database connection lost</a:t>
            </a:r>
            <a:endParaRPr lang="en-US" sz="1100" dirty="0"/>
          </a:p>
        </p:txBody>
      </p:sp>
      <p:sp>
        <p:nvSpPr>
          <p:cNvPr id="33" name="Text 31"/>
          <p:cNvSpPr/>
          <p:nvPr/>
        </p:nvSpPr>
        <p:spPr>
          <a:xfrm>
            <a:off x="566928" y="5669280"/>
            <a:ext cx="11057839" cy="329184"/>
          </a:xfrm>
          <a:prstGeom prst="rect">
            <a:avLst/>
          </a:prstGeom>
          <a:noFill/>
          <a:ln/>
        </p:spPr>
        <p:txBody>
          <a:bodyPr wrap="square" lIns="0" tIns="0" rIns="0" bIns="0" rtlCol="0" anchor="ctr"/>
          <a:lstStyle/>
          <a:p>
            <a:pPr marL="0" indent="0">
              <a:buNone/>
            </a:pPr>
            <a:r>
              <a:rPr lang="en-US" sz="1150" i="1" dirty="0">
                <a:solidFill>
                  <a:srgbClr val="7B8794"/>
                </a:solidFill>
                <a:latin typeface="Calibri" pitchFamily="34" charset="0"/>
                <a:ea typeface="Calibri" pitchFamily="34" charset="-122"/>
                <a:cs typeface="Calibri" pitchFamily="34" charset="-120"/>
              </a:rPr>
              <a:t>First five seconds: is everything healthy?   Next ten seconds: what needs my attention?   Then click into the section that matters.</a:t>
            </a:r>
            <a:endParaRPr lang="en-US" sz="1150" dirty="0"/>
          </a:p>
        </p:txBody>
      </p:sp>
      <p:pic>
        <p:nvPicPr>
          <p:cNvPr id="34" name="Picture 33">
            <a:extLst>
              <a:ext uri="{FF2B5EF4-FFF2-40B4-BE49-F238E27FC236}">
                <a16:creationId xmlns:a16="http://schemas.microsoft.com/office/drawing/2014/main" id="{66ADF0ED-1A58-0F88-EB1C-C3C934E2706D}"/>
              </a:ext>
            </a:extLst>
          </p:cNvPr>
          <p:cNvPicPr>
            <a:picLocks noChangeAspect="1"/>
          </p:cNvPicPr>
          <p:nvPr/>
        </p:nvPicPr>
        <p:blipFill>
          <a:blip r:embed="rId3"/>
          <a:stretch>
            <a:fillRect/>
          </a:stretch>
        </p:blipFill>
        <p:spPr>
          <a:xfrm>
            <a:off x="10505338" y="166891"/>
            <a:ext cx="1544421" cy="37260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10 — SYSTEM INFORMATION &amp; ADMINISTRATION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Data quality and maintenance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35</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DATA QUALITY MONITOR</a:t>
            </a:r>
            <a:endParaRPr lang="en-US" sz="950" dirty="0"/>
          </a:p>
        </p:txBody>
      </p:sp>
      <p:sp>
        <p:nvSpPr>
          <p:cNvPr id="9" name="Text 7"/>
          <p:cNvSpPr/>
          <p:nvPr/>
        </p:nvSpPr>
        <p:spPr>
          <a:xfrm>
            <a:off x="566928" y="1645920"/>
            <a:ext cx="2194560" cy="274320"/>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Metadata quality</a:t>
            </a:r>
            <a:endParaRPr lang="en-US" sz="1300" dirty="0"/>
          </a:p>
        </p:txBody>
      </p:sp>
      <p:sp>
        <p:nvSpPr>
          <p:cNvPr id="10" name="Shape 8"/>
          <p:cNvSpPr/>
          <p:nvPr/>
        </p:nvSpPr>
        <p:spPr>
          <a:xfrm>
            <a:off x="2852928" y="1673352"/>
            <a:ext cx="7498080" cy="219456"/>
          </a:xfrm>
          <a:prstGeom prst="roundRect">
            <a:avLst>
              <a:gd name="adj" fmla="val 208333"/>
            </a:avLst>
          </a:prstGeom>
          <a:solidFill>
            <a:srgbClr val="DDE5EE"/>
          </a:solidFill>
          <a:ln w="12700">
            <a:solidFill>
              <a:srgbClr val="DDE5EE"/>
            </a:solidFill>
            <a:prstDash val="solid"/>
          </a:ln>
        </p:spPr>
      </p:sp>
      <p:sp>
        <p:nvSpPr>
          <p:cNvPr id="11" name="Shape 9"/>
          <p:cNvSpPr/>
          <p:nvPr/>
        </p:nvSpPr>
        <p:spPr>
          <a:xfrm>
            <a:off x="2852928" y="1673352"/>
            <a:ext cx="6898234" cy="219456"/>
          </a:xfrm>
          <a:prstGeom prst="roundRect">
            <a:avLst>
              <a:gd name="adj" fmla="val 208333"/>
            </a:avLst>
          </a:prstGeom>
          <a:solidFill>
            <a:srgbClr val="2E7D32"/>
          </a:solidFill>
          <a:ln w="12700">
            <a:solidFill>
              <a:srgbClr val="2E7D32"/>
            </a:solidFill>
            <a:prstDash val="solid"/>
          </a:ln>
        </p:spPr>
      </p:sp>
      <p:sp>
        <p:nvSpPr>
          <p:cNvPr id="12" name="Text 10"/>
          <p:cNvSpPr/>
          <p:nvPr/>
        </p:nvSpPr>
        <p:spPr>
          <a:xfrm>
            <a:off x="9966960" y="1645920"/>
            <a:ext cx="1645920" cy="274320"/>
          </a:xfrm>
          <a:prstGeom prst="rect">
            <a:avLst/>
          </a:prstGeom>
          <a:noFill/>
          <a:ln/>
        </p:spPr>
        <p:txBody>
          <a:bodyPr wrap="square" lIns="0" tIns="0" rIns="0" bIns="0" rtlCol="0" anchor="ctr"/>
          <a:lstStyle/>
          <a:p>
            <a:pPr marL="0" indent="0" algn="r">
              <a:buNone/>
            </a:pPr>
            <a:r>
              <a:rPr lang="en-US" sz="1500" b="1" dirty="0">
                <a:solidFill>
                  <a:srgbClr val="2E7D32"/>
                </a:solidFill>
                <a:latin typeface="Calibri" pitchFamily="34" charset="0"/>
                <a:ea typeface="Calibri" pitchFamily="34" charset="-122"/>
                <a:cs typeface="Calibri" pitchFamily="34" charset="-120"/>
              </a:rPr>
              <a:t>92%</a:t>
            </a:r>
            <a:endParaRPr lang="en-US" sz="1500" dirty="0"/>
          </a:p>
        </p:txBody>
      </p:sp>
      <p:sp>
        <p:nvSpPr>
          <p:cNvPr id="13" name="Shape 11"/>
          <p:cNvSpPr/>
          <p:nvPr/>
        </p:nvSpPr>
        <p:spPr>
          <a:xfrm>
            <a:off x="566928"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Text 12"/>
          <p:cNvSpPr/>
          <p:nvPr/>
        </p:nvSpPr>
        <p:spPr>
          <a:xfrm>
            <a:off x="566928" y="2240280"/>
            <a:ext cx="2627300" cy="475488"/>
          </a:xfrm>
          <a:prstGeom prst="rect">
            <a:avLst/>
          </a:prstGeom>
          <a:noFill/>
          <a:ln/>
        </p:spPr>
        <p:txBody>
          <a:bodyPr wrap="square" lIns="0" tIns="0" rIns="0" bIns="0" rtlCol="0" anchor="ctr"/>
          <a:lstStyle/>
          <a:p>
            <a:pPr marL="0" indent="0" algn="ctr">
              <a:buNone/>
            </a:pPr>
            <a:r>
              <a:rPr lang="en-US" sz="2800" b="1" dirty="0">
                <a:solidFill>
                  <a:srgbClr val="B26A00"/>
                </a:solidFill>
                <a:latin typeface="Calibri" pitchFamily="34" charset="0"/>
                <a:ea typeface="Calibri" pitchFamily="34" charset="-122"/>
                <a:cs typeface="Calibri" pitchFamily="34" charset="-120"/>
              </a:rPr>
              <a:t>12</a:t>
            </a:r>
            <a:endParaRPr lang="en-US" sz="2800" dirty="0"/>
          </a:p>
        </p:txBody>
      </p:sp>
      <p:sp>
        <p:nvSpPr>
          <p:cNvPr id="15" name="Text 13"/>
          <p:cNvSpPr/>
          <p:nvPr/>
        </p:nvSpPr>
        <p:spPr>
          <a:xfrm>
            <a:off x="621792"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Duplicate companies</a:t>
            </a:r>
            <a:endParaRPr lang="en-US" sz="950" dirty="0"/>
          </a:p>
        </p:txBody>
      </p:sp>
      <p:sp>
        <p:nvSpPr>
          <p:cNvPr id="16" name="Shape 14"/>
          <p:cNvSpPr/>
          <p:nvPr/>
        </p:nvSpPr>
        <p:spPr>
          <a:xfrm>
            <a:off x="3377108"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Text 15"/>
          <p:cNvSpPr/>
          <p:nvPr/>
        </p:nvSpPr>
        <p:spPr>
          <a:xfrm>
            <a:off x="3377108" y="2240280"/>
            <a:ext cx="2627300" cy="475488"/>
          </a:xfrm>
          <a:prstGeom prst="rect">
            <a:avLst/>
          </a:prstGeom>
          <a:noFill/>
          <a:ln/>
        </p:spPr>
        <p:txBody>
          <a:bodyPr wrap="square" lIns="0" tIns="0" rIns="0" bIns="0" rtlCol="0" anchor="ctr"/>
          <a:lstStyle/>
          <a:p>
            <a:pPr marL="0" indent="0" algn="ctr">
              <a:buNone/>
            </a:pPr>
            <a:r>
              <a:rPr lang="en-US" sz="2800" b="1" dirty="0">
                <a:solidFill>
                  <a:srgbClr val="B26A00"/>
                </a:solidFill>
                <a:latin typeface="Calibri" pitchFamily="34" charset="0"/>
                <a:ea typeface="Calibri" pitchFamily="34" charset="-122"/>
                <a:cs typeface="Calibri" pitchFamily="34" charset="-120"/>
              </a:rPr>
              <a:t>28</a:t>
            </a:r>
            <a:endParaRPr lang="en-US" sz="2800" dirty="0"/>
          </a:p>
        </p:txBody>
      </p:sp>
      <p:sp>
        <p:nvSpPr>
          <p:cNvPr id="18" name="Text 16"/>
          <p:cNvSpPr/>
          <p:nvPr/>
        </p:nvSpPr>
        <p:spPr>
          <a:xfrm>
            <a:off x="3431972"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Missing email</a:t>
            </a:r>
            <a:endParaRPr lang="en-US" sz="950" dirty="0"/>
          </a:p>
        </p:txBody>
      </p:sp>
      <p:sp>
        <p:nvSpPr>
          <p:cNvPr id="19" name="Shape 17"/>
          <p:cNvSpPr/>
          <p:nvPr/>
        </p:nvSpPr>
        <p:spPr>
          <a:xfrm>
            <a:off x="6187288"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Text 18"/>
          <p:cNvSpPr/>
          <p:nvPr/>
        </p:nvSpPr>
        <p:spPr>
          <a:xfrm>
            <a:off x="6187288" y="2240280"/>
            <a:ext cx="2627300" cy="475488"/>
          </a:xfrm>
          <a:prstGeom prst="rect">
            <a:avLst/>
          </a:prstGeom>
          <a:noFill/>
          <a:ln/>
        </p:spPr>
        <p:txBody>
          <a:bodyPr wrap="square" lIns="0" tIns="0" rIns="0" bIns="0" rtlCol="0" anchor="ctr"/>
          <a:lstStyle/>
          <a:p>
            <a:pPr marL="0" indent="0" algn="ctr">
              <a:buNone/>
            </a:pPr>
            <a:r>
              <a:rPr lang="en-US" sz="2800" b="1" dirty="0">
                <a:solidFill>
                  <a:srgbClr val="B26A00"/>
                </a:solidFill>
                <a:latin typeface="Calibri" pitchFamily="34" charset="0"/>
                <a:ea typeface="Calibri" pitchFamily="34" charset="-122"/>
                <a:cs typeface="Calibri" pitchFamily="34" charset="-120"/>
              </a:rPr>
              <a:t>19</a:t>
            </a:r>
            <a:endParaRPr lang="en-US" sz="2800" dirty="0"/>
          </a:p>
        </p:txBody>
      </p:sp>
      <p:sp>
        <p:nvSpPr>
          <p:cNvPr id="21" name="Text 19"/>
          <p:cNvSpPr/>
          <p:nvPr/>
        </p:nvSpPr>
        <p:spPr>
          <a:xfrm>
            <a:off x="6242152"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Missing mobile</a:t>
            </a:r>
            <a:endParaRPr lang="en-US" sz="950" dirty="0"/>
          </a:p>
        </p:txBody>
      </p:sp>
      <p:sp>
        <p:nvSpPr>
          <p:cNvPr id="22" name="Shape 20"/>
          <p:cNvSpPr/>
          <p:nvPr/>
        </p:nvSpPr>
        <p:spPr>
          <a:xfrm>
            <a:off x="8997467"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3" name="Text 21"/>
          <p:cNvSpPr/>
          <p:nvPr/>
        </p:nvSpPr>
        <p:spPr>
          <a:xfrm>
            <a:off x="8997467" y="2240280"/>
            <a:ext cx="2627300" cy="475488"/>
          </a:xfrm>
          <a:prstGeom prst="rect">
            <a:avLst/>
          </a:prstGeom>
          <a:noFill/>
          <a:ln/>
        </p:spPr>
        <p:txBody>
          <a:bodyPr wrap="square" lIns="0" tIns="0" rIns="0" bIns="0" rtlCol="0" anchor="ctr"/>
          <a:lstStyle/>
          <a:p>
            <a:pPr marL="0" indent="0" algn="ctr">
              <a:buNone/>
            </a:pPr>
            <a:r>
              <a:rPr lang="en-US" sz="2800" b="1" dirty="0">
                <a:solidFill>
                  <a:srgbClr val="C62828"/>
                </a:solidFill>
                <a:latin typeface="Calibri" pitchFamily="34" charset="0"/>
                <a:ea typeface="Calibri" pitchFamily="34" charset="-122"/>
                <a:cs typeface="Calibri" pitchFamily="34" charset="-120"/>
              </a:rPr>
              <a:t>5</a:t>
            </a:r>
            <a:endParaRPr lang="en-US" sz="2800" dirty="0"/>
          </a:p>
        </p:txBody>
      </p:sp>
      <p:sp>
        <p:nvSpPr>
          <p:cNvPr id="24" name="Text 22"/>
          <p:cNvSpPr/>
          <p:nvPr/>
        </p:nvSpPr>
        <p:spPr>
          <a:xfrm>
            <a:off x="9052331"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Companies without an HR contact</a:t>
            </a:r>
            <a:endParaRPr lang="en-US" sz="950" dirty="0"/>
          </a:p>
        </p:txBody>
      </p:sp>
      <p:sp>
        <p:nvSpPr>
          <p:cNvPr id="25" name="Text 23"/>
          <p:cNvSpPr/>
          <p:nvPr/>
        </p:nvSpPr>
        <p:spPr>
          <a:xfrm>
            <a:off x="566928" y="33101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ORGANIZATION SNAPSHOT</a:t>
            </a:r>
            <a:endParaRPr lang="en-US" sz="950" dirty="0"/>
          </a:p>
        </p:txBody>
      </p:sp>
      <p:sp>
        <p:nvSpPr>
          <p:cNvPr id="26" name="Shape 24"/>
          <p:cNvSpPr/>
          <p:nvPr/>
        </p:nvSpPr>
        <p:spPr>
          <a:xfrm>
            <a:off x="566928"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Text 25"/>
          <p:cNvSpPr/>
          <p:nvPr/>
        </p:nvSpPr>
        <p:spPr>
          <a:xfrm>
            <a:off x="566928" y="3685032"/>
            <a:ext cx="1690573" cy="475488"/>
          </a:xfrm>
          <a:prstGeom prst="rect">
            <a:avLst/>
          </a:prstGeom>
          <a:noFill/>
          <a:ln/>
        </p:spPr>
        <p:txBody>
          <a:bodyPr wrap="square" lIns="0" tIns="0" rIns="0" bIns="0" rtlCol="0" anchor="ctr"/>
          <a:lstStyle/>
          <a:p>
            <a:pPr marL="0" indent="0" algn="ctr">
              <a:buNone/>
            </a:pPr>
            <a:r>
              <a:rPr lang="en-US" sz="2200" b="1" dirty="0">
                <a:solidFill>
                  <a:srgbClr val="0B2E59"/>
                </a:solidFill>
                <a:latin typeface="Calibri" pitchFamily="34" charset="0"/>
                <a:ea typeface="Calibri" pitchFamily="34" charset="-122"/>
                <a:cs typeface="Calibri" pitchFamily="34" charset="-120"/>
              </a:rPr>
              <a:t>20</a:t>
            </a:r>
            <a:endParaRPr lang="en-US" sz="2200" dirty="0"/>
          </a:p>
        </p:txBody>
      </p:sp>
      <p:sp>
        <p:nvSpPr>
          <p:cNvPr id="28" name="Text 26"/>
          <p:cNvSpPr/>
          <p:nvPr/>
        </p:nvSpPr>
        <p:spPr>
          <a:xfrm>
            <a:off x="621792"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Coordinators</a:t>
            </a:r>
            <a:endParaRPr lang="en-US" sz="950" dirty="0"/>
          </a:p>
        </p:txBody>
      </p:sp>
      <p:sp>
        <p:nvSpPr>
          <p:cNvPr id="29" name="Shape 27"/>
          <p:cNvSpPr/>
          <p:nvPr/>
        </p:nvSpPr>
        <p:spPr>
          <a:xfrm>
            <a:off x="2440381"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Text 28"/>
          <p:cNvSpPr/>
          <p:nvPr/>
        </p:nvSpPr>
        <p:spPr>
          <a:xfrm>
            <a:off x="2440381" y="3685032"/>
            <a:ext cx="1690573" cy="475488"/>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18</a:t>
            </a:r>
            <a:endParaRPr lang="en-US" sz="2200" dirty="0"/>
          </a:p>
        </p:txBody>
      </p:sp>
      <p:sp>
        <p:nvSpPr>
          <p:cNvPr id="31" name="Text 29"/>
          <p:cNvSpPr/>
          <p:nvPr/>
        </p:nvSpPr>
        <p:spPr>
          <a:xfrm>
            <a:off x="2495245"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Active today</a:t>
            </a:r>
            <a:endParaRPr lang="en-US" sz="950" dirty="0"/>
          </a:p>
        </p:txBody>
      </p:sp>
      <p:sp>
        <p:nvSpPr>
          <p:cNvPr id="32" name="Shape 30"/>
          <p:cNvSpPr/>
          <p:nvPr/>
        </p:nvSpPr>
        <p:spPr>
          <a:xfrm>
            <a:off x="4313834"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3" name="Text 31"/>
          <p:cNvSpPr/>
          <p:nvPr/>
        </p:nvSpPr>
        <p:spPr>
          <a:xfrm>
            <a:off x="4313834" y="3685032"/>
            <a:ext cx="1690573" cy="475488"/>
          </a:xfrm>
          <a:prstGeom prst="rect">
            <a:avLst/>
          </a:prstGeom>
          <a:noFill/>
          <a:ln/>
        </p:spPr>
        <p:txBody>
          <a:bodyPr wrap="square" lIns="0" tIns="0" rIns="0" bIns="0" rtlCol="0" anchor="ctr"/>
          <a:lstStyle/>
          <a:p>
            <a:pPr marL="0" indent="0" algn="ctr">
              <a:buNone/>
            </a:pPr>
            <a:r>
              <a:rPr lang="en-US" sz="2200" b="1" dirty="0">
                <a:solidFill>
                  <a:srgbClr val="B26A00"/>
                </a:solidFill>
                <a:latin typeface="Calibri" pitchFamily="34" charset="0"/>
                <a:ea typeface="Calibri" pitchFamily="34" charset="-122"/>
                <a:cs typeface="Calibri" pitchFamily="34" charset="-120"/>
              </a:rPr>
              <a:t>1</a:t>
            </a:r>
            <a:endParaRPr lang="en-US" sz="2200" dirty="0"/>
          </a:p>
        </p:txBody>
      </p:sp>
      <p:sp>
        <p:nvSpPr>
          <p:cNvPr id="34" name="Text 32"/>
          <p:cNvSpPr/>
          <p:nvPr/>
        </p:nvSpPr>
        <p:spPr>
          <a:xfrm>
            <a:off x="4368698"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Partial working</a:t>
            </a:r>
            <a:endParaRPr lang="en-US" sz="950" dirty="0"/>
          </a:p>
        </p:txBody>
      </p:sp>
      <p:sp>
        <p:nvSpPr>
          <p:cNvPr id="35" name="Shape 33"/>
          <p:cNvSpPr/>
          <p:nvPr/>
        </p:nvSpPr>
        <p:spPr>
          <a:xfrm>
            <a:off x="6187288"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6" name="Text 34"/>
          <p:cNvSpPr/>
          <p:nvPr/>
        </p:nvSpPr>
        <p:spPr>
          <a:xfrm>
            <a:off x="6187288" y="3685032"/>
            <a:ext cx="1690573" cy="475488"/>
          </a:xfrm>
          <a:prstGeom prst="rect">
            <a:avLst/>
          </a:prstGeom>
          <a:noFill/>
          <a:ln/>
        </p:spPr>
        <p:txBody>
          <a:bodyPr wrap="square" lIns="0" tIns="0" rIns="0" bIns="0" rtlCol="0" anchor="ctr"/>
          <a:lstStyle/>
          <a:p>
            <a:pPr marL="0" indent="0" algn="ctr">
              <a:buNone/>
            </a:pPr>
            <a:r>
              <a:rPr lang="en-US" sz="2200" b="1" dirty="0">
                <a:solidFill>
                  <a:srgbClr val="175496"/>
                </a:solidFill>
                <a:latin typeface="Calibri" pitchFamily="34" charset="0"/>
                <a:ea typeface="Calibri" pitchFamily="34" charset="-122"/>
                <a:cs typeface="Calibri" pitchFamily="34" charset="-120"/>
              </a:rPr>
              <a:t>1</a:t>
            </a:r>
            <a:endParaRPr lang="en-US" sz="2200" dirty="0"/>
          </a:p>
        </p:txBody>
      </p:sp>
      <p:sp>
        <p:nvSpPr>
          <p:cNvPr id="37" name="Text 35"/>
          <p:cNvSpPr/>
          <p:nvPr/>
        </p:nvSpPr>
        <p:spPr>
          <a:xfrm>
            <a:off x="6242152"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On leave</a:t>
            </a:r>
            <a:endParaRPr lang="en-US" sz="950" dirty="0"/>
          </a:p>
        </p:txBody>
      </p:sp>
      <p:sp>
        <p:nvSpPr>
          <p:cNvPr id="38" name="Shape 36"/>
          <p:cNvSpPr/>
          <p:nvPr/>
        </p:nvSpPr>
        <p:spPr>
          <a:xfrm>
            <a:off x="8060741"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9" name="Text 37"/>
          <p:cNvSpPr/>
          <p:nvPr/>
        </p:nvSpPr>
        <p:spPr>
          <a:xfrm>
            <a:off x="8060741" y="3685032"/>
            <a:ext cx="1690573" cy="475488"/>
          </a:xfrm>
          <a:prstGeom prst="rect">
            <a:avLst/>
          </a:prstGeom>
          <a:noFill/>
          <a:ln/>
        </p:spPr>
        <p:txBody>
          <a:bodyPr wrap="square" lIns="0" tIns="0" rIns="0" bIns="0" rtlCol="0" anchor="ctr"/>
          <a:lstStyle/>
          <a:p>
            <a:pPr marL="0" indent="0" algn="ctr">
              <a:buNone/>
            </a:pPr>
            <a:r>
              <a:rPr lang="en-US" sz="2200" b="1" dirty="0">
                <a:solidFill>
                  <a:srgbClr val="0B2E59"/>
                </a:solidFill>
                <a:latin typeface="Calibri" pitchFamily="34" charset="0"/>
                <a:ea typeface="Calibri" pitchFamily="34" charset="-122"/>
                <a:cs typeface="Calibri" pitchFamily="34" charset="-120"/>
              </a:rPr>
              <a:t>0</a:t>
            </a:r>
            <a:endParaRPr lang="en-US" sz="2200" dirty="0"/>
          </a:p>
        </p:txBody>
      </p:sp>
      <p:sp>
        <p:nvSpPr>
          <p:cNvPr id="40" name="Text 38"/>
          <p:cNvSpPr/>
          <p:nvPr/>
        </p:nvSpPr>
        <p:spPr>
          <a:xfrm>
            <a:off x="8115605"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Blocked</a:t>
            </a:r>
            <a:endParaRPr lang="en-US" sz="950" dirty="0"/>
          </a:p>
        </p:txBody>
      </p:sp>
      <p:sp>
        <p:nvSpPr>
          <p:cNvPr id="41" name="Shape 39"/>
          <p:cNvSpPr/>
          <p:nvPr/>
        </p:nvSpPr>
        <p:spPr>
          <a:xfrm>
            <a:off x="9934194"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Text 40"/>
          <p:cNvSpPr/>
          <p:nvPr/>
        </p:nvSpPr>
        <p:spPr>
          <a:xfrm>
            <a:off x="9934194" y="3685032"/>
            <a:ext cx="1690573" cy="475488"/>
          </a:xfrm>
          <a:prstGeom prst="rect">
            <a:avLst/>
          </a:prstGeom>
          <a:noFill/>
          <a:ln/>
        </p:spPr>
        <p:txBody>
          <a:bodyPr wrap="square" lIns="0" tIns="0" rIns="0" bIns="0" rtlCol="0" anchor="ctr"/>
          <a:lstStyle/>
          <a:p>
            <a:pPr marL="0" indent="0" algn="ctr">
              <a:buNone/>
            </a:pPr>
            <a:r>
              <a:rPr lang="en-US" sz="2200" b="1" dirty="0">
                <a:solidFill>
                  <a:srgbClr val="6B7A8C"/>
                </a:solidFill>
                <a:latin typeface="Calibri" pitchFamily="34" charset="0"/>
                <a:ea typeface="Calibri" pitchFamily="34" charset="-122"/>
                <a:cs typeface="Calibri" pitchFamily="34" charset="-120"/>
              </a:rPr>
              <a:t>2</a:t>
            </a:r>
            <a:endParaRPr lang="en-US" sz="2200" dirty="0"/>
          </a:p>
        </p:txBody>
      </p:sp>
      <p:sp>
        <p:nvSpPr>
          <p:cNvPr id="43" name="Text 41"/>
          <p:cNvSpPr/>
          <p:nvPr/>
        </p:nvSpPr>
        <p:spPr>
          <a:xfrm>
            <a:off x="9989058"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Deactivated</a:t>
            </a:r>
            <a:endParaRPr lang="en-US" sz="950" dirty="0"/>
          </a:p>
        </p:txBody>
      </p:sp>
      <p:sp>
        <p:nvSpPr>
          <p:cNvPr id="44" name="Shape 42"/>
          <p:cNvSpPr/>
          <p:nvPr/>
        </p:nvSpPr>
        <p:spPr>
          <a:xfrm>
            <a:off x="566928" y="4663440"/>
            <a:ext cx="5410048"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5" name="Shape 43"/>
          <p:cNvSpPr/>
          <p:nvPr/>
        </p:nvSpPr>
        <p:spPr>
          <a:xfrm>
            <a:off x="786384" y="4882896"/>
            <a:ext cx="365760" cy="365760"/>
          </a:xfrm>
          <a:prstGeom prst="ellipse">
            <a:avLst/>
          </a:prstGeom>
          <a:solidFill>
            <a:srgbClr val="0B2E59"/>
          </a:solidFill>
          <a:ln w="12700">
            <a:solidFill>
              <a:srgbClr val="0B2E59"/>
            </a:solidFill>
            <a:prstDash val="solid"/>
          </a:ln>
        </p:spPr>
      </p:sp>
      <p:pic>
        <p:nvPicPr>
          <p:cNvPr id="46" name="Image 0" descr="preencoded.png"/>
          <p:cNvPicPr>
            <a:picLocks noChangeAspect="1"/>
          </p:cNvPicPr>
          <p:nvPr/>
        </p:nvPicPr>
        <p:blipFill>
          <a:blip r:embed="rId3"/>
          <a:stretch>
            <a:fillRect/>
          </a:stretch>
        </p:blipFill>
        <p:spPr>
          <a:xfrm>
            <a:off x="877824" y="4974336"/>
            <a:ext cx="182880" cy="182880"/>
          </a:xfrm>
          <a:prstGeom prst="rect">
            <a:avLst/>
          </a:prstGeom>
        </p:spPr>
      </p:pic>
      <p:sp>
        <p:nvSpPr>
          <p:cNvPr id="47" name="Text 44"/>
          <p:cNvSpPr/>
          <p:nvPr/>
        </p:nvSpPr>
        <p:spPr>
          <a:xfrm>
            <a:off x="1280160" y="488289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Version and storage</a:t>
            </a:r>
            <a:endParaRPr lang="en-US" sz="1350" dirty="0"/>
          </a:p>
        </p:txBody>
      </p:sp>
      <p:sp>
        <p:nvSpPr>
          <p:cNvPr id="48" name="Text 45"/>
          <p:cNvSpPr/>
          <p:nvPr/>
        </p:nvSpPr>
        <p:spPr>
          <a:xfrm>
            <a:off x="786384" y="5294376"/>
            <a:ext cx="4971136" cy="4754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Version 1.0.2 · Production · released 24 July 2026 · Infoziant.   Database 420 MB · 1,480 reports · 18,650 documents.</a:t>
            </a:r>
            <a:endParaRPr lang="en-US" sz="1000" dirty="0"/>
          </a:p>
        </p:txBody>
      </p:sp>
      <p:sp>
        <p:nvSpPr>
          <p:cNvPr id="49" name="Shape 46"/>
          <p:cNvSpPr/>
          <p:nvPr/>
        </p:nvSpPr>
        <p:spPr>
          <a:xfrm>
            <a:off x="6214720" y="4663440"/>
            <a:ext cx="5410048"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0" name="Shape 47"/>
          <p:cNvSpPr/>
          <p:nvPr/>
        </p:nvSpPr>
        <p:spPr>
          <a:xfrm>
            <a:off x="6434176" y="4882896"/>
            <a:ext cx="365760" cy="365760"/>
          </a:xfrm>
          <a:prstGeom prst="ellipse">
            <a:avLst/>
          </a:prstGeom>
          <a:solidFill>
            <a:srgbClr val="F59E0B"/>
          </a:solidFill>
          <a:ln w="12700">
            <a:solidFill>
              <a:srgbClr val="F59E0B"/>
            </a:solidFill>
            <a:prstDash val="solid"/>
          </a:ln>
        </p:spPr>
      </p:sp>
      <p:pic>
        <p:nvPicPr>
          <p:cNvPr id="51" name="Image 1" descr="preencoded.png"/>
          <p:cNvPicPr>
            <a:picLocks noChangeAspect="1"/>
          </p:cNvPicPr>
          <p:nvPr/>
        </p:nvPicPr>
        <p:blipFill>
          <a:blip r:embed="rId4"/>
          <a:stretch>
            <a:fillRect/>
          </a:stretch>
        </p:blipFill>
        <p:spPr>
          <a:xfrm>
            <a:off x="6525616" y="4974336"/>
            <a:ext cx="182880" cy="182880"/>
          </a:xfrm>
          <a:prstGeom prst="rect">
            <a:avLst/>
          </a:prstGeom>
        </p:spPr>
      </p:pic>
      <p:sp>
        <p:nvSpPr>
          <p:cNvPr id="52" name="Text 48"/>
          <p:cNvSpPr/>
          <p:nvPr/>
        </p:nvSpPr>
        <p:spPr>
          <a:xfrm>
            <a:off x="6927952" y="488289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Maintenance mode</a:t>
            </a:r>
            <a:endParaRPr lang="en-US" sz="1350" dirty="0"/>
          </a:p>
        </p:txBody>
      </p:sp>
      <p:sp>
        <p:nvSpPr>
          <p:cNvPr id="53" name="Text 49"/>
          <p:cNvSpPr/>
          <p:nvPr/>
        </p:nvSpPr>
        <p:spPr>
          <a:xfrm>
            <a:off x="6434176" y="5294376"/>
            <a:ext cx="4971136" cy="4754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Switch it on, choose who is affected, give a reason and a window. Those users see “System Under Maintenance — expected completion 8:00 PM” instead of an error.</a:t>
            </a:r>
            <a:endParaRPr lang="en-US" sz="1000" dirty="0"/>
          </a:p>
        </p:txBody>
      </p:sp>
      <p:pic>
        <p:nvPicPr>
          <p:cNvPr id="54" name="Picture 53">
            <a:extLst>
              <a:ext uri="{FF2B5EF4-FFF2-40B4-BE49-F238E27FC236}">
                <a16:creationId xmlns:a16="http://schemas.microsoft.com/office/drawing/2014/main" id="{01C5D89A-5111-4DB6-6908-C554CFBC998A}"/>
              </a:ext>
            </a:extLst>
          </p:cNvPr>
          <p:cNvPicPr>
            <a:picLocks noChangeAspect="1"/>
          </p:cNvPicPr>
          <p:nvPr/>
        </p:nvPicPr>
        <p:blipFill>
          <a:blip r:embed="rId5"/>
          <a:stretch>
            <a:fillRect/>
          </a:stretch>
        </p:blipFill>
        <p:spPr>
          <a:xfrm>
            <a:off x="10505338" y="166891"/>
            <a:ext cx="1544421" cy="37260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HOW THE DESIGN ACTUALLY HAPPENED</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Decisions we changed our mind about</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36</a:t>
            </a:r>
            <a:endParaRPr lang="en-US" sz="950" dirty="0"/>
          </a:p>
        </p:txBody>
      </p:sp>
      <p:sp>
        <p:nvSpPr>
          <p:cNvPr id="6" name="Shape 4"/>
          <p:cNvSpPr/>
          <p:nvPr/>
        </p:nvSpPr>
        <p:spPr>
          <a:xfrm>
            <a:off x="566928"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“Response 2” left the Daily Tracker</a:t>
            </a:r>
            <a:endParaRPr lang="en-US" sz="1350" dirty="0"/>
          </a:p>
        </p:txBody>
      </p:sp>
      <p:sp>
        <p:nvSpPr>
          <p:cNvPr id="10" name="Text 7"/>
          <p:cNvSpPr/>
          <p:nvPr/>
        </p:nvSpPr>
        <p:spPr>
          <a:xfrm>
            <a:off x="786384"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It became the Weekly Tracker's Current Stage. The Daily Tracker records activity; the Weekly Tracker owns the lifecycle.</a:t>
            </a:r>
            <a:endParaRPr lang="en-US" sz="1050" dirty="0"/>
          </a:p>
        </p:txBody>
      </p:sp>
      <p:sp>
        <p:nvSpPr>
          <p:cNvPr id="11" name="Shape 8"/>
          <p:cNvSpPr/>
          <p:nvPr/>
        </p:nvSpPr>
        <p:spPr>
          <a:xfrm>
            <a:off x="4332122"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700784"/>
            <a:ext cx="420624" cy="420624"/>
          </a:xfrm>
          <a:prstGeom prst="ellipse">
            <a:avLst/>
          </a:prstGeom>
          <a:solidFill>
            <a:srgbClr val="C62828"/>
          </a:solidFill>
          <a:ln w="12700">
            <a:solidFill>
              <a:srgbClr val="C62828"/>
            </a:solidFill>
            <a:prstDash val="solid"/>
          </a:ln>
        </p:spPr>
      </p:sp>
      <p:pic>
        <p:nvPicPr>
          <p:cNvPr id="13" name="Image 1" descr="preencoded.png"/>
          <p:cNvPicPr>
            <a:picLocks noChangeAspect="1"/>
          </p:cNvPicPr>
          <p:nvPr/>
        </p:nvPicPr>
        <p:blipFill>
          <a:blip r:embed="rId4"/>
          <a:stretch>
            <a:fillRect/>
          </a:stretch>
        </p:blipFill>
        <p:spPr>
          <a:xfrm>
            <a:off x="4656734" y="1805940"/>
            <a:ext cx="210312" cy="210312"/>
          </a:xfrm>
          <a:prstGeom prst="rect">
            <a:avLst/>
          </a:prstGeom>
        </p:spPr>
      </p:pic>
      <p:sp>
        <p:nvSpPr>
          <p:cNvPr id="14" name="Text 10"/>
          <p:cNvSpPr/>
          <p:nvPr/>
        </p:nvSpPr>
        <p:spPr>
          <a:xfrm>
            <a:off x="4551578"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Ctrl+K command palette — rejected</a:t>
            </a:r>
            <a:endParaRPr lang="en-US" sz="1350" dirty="0"/>
          </a:p>
        </p:txBody>
      </p:sp>
      <p:sp>
        <p:nvSpPr>
          <p:cNvPr id="15" name="Text 11"/>
          <p:cNvSpPr/>
          <p:nvPr/>
        </p:nvSpPr>
        <p:spPr>
          <a:xfrm>
            <a:off x="4551578"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team opens the same eight modules every day. A well-organised sidebar beats recalling search terms.</a:t>
            </a:r>
            <a:endParaRPr lang="en-US" sz="1050" dirty="0"/>
          </a:p>
        </p:txBody>
      </p:sp>
      <p:sp>
        <p:nvSpPr>
          <p:cNvPr id="16" name="Shape 12"/>
          <p:cNvSpPr/>
          <p:nvPr/>
        </p:nvSpPr>
        <p:spPr>
          <a:xfrm>
            <a:off x="8097317"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700784"/>
            <a:ext cx="420624" cy="420624"/>
          </a:xfrm>
          <a:prstGeom prst="ellipse">
            <a:avLst/>
          </a:prstGeom>
          <a:solidFill>
            <a:srgbClr val="C62828"/>
          </a:solidFill>
          <a:ln w="12700">
            <a:solidFill>
              <a:srgbClr val="C62828"/>
            </a:solidFill>
            <a:prstDash val="solid"/>
          </a:ln>
        </p:spPr>
      </p:sp>
      <p:pic>
        <p:nvPicPr>
          <p:cNvPr id="18" name="Image 2" descr="preencoded.png"/>
          <p:cNvPicPr>
            <a:picLocks noChangeAspect="1"/>
          </p:cNvPicPr>
          <p:nvPr/>
        </p:nvPicPr>
        <p:blipFill>
          <a:blip r:embed="rId5"/>
          <a:stretch>
            <a:fillRect/>
          </a:stretch>
        </p:blipFill>
        <p:spPr>
          <a:xfrm>
            <a:off x="8421929" y="1805940"/>
            <a:ext cx="210312" cy="210312"/>
          </a:xfrm>
          <a:prstGeom prst="rect">
            <a:avLst/>
          </a:prstGeom>
        </p:spPr>
      </p:pic>
      <p:sp>
        <p:nvSpPr>
          <p:cNvPr id="19" name="Text 14"/>
          <p:cNvSpPr/>
          <p:nvPr/>
        </p:nvSpPr>
        <p:spPr>
          <a:xfrm>
            <a:off x="8316773"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Grouping search by company — rejected</a:t>
            </a:r>
            <a:endParaRPr lang="en-US" sz="1350" dirty="0"/>
          </a:p>
        </p:txBody>
      </p:sp>
      <p:sp>
        <p:nvSpPr>
          <p:cNvPr id="20" name="Text 15"/>
          <p:cNvSpPr/>
          <p:nvPr/>
        </p:nvSpPr>
        <p:spPr>
          <a:xfrm>
            <a:off x="8316773"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One row per contact instead. Coordinators call people, not companies, and grouping added a click to every call.</a:t>
            </a:r>
            <a:endParaRPr lang="en-US" sz="1050" dirty="0"/>
          </a:p>
        </p:txBody>
      </p:sp>
      <p:sp>
        <p:nvSpPr>
          <p:cNvPr id="21" name="Shape 16"/>
          <p:cNvSpPr/>
          <p:nvPr/>
        </p:nvSpPr>
        <p:spPr>
          <a:xfrm>
            <a:off x="566928"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4005072"/>
            <a:ext cx="420624" cy="420624"/>
          </a:xfrm>
          <a:prstGeom prst="ellipse">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6"/>
          <a:stretch>
            <a:fillRect/>
          </a:stretch>
        </p:blipFill>
        <p:spPr>
          <a:xfrm>
            <a:off x="891540" y="4110228"/>
            <a:ext cx="210312" cy="210312"/>
          </a:xfrm>
          <a:prstGeom prst="rect">
            <a:avLst/>
          </a:prstGeom>
        </p:spPr>
      </p:pic>
      <p:sp>
        <p:nvSpPr>
          <p:cNvPr id="24" name="Text 18"/>
          <p:cNvSpPr/>
          <p:nvPr/>
        </p:nvSpPr>
        <p:spPr>
          <a:xfrm>
            <a:off x="786384"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Delete became a Recycle Bin</a:t>
            </a:r>
            <a:endParaRPr lang="en-US" sz="1350" dirty="0"/>
          </a:p>
        </p:txBody>
      </p:sp>
      <p:sp>
        <p:nvSpPr>
          <p:cNvPr id="25" name="Text 19"/>
          <p:cNvSpPr/>
          <p:nvPr/>
        </p:nvSpPr>
        <p:spPr>
          <a:xfrm>
            <a:off x="786384"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Records are recoverable, restorable by a Team Leader or Administrator, and the deletion is notified by email.</a:t>
            </a:r>
            <a:endParaRPr lang="en-US" sz="1050" dirty="0"/>
          </a:p>
        </p:txBody>
      </p:sp>
      <p:sp>
        <p:nvSpPr>
          <p:cNvPr id="26" name="Shape 20"/>
          <p:cNvSpPr/>
          <p:nvPr/>
        </p:nvSpPr>
        <p:spPr>
          <a:xfrm>
            <a:off x="4332122"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4005072"/>
            <a:ext cx="420624" cy="420624"/>
          </a:xfrm>
          <a:prstGeom prst="ellipse">
            <a:avLst/>
          </a:prstGeom>
          <a:solidFill>
            <a:srgbClr val="2E7D32"/>
          </a:solidFill>
          <a:ln w="12700">
            <a:solidFill>
              <a:srgbClr val="2E7D32"/>
            </a:solidFill>
            <a:prstDash val="solid"/>
          </a:ln>
        </p:spPr>
      </p:sp>
      <p:pic>
        <p:nvPicPr>
          <p:cNvPr id="28" name="Image 4" descr="preencoded.png"/>
          <p:cNvPicPr>
            <a:picLocks noChangeAspect="1"/>
          </p:cNvPicPr>
          <p:nvPr/>
        </p:nvPicPr>
        <p:blipFill>
          <a:blip r:embed="rId7"/>
          <a:stretch>
            <a:fillRect/>
          </a:stretch>
        </p:blipFill>
        <p:spPr>
          <a:xfrm>
            <a:off x="4656734" y="4110228"/>
            <a:ext cx="210312" cy="210312"/>
          </a:xfrm>
          <a:prstGeom prst="rect">
            <a:avLst/>
          </a:prstGeom>
        </p:spPr>
      </p:pic>
      <p:sp>
        <p:nvSpPr>
          <p:cNvPr id="29" name="Text 22"/>
          <p:cNvSpPr/>
          <p:nvPr/>
        </p:nvSpPr>
        <p:spPr>
          <a:xfrm>
            <a:off x="4551578"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Ten report templates became four</a:t>
            </a:r>
            <a:endParaRPr lang="en-US" sz="1350" dirty="0"/>
          </a:p>
        </p:txBody>
      </p:sp>
      <p:sp>
        <p:nvSpPr>
          <p:cNvPr id="30" name="Text 23"/>
          <p:cNvSpPr/>
          <p:nvPr/>
        </p:nvSpPr>
        <p:spPr>
          <a:xfrm>
            <a:off x="4551578"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Anything the Dashboard or the Weekly Tracker already answered was cut. Fewer templates, each one actually used.</a:t>
            </a:r>
            <a:endParaRPr lang="en-US" sz="1050" dirty="0"/>
          </a:p>
        </p:txBody>
      </p:sp>
      <p:sp>
        <p:nvSpPr>
          <p:cNvPr id="31" name="Shape 24"/>
          <p:cNvSpPr/>
          <p:nvPr/>
        </p:nvSpPr>
        <p:spPr>
          <a:xfrm>
            <a:off x="8097317"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4005072"/>
            <a:ext cx="420624" cy="420624"/>
          </a:xfrm>
          <a:prstGeom prst="ellipse">
            <a:avLst/>
          </a:prstGeom>
          <a:solidFill>
            <a:srgbClr val="6B7A8C"/>
          </a:solidFill>
          <a:ln w="12700">
            <a:solidFill>
              <a:srgbClr val="6B7A8C"/>
            </a:solidFill>
            <a:prstDash val="solid"/>
          </a:ln>
        </p:spPr>
      </p:sp>
      <p:pic>
        <p:nvPicPr>
          <p:cNvPr id="33" name="Image 5" descr="preencoded.png"/>
          <p:cNvPicPr>
            <a:picLocks noChangeAspect="1"/>
          </p:cNvPicPr>
          <p:nvPr/>
        </p:nvPicPr>
        <p:blipFill>
          <a:blip r:embed="rId8"/>
          <a:stretch>
            <a:fillRect/>
          </a:stretch>
        </p:blipFill>
        <p:spPr>
          <a:xfrm>
            <a:off x="8421929" y="4110228"/>
            <a:ext cx="210312" cy="210312"/>
          </a:xfrm>
          <a:prstGeom prst="rect">
            <a:avLst/>
          </a:prstGeom>
        </p:spPr>
      </p:pic>
      <p:sp>
        <p:nvSpPr>
          <p:cNvPr id="34" name="Text 26"/>
          <p:cNvSpPr/>
          <p:nvPr/>
        </p:nvSpPr>
        <p:spPr>
          <a:xfrm>
            <a:off x="8316773"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Active session management — dropped</a:t>
            </a:r>
            <a:endParaRPr lang="en-US" sz="1350" dirty="0"/>
          </a:p>
        </p:txBody>
      </p:sp>
      <p:sp>
        <p:nvSpPr>
          <p:cNvPr id="35" name="Text 27"/>
          <p:cNvSpPr/>
          <p:nvPr/>
        </p:nvSpPr>
        <p:spPr>
          <a:xfrm>
            <a:off x="8316773"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Interesting to build, no value at twenty-five users in one office. It went out of v1 without much argument.</a:t>
            </a:r>
            <a:endParaRPr lang="en-US" sz="1050" dirty="0"/>
          </a:p>
        </p:txBody>
      </p:sp>
      <p:pic>
        <p:nvPicPr>
          <p:cNvPr id="36" name="Picture 35">
            <a:extLst>
              <a:ext uri="{FF2B5EF4-FFF2-40B4-BE49-F238E27FC236}">
                <a16:creationId xmlns:a16="http://schemas.microsoft.com/office/drawing/2014/main" id="{85526149-AFED-6B09-39A6-C0B3DAEFEA6C}"/>
              </a:ext>
            </a:extLst>
          </p:cNvPr>
          <p:cNvPicPr>
            <a:picLocks noChangeAspect="1"/>
          </p:cNvPicPr>
          <p:nvPr/>
        </p:nvPicPr>
        <p:blipFill>
          <a:blip r:embed="rId9"/>
          <a:stretch>
            <a:fillRect/>
          </a:stretch>
        </p:blipFill>
        <p:spPr>
          <a:xfrm>
            <a:off x="10505338" y="166891"/>
            <a:ext cx="1544421" cy="37260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STATUS</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Where the project stands today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37</a:t>
            </a:r>
            <a:endParaRPr lang="en-US" sz="950" dirty="0"/>
          </a:p>
        </p:txBody>
      </p:sp>
      <p:sp>
        <p:nvSpPr>
          <p:cNvPr id="6" name="Shape 4"/>
          <p:cNvSpPr/>
          <p:nvPr/>
        </p:nvSpPr>
        <p:spPr>
          <a:xfrm>
            <a:off x="566928" y="1371600"/>
            <a:ext cx="3108960" cy="1737360"/>
          </a:xfrm>
          <a:prstGeom prst="roundRect">
            <a:avLst>
              <a:gd name="adj" fmla="val 5263"/>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7" name="Text 5"/>
          <p:cNvSpPr/>
          <p:nvPr/>
        </p:nvSpPr>
        <p:spPr>
          <a:xfrm>
            <a:off x="566928" y="1517904"/>
            <a:ext cx="3108960" cy="822960"/>
          </a:xfrm>
          <a:prstGeom prst="rect">
            <a:avLst/>
          </a:prstGeom>
          <a:noFill/>
          <a:ln/>
        </p:spPr>
        <p:txBody>
          <a:bodyPr wrap="square" lIns="0" tIns="0" rIns="0" bIns="0" rtlCol="0" anchor="ctr"/>
          <a:lstStyle/>
          <a:p>
            <a:pPr marL="0" indent="0" algn="ctr">
              <a:buNone/>
            </a:pPr>
            <a:r>
              <a:rPr lang="en-US" sz="4600" b="1" dirty="0">
                <a:solidFill>
                  <a:srgbClr val="64B5F6"/>
                </a:solidFill>
                <a:latin typeface="Calibri" pitchFamily="34" charset="0"/>
                <a:ea typeface="Calibri" pitchFamily="34" charset="-122"/>
                <a:cs typeface="Calibri" pitchFamily="34" charset="-120"/>
              </a:rPr>
              <a:t>11 / 11</a:t>
            </a:r>
            <a:endParaRPr lang="en-US" sz="4600" dirty="0"/>
          </a:p>
        </p:txBody>
      </p:sp>
      <p:sp>
        <p:nvSpPr>
          <p:cNvPr id="8" name="Text 6"/>
          <p:cNvSpPr/>
          <p:nvPr/>
        </p:nvSpPr>
        <p:spPr>
          <a:xfrm>
            <a:off x="566928" y="2359152"/>
            <a:ext cx="3108960" cy="548640"/>
          </a:xfrm>
          <a:prstGeom prst="rect">
            <a:avLst/>
          </a:prstGeom>
          <a:noFill/>
          <a:ln/>
        </p:spPr>
        <p:txBody>
          <a:bodyPr wrap="square" lIns="0" tIns="0" rIns="0" bIns="0" rtlCol="0" anchor="t"/>
          <a:lstStyle/>
          <a:p>
            <a:pPr marL="0" indent="0" algn="ctr">
              <a:buNone/>
            </a:pPr>
            <a:r>
              <a:rPr lang="en-US" sz="1200" dirty="0">
                <a:solidFill>
                  <a:srgbClr val="90CAF9"/>
                </a:solidFill>
                <a:latin typeface="Calibri" pitchFamily="34" charset="0"/>
                <a:ea typeface="Calibri" pitchFamily="34" charset="-122"/>
                <a:cs typeface="Calibri" pitchFamily="34" charset="-120"/>
              </a:rPr>
              <a:t>design documents complete</a:t>
            </a:r>
            <a:endParaRPr lang="en-US" sz="1200" dirty="0"/>
          </a:p>
        </p:txBody>
      </p:sp>
      <p:sp>
        <p:nvSpPr>
          <p:cNvPr id="9" name="Shape 7"/>
          <p:cNvSpPr/>
          <p:nvPr/>
        </p:nvSpPr>
        <p:spPr>
          <a:xfrm>
            <a:off x="3840480" y="1371600"/>
            <a:ext cx="7781544"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Text 8"/>
          <p:cNvSpPr/>
          <p:nvPr/>
        </p:nvSpPr>
        <p:spPr>
          <a:xfrm>
            <a:off x="4059936" y="1591056"/>
            <a:ext cx="7342632"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Ten modules and the Design Foundation have completed business design</a:t>
            </a:r>
            <a:endParaRPr lang="en-US" sz="1350" dirty="0"/>
          </a:p>
        </p:txBody>
      </p:sp>
      <p:sp>
        <p:nvSpPr>
          <p:cNvPr id="11" name="Text 9"/>
          <p:cNvSpPr/>
          <p:nvPr/>
        </p:nvSpPr>
        <p:spPr>
          <a:xfrm>
            <a:off x="4059936" y="1911096"/>
            <a:ext cx="7342632" cy="10241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Each one is written up as a specification: purpose, workflow, data, business rules, screen layout and integration points. Module 09 sits at roughly 95% — only the visual arrangement is still open. This is design complete, not build complete.</a:t>
            </a:r>
            <a:endParaRPr lang="en-US" sz="1150" dirty="0"/>
          </a:p>
        </p:txBody>
      </p:sp>
      <p:sp>
        <p:nvSpPr>
          <p:cNvPr id="12" name="Text 10"/>
          <p:cNvSpPr/>
          <p:nvPr/>
        </p:nvSpPr>
        <p:spPr>
          <a:xfrm>
            <a:off x="566928" y="33101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DESIGN STATUS BY MODULE</a:t>
            </a:r>
            <a:endParaRPr lang="en-US" sz="950" dirty="0"/>
          </a:p>
        </p:txBody>
      </p:sp>
      <p:sp>
        <p:nvSpPr>
          <p:cNvPr id="13" name="Shape 11"/>
          <p:cNvSpPr/>
          <p:nvPr/>
        </p:nvSpPr>
        <p:spPr>
          <a:xfrm>
            <a:off x="566928" y="3584448"/>
            <a:ext cx="5532120" cy="347472"/>
          </a:xfrm>
          <a:prstGeom prst="roundRect">
            <a:avLst>
              <a:gd name="adj" fmla="val 18421"/>
            </a:avLst>
          </a:prstGeom>
          <a:solidFill>
            <a:srgbClr val="F4F7FA"/>
          </a:solidFill>
          <a:ln w="9525">
            <a:solidFill>
              <a:srgbClr val="E1E8F0"/>
            </a:solidFill>
            <a:prstDash val="solid"/>
          </a:ln>
        </p:spPr>
      </p:sp>
      <p:pic>
        <p:nvPicPr>
          <p:cNvPr id="14" name="Image 0" descr="preencoded.png"/>
          <p:cNvPicPr>
            <a:picLocks noChangeAspect="1"/>
          </p:cNvPicPr>
          <p:nvPr/>
        </p:nvPicPr>
        <p:blipFill>
          <a:blip r:embed="rId3"/>
          <a:stretch>
            <a:fillRect/>
          </a:stretch>
        </p:blipFill>
        <p:spPr>
          <a:xfrm>
            <a:off x="713232" y="3666744"/>
            <a:ext cx="182880" cy="182880"/>
          </a:xfrm>
          <a:prstGeom prst="rect">
            <a:avLst/>
          </a:prstGeom>
        </p:spPr>
      </p:pic>
      <p:sp>
        <p:nvSpPr>
          <p:cNvPr id="15" name="Text 12"/>
          <p:cNvSpPr/>
          <p:nvPr/>
        </p:nvSpPr>
        <p:spPr>
          <a:xfrm>
            <a:off x="1005840" y="3584448"/>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01  User Management</a:t>
            </a:r>
            <a:endParaRPr lang="en-US" sz="1050" dirty="0"/>
          </a:p>
        </p:txBody>
      </p:sp>
      <p:sp>
        <p:nvSpPr>
          <p:cNvPr id="16" name="Shape 13"/>
          <p:cNvSpPr/>
          <p:nvPr/>
        </p:nvSpPr>
        <p:spPr>
          <a:xfrm>
            <a:off x="566928" y="3986784"/>
            <a:ext cx="5532120" cy="347472"/>
          </a:xfrm>
          <a:prstGeom prst="roundRect">
            <a:avLst>
              <a:gd name="adj" fmla="val 18421"/>
            </a:avLst>
          </a:prstGeom>
          <a:solidFill>
            <a:srgbClr val="F4F7FA"/>
          </a:solidFill>
          <a:ln w="9525">
            <a:solidFill>
              <a:srgbClr val="E1E8F0"/>
            </a:solidFill>
            <a:prstDash val="solid"/>
          </a:ln>
        </p:spPr>
      </p:sp>
      <p:pic>
        <p:nvPicPr>
          <p:cNvPr id="17" name="Image 1" descr="preencoded.png"/>
          <p:cNvPicPr>
            <a:picLocks noChangeAspect="1"/>
          </p:cNvPicPr>
          <p:nvPr/>
        </p:nvPicPr>
        <p:blipFill>
          <a:blip r:embed="rId3"/>
          <a:stretch>
            <a:fillRect/>
          </a:stretch>
        </p:blipFill>
        <p:spPr>
          <a:xfrm>
            <a:off x="713232" y="4069080"/>
            <a:ext cx="182880" cy="182880"/>
          </a:xfrm>
          <a:prstGeom prst="rect">
            <a:avLst/>
          </a:prstGeom>
        </p:spPr>
      </p:pic>
      <p:sp>
        <p:nvSpPr>
          <p:cNvPr id="18" name="Text 14"/>
          <p:cNvSpPr/>
          <p:nvPr/>
        </p:nvSpPr>
        <p:spPr>
          <a:xfrm>
            <a:off x="1005840" y="3986784"/>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02  Master Company Database</a:t>
            </a:r>
            <a:endParaRPr lang="en-US" sz="1050" dirty="0"/>
          </a:p>
        </p:txBody>
      </p:sp>
      <p:sp>
        <p:nvSpPr>
          <p:cNvPr id="19" name="Shape 15"/>
          <p:cNvSpPr/>
          <p:nvPr/>
        </p:nvSpPr>
        <p:spPr>
          <a:xfrm>
            <a:off x="566928" y="4389120"/>
            <a:ext cx="5532120" cy="347472"/>
          </a:xfrm>
          <a:prstGeom prst="roundRect">
            <a:avLst>
              <a:gd name="adj" fmla="val 18421"/>
            </a:avLst>
          </a:prstGeom>
          <a:solidFill>
            <a:srgbClr val="F4F7FA"/>
          </a:solidFill>
          <a:ln w="9525">
            <a:solidFill>
              <a:srgbClr val="E1E8F0"/>
            </a:solidFill>
            <a:prstDash val="solid"/>
          </a:ln>
        </p:spPr>
      </p:sp>
      <p:pic>
        <p:nvPicPr>
          <p:cNvPr id="20" name="Image 2" descr="preencoded.png"/>
          <p:cNvPicPr>
            <a:picLocks noChangeAspect="1"/>
          </p:cNvPicPr>
          <p:nvPr/>
        </p:nvPicPr>
        <p:blipFill>
          <a:blip r:embed="rId3"/>
          <a:stretch>
            <a:fillRect/>
          </a:stretch>
        </p:blipFill>
        <p:spPr>
          <a:xfrm>
            <a:off x="713232" y="4471416"/>
            <a:ext cx="182880" cy="182880"/>
          </a:xfrm>
          <a:prstGeom prst="rect">
            <a:avLst/>
          </a:prstGeom>
        </p:spPr>
      </p:pic>
      <p:sp>
        <p:nvSpPr>
          <p:cNvPr id="21" name="Text 16"/>
          <p:cNvSpPr/>
          <p:nvPr/>
        </p:nvSpPr>
        <p:spPr>
          <a:xfrm>
            <a:off x="1005840" y="4389120"/>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03  Daily Tracker</a:t>
            </a:r>
            <a:endParaRPr lang="en-US" sz="1050" dirty="0"/>
          </a:p>
        </p:txBody>
      </p:sp>
      <p:sp>
        <p:nvSpPr>
          <p:cNvPr id="22" name="Shape 17"/>
          <p:cNvSpPr/>
          <p:nvPr/>
        </p:nvSpPr>
        <p:spPr>
          <a:xfrm>
            <a:off x="566928" y="4791456"/>
            <a:ext cx="5532120" cy="347472"/>
          </a:xfrm>
          <a:prstGeom prst="roundRect">
            <a:avLst>
              <a:gd name="adj" fmla="val 18421"/>
            </a:avLst>
          </a:prstGeom>
          <a:solidFill>
            <a:srgbClr val="F4F7FA"/>
          </a:solidFill>
          <a:ln w="9525">
            <a:solidFill>
              <a:srgbClr val="E1E8F0"/>
            </a:solidFill>
            <a:prstDash val="solid"/>
          </a:ln>
        </p:spPr>
      </p:sp>
      <p:pic>
        <p:nvPicPr>
          <p:cNvPr id="23" name="Image 3" descr="preencoded.png"/>
          <p:cNvPicPr>
            <a:picLocks noChangeAspect="1"/>
          </p:cNvPicPr>
          <p:nvPr/>
        </p:nvPicPr>
        <p:blipFill>
          <a:blip r:embed="rId3"/>
          <a:stretch>
            <a:fillRect/>
          </a:stretch>
        </p:blipFill>
        <p:spPr>
          <a:xfrm>
            <a:off x="713232" y="4873752"/>
            <a:ext cx="182880" cy="182880"/>
          </a:xfrm>
          <a:prstGeom prst="rect">
            <a:avLst/>
          </a:prstGeom>
        </p:spPr>
      </p:pic>
      <p:sp>
        <p:nvSpPr>
          <p:cNvPr id="24" name="Text 18"/>
          <p:cNvSpPr/>
          <p:nvPr/>
        </p:nvSpPr>
        <p:spPr>
          <a:xfrm>
            <a:off x="1005840" y="4791456"/>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04  Weekly Tracker</a:t>
            </a:r>
            <a:endParaRPr lang="en-US" sz="1050" dirty="0"/>
          </a:p>
        </p:txBody>
      </p:sp>
      <p:sp>
        <p:nvSpPr>
          <p:cNvPr id="25" name="Shape 19"/>
          <p:cNvSpPr/>
          <p:nvPr/>
        </p:nvSpPr>
        <p:spPr>
          <a:xfrm>
            <a:off x="566928" y="5193792"/>
            <a:ext cx="5532120" cy="347472"/>
          </a:xfrm>
          <a:prstGeom prst="roundRect">
            <a:avLst>
              <a:gd name="adj" fmla="val 18421"/>
            </a:avLst>
          </a:prstGeom>
          <a:solidFill>
            <a:srgbClr val="F4F7FA"/>
          </a:solidFill>
          <a:ln w="9525">
            <a:solidFill>
              <a:srgbClr val="E1E8F0"/>
            </a:solidFill>
            <a:prstDash val="solid"/>
          </a:ln>
        </p:spPr>
      </p:sp>
      <p:pic>
        <p:nvPicPr>
          <p:cNvPr id="26" name="Image 4" descr="preencoded.png"/>
          <p:cNvPicPr>
            <a:picLocks noChangeAspect="1"/>
          </p:cNvPicPr>
          <p:nvPr/>
        </p:nvPicPr>
        <p:blipFill>
          <a:blip r:embed="rId3"/>
          <a:stretch>
            <a:fillRect/>
          </a:stretch>
        </p:blipFill>
        <p:spPr>
          <a:xfrm>
            <a:off x="713232" y="5276088"/>
            <a:ext cx="182880" cy="182880"/>
          </a:xfrm>
          <a:prstGeom prst="rect">
            <a:avLst/>
          </a:prstGeom>
        </p:spPr>
      </p:pic>
      <p:sp>
        <p:nvSpPr>
          <p:cNvPr id="27" name="Text 20"/>
          <p:cNvSpPr/>
          <p:nvPr/>
        </p:nvSpPr>
        <p:spPr>
          <a:xfrm>
            <a:off x="1005840" y="5193792"/>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05  Daily Leads</a:t>
            </a:r>
            <a:endParaRPr lang="en-US" sz="1050" dirty="0"/>
          </a:p>
        </p:txBody>
      </p:sp>
      <p:sp>
        <p:nvSpPr>
          <p:cNvPr id="28" name="Shape 21"/>
          <p:cNvSpPr/>
          <p:nvPr/>
        </p:nvSpPr>
        <p:spPr>
          <a:xfrm>
            <a:off x="566928" y="5596128"/>
            <a:ext cx="5532120" cy="347472"/>
          </a:xfrm>
          <a:prstGeom prst="roundRect">
            <a:avLst>
              <a:gd name="adj" fmla="val 18421"/>
            </a:avLst>
          </a:prstGeom>
          <a:solidFill>
            <a:srgbClr val="F4F7FA"/>
          </a:solidFill>
          <a:ln w="9525">
            <a:solidFill>
              <a:srgbClr val="E1E8F0"/>
            </a:solidFill>
            <a:prstDash val="solid"/>
          </a:ln>
        </p:spPr>
      </p:sp>
      <p:pic>
        <p:nvPicPr>
          <p:cNvPr id="29" name="Image 5" descr="preencoded.png"/>
          <p:cNvPicPr>
            <a:picLocks noChangeAspect="1"/>
          </p:cNvPicPr>
          <p:nvPr/>
        </p:nvPicPr>
        <p:blipFill>
          <a:blip r:embed="rId3"/>
          <a:stretch>
            <a:fillRect/>
          </a:stretch>
        </p:blipFill>
        <p:spPr>
          <a:xfrm>
            <a:off x="713232" y="5678424"/>
            <a:ext cx="182880" cy="182880"/>
          </a:xfrm>
          <a:prstGeom prst="rect">
            <a:avLst/>
          </a:prstGeom>
        </p:spPr>
      </p:pic>
      <p:sp>
        <p:nvSpPr>
          <p:cNvPr id="30" name="Text 22"/>
          <p:cNvSpPr/>
          <p:nvPr/>
        </p:nvSpPr>
        <p:spPr>
          <a:xfrm>
            <a:off x="1005840" y="5596128"/>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06  Reports &amp; Analytics</a:t>
            </a:r>
            <a:endParaRPr lang="en-US" sz="1050" dirty="0"/>
          </a:p>
        </p:txBody>
      </p:sp>
      <p:sp>
        <p:nvSpPr>
          <p:cNvPr id="31" name="Shape 23"/>
          <p:cNvSpPr/>
          <p:nvPr/>
        </p:nvSpPr>
        <p:spPr>
          <a:xfrm>
            <a:off x="6089904" y="3584448"/>
            <a:ext cx="5532120" cy="347472"/>
          </a:xfrm>
          <a:prstGeom prst="roundRect">
            <a:avLst>
              <a:gd name="adj" fmla="val 18421"/>
            </a:avLst>
          </a:prstGeom>
          <a:solidFill>
            <a:srgbClr val="F4F7FA"/>
          </a:solidFill>
          <a:ln w="9525">
            <a:solidFill>
              <a:srgbClr val="E1E8F0"/>
            </a:solidFill>
            <a:prstDash val="solid"/>
          </a:ln>
        </p:spPr>
      </p:sp>
      <p:pic>
        <p:nvPicPr>
          <p:cNvPr id="32" name="Image 6" descr="preencoded.png"/>
          <p:cNvPicPr>
            <a:picLocks noChangeAspect="1"/>
          </p:cNvPicPr>
          <p:nvPr/>
        </p:nvPicPr>
        <p:blipFill>
          <a:blip r:embed="rId3"/>
          <a:stretch>
            <a:fillRect/>
          </a:stretch>
        </p:blipFill>
        <p:spPr>
          <a:xfrm>
            <a:off x="6236208" y="3666744"/>
            <a:ext cx="182880" cy="182880"/>
          </a:xfrm>
          <a:prstGeom prst="rect">
            <a:avLst/>
          </a:prstGeom>
        </p:spPr>
      </p:pic>
      <p:sp>
        <p:nvSpPr>
          <p:cNvPr id="33" name="Text 24"/>
          <p:cNvSpPr/>
          <p:nvPr/>
        </p:nvSpPr>
        <p:spPr>
          <a:xfrm>
            <a:off x="6528816" y="3584448"/>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07  Role-Based Dashboard</a:t>
            </a:r>
            <a:endParaRPr lang="en-US" sz="1050" dirty="0"/>
          </a:p>
        </p:txBody>
      </p:sp>
      <p:sp>
        <p:nvSpPr>
          <p:cNvPr id="34" name="Shape 25"/>
          <p:cNvSpPr/>
          <p:nvPr/>
        </p:nvSpPr>
        <p:spPr>
          <a:xfrm>
            <a:off x="6089904" y="3986784"/>
            <a:ext cx="5532120" cy="347472"/>
          </a:xfrm>
          <a:prstGeom prst="roundRect">
            <a:avLst>
              <a:gd name="adj" fmla="val 18421"/>
            </a:avLst>
          </a:prstGeom>
          <a:solidFill>
            <a:srgbClr val="F4F7FA"/>
          </a:solidFill>
          <a:ln w="9525">
            <a:solidFill>
              <a:srgbClr val="E1E8F0"/>
            </a:solidFill>
            <a:prstDash val="solid"/>
          </a:ln>
        </p:spPr>
      </p:sp>
      <p:pic>
        <p:nvPicPr>
          <p:cNvPr id="35" name="Image 7" descr="preencoded.png"/>
          <p:cNvPicPr>
            <a:picLocks noChangeAspect="1"/>
          </p:cNvPicPr>
          <p:nvPr/>
        </p:nvPicPr>
        <p:blipFill>
          <a:blip r:embed="rId3"/>
          <a:stretch>
            <a:fillRect/>
          </a:stretch>
        </p:blipFill>
        <p:spPr>
          <a:xfrm>
            <a:off x="6236208" y="4069080"/>
            <a:ext cx="182880" cy="182880"/>
          </a:xfrm>
          <a:prstGeom prst="rect">
            <a:avLst/>
          </a:prstGeom>
        </p:spPr>
      </p:pic>
      <p:sp>
        <p:nvSpPr>
          <p:cNvPr id="36" name="Text 26"/>
          <p:cNvSpPr/>
          <p:nvPr/>
        </p:nvSpPr>
        <p:spPr>
          <a:xfrm>
            <a:off x="6528816" y="3986784"/>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08  User &amp; Access Management</a:t>
            </a:r>
            <a:endParaRPr lang="en-US" sz="1050" dirty="0"/>
          </a:p>
        </p:txBody>
      </p:sp>
      <p:sp>
        <p:nvSpPr>
          <p:cNvPr id="37" name="Shape 27"/>
          <p:cNvSpPr/>
          <p:nvPr/>
        </p:nvSpPr>
        <p:spPr>
          <a:xfrm>
            <a:off x="6089904" y="4389120"/>
            <a:ext cx="5532120" cy="347472"/>
          </a:xfrm>
          <a:prstGeom prst="roundRect">
            <a:avLst>
              <a:gd name="adj" fmla="val 18421"/>
            </a:avLst>
          </a:prstGeom>
          <a:solidFill>
            <a:srgbClr val="F4F7FA"/>
          </a:solidFill>
          <a:ln w="9525">
            <a:solidFill>
              <a:srgbClr val="E1E8F0"/>
            </a:solidFill>
            <a:prstDash val="solid"/>
          </a:ln>
        </p:spPr>
      </p:sp>
      <p:pic>
        <p:nvPicPr>
          <p:cNvPr id="38" name="Image 8" descr="preencoded.png"/>
          <p:cNvPicPr>
            <a:picLocks noChangeAspect="1"/>
          </p:cNvPicPr>
          <p:nvPr/>
        </p:nvPicPr>
        <p:blipFill>
          <a:blip r:embed="rId3"/>
          <a:stretch>
            <a:fillRect/>
          </a:stretch>
        </p:blipFill>
        <p:spPr>
          <a:xfrm>
            <a:off x="6236208" y="4471416"/>
            <a:ext cx="182880" cy="182880"/>
          </a:xfrm>
          <a:prstGeom prst="rect">
            <a:avLst/>
          </a:prstGeom>
        </p:spPr>
      </p:pic>
      <p:sp>
        <p:nvSpPr>
          <p:cNvPr id="39" name="Text 28"/>
          <p:cNvSpPr/>
          <p:nvPr/>
        </p:nvSpPr>
        <p:spPr>
          <a:xfrm>
            <a:off x="6528816" y="4389120"/>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09  Settings &amp; Configuration</a:t>
            </a:r>
            <a:endParaRPr lang="en-US" sz="1050" dirty="0"/>
          </a:p>
        </p:txBody>
      </p:sp>
      <p:sp>
        <p:nvSpPr>
          <p:cNvPr id="40" name="Shape 29"/>
          <p:cNvSpPr/>
          <p:nvPr/>
        </p:nvSpPr>
        <p:spPr>
          <a:xfrm>
            <a:off x="6089904" y="4791456"/>
            <a:ext cx="5532120" cy="347472"/>
          </a:xfrm>
          <a:prstGeom prst="roundRect">
            <a:avLst>
              <a:gd name="adj" fmla="val 18421"/>
            </a:avLst>
          </a:prstGeom>
          <a:solidFill>
            <a:srgbClr val="F4F7FA"/>
          </a:solidFill>
          <a:ln w="9525">
            <a:solidFill>
              <a:srgbClr val="E1E8F0"/>
            </a:solidFill>
            <a:prstDash val="solid"/>
          </a:ln>
        </p:spPr>
      </p:sp>
      <p:pic>
        <p:nvPicPr>
          <p:cNvPr id="41" name="Image 9" descr="preencoded.png"/>
          <p:cNvPicPr>
            <a:picLocks noChangeAspect="1"/>
          </p:cNvPicPr>
          <p:nvPr/>
        </p:nvPicPr>
        <p:blipFill>
          <a:blip r:embed="rId3"/>
          <a:stretch>
            <a:fillRect/>
          </a:stretch>
        </p:blipFill>
        <p:spPr>
          <a:xfrm>
            <a:off x="6236208" y="4873752"/>
            <a:ext cx="182880" cy="182880"/>
          </a:xfrm>
          <a:prstGeom prst="rect">
            <a:avLst/>
          </a:prstGeom>
        </p:spPr>
      </p:pic>
      <p:sp>
        <p:nvSpPr>
          <p:cNvPr id="42" name="Text 30"/>
          <p:cNvSpPr/>
          <p:nvPr/>
        </p:nvSpPr>
        <p:spPr>
          <a:xfrm>
            <a:off x="6528816" y="4791456"/>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10  System Information &amp; Admin</a:t>
            </a:r>
            <a:endParaRPr lang="en-US" sz="1050" dirty="0"/>
          </a:p>
        </p:txBody>
      </p:sp>
      <p:sp>
        <p:nvSpPr>
          <p:cNvPr id="43" name="Shape 31"/>
          <p:cNvSpPr/>
          <p:nvPr/>
        </p:nvSpPr>
        <p:spPr>
          <a:xfrm>
            <a:off x="6089904" y="5193792"/>
            <a:ext cx="5532120" cy="347472"/>
          </a:xfrm>
          <a:prstGeom prst="roundRect">
            <a:avLst>
              <a:gd name="adj" fmla="val 18421"/>
            </a:avLst>
          </a:prstGeom>
          <a:solidFill>
            <a:srgbClr val="F4F7FA"/>
          </a:solidFill>
          <a:ln w="9525">
            <a:solidFill>
              <a:srgbClr val="E1E8F0"/>
            </a:solidFill>
            <a:prstDash val="solid"/>
          </a:ln>
        </p:spPr>
      </p:sp>
      <p:pic>
        <p:nvPicPr>
          <p:cNvPr id="44" name="Image 10" descr="preencoded.png"/>
          <p:cNvPicPr>
            <a:picLocks noChangeAspect="1"/>
          </p:cNvPicPr>
          <p:nvPr/>
        </p:nvPicPr>
        <p:blipFill>
          <a:blip r:embed="rId3"/>
          <a:stretch>
            <a:fillRect/>
          </a:stretch>
        </p:blipFill>
        <p:spPr>
          <a:xfrm>
            <a:off x="6236208" y="5276088"/>
            <a:ext cx="182880" cy="182880"/>
          </a:xfrm>
          <a:prstGeom prst="rect">
            <a:avLst/>
          </a:prstGeom>
        </p:spPr>
      </p:pic>
      <p:sp>
        <p:nvSpPr>
          <p:cNvPr id="45" name="Text 32"/>
          <p:cNvSpPr/>
          <p:nvPr/>
        </p:nvSpPr>
        <p:spPr>
          <a:xfrm>
            <a:off x="6528816" y="5193792"/>
            <a:ext cx="4937760" cy="347472"/>
          </a:xfrm>
          <a:prstGeom prst="rect">
            <a:avLst/>
          </a:prstGeom>
          <a:noFill/>
          <a:ln/>
        </p:spPr>
        <p:txBody>
          <a:bodyPr wrap="square" lIns="0" tIns="0" rIns="0" bIns="0" rtlCol="0" anchor="ctr"/>
          <a:lstStyle/>
          <a:p>
            <a:pPr marL="0" indent="0">
              <a:buNone/>
            </a:pPr>
            <a:r>
              <a:rPr lang="en-US" sz="1050" dirty="0">
                <a:solidFill>
                  <a:srgbClr val="0B2E59"/>
                </a:solidFill>
                <a:latin typeface="Calibri" pitchFamily="34" charset="0"/>
                <a:ea typeface="Calibri" pitchFamily="34" charset="-122"/>
                <a:cs typeface="Calibri" pitchFamily="34" charset="-120"/>
              </a:rPr>
              <a:t>—   Design Foundation</a:t>
            </a:r>
            <a:endParaRPr lang="en-US" sz="1050" dirty="0"/>
          </a:p>
        </p:txBody>
      </p:sp>
      <p:pic>
        <p:nvPicPr>
          <p:cNvPr id="46" name="Picture 45">
            <a:extLst>
              <a:ext uri="{FF2B5EF4-FFF2-40B4-BE49-F238E27FC236}">
                <a16:creationId xmlns:a16="http://schemas.microsoft.com/office/drawing/2014/main" id="{0320A8B6-4B87-C0E9-E9B7-90F8650DA9C3}"/>
              </a:ext>
            </a:extLst>
          </p:cNvPr>
          <p:cNvPicPr>
            <a:picLocks noChangeAspect="1"/>
          </p:cNvPicPr>
          <p:nvPr/>
        </p:nvPicPr>
        <p:blipFill>
          <a:blip r:embed="rId4"/>
          <a:stretch>
            <a:fillRect/>
          </a:stretch>
        </p:blipFill>
        <p:spPr>
          <a:xfrm>
            <a:off x="10505338" y="166891"/>
            <a:ext cx="1544421" cy="37260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SCOPE</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we deliberately left out of v1</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38</a:t>
            </a:r>
            <a:endParaRPr lang="en-US" sz="950" dirty="0"/>
          </a:p>
        </p:txBody>
      </p:sp>
      <p:sp>
        <p:nvSpPr>
          <p:cNvPr id="6" name="Text 4"/>
          <p:cNvSpPr/>
          <p:nvPr/>
        </p:nvSpPr>
        <p:spPr>
          <a:xfrm>
            <a:off x="566928" y="1371600"/>
            <a:ext cx="11057839" cy="365760"/>
          </a:xfrm>
          <a:prstGeom prst="rect">
            <a:avLst/>
          </a:prstGeom>
          <a:noFill/>
          <a:ln/>
        </p:spPr>
        <p:txBody>
          <a:bodyPr wrap="square" lIns="0" tIns="0" rIns="0" bIns="0" rtlCol="0" anchor="ctr"/>
          <a:lstStyle/>
          <a:p>
            <a:pPr marL="0" indent="0">
              <a:buNone/>
            </a:pPr>
            <a:r>
              <a:rPr lang="en-US" sz="1500" i="1" dirty="0">
                <a:solidFill>
                  <a:srgbClr val="1F2933"/>
                </a:solidFill>
                <a:latin typeface="Calibri" pitchFamily="34" charset="0"/>
                <a:ea typeface="Calibri" pitchFamily="34" charset="-122"/>
                <a:cs typeface="Calibri" pitchFamily="34" charset="-120"/>
              </a:rPr>
              <a:t>Scope discipline, not gaps — every one of these was discussed, costed against the benefit, and consciously deferred.</a:t>
            </a:r>
            <a:endParaRPr lang="en-US" sz="1500" dirty="0"/>
          </a:p>
        </p:txBody>
      </p:sp>
      <p:sp>
        <p:nvSpPr>
          <p:cNvPr id="7" name="Shape 5"/>
          <p:cNvSpPr/>
          <p:nvPr/>
        </p:nvSpPr>
        <p:spPr>
          <a:xfrm>
            <a:off x="566928" y="1920240"/>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8" name="Shape 6"/>
          <p:cNvSpPr/>
          <p:nvPr/>
        </p:nvSpPr>
        <p:spPr>
          <a:xfrm>
            <a:off x="786384" y="2139696"/>
            <a:ext cx="420624" cy="420624"/>
          </a:xfrm>
          <a:prstGeom prst="ellipse">
            <a:avLst/>
          </a:prstGeom>
          <a:solidFill>
            <a:srgbClr val="6B7A8C"/>
          </a:solidFill>
          <a:ln w="12700">
            <a:solidFill>
              <a:srgbClr val="6B7A8C"/>
            </a:solidFill>
            <a:prstDash val="solid"/>
          </a:ln>
        </p:spPr>
      </p:sp>
      <p:pic>
        <p:nvPicPr>
          <p:cNvPr id="9" name="Image 0" descr="preencoded.png"/>
          <p:cNvPicPr>
            <a:picLocks noChangeAspect="1"/>
          </p:cNvPicPr>
          <p:nvPr/>
        </p:nvPicPr>
        <p:blipFill>
          <a:blip r:embed="rId3"/>
          <a:stretch>
            <a:fillRect/>
          </a:stretch>
        </p:blipFill>
        <p:spPr>
          <a:xfrm>
            <a:off x="891540" y="2244852"/>
            <a:ext cx="210312" cy="210312"/>
          </a:xfrm>
          <a:prstGeom prst="rect">
            <a:avLst/>
          </a:prstGeom>
        </p:spPr>
      </p:pic>
      <p:sp>
        <p:nvSpPr>
          <p:cNvPr id="10" name="Text 7"/>
          <p:cNvSpPr/>
          <p:nvPr/>
        </p:nvSpPr>
        <p:spPr>
          <a:xfrm>
            <a:off x="786384" y="268833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Dark mode</a:t>
            </a:r>
            <a:endParaRPr lang="en-US" sz="1350" dirty="0"/>
          </a:p>
        </p:txBody>
      </p:sp>
      <p:sp>
        <p:nvSpPr>
          <p:cNvPr id="11" name="Text 8"/>
          <p:cNvSpPr/>
          <p:nvPr/>
        </p:nvSpPr>
        <p:spPr>
          <a:xfrm>
            <a:off x="786384" y="3008376"/>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colour system is built so it can be added later without redesigning a single component. Only light mode ships in v1.</a:t>
            </a:r>
            <a:endParaRPr lang="en-US" sz="1050" dirty="0"/>
          </a:p>
        </p:txBody>
      </p:sp>
      <p:sp>
        <p:nvSpPr>
          <p:cNvPr id="12" name="Shape 9"/>
          <p:cNvSpPr/>
          <p:nvPr/>
        </p:nvSpPr>
        <p:spPr>
          <a:xfrm>
            <a:off x="4332122" y="1920240"/>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3" name="Shape 10"/>
          <p:cNvSpPr/>
          <p:nvPr/>
        </p:nvSpPr>
        <p:spPr>
          <a:xfrm>
            <a:off x="4551578" y="2139696"/>
            <a:ext cx="420624" cy="420624"/>
          </a:xfrm>
          <a:prstGeom prst="ellipse">
            <a:avLst/>
          </a:prstGeom>
          <a:solidFill>
            <a:srgbClr val="6B7A8C"/>
          </a:solidFill>
          <a:ln w="12700">
            <a:solidFill>
              <a:srgbClr val="6B7A8C"/>
            </a:solidFill>
            <a:prstDash val="solid"/>
          </a:ln>
        </p:spPr>
      </p:sp>
      <p:pic>
        <p:nvPicPr>
          <p:cNvPr id="14" name="Image 1" descr="preencoded.png"/>
          <p:cNvPicPr>
            <a:picLocks noChangeAspect="1"/>
          </p:cNvPicPr>
          <p:nvPr/>
        </p:nvPicPr>
        <p:blipFill>
          <a:blip r:embed="rId4"/>
          <a:stretch>
            <a:fillRect/>
          </a:stretch>
        </p:blipFill>
        <p:spPr>
          <a:xfrm>
            <a:off x="4656734" y="2244852"/>
            <a:ext cx="210312" cy="210312"/>
          </a:xfrm>
          <a:prstGeom prst="rect">
            <a:avLst/>
          </a:prstGeom>
        </p:spPr>
      </p:pic>
      <p:sp>
        <p:nvSpPr>
          <p:cNvPr id="15" name="Text 11"/>
          <p:cNvSpPr/>
          <p:nvPr/>
        </p:nvSpPr>
        <p:spPr>
          <a:xfrm>
            <a:off x="4551578" y="268833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Multi-language</a:t>
            </a:r>
            <a:endParaRPr lang="en-US" sz="1350" dirty="0"/>
          </a:p>
        </p:txBody>
      </p:sp>
      <p:sp>
        <p:nvSpPr>
          <p:cNvPr id="16" name="Text 12"/>
          <p:cNvSpPr/>
          <p:nvPr/>
        </p:nvSpPr>
        <p:spPr>
          <a:xfrm>
            <a:off x="4551578" y="3008376"/>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One office, one language today. Adding it now would double the copy review for no user benefit.</a:t>
            </a:r>
            <a:endParaRPr lang="en-US" sz="1050" dirty="0"/>
          </a:p>
        </p:txBody>
      </p:sp>
      <p:sp>
        <p:nvSpPr>
          <p:cNvPr id="17" name="Shape 13"/>
          <p:cNvSpPr/>
          <p:nvPr/>
        </p:nvSpPr>
        <p:spPr>
          <a:xfrm>
            <a:off x="8097317" y="1920240"/>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8" name="Shape 14"/>
          <p:cNvSpPr/>
          <p:nvPr/>
        </p:nvSpPr>
        <p:spPr>
          <a:xfrm>
            <a:off x="8316773" y="2139696"/>
            <a:ext cx="420624" cy="420624"/>
          </a:xfrm>
          <a:prstGeom prst="ellipse">
            <a:avLst/>
          </a:prstGeom>
          <a:solidFill>
            <a:srgbClr val="6B7A8C"/>
          </a:solidFill>
          <a:ln w="12700">
            <a:solidFill>
              <a:srgbClr val="6B7A8C"/>
            </a:solidFill>
            <a:prstDash val="solid"/>
          </a:ln>
        </p:spPr>
      </p:sp>
      <p:pic>
        <p:nvPicPr>
          <p:cNvPr id="19" name="Image 2" descr="preencoded.png"/>
          <p:cNvPicPr>
            <a:picLocks noChangeAspect="1"/>
          </p:cNvPicPr>
          <p:nvPr/>
        </p:nvPicPr>
        <p:blipFill>
          <a:blip r:embed="rId5"/>
          <a:stretch>
            <a:fillRect/>
          </a:stretch>
        </p:blipFill>
        <p:spPr>
          <a:xfrm>
            <a:off x="8421929" y="2244852"/>
            <a:ext cx="210312" cy="210312"/>
          </a:xfrm>
          <a:prstGeom prst="rect">
            <a:avLst/>
          </a:prstGeom>
        </p:spPr>
      </p:pic>
      <p:sp>
        <p:nvSpPr>
          <p:cNvPr id="20" name="Text 15"/>
          <p:cNvSpPr/>
          <p:nvPr/>
        </p:nvSpPr>
        <p:spPr>
          <a:xfrm>
            <a:off x="8316773" y="268833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API &amp; email-server configuration</a:t>
            </a:r>
            <a:endParaRPr lang="en-US" sz="1350" dirty="0"/>
          </a:p>
        </p:txBody>
      </p:sp>
      <p:sp>
        <p:nvSpPr>
          <p:cNvPr id="21" name="Text 16"/>
          <p:cNvSpPr/>
          <p:nvPr/>
        </p:nvSpPr>
        <p:spPr>
          <a:xfrm>
            <a:off x="8316773" y="3008376"/>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iPOMS is not a customer-configurable platform. These stay as deployment settings, not user-facing screens.</a:t>
            </a:r>
            <a:endParaRPr lang="en-US" sz="1050" dirty="0"/>
          </a:p>
        </p:txBody>
      </p:sp>
      <p:sp>
        <p:nvSpPr>
          <p:cNvPr id="22" name="Shape 17"/>
          <p:cNvSpPr/>
          <p:nvPr/>
        </p:nvSpPr>
        <p:spPr>
          <a:xfrm>
            <a:off x="566928" y="4005072"/>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3" name="Shape 18"/>
          <p:cNvSpPr/>
          <p:nvPr/>
        </p:nvSpPr>
        <p:spPr>
          <a:xfrm>
            <a:off x="786384" y="4224528"/>
            <a:ext cx="420624" cy="420624"/>
          </a:xfrm>
          <a:prstGeom prst="ellipse">
            <a:avLst/>
          </a:prstGeom>
          <a:solidFill>
            <a:srgbClr val="6B7A8C"/>
          </a:solidFill>
          <a:ln w="12700">
            <a:solidFill>
              <a:srgbClr val="6B7A8C"/>
            </a:solidFill>
            <a:prstDash val="solid"/>
          </a:ln>
        </p:spPr>
      </p:sp>
      <p:pic>
        <p:nvPicPr>
          <p:cNvPr id="24" name="Image 3" descr="preencoded.png"/>
          <p:cNvPicPr>
            <a:picLocks noChangeAspect="1"/>
          </p:cNvPicPr>
          <p:nvPr/>
        </p:nvPicPr>
        <p:blipFill>
          <a:blip r:embed="rId6"/>
          <a:stretch>
            <a:fillRect/>
          </a:stretch>
        </p:blipFill>
        <p:spPr>
          <a:xfrm>
            <a:off x="891540" y="4329684"/>
            <a:ext cx="210312" cy="210312"/>
          </a:xfrm>
          <a:prstGeom prst="rect">
            <a:avLst/>
          </a:prstGeom>
        </p:spPr>
      </p:pic>
      <p:sp>
        <p:nvSpPr>
          <p:cNvPr id="25" name="Text 19"/>
          <p:cNvSpPr/>
          <p:nvPr/>
        </p:nvSpPr>
        <p:spPr>
          <a:xfrm>
            <a:off x="786384" y="4773168"/>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Manual backup &amp; restore</a:t>
            </a:r>
            <a:endParaRPr lang="en-US" sz="1350" dirty="0"/>
          </a:p>
        </p:txBody>
      </p:sp>
      <p:sp>
        <p:nvSpPr>
          <p:cNvPr id="26" name="Text 20"/>
          <p:cNvSpPr/>
          <p:nvPr/>
        </p:nvSpPr>
        <p:spPr>
          <a:xfrm>
            <a:off x="786384" y="5093208"/>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hosting responsibility, not a screen. Users instead see “Database status: connected” and the last sync time.</a:t>
            </a:r>
            <a:endParaRPr lang="en-US" sz="1050" dirty="0"/>
          </a:p>
        </p:txBody>
      </p:sp>
      <p:sp>
        <p:nvSpPr>
          <p:cNvPr id="27" name="Shape 21"/>
          <p:cNvSpPr/>
          <p:nvPr/>
        </p:nvSpPr>
        <p:spPr>
          <a:xfrm>
            <a:off x="4332122" y="4005072"/>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8" name="Shape 22"/>
          <p:cNvSpPr/>
          <p:nvPr/>
        </p:nvSpPr>
        <p:spPr>
          <a:xfrm>
            <a:off x="4551578" y="4224528"/>
            <a:ext cx="420624" cy="420624"/>
          </a:xfrm>
          <a:prstGeom prst="ellipse">
            <a:avLst/>
          </a:prstGeom>
          <a:solidFill>
            <a:srgbClr val="6B7A8C"/>
          </a:solidFill>
          <a:ln w="12700">
            <a:solidFill>
              <a:srgbClr val="6B7A8C"/>
            </a:solidFill>
            <a:prstDash val="solid"/>
          </a:ln>
        </p:spPr>
      </p:sp>
      <p:pic>
        <p:nvPicPr>
          <p:cNvPr id="29" name="Image 4" descr="preencoded.png"/>
          <p:cNvPicPr>
            <a:picLocks noChangeAspect="1"/>
          </p:cNvPicPr>
          <p:nvPr/>
        </p:nvPicPr>
        <p:blipFill>
          <a:blip r:embed="rId7"/>
          <a:stretch>
            <a:fillRect/>
          </a:stretch>
        </p:blipFill>
        <p:spPr>
          <a:xfrm>
            <a:off x="4656734" y="4329684"/>
            <a:ext cx="210312" cy="210312"/>
          </a:xfrm>
          <a:prstGeom prst="rect">
            <a:avLst/>
          </a:prstGeom>
        </p:spPr>
      </p:pic>
      <p:sp>
        <p:nvSpPr>
          <p:cNvPr id="30" name="Text 23"/>
          <p:cNvSpPr/>
          <p:nvPr/>
        </p:nvSpPr>
        <p:spPr>
          <a:xfrm>
            <a:off x="4551578" y="4773168"/>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Active session management</a:t>
            </a:r>
            <a:endParaRPr lang="en-US" sz="1350" dirty="0"/>
          </a:p>
        </p:txBody>
      </p:sp>
      <p:sp>
        <p:nvSpPr>
          <p:cNvPr id="31" name="Text 24"/>
          <p:cNvSpPr/>
          <p:nvPr/>
        </p:nvSpPr>
        <p:spPr>
          <a:xfrm>
            <a:off x="4551578" y="5093208"/>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Genuinely useful at a thousand users. At twenty-five people in one office, it is pure overhead.</a:t>
            </a:r>
            <a:endParaRPr lang="en-US" sz="1050" dirty="0"/>
          </a:p>
        </p:txBody>
      </p:sp>
      <p:sp>
        <p:nvSpPr>
          <p:cNvPr id="32" name="Shape 25"/>
          <p:cNvSpPr/>
          <p:nvPr/>
        </p:nvSpPr>
        <p:spPr>
          <a:xfrm>
            <a:off x="8097317" y="4005072"/>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3" name="Shape 26"/>
          <p:cNvSpPr/>
          <p:nvPr/>
        </p:nvSpPr>
        <p:spPr>
          <a:xfrm>
            <a:off x="8316773" y="4224528"/>
            <a:ext cx="420624" cy="420624"/>
          </a:xfrm>
          <a:prstGeom prst="ellipse">
            <a:avLst/>
          </a:prstGeom>
          <a:solidFill>
            <a:srgbClr val="6B7A8C"/>
          </a:solidFill>
          <a:ln w="12700">
            <a:solidFill>
              <a:srgbClr val="6B7A8C"/>
            </a:solidFill>
            <a:prstDash val="solid"/>
          </a:ln>
        </p:spPr>
      </p:sp>
      <p:pic>
        <p:nvPicPr>
          <p:cNvPr id="34" name="Image 5" descr="preencoded.png"/>
          <p:cNvPicPr>
            <a:picLocks noChangeAspect="1"/>
          </p:cNvPicPr>
          <p:nvPr/>
        </p:nvPicPr>
        <p:blipFill>
          <a:blip r:embed="rId8"/>
          <a:stretch>
            <a:fillRect/>
          </a:stretch>
        </p:blipFill>
        <p:spPr>
          <a:xfrm>
            <a:off x="8421929" y="4329684"/>
            <a:ext cx="210312" cy="210312"/>
          </a:xfrm>
          <a:prstGeom prst="rect">
            <a:avLst/>
          </a:prstGeom>
        </p:spPr>
      </p:pic>
      <p:sp>
        <p:nvSpPr>
          <p:cNvPr id="35" name="Text 27"/>
          <p:cNvSpPr/>
          <p:nvPr/>
        </p:nvSpPr>
        <p:spPr>
          <a:xfrm>
            <a:off x="8316773" y="4773168"/>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Recently Visited &amp; Ctrl+K palette</a:t>
            </a:r>
            <a:endParaRPr lang="en-US" sz="1350" dirty="0"/>
          </a:p>
        </p:txBody>
      </p:sp>
      <p:sp>
        <p:nvSpPr>
          <p:cNvPr id="36" name="Text 28"/>
          <p:cNvSpPr/>
          <p:nvPr/>
        </p:nvSpPr>
        <p:spPr>
          <a:xfrm>
            <a:off x="8316773" y="5093208"/>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Both proposed, both cut. The eight-item sidebar is faster than anything that requires you to remember a search term.</a:t>
            </a:r>
            <a:endParaRPr lang="en-US" sz="1050" dirty="0"/>
          </a:p>
        </p:txBody>
      </p:sp>
      <p:pic>
        <p:nvPicPr>
          <p:cNvPr id="37" name="Picture 36">
            <a:extLst>
              <a:ext uri="{FF2B5EF4-FFF2-40B4-BE49-F238E27FC236}">
                <a16:creationId xmlns:a16="http://schemas.microsoft.com/office/drawing/2014/main" id="{79DDCA7D-0243-460A-82EC-4996EFEA59DB}"/>
              </a:ext>
            </a:extLst>
          </p:cNvPr>
          <p:cNvPicPr>
            <a:picLocks noChangeAspect="1"/>
          </p:cNvPicPr>
          <p:nvPr/>
        </p:nvPicPr>
        <p:blipFill>
          <a:blip r:embed="rId9"/>
          <a:stretch>
            <a:fillRect/>
          </a:stretch>
        </p:blipFill>
        <p:spPr>
          <a:xfrm>
            <a:off x="10505338" y="166891"/>
            <a:ext cx="1544421" cy="37260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HONEST STATUS</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is still open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39</a:t>
            </a:r>
            <a:endParaRPr lang="en-US" sz="950" dirty="0"/>
          </a:p>
        </p:txBody>
      </p:sp>
      <p:sp>
        <p:nvSpPr>
          <p:cNvPr id="6" name="Shape 4"/>
          <p:cNvSpPr/>
          <p:nvPr/>
        </p:nvSpPr>
        <p:spPr>
          <a:xfrm>
            <a:off x="566928"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C62828"/>
          </a:solidFill>
          <a:ln w="12700">
            <a:solidFill>
              <a:srgbClr val="C62828"/>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The technology stack is undecided</a:t>
            </a:r>
            <a:endParaRPr lang="en-US" sz="1350" dirty="0"/>
          </a:p>
        </p:txBody>
      </p:sp>
      <p:sp>
        <p:nvSpPr>
          <p:cNvPr id="10" name="Text 7"/>
          <p:cNvSpPr/>
          <p:nvPr/>
        </p:nvSpPr>
        <p:spPr>
          <a:xfrm>
            <a:off x="786384"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Firebase or MongoDB — still an open question in the design documents. Every module so far has been designed to be storage-agnostic, so this is not blocking, but it needs a decision before build.</a:t>
            </a:r>
            <a:endParaRPr lang="en-US" sz="1050" dirty="0"/>
          </a:p>
        </p:txBody>
      </p:sp>
      <p:sp>
        <p:nvSpPr>
          <p:cNvPr id="11" name="Shape 8"/>
          <p:cNvSpPr/>
          <p:nvPr/>
        </p:nvSpPr>
        <p:spPr>
          <a:xfrm>
            <a:off x="4332122"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700784"/>
            <a:ext cx="420624" cy="420624"/>
          </a:xfrm>
          <a:prstGeom prst="ellipse">
            <a:avLst/>
          </a:prstGeom>
          <a:solidFill>
            <a:srgbClr val="F59E0B"/>
          </a:solidFill>
          <a:ln w="12700">
            <a:solidFill>
              <a:srgbClr val="F59E0B"/>
            </a:solidFill>
            <a:prstDash val="solid"/>
          </a:ln>
        </p:spPr>
      </p:sp>
      <p:pic>
        <p:nvPicPr>
          <p:cNvPr id="13" name="Image 1" descr="preencoded.png"/>
          <p:cNvPicPr>
            <a:picLocks noChangeAspect="1"/>
          </p:cNvPicPr>
          <p:nvPr/>
        </p:nvPicPr>
        <p:blipFill>
          <a:blip r:embed="rId4"/>
          <a:stretch>
            <a:fillRect/>
          </a:stretch>
        </p:blipFill>
        <p:spPr>
          <a:xfrm>
            <a:off x="4656734" y="1805940"/>
            <a:ext cx="210312" cy="210312"/>
          </a:xfrm>
          <a:prstGeom prst="rect">
            <a:avLst/>
          </a:prstGeom>
        </p:spPr>
      </p:pic>
      <p:sp>
        <p:nvSpPr>
          <p:cNvPr id="14" name="Text 10"/>
          <p:cNvSpPr/>
          <p:nvPr/>
        </p:nvSpPr>
        <p:spPr>
          <a:xfrm>
            <a:off x="4551578"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Two foundation documents not started</a:t>
            </a:r>
            <a:endParaRPr lang="en-US" sz="1350" dirty="0"/>
          </a:p>
        </p:txBody>
      </p:sp>
      <p:sp>
        <p:nvSpPr>
          <p:cNvPr id="15" name="Text 11"/>
          <p:cNvSpPr/>
          <p:nvPr/>
        </p:nvSpPr>
        <p:spPr>
          <a:xfrm>
            <a:off x="4551578"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UX &amp; Interaction Guidelines and the Technical Design Standards are both planned but unwritten. The Design Foundation covers visual language only.</a:t>
            </a:r>
            <a:endParaRPr lang="en-US" sz="1050" dirty="0"/>
          </a:p>
        </p:txBody>
      </p:sp>
      <p:sp>
        <p:nvSpPr>
          <p:cNvPr id="16" name="Shape 12"/>
          <p:cNvSpPr/>
          <p:nvPr/>
        </p:nvSpPr>
        <p:spPr>
          <a:xfrm>
            <a:off x="8097317"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700784"/>
            <a:ext cx="420624" cy="420624"/>
          </a:xfrm>
          <a:prstGeom prst="ellipse">
            <a:avLst/>
          </a:prstGeom>
          <a:solidFill>
            <a:srgbClr val="F59E0B"/>
          </a:solidFill>
          <a:ln w="12700">
            <a:solidFill>
              <a:srgbClr val="F59E0B"/>
            </a:solidFill>
            <a:prstDash val="solid"/>
          </a:ln>
        </p:spPr>
      </p:sp>
      <p:pic>
        <p:nvPicPr>
          <p:cNvPr id="18" name="Image 2" descr="preencoded.png"/>
          <p:cNvPicPr>
            <a:picLocks noChangeAspect="1"/>
          </p:cNvPicPr>
          <p:nvPr/>
        </p:nvPicPr>
        <p:blipFill>
          <a:blip r:embed="rId5"/>
          <a:stretch>
            <a:fillRect/>
          </a:stretch>
        </p:blipFill>
        <p:spPr>
          <a:xfrm>
            <a:off x="8421929" y="1805940"/>
            <a:ext cx="210312" cy="210312"/>
          </a:xfrm>
          <a:prstGeom prst="rect">
            <a:avLst/>
          </a:prstGeom>
        </p:spPr>
      </p:pic>
      <p:sp>
        <p:nvSpPr>
          <p:cNvPr id="19" name="Text 14"/>
          <p:cNvSpPr/>
          <p:nvPr/>
        </p:nvSpPr>
        <p:spPr>
          <a:xfrm>
            <a:off x="8316773"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Modules 09 and 10 have no formal spec yet</a:t>
            </a:r>
            <a:endParaRPr lang="en-US" sz="1350" dirty="0"/>
          </a:p>
        </p:txBody>
      </p:sp>
      <p:sp>
        <p:nvSpPr>
          <p:cNvPr id="20" name="Text 15"/>
          <p:cNvSpPr/>
          <p:nvPr/>
        </p:nvSpPr>
        <p:spPr>
          <a:xfrm>
            <a:off x="8316773"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Both are designed and agreed in the working documents, but neither has been written up as a numbered specification the way Modules 01 to 08 were.</a:t>
            </a:r>
            <a:endParaRPr lang="en-US" sz="1050" dirty="0"/>
          </a:p>
        </p:txBody>
      </p:sp>
      <p:sp>
        <p:nvSpPr>
          <p:cNvPr id="21" name="Shape 16"/>
          <p:cNvSpPr/>
          <p:nvPr/>
        </p:nvSpPr>
        <p:spPr>
          <a:xfrm>
            <a:off x="566928"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4005072"/>
            <a:ext cx="420624" cy="420624"/>
          </a:xfrm>
          <a:prstGeom prst="ellipse">
            <a:avLst/>
          </a:prstGeom>
          <a:solidFill>
            <a:srgbClr val="175496"/>
          </a:solidFill>
          <a:ln w="12700">
            <a:solidFill>
              <a:srgbClr val="175496"/>
            </a:solidFill>
            <a:prstDash val="solid"/>
          </a:ln>
        </p:spPr>
      </p:sp>
      <p:pic>
        <p:nvPicPr>
          <p:cNvPr id="23" name="Image 3" descr="preencoded.png"/>
          <p:cNvPicPr>
            <a:picLocks noChangeAspect="1"/>
          </p:cNvPicPr>
          <p:nvPr/>
        </p:nvPicPr>
        <p:blipFill>
          <a:blip r:embed="rId6"/>
          <a:stretch>
            <a:fillRect/>
          </a:stretch>
        </p:blipFill>
        <p:spPr>
          <a:xfrm>
            <a:off x="891540" y="4110228"/>
            <a:ext cx="210312" cy="210312"/>
          </a:xfrm>
          <a:prstGeom prst="rect">
            <a:avLst/>
          </a:prstGeom>
        </p:spPr>
      </p:pic>
      <p:sp>
        <p:nvSpPr>
          <p:cNvPr id="24" name="Text 18"/>
          <p:cNvSpPr/>
          <p:nvPr/>
        </p:nvSpPr>
        <p:spPr>
          <a:xfrm>
            <a:off x="786384"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Logo variants outstanding</a:t>
            </a:r>
            <a:endParaRPr lang="en-US" sz="1350" dirty="0"/>
          </a:p>
        </p:txBody>
      </p:sp>
      <p:sp>
        <p:nvSpPr>
          <p:cNvPr id="25" name="Text 19"/>
          <p:cNvSpPr/>
          <p:nvPr/>
        </p:nvSpPr>
        <p:spPr>
          <a:xfrm>
            <a:off x="786384"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white / reversed mark for dark headers, an icon-only mark for the collapsed sidebar, and a favicon are all still to be supplied.</a:t>
            </a:r>
            <a:endParaRPr lang="en-US" sz="1050" dirty="0"/>
          </a:p>
        </p:txBody>
      </p:sp>
      <p:sp>
        <p:nvSpPr>
          <p:cNvPr id="26" name="Shape 20"/>
          <p:cNvSpPr/>
          <p:nvPr/>
        </p:nvSpPr>
        <p:spPr>
          <a:xfrm>
            <a:off x="4332122"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4005072"/>
            <a:ext cx="420624" cy="420624"/>
          </a:xfrm>
          <a:prstGeom prst="ellipse">
            <a:avLst/>
          </a:prstGeom>
          <a:solidFill>
            <a:srgbClr val="175496"/>
          </a:solidFill>
          <a:ln w="12700">
            <a:solidFill>
              <a:srgbClr val="175496"/>
            </a:solidFill>
            <a:prstDash val="solid"/>
          </a:ln>
        </p:spPr>
      </p:sp>
      <p:pic>
        <p:nvPicPr>
          <p:cNvPr id="28" name="Image 4" descr="preencoded.png"/>
          <p:cNvPicPr>
            <a:picLocks noChangeAspect="1"/>
          </p:cNvPicPr>
          <p:nvPr/>
        </p:nvPicPr>
        <p:blipFill>
          <a:blip r:embed="rId7"/>
          <a:stretch>
            <a:fillRect/>
          </a:stretch>
        </p:blipFill>
        <p:spPr>
          <a:xfrm>
            <a:off x="4656734" y="4110228"/>
            <a:ext cx="210312" cy="210312"/>
          </a:xfrm>
          <a:prstGeom prst="rect">
            <a:avLst/>
          </a:prstGeom>
        </p:spPr>
      </p:pic>
      <p:sp>
        <p:nvSpPr>
          <p:cNvPr id="29" name="Text 22"/>
          <p:cNvSpPr/>
          <p:nvPr/>
        </p:nvSpPr>
        <p:spPr>
          <a:xfrm>
            <a:off x="4551578"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Legacy artifacts still say “POMS”</a:t>
            </a:r>
            <a:endParaRPr lang="en-US" sz="1350" dirty="0"/>
          </a:p>
        </p:txBody>
      </p:sp>
      <p:sp>
        <p:nvSpPr>
          <p:cNvPr id="30" name="Text 23"/>
          <p:cNvSpPr/>
          <p:nvPr/>
        </p:nvSpPr>
        <p:spPr>
          <a:xfrm>
            <a:off x="4551578"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earlier presentations and the architecture PDF predate the rename to iPOMS and should be reissued under the current name.</a:t>
            </a:r>
            <a:endParaRPr lang="en-US" sz="1050" dirty="0"/>
          </a:p>
        </p:txBody>
      </p:sp>
      <p:sp>
        <p:nvSpPr>
          <p:cNvPr id="31" name="Shape 24"/>
          <p:cNvSpPr/>
          <p:nvPr/>
        </p:nvSpPr>
        <p:spPr>
          <a:xfrm>
            <a:off x="8097317"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4005072"/>
            <a:ext cx="420624" cy="420624"/>
          </a:xfrm>
          <a:prstGeom prst="ellipse">
            <a:avLst/>
          </a:prstGeom>
          <a:solidFill>
            <a:srgbClr val="2E7D32"/>
          </a:solidFill>
          <a:ln w="12700">
            <a:solidFill>
              <a:srgbClr val="2E7D32"/>
            </a:solidFill>
            <a:prstDash val="solid"/>
          </a:ln>
        </p:spPr>
      </p:sp>
      <p:pic>
        <p:nvPicPr>
          <p:cNvPr id="33" name="Image 5" descr="preencoded.png"/>
          <p:cNvPicPr>
            <a:picLocks noChangeAspect="1"/>
          </p:cNvPicPr>
          <p:nvPr/>
        </p:nvPicPr>
        <p:blipFill>
          <a:blip r:embed="rId8"/>
          <a:stretch>
            <a:fillRect/>
          </a:stretch>
        </p:blipFill>
        <p:spPr>
          <a:xfrm>
            <a:off x="8421929" y="4110228"/>
            <a:ext cx="210312" cy="210312"/>
          </a:xfrm>
          <a:prstGeom prst="rect">
            <a:avLst/>
          </a:prstGeom>
        </p:spPr>
      </p:pic>
      <p:sp>
        <p:nvSpPr>
          <p:cNvPr id="34" name="Text 26"/>
          <p:cNvSpPr/>
          <p:nvPr/>
        </p:nvSpPr>
        <p:spPr>
          <a:xfrm>
            <a:off x="8316773"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None of these block the next step</a:t>
            </a:r>
            <a:endParaRPr lang="en-US" sz="1350" dirty="0"/>
          </a:p>
        </p:txBody>
      </p:sp>
      <p:sp>
        <p:nvSpPr>
          <p:cNvPr id="35" name="Text 27"/>
          <p:cNvSpPr/>
          <p:nvPr/>
        </p:nvSpPr>
        <p:spPr>
          <a:xfrm>
            <a:off x="8316773"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workflow design is settled across all ten modules. These are sequencing and housekeeping items, not unresolved product questions.</a:t>
            </a:r>
            <a:endParaRPr lang="en-US" sz="1050" dirty="0"/>
          </a:p>
        </p:txBody>
      </p:sp>
      <p:pic>
        <p:nvPicPr>
          <p:cNvPr id="36" name="Picture 35">
            <a:extLst>
              <a:ext uri="{FF2B5EF4-FFF2-40B4-BE49-F238E27FC236}">
                <a16:creationId xmlns:a16="http://schemas.microsoft.com/office/drawing/2014/main" id="{A3CFB588-1C19-FB1C-DC24-B7357130AC26}"/>
              </a:ext>
            </a:extLst>
          </p:cNvPr>
          <p:cNvPicPr>
            <a:picLocks noChangeAspect="1"/>
          </p:cNvPicPr>
          <p:nvPr/>
        </p:nvPicPr>
        <p:blipFill>
          <a:blip r:embed="rId9"/>
          <a:stretch>
            <a:fillRect/>
          </a:stretch>
        </p:blipFill>
        <p:spPr>
          <a:xfrm>
            <a:off x="10505338" y="166891"/>
            <a:ext cx="1544421" cy="37260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BEYOND VERSION 1</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Where iPOMS goes next</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40</a:t>
            </a:r>
            <a:endParaRPr lang="en-US" sz="950" dirty="0"/>
          </a:p>
        </p:txBody>
      </p:sp>
      <p:sp>
        <p:nvSpPr>
          <p:cNvPr id="6" name="Shape 4"/>
          <p:cNvSpPr/>
          <p:nvPr/>
        </p:nvSpPr>
        <p:spPr>
          <a:xfrm>
            <a:off x="566928" y="1481328"/>
            <a:ext cx="3527450" cy="4114800"/>
          </a:xfrm>
          <a:prstGeom prst="roundRect">
            <a:avLst>
              <a:gd name="adj" fmla="val 25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Security</a:t>
            </a:r>
            <a:endParaRPr lang="en-US" sz="1350" dirty="0"/>
          </a:p>
        </p:txBody>
      </p:sp>
      <p:sp>
        <p:nvSpPr>
          <p:cNvPr id="10" name="Text 7"/>
          <p:cNvSpPr/>
          <p:nvPr/>
        </p:nvSpPr>
        <p:spPr>
          <a:xfrm>
            <a:off x="786384" y="2569464"/>
            <a:ext cx="3088538" cy="2852928"/>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Two-factor authentication</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Biometric and face-recognition login</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Single Sign-On</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Microsoft 365 and Google Workspace</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SMS and WhatsApp OTP</a:t>
            </a:r>
            <a:endParaRPr lang="en-US" sz="1150" dirty="0"/>
          </a:p>
        </p:txBody>
      </p:sp>
      <p:sp>
        <p:nvSpPr>
          <p:cNvPr id="11" name="Shape 8"/>
          <p:cNvSpPr/>
          <p:nvPr/>
        </p:nvSpPr>
        <p:spPr>
          <a:xfrm>
            <a:off x="4332122" y="1481328"/>
            <a:ext cx="3527450" cy="4114800"/>
          </a:xfrm>
          <a:prstGeom prst="roundRect">
            <a:avLst>
              <a:gd name="adj" fmla="val 25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700784"/>
            <a:ext cx="420624" cy="420624"/>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4656734" y="1805940"/>
            <a:ext cx="210312" cy="210312"/>
          </a:xfrm>
          <a:prstGeom prst="rect">
            <a:avLst/>
          </a:prstGeom>
        </p:spPr>
      </p:pic>
      <p:sp>
        <p:nvSpPr>
          <p:cNvPr id="14" name="Text 10"/>
          <p:cNvSpPr/>
          <p:nvPr/>
        </p:nvSpPr>
        <p:spPr>
          <a:xfrm>
            <a:off x="4551578"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Experience</a:t>
            </a:r>
            <a:endParaRPr lang="en-US" sz="1350" dirty="0"/>
          </a:p>
        </p:txBody>
      </p:sp>
      <p:sp>
        <p:nvSpPr>
          <p:cNvPr id="15" name="Text 11"/>
          <p:cNvSpPr/>
          <p:nvPr/>
        </p:nvSpPr>
        <p:spPr>
          <a:xfrm>
            <a:off x="4551578" y="2569464"/>
            <a:ext cx="3088538" cy="2852928"/>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Dark mode</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Direct sharing to Teams and WhatsApp</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Additional report templates</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Organization-specific branding themes</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Uploaded profile photos</a:t>
            </a:r>
            <a:endParaRPr lang="en-US" sz="1150" dirty="0"/>
          </a:p>
        </p:txBody>
      </p:sp>
      <p:sp>
        <p:nvSpPr>
          <p:cNvPr id="16" name="Shape 12"/>
          <p:cNvSpPr/>
          <p:nvPr/>
        </p:nvSpPr>
        <p:spPr>
          <a:xfrm>
            <a:off x="8097317" y="1481328"/>
            <a:ext cx="3527450" cy="4114800"/>
          </a:xfrm>
          <a:prstGeom prst="roundRect">
            <a:avLst>
              <a:gd name="adj" fmla="val 25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700784"/>
            <a:ext cx="420624" cy="420624"/>
          </a:xfrm>
          <a:prstGeom prst="ellipse">
            <a:avLst/>
          </a:prstGeom>
          <a:solidFill>
            <a:srgbClr val="2E7D32"/>
          </a:solidFill>
          <a:ln w="12700">
            <a:solidFill>
              <a:srgbClr val="2E7D32"/>
            </a:solidFill>
            <a:prstDash val="solid"/>
          </a:ln>
        </p:spPr>
      </p:sp>
      <p:pic>
        <p:nvPicPr>
          <p:cNvPr id="18" name="Image 2" descr="preencoded.png"/>
          <p:cNvPicPr>
            <a:picLocks noChangeAspect="1"/>
          </p:cNvPicPr>
          <p:nvPr/>
        </p:nvPicPr>
        <p:blipFill>
          <a:blip r:embed="rId5"/>
          <a:stretch>
            <a:fillRect/>
          </a:stretch>
        </p:blipFill>
        <p:spPr>
          <a:xfrm>
            <a:off x="8421929" y="1805940"/>
            <a:ext cx="210312" cy="210312"/>
          </a:xfrm>
          <a:prstGeom prst="rect">
            <a:avLst/>
          </a:prstGeom>
        </p:spPr>
      </p:pic>
      <p:sp>
        <p:nvSpPr>
          <p:cNvPr id="19" name="Text 14"/>
          <p:cNvSpPr/>
          <p:nvPr/>
        </p:nvSpPr>
        <p:spPr>
          <a:xfrm>
            <a:off x="8316773"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Intelligence</a:t>
            </a:r>
            <a:endParaRPr lang="en-US" sz="1350" dirty="0"/>
          </a:p>
        </p:txBody>
      </p:sp>
      <p:sp>
        <p:nvSpPr>
          <p:cNvPr id="20" name="Text 15"/>
          <p:cNvSpPr/>
          <p:nvPr/>
        </p:nvSpPr>
        <p:spPr>
          <a:xfrm>
            <a:off x="8316773" y="2569464"/>
            <a:ext cx="3088538" cy="2852928"/>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Scheduled report generation</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AI-generated narrative summaries</a:t>
            </a:r>
            <a:endParaRPr lang="en-US" sz="1150" dirty="0"/>
          </a:p>
          <a:p>
            <a:pPr marL="342900" indent="-342900">
              <a:lnSpc>
                <a:spcPct val="110000"/>
              </a:lnSpc>
              <a:spcAft>
                <a:spcPts val="600"/>
              </a:spcAft>
              <a:buSzPct val="100000"/>
              <a:buChar char="▪"/>
            </a:pPr>
            <a:r>
              <a:rPr lang="en-US" sz="1150" dirty="0">
                <a:solidFill>
                  <a:srgbClr val="3E4C59"/>
                </a:solidFill>
                <a:latin typeface="Calibri" pitchFamily="34" charset="0"/>
                <a:ea typeface="Calibri" pitchFamily="34" charset="-122"/>
                <a:cs typeface="Calibri" pitchFamily="34" charset="-120"/>
              </a:rPr>
              <a:t>Deeper company and college analytics</a:t>
            </a:r>
            <a:endParaRPr lang="en-US" sz="1150" dirty="0"/>
          </a:p>
        </p:txBody>
      </p:sp>
      <p:pic>
        <p:nvPicPr>
          <p:cNvPr id="21" name="Picture 20">
            <a:extLst>
              <a:ext uri="{FF2B5EF4-FFF2-40B4-BE49-F238E27FC236}">
                <a16:creationId xmlns:a16="http://schemas.microsoft.com/office/drawing/2014/main" id="{41C1FB76-7075-F5EC-A37D-C048AE956522}"/>
              </a:ext>
            </a:extLst>
          </p:cNvPr>
          <p:cNvPicPr>
            <a:picLocks noChangeAspect="1"/>
          </p:cNvPicPr>
          <p:nvPr/>
        </p:nvPicPr>
        <p:blipFill>
          <a:blip r:embed="rId6"/>
          <a:stretch>
            <a:fillRect/>
          </a:stretch>
        </p:blipFill>
        <p:spPr>
          <a:xfrm>
            <a:off x="10505338" y="166891"/>
            <a:ext cx="1544421" cy="37260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2E5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148840"/>
            <a:ext cx="91440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4" name="Text 1"/>
          <p:cNvSpPr/>
          <p:nvPr/>
        </p:nvSpPr>
        <p:spPr>
          <a:xfrm>
            <a:off x="566928" y="3200400"/>
            <a:ext cx="8778240" cy="457200"/>
          </a:xfrm>
          <a:prstGeom prst="rect">
            <a:avLst/>
          </a:prstGeom>
          <a:noFill/>
          <a:ln/>
        </p:spPr>
        <p:txBody>
          <a:bodyPr wrap="square" lIns="0" tIns="0" rIns="0" bIns="0" rtlCol="0" anchor="ctr"/>
          <a:lstStyle/>
          <a:p>
            <a:pPr marL="0" indent="0">
              <a:buNone/>
            </a:pPr>
            <a:r>
              <a:rPr lang="en-US" sz="1600" dirty="0">
                <a:solidFill>
                  <a:srgbClr val="90CAF9"/>
                </a:solidFill>
                <a:latin typeface="Calibri" pitchFamily="34" charset="0"/>
                <a:ea typeface="Calibri" pitchFamily="34" charset="-122"/>
                <a:cs typeface="Calibri" pitchFamily="34" charset="-120"/>
              </a:rPr>
              <a:t>Questions, corrections and challenges are all welcome — the design is not frozen.</a:t>
            </a:r>
            <a:endParaRPr lang="en-US" sz="1600" dirty="0"/>
          </a:p>
        </p:txBody>
      </p:sp>
      <p:sp>
        <p:nvSpPr>
          <p:cNvPr id="5" name="Text 2"/>
          <p:cNvSpPr/>
          <p:nvPr/>
        </p:nvSpPr>
        <p:spPr>
          <a:xfrm>
            <a:off x="566928" y="4114800"/>
            <a:ext cx="9144000" cy="365760"/>
          </a:xfrm>
          <a:prstGeom prst="rect">
            <a:avLst/>
          </a:prstGeom>
          <a:noFill/>
          <a:ln/>
        </p:spPr>
        <p:txBody>
          <a:bodyPr wrap="square" lIns="0" tIns="0" rIns="0" bIns="0" rtlCol="0" anchor="ctr"/>
          <a:lstStyle/>
          <a:p>
            <a:pPr marL="0" indent="0">
              <a:buNone/>
            </a:pPr>
            <a:r>
              <a:rPr lang="en-US" sz="1500" b="1" dirty="0">
                <a:solidFill>
                  <a:srgbClr val="64B5F6"/>
                </a:solidFill>
                <a:latin typeface="Calibri" pitchFamily="34" charset="0"/>
                <a:ea typeface="Calibri" pitchFamily="34" charset="-122"/>
                <a:cs typeface="Calibri" pitchFamily="34" charset="-120"/>
              </a:rPr>
              <a:t>iPOMS   ·   Infoziant Placement Operations Management System</a:t>
            </a:r>
            <a:endParaRPr lang="en-US" sz="1500" dirty="0"/>
          </a:p>
        </p:txBody>
      </p:sp>
      <p:sp>
        <p:nvSpPr>
          <p:cNvPr id="6" name="Text 3"/>
          <p:cNvSpPr/>
          <p:nvPr/>
        </p:nvSpPr>
        <p:spPr>
          <a:xfrm>
            <a:off x="566928" y="4498848"/>
            <a:ext cx="9144000" cy="365760"/>
          </a:xfrm>
          <a:prstGeom prst="rect">
            <a:avLst/>
          </a:prstGeom>
          <a:noFill/>
          <a:ln/>
        </p:spPr>
        <p:txBody>
          <a:bodyPr wrap="square" lIns="0" tIns="0" rIns="0" bIns="0" rtlCol="0" anchor="ctr"/>
          <a:lstStyle/>
          <a:p>
            <a:pPr marL="0" indent="0">
              <a:buNone/>
            </a:pPr>
            <a:r>
              <a:rPr lang="en-US" sz="1300" i="1" dirty="0">
                <a:solidFill>
                  <a:srgbClr val="90CAF9"/>
                </a:solidFill>
                <a:latin typeface="Calibri" pitchFamily="34" charset="0"/>
                <a:ea typeface="Calibri" pitchFamily="34" charset="-122"/>
                <a:cs typeface="Calibri" pitchFamily="34" charset="-120"/>
              </a:rPr>
              <a:t>"Empowering Placement Teams with Intelligent Operations."</a:t>
            </a:r>
            <a:endParaRPr lang="en-US" sz="1300" dirty="0"/>
          </a:p>
        </p:txBody>
      </p:sp>
      <p:sp>
        <p:nvSpPr>
          <p:cNvPr id="7" name="Text 4"/>
          <p:cNvSpPr/>
          <p:nvPr/>
        </p:nvSpPr>
        <p:spPr>
          <a:xfrm>
            <a:off x="566928" y="5138928"/>
            <a:ext cx="9144000" cy="329184"/>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INFOZIANT   ·   Secure. Scalable. Innovative.</a:t>
            </a:r>
            <a:endParaRPr lang="en-US" sz="1100" dirty="0"/>
          </a:p>
        </p:txBody>
      </p:sp>
      <p:sp>
        <p:nvSpPr>
          <p:cNvPr id="8" name="Text 5"/>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90CAF9"/>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8503</Words>
  <Application>Microsoft Office PowerPoint</Application>
  <PresentationFormat>Widescreen</PresentationFormat>
  <Paragraphs>1016</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Infoziant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iPOMS — Project Walkthrough &amp; Status Review</dc:title>
  <dc:subject>Infoziant Placement Operations Management System, Version 1.0</dc:subject>
  <dc:creator>Infoziant IT Solutions Inc.</dc:creator>
  <cp:lastModifiedBy>Mohanaradha A</cp:lastModifiedBy>
  <cp:revision>1</cp:revision>
  <dcterms:created xsi:type="dcterms:W3CDTF">2026-07-25T04:24:54Z</dcterms:created>
  <dcterms:modified xsi:type="dcterms:W3CDTF">2026-07-25T05:16:33Z</dcterms:modified>
</cp:coreProperties>
</file>