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0066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I'll show how iPOMS, our Placement Operations Management System, helps coordinators every day.
It brings the call tracker, leads, weekly drive tracker and reports into one place.
Live app: ipoms.vercel.app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iPOMS we maintained separate Excel trackers for each college and each month.
The same company was re-typed again and again, follow-ups depended on memory, and leaders had to chase files for updates.
iPOMS replaces all of that with one system: one login, one company database, automatic sync and reminders, and live dashboards.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connected. Companies live in one master database of more than 3,500 companies.
Coordinators load contacts from it into the Daily Tracker, positive calls move to Daily Leads and the Weekly Tracker, and reports are generated from that data.
The database has pagination with page jump, search, and a Range Picker so each coordinator can work a separate serial-number range.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Tracker is where we spend most of the day.
Instead of typing contacts, we load them from the master database, with search and the Range Picker.
Each phone number has a call button that connects through Microsoft Phone Link, and a WhatsApp button that opens WhatsApp Web or the desktop app.
Press Spacebar for the start time; end time and duration are captured automatically, and every change auto-saves.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calls don't need to be copied anywhere.
An Invite Mail call goes into the Weekly Tracker pipeline, and the Sync button pulls positives into Daily Leads.
If something is missed, an 8 PM email reminds the coordinator, and at 10 PM the system syncs it automatically and shows an alert at the next login.
Follow-ups that are due or overdue show on the dashboard, so nothing is forgotten.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Team Leaders, performance is visible live on the dashboard.
It shows who is online, which college and page each coordinator is working on, calls made today, and positives and JDs received.
Every call's start time, end time and duration is recorded.
Next on the roadmap: month-over-month comparison of each coordinator's statistics.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that took hours in Excel are now one click.
There are six report types: Weekly, Month-End, Pending Tasks, Active Leads, Daily Positives and Daily JD Received.
A report can cover one college, or several colleges in a single go, and exports as PDF, Excel or an image, ready to share.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and to walk through the live application at ipoms.vercel.app.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infoziant.com" TargetMode="External"/><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hyperlink" Target="https://ipoms.vercel.app/"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9.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2.png"/><Relationship Id="rId9" Type="http://schemas.openxmlformats.org/officeDocument/2006/relationships/image" Target="../media/image18.pn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1.png"/><Relationship Id="rId3" Type="http://schemas.openxmlformats.org/officeDocument/2006/relationships/image" Target="../media/image9.png"/><Relationship Id="rId7" Type="http://schemas.openxmlformats.org/officeDocument/2006/relationships/image" Target="../media/image7.png"/><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25.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39.png"/><Relationship Id="rId5" Type="http://schemas.openxmlformats.org/officeDocument/2006/relationships/image" Target="../media/image35.png"/><Relationship Id="rId10"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38.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9.png"/><Relationship Id="rId7"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2.png"/><Relationship Id="rId9" Type="http://schemas.openxmlformats.org/officeDocument/2006/relationships/image" Target="../media/image43.png"/></Relationships>
</file>

<file path=ppt/slides/_rels/slide8.xml.rels><?xml version="1.0" encoding="UTF-8" standalone="yes"?>
<Relationships xmlns="http://schemas.openxmlformats.org/package/2006/relationships"><Relationship Id="rId8" Type="http://schemas.openxmlformats.org/officeDocument/2006/relationships/hyperlink" Target="https://www.infoziant.com" TargetMode="External"/><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ipoms.vercel.app/" TargetMode="External"/><Relationship Id="rId5" Type="http://schemas.openxmlformats.org/officeDocument/2006/relationships/image" Target="../media/image4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685800" y="640080"/>
            <a:ext cx="2501474" cy="603504"/>
          </a:xfrm>
          <a:prstGeom prst="rect">
            <a:avLst/>
          </a:prstGeom>
        </p:spPr>
      </p:pic>
      <p:sp>
        <p:nvSpPr>
          <p:cNvPr id="3" name="a1_1"/>
          <p:cNvSpPr/>
          <p:nvPr/>
        </p:nvSpPr>
        <p:spPr>
          <a:xfrm>
            <a:off x="713232" y="1627632"/>
            <a:ext cx="1788566" cy="329184"/>
          </a:xfrm>
          <a:prstGeom prst="roundRect">
            <a:avLst>
              <a:gd name="adj" fmla="val 138889"/>
            </a:avLst>
          </a:prstGeom>
          <a:solidFill>
            <a:srgbClr val="ECFEFF"/>
          </a:solidFill>
          <a:ln w="9525">
            <a:solidFill>
              <a:srgbClr val="A5F3FC"/>
            </a:solidFill>
            <a:prstDash val="solid"/>
          </a:ln>
        </p:spPr>
      </p:sp>
      <p:pic>
        <p:nvPicPr>
          <p:cNvPr id="4" name="a1_2" descr="preencoded.png"/>
          <p:cNvPicPr>
            <a:picLocks noChangeAspect="1"/>
          </p:cNvPicPr>
          <p:nvPr/>
        </p:nvPicPr>
        <p:blipFill>
          <a:blip r:embed="rId5"/>
          <a:stretch>
            <a:fillRect/>
          </a:stretch>
        </p:blipFill>
        <p:spPr>
          <a:xfrm>
            <a:off x="841248" y="1700784"/>
            <a:ext cx="182880" cy="182880"/>
          </a:xfrm>
          <a:prstGeom prst="rect">
            <a:avLst/>
          </a:prstGeom>
        </p:spPr>
      </p:pic>
      <p:sp>
        <p:nvSpPr>
          <p:cNvPr id="5" name="a1_3"/>
          <p:cNvSpPr txBox="1"/>
          <p:nvPr/>
        </p:nvSpPr>
        <p:spPr>
          <a:xfrm>
            <a:off x="1097280" y="1627632"/>
            <a:ext cx="1331366" cy="329184"/>
          </a:xfrm>
          <a:prstGeom prst="rect">
            <a:avLst/>
          </a:prstGeom>
          <a:noFill/>
          <a:ln/>
        </p:spPr>
        <p:txBody>
          <a:bodyPr wrap="square" lIns="0" tIns="0" rIns="0" bIns="0" rtlCol="0" anchor="ctr"/>
          <a:lstStyle/>
          <a:p>
            <a:pPr marL="0" indent="0">
              <a:buNone/>
            </a:pPr>
            <a:r>
              <a:rPr lang="en-US" sz="1000" kern="0" spc="120" dirty="0">
                <a:solidFill>
                  <a:srgbClr val="0E7490"/>
                </a:solidFill>
                <a:latin typeface="Segoe UI Semibold" pitchFamily="34" charset="0"/>
                <a:ea typeface="Segoe UI Semibold" pitchFamily="34" charset="-122"/>
                <a:cs typeface="Segoe UI Semibold" pitchFamily="34" charset="-120"/>
              </a:rPr>
              <a:t>PRODUCT DEMO</a:t>
            </a:r>
            <a:endParaRPr lang="en-US" sz="1000" dirty="0"/>
          </a:p>
        </p:txBody>
      </p:sp>
      <p:sp>
        <p:nvSpPr>
          <p:cNvPr id="6" name="a1_4"/>
          <p:cNvSpPr txBox="1"/>
          <p:nvPr/>
        </p:nvSpPr>
        <p:spPr>
          <a:xfrm>
            <a:off x="658368" y="2011680"/>
            <a:ext cx="5303520" cy="1143000"/>
          </a:xfrm>
          <a:prstGeom prst="rect">
            <a:avLst/>
          </a:prstGeom>
          <a:noFill/>
          <a:ln/>
        </p:spPr>
        <p:txBody>
          <a:bodyPr wrap="square" lIns="0" tIns="0" rIns="0" bIns="0" rtlCol="0" anchor="ctr"/>
          <a:lstStyle/>
          <a:p>
            <a:pPr marL="0" indent="0">
              <a:buNone/>
            </a:pPr>
            <a:r>
              <a:rPr lang="en-US" sz="8000" dirty="0">
                <a:solidFill>
                  <a:srgbClr val="00A3BB"/>
                </a:solidFill>
                <a:latin typeface="Segoe UI Semibold" pitchFamily="34" charset="0"/>
                <a:ea typeface="Segoe UI Semibold" pitchFamily="34" charset="-122"/>
                <a:cs typeface="Segoe UI Semibold" pitchFamily="34" charset="-120"/>
              </a:rPr>
              <a:t>i</a:t>
            </a:r>
            <a:r>
              <a:rPr lang="en-US" sz="8000" dirty="0">
                <a:solidFill>
                  <a:srgbClr val="0F1E7A"/>
                </a:solidFill>
                <a:latin typeface="Segoe UI Semibold" pitchFamily="34" charset="0"/>
                <a:ea typeface="Segoe UI Semibold" pitchFamily="34" charset="-122"/>
                <a:cs typeface="Segoe UI Semibold" pitchFamily="34" charset="-120"/>
              </a:rPr>
              <a:t>POMS</a:t>
            </a:r>
            <a:endParaRPr lang="en-US" sz="8000" dirty="0"/>
          </a:p>
        </p:txBody>
      </p:sp>
      <p:sp>
        <p:nvSpPr>
          <p:cNvPr id="7" name="a1_5"/>
          <p:cNvSpPr txBox="1"/>
          <p:nvPr/>
        </p:nvSpPr>
        <p:spPr>
          <a:xfrm>
            <a:off x="713232" y="3127248"/>
            <a:ext cx="5303520" cy="822960"/>
          </a:xfrm>
          <a:prstGeom prst="rect">
            <a:avLst/>
          </a:prstGeom>
          <a:noFill/>
          <a:ln/>
        </p:spPr>
        <p:txBody>
          <a:bodyPr wrap="square" lIns="0" tIns="0" rIns="0" bIns="0" rtlCol="0" anchor="t"/>
          <a:lstStyle/>
          <a:p>
            <a:pPr marL="0" indent="0">
              <a:lnSpc>
                <a:spcPct val="105000"/>
              </a:lnSpc>
              <a:buNone/>
            </a:pPr>
            <a:r>
              <a:rPr lang="en-US" sz="2000" dirty="0">
                <a:solidFill>
                  <a:srgbClr val="334155"/>
                </a:solidFill>
                <a:latin typeface="Segoe UI" pitchFamily="34" charset="0"/>
                <a:ea typeface="Segoe UI" pitchFamily="34" charset="-122"/>
                <a:cs typeface="Segoe UI" pitchFamily="34" charset="-120"/>
              </a:rPr>
              <a:t>Infoziant Placement Operations</a:t>
            </a:r>
            <a:endParaRPr lang="en-US" sz="2000" dirty="0"/>
          </a:p>
          <a:p>
            <a:pPr marL="0" indent="0">
              <a:lnSpc>
                <a:spcPct val="105000"/>
              </a:lnSpc>
              <a:buNone/>
            </a:pPr>
            <a:r>
              <a:rPr lang="en-US" sz="2000" dirty="0">
                <a:solidFill>
                  <a:srgbClr val="334155"/>
                </a:solidFill>
                <a:latin typeface="Segoe UI" pitchFamily="34" charset="0"/>
                <a:ea typeface="Segoe UI" pitchFamily="34" charset="-122"/>
                <a:cs typeface="Segoe UI" pitchFamily="34" charset="-120"/>
              </a:rPr>
              <a:t>Management System</a:t>
            </a:r>
            <a:endParaRPr lang="en-US" sz="2000" dirty="0"/>
          </a:p>
        </p:txBody>
      </p:sp>
      <p:sp>
        <p:nvSpPr>
          <p:cNvPr id="8" name="a1_6"/>
          <p:cNvSpPr txBox="1"/>
          <p:nvPr/>
        </p:nvSpPr>
        <p:spPr>
          <a:xfrm>
            <a:off x="713232" y="3986784"/>
            <a:ext cx="5303520" cy="365760"/>
          </a:xfrm>
          <a:prstGeom prst="rect">
            <a:avLst/>
          </a:prstGeom>
          <a:noFill/>
          <a:ln/>
        </p:spPr>
        <p:txBody>
          <a:bodyPr wrap="square" lIns="0" tIns="0" rIns="0" bIns="0" rtlCol="0" anchor="t"/>
          <a:lstStyle/>
          <a:p>
            <a:pPr marL="0" indent="0">
              <a:buNone/>
            </a:pPr>
            <a:r>
              <a:rPr lang="en-US" sz="1500" dirty="0">
                <a:solidFill>
                  <a:srgbClr val="64748B"/>
                </a:solidFill>
                <a:latin typeface="Segoe UI" pitchFamily="34" charset="0"/>
                <a:ea typeface="Segoe UI" pitchFamily="34" charset="-122"/>
                <a:cs typeface="Segoe UI" pitchFamily="34" charset="-120"/>
              </a:rPr>
              <a:t>One platform for every call, lead, drive and report.</a:t>
            </a:r>
            <a:endParaRPr lang="en-US" sz="1500" dirty="0"/>
          </a:p>
        </p:txBody>
      </p:sp>
      <p:sp>
        <p:nvSpPr>
          <p:cNvPr id="9" name="a2_7"/>
          <p:cNvSpPr txBox="1"/>
          <p:nvPr/>
        </p:nvSpPr>
        <p:spPr>
          <a:xfrm>
            <a:off x="713232" y="4663440"/>
            <a:ext cx="3657600" cy="237744"/>
          </a:xfrm>
          <a:prstGeom prst="rect">
            <a:avLst/>
          </a:prstGeom>
          <a:noFill/>
          <a:ln/>
        </p:spPr>
        <p:txBody>
          <a:bodyPr wrap="square" lIns="0" tIns="0" rIns="0" bIns="0" rtlCol="0" anchor="t"/>
          <a:lstStyle/>
          <a:p>
            <a:pPr marL="0" indent="0">
              <a:buNone/>
            </a:pPr>
            <a:r>
              <a:rPr lang="en-US" sz="1000" kern="0" spc="200" dirty="0">
                <a:solidFill>
                  <a:srgbClr val="0E7490"/>
                </a:solidFill>
                <a:latin typeface="Segoe UI Semibold" pitchFamily="34" charset="0"/>
                <a:ea typeface="Segoe UI Semibold" pitchFamily="34" charset="-122"/>
                <a:cs typeface="Segoe UI Semibold" pitchFamily="34" charset="-120"/>
              </a:rPr>
              <a:t>PRESENTED BY</a:t>
            </a:r>
            <a:endParaRPr lang="en-US" sz="1000" dirty="0"/>
          </a:p>
        </p:txBody>
      </p:sp>
      <p:sp>
        <p:nvSpPr>
          <p:cNvPr id="10" name="a2_8"/>
          <p:cNvSpPr txBox="1"/>
          <p:nvPr/>
        </p:nvSpPr>
        <p:spPr>
          <a:xfrm>
            <a:off x="713232" y="4901184"/>
            <a:ext cx="4572000" cy="402336"/>
          </a:xfrm>
          <a:prstGeom prst="rect">
            <a:avLst/>
          </a:prstGeom>
          <a:noFill/>
          <a:ln/>
        </p:spPr>
        <p:txBody>
          <a:bodyPr wrap="square" lIns="0" tIns="0" rIns="0" bIns="0" rtlCol="0" anchor="ctr"/>
          <a:lstStyle/>
          <a:p>
            <a:pPr marL="0" indent="0">
              <a:buNone/>
            </a:pPr>
            <a:r>
              <a:rPr lang="en-US" sz="2000" dirty="0">
                <a:solidFill>
                  <a:srgbClr val="0F1E7A"/>
                </a:solidFill>
                <a:latin typeface="Segoe UI Semibold" pitchFamily="34" charset="0"/>
                <a:ea typeface="Segoe UI Semibold" pitchFamily="34" charset="-122"/>
                <a:cs typeface="Segoe UI Semibold" pitchFamily="34" charset="-120"/>
              </a:rPr>
              <a:t>A. MOHANARADHA</a:t>
            </a:r>
            <a:endParaRPr lang="en-US" sz="2000" dirty="0"/>
          </a:p>
        </p:txBody>
      </p:sp>
      <p:sp>
        <p:nvSpPr>
          <p:cNvPr id="11" name="a2_9"/>
          <p:cNvSpPr/>
          <p:nvPr/>
        </p:nvSpPr>
        <p:spPr>
          <a:xfrm>
            <a:off x="713232" y="5504688"/>
            <a:ext cx="2103120" cy="402336"/>
          </a:xfrm>
          <a:prstGeom prst="roundRect">
            <a:avLst>
              <a:gd name="adj" fmla="val 113636"/>
            </a:avLst>
          </a:prstGeom>
          <a:solidFill>
            <a:srgbClr val="FFFFFF"/>
          </a:solidFill>
          <a:ln w="9525">
            <a:solidFill>
              <a:srgbClr val="C7D2FE"/>
            </a:solidFill>
            <a:prstDash val="solid"/>
          </a:ln>
        </p:spPr>
      </p:sp>
      <p:pic>
        <p:nvPicPr>
          <p:cNvPr id="12" name="a2_10" descr="preencoded.png"/>
          <p:cNvPicPr>
            <a:picLocks noChangeAspect="1"/>
          </p:cNvPicPr>
          <p:nvPr/>
        </p:nvPicPr>
        <p:blipFill>
          <a:blip r:embed="rId6"/>
          <a:stretch>
            <a:fillRect/>
          </a:stretch>
        </p:blipFill>
        <p:spPr>
          <a:xfrm>
            <a:off x="859536" y="5605272"/>
            <a:ext cx="201168" cy="201168"/>
          </a:xfrm>
          <a:prstGeom prst="rect">
            <a:avLst/>
          </a:prstGeom>
        </p:spPr>
      </p:pic>
      <p:sp>
        <p:nvSpPr>
          <p:cNvPr id="13" name="a2_11"/>
          <p:cNvSpPr txBox="1"/>
          <p:nvPr/>
        </p:nvSpPr>
        <p:spPr>
          <a:xfrm>
            <a:off x="1133856" y="5504688"/>
            <a:ext cx="1591056" cy="402336"/>
          </a:xfrm>
          <a:prstGeom prst="rect">
            <a:avLst/>
          </a:prstGeom>
          <a:noFill/>
          <a:ln/>
        </p:spPr>
        <p:txBody>
          <a:bodyPr wrap="square" lIns="0" tIns="0" rIns="0" bIns="0" rtlCol="0" anchor="ctr"/>
          <a:lstStyle/>
          <a:p>
            <a:pPr marL="0" indent="0">
              <a:buNone/>
            </a:pPr>
            <a:r>
              <a:rPr lang="en-US" sz="1200" u="sng" dirty="0">
                <a:solidFill>
                  <a:srgbClr val="0F1E7A"/>
                </a:solidFill>
                <a:latin typeface="Segoe UI Semibold" pitchFamily="34" charset="0"/>
                <a:ea typeface="Segoe UI Semibold" pitchFamily="34" charset="-122"/>
                <a:cs typeface="Segoe UI Semibold" pitchFamily="34" charset="-120"/>
                <a:hlinkClick r:id="rId7" tooltip="https://www.infoziant.com">
                  <a:extLst>
                    <a:ext uri="{A12FA001-AC4F-418D-AE19-62706E023703}">
                      <ahyp:hlinkClr xmlns:ahyp="http://schemas.microsoft.com/office/drawing/2018/hyperlinkcolor" val="tx"/>
                    </a:ext>
                  </a:extLst>
                </a:hlinkClick>
              </a:rPr>
              <a:t>www.infoziant.com</a:t>
            </a:r>
            <a:endParaRPr lang="en-US" sz="1200" dirty="0"/>
          </a:p>
        </p:txBody>
      </p:sp>
      <p:sp>
        <p:nvSpPr>
          <p:cNvPr id="14" name="a2_12"/>
          <p:cNvSpPr/>
          <p:nvPr/>
        </p:nvSpPr>
        <p:spPr>
          <a:xfrm>
            <a:off x="2999232" y="5504688"/>
            <a:ext cx="2011680" cy="402336"/>
          </a:xfrm>
          <a:prstGeom prst="roundRect">
            <a:avLst>
              <a:gd name="adj" fmla="val 113636"/>
            </a:avLst>
          </a:prstGeom>
          <a:solidFill>
            <a:srgbClr val="FFFFFF"/>
          </a:solidFill>
          <a:ln w="9525">
            <a:solidFill>
              <a:srgbClr val="C7D2FE"/>
            </a:solidFill>
            <a:prstDash val="solid"/>
          </a:ln>
        </p:spPr>
      </p:sp>
      <p:pic>
        <p:nvPicPr>
          <p:cNvPr id="15" name="a2_13" descr="preencoded.png"/>
          <p:cNvPicPr>
            <a:picLocks noChangeAspect="1"/>
          </p:cNvPicPr>
          <p:nvPr/>
        </p:nvPicPr>
        <p:blipFill>
          <a:blip r:embed="rId8"/>
          <a:stretch>
            <a:fillRect/>
          </a:stretch>
        </p:blipFill>
        <p:spPr>
          <a:xfrm>
            <a:off x="3145536" y="5605272"/>
            <a:ext cx="201168" cy="201168"/>
          </a:xfrm>
          <a:prstGeom prst="rect">
            <a:avLst/>
          </a:prstGeom>
        </p:spPr>
      </p:pic>
      <p:sp>
        <p:nvSpPr>
          <p:cNvPr id="16" name="a2_14"/>
          <p:cNvSpPr txBox="1"/>
          <p:nvPr/>
        </p:nvSpPr>
        <p:spPr>
          <a:xfrm>
            <a:off x="3419856" y="5504688"/>
            <a:ext cx="1499616" cy="402336"/>
          </a:xfrm>
          <a:prstGeom prst="rect">
            <a:avLst/>
          </a:prstGeom>
          <a:noFill/>
          <a:ln/>
        </p:spPr>
        <p:txBody>
          <a:bodyPr wrap="square" lIns="0" tIns="0" rIns="0" bIns="0" rtlCol="0" anchor="ctr"/>
          <a:lstStyle/>
          <a:p>
            <a:pPr marL="0" indent="0">
              <a:buNone/>
            </a:pPr>
            <a:r>
              <a:rPr lang="en-US" sz="1200" u="sng" dirty="0">
                <a:solidFill>
                  <a:srgbClr val="0F1E7A"/>
                </a:solidFill>
                <a:latin typeface="Segoe UI Semibold" pitchFamily="34" charset="0"/>
                <a:ea typeface="Segoe UI Semibold" pitchFamily="34" charset="-122"/>
                <a:cs typeface="Segoe UI Semibold" pitchFamily="34" charset="-120"/>
                <a:hlinkClick r:id="rId9" tooltip="https://ipoms.vercel.app/">
                  <a:extLst>
                    <a:ext uri="{A12FA001-AC4F-418D-AE19-62706E023703}">
                      <ahyp:hlinkClr xmlns:ahyp="http://schemas.microsoft.com/office/drawing/2018/hyperlinkcolor" val="tx"/>
                    </a:ext>
                  </a:extLst>
                </a:hlinkClick>
              </a:rPr>
              <a:t>ipoms.vercel.app</a:t>
            </a:r>
            <a:endParaRPr lang="en-US" sz="1200" dirty="0"/>
          </a:p>
        </p:txBody>
      </p:sp>
      <p:pic>
        <p:nvPicPr>
          <p:cNvPr id="17" name="a3_15" descr="C:\Users\admin\.claude\skills\ipoms-ppt-2026\demo\assets\shots\dashboard.png"/>
          <p:cNvPicPr>
            <a:picLocks noChangeAspect="1"/>
          </p:cNvPicPr>
          <p:nvPr/>
        </p:nvPicPr>
        <p:blipFill>
          <a:blip r:embed="rId10"/>
          <a:stretch>
            <a:fillRect/>
          </a:stretch>
        </p:blipFill>
        <p:spPr>
          <a:xfrm>
            <a:off x="5897880" y="1188720"/>
            <a:ext cx="6035040" cy="3223260"/>
          </a:xfrm>
          <a:prstGeom prst="rect">
            <a:avLst/>
          </a:prstGeom>
        </p:spPr>
      </p:pic>
      <p:pic>
        <p:nvPicPr>
          <p:cNvPr id="18" name="a4_16" descr="C:\Users\admin\.claude\skills\ipoms-ppt-2026\demo\assets\shots\callout-contact.png"/>
          <p:cNvPicPr>
            <a:picLocks noChangeAspect="1"/>
          </p:cNvPicPr>
          <p:nvPr/>
        </p:nvPicPr>
        <p:blipFill>
          <a:blip r:embed="rId11"/>
          <a:stretch>
            <a:fillRect/>
          </a:stretch>
        </p:blipFill>
        <p:spPr>
          <a:xfrm>
            <a:off x="5715000" y="4114800"/>
            <a:ext cx="2011680" cy="1005840"/>
          </a:xfrm>
          <a:prstGeom prst="rect">
            <a:avLst/>
          </a:prstGeom>
        </p:spPr>
      </p:pic>
      <p:pic>
        <p:nvPicPr>
          <p:cNvPr id="19" name="a4_17" descr="C:\Users\admin\.claude\skills\ipoms-ppt-2026\demo\assets\shots\callout-timing.png"/>
          <p:cNvPicPr>
            <a:picLocks noChangeAspect="1"/>
          </p:cNvPicPr>
          <p:nvPr/>
        </p:nvPicPr>
        <p:blipFill>
          <a:blip r:embed="rId12"/>
          <a:stretch>
            <a:fillRect/>
          </a:stretch>
        </p:blipFill>
        <p:spPr>
          <a:xfrm>
            <a:off x="9098280" y="4224528"/>
            <a:ext cx="2697480" cy="1087044"/>
          </a:xfrm>
          <a:prstGeom prst="rect">
            <a:avLst/>
          </a:prstGeom>
        </p:spPr>
      </p:pic>
      <p:sp>
        <p:nvSpPr>
          <p:cNvPr id="20" name="a5_18"/>
          <p:cNvSpPr/>
          <p:nvPr/>
        </p:nvSpPr>
        <p:spPr>
          <a:xfrm>
            <a:off x="6053328" y="5596128"/>
            <a:ext cx="1448410" cy="347472"/>
          </a:xfrm>
          <a:prstGeom prst="roundRect">
            <a:avLst>
              <a:gd name="adj" fmla="val 131579"/>
            </a:avLst>
          </a:prstGeom>
          <a:solidFill>
            <a:srgbClr val="EFF6FF"/>
          </a:solidFill>
          <a:ln w="9525">
            <a:solidFill>
              <a:srgbClr val="BFDBFE"/>
            </a:solidFill>
            <a:prstDash val="solid"/>
          </a:ln>
        </p:spPr>
      </p:sp>
      <p:sp>
        <p:nvSpPr>
          <p:cNvPr id="21" name="a5_19"/>
          <p:cNvSpPr txBox="1"/>
          <p:nvPr/>
        </p:nvSpPr>
        <p:spPr>
          <a:xfrm>
            <a:off x="6053328" y="5596128"/>
            <a:ext cx="1448410" cy="347472"/>
          </a:xfrm>
          <a:prstGeom prst="rect">
            <a:avLst/>
          </a:prstGeom>
          <a:noFill/>
          <a:ln/>
        </p:spPr>
        <p:txBody>
          <a:bodyPr wrap="square" lIns="0" tIns="0" rIns="0" bIns="0" rtlCol="0" anchor="ctr"/>
          <a:lstStyle/>
          <a:p>
            <a:pPr marL="0" indent="0" algn="ctr">
              <a:buNone/>
            </a:pPr>
            <a:r>
              <a:rPr lang="en-US" sz="1150" dirty="0">
                <a:solidFill>
                  <a:srgbClr val="1D4ED8"/>
                </a:solidFill>
                <a:latin typeface="Segoe UI Semibold" pitchFamily="34" charset="0"/>
                <a:ea typeface="Segoe UI Semibold" pitchFamily="34" charset="-122"/>
                <a:cs typeface="Segoe UI Semibold" pitchFamily="34" charset="-120"/>
              </a:rPr>
              <a:t>Daily Tracker</a:t>
            </a:r>
            <a:endParaRPr lang="en-US" sz="1150" dirty="0"/>
          </a:p>
        </p:txBody>
      </p:sp>
      <p:sp>
        <p:nvSpPr>
          <p:cNvPr id="22" name="a5_20"/>
          <p:cNvSpPr/>
          <p:nvPr/>
        </p:nvSpPr>
        <p:spPr>
          <a:xfrm>
            <a:off x="7629754" y="5596128"/>
            <a:ext cx="1287475" cy="347472"/>
          </a:xfrm>
          <a:prstGeom prst="roundRect">
            <a:avLst>
              <a:gd name="adj" fmla="val 131579"/>
            </a:avLst>
          </a:prstGeom>
          <a:solidFill>
            <a:srgbClr val="ECFDF5"/>
          </a:solidFill>
          <a:ln w="9525">
            <a:solidFill>
              <a:srgbClr val="A7F3D0"/>
            </a:solidFill>
            <a:prstDash val="solid"/>
          </a:ln>
        </p:spPr>
      </p:sp>
      <p:sp>
        <p:nvSpPr>
          <p:cNvPr id="23" name="a5_21"/>
          <p:cNvSpPr txBox="1"/>
          <p:nvPr/>
        </p:nvSpPr>
        <p:spPr>
          <a:xfrm>
            <a:off x="7629754" y="5596128"/>
            <a:ext cx="1287475" cy="347472"/>
          </a:xfrm>
          <a:prstGeom prst="rect">
            <a:avLst/>
          </a:prstGeom>
          <a:noFill/>
          <a:ln/>
        </p:spPr>
        <p:txBody>
          <a:bodyPr wrap="square" lIns="0" tIns="0" rIns="0" bIns="0" rtlCol="0" anchor="ctr"/>
          <a:lstStyle/>
          <a:p>
            <a:pPr marL="0" indent="0" algn="ctr">
              <a:buNone/>
            </a:pPr>
            <a:r>
              <a:rPr lang="en-US" sz="1150" dirty="0">
                <a:solidFill>
                  <a:srgbClr val="047857"/>
                </a:solidFill>
                <a:latin typeface="Segoe UI Semibold" pitchFamily="34" charset="0"/>
                <a:ea typeface="Segoe UI Semibold" pitchFamily="34" charset="-122"/>
                <a:cs typeface="Segoe UI Semibold" pitchFamily="34" charset="-120"/>
              </a:rPr>
              <a:t>Daily Leads</a:t>
            </a:r>
            <a:endParaRPr lang="en-US" sz="1150" dirty="0"/>
          </a:p>
        </p:txBody>
      </p:sp>
      <p:sp>
        <p:nvSpPr>
          <p:cNvPr id="24" name="a5_22"/>
          <p:cNvSpPr/>
          <p:nvPr/>
        </p:nvSpPr>
        <p:spPr>
          <a:xfrm>
            <a:off x="9045245" y="5596128"/>
            <a:ext cx="1528877" cy="347472"/>
          </a:xfrm>
          <a:prstGeom prst="roundRect">
            <a:avLst>
              <a:gd name="adj" fmla="val 131579"/>
            </a:avLst>
          </a:prstGeom>
          <a:solidFill>
            <a:srgbClr val="F5F3FF"/>
          </a:solidFill>
          <a:ln w="9525">
            <a:solidFill>
              <a:srgbClr val="DDD6FE"/>
            </a:solidFill>
            <a:prstDash val="solid"/>
          </a:ln>
        </p:spPr>
      </p:sp>
      <p:sp>
        <p:nvSpPr>
          <p:cNvPr id="25" name="a5_23"/>
          <p:cNvSpPr txBox="1"/>
          <p:nvPr/>
        </p:nvSpPr>
        <p:spPr>
          <a:xfrm>
            <a:off x="9045245" y="5596128"/>
            <a:ext cx="1528877" cy="347472"/>
          </a:xfrm>
          <a:prstGeom prst="rect">
            <a:avLst/>
          </a:prstGeom>
          <a:noFill/>
          <a:ln/>
        </p:spPr>
        <p:txBody>
          <a:bodyPr wrap="square" lIns="0" tIns="0" rIns="0" bIns="0" rtlCol="0" anchor="ctr"/>
          <a:lstStyle/>
          <a:p>
            <a:pPr marL="0" indent="0" algn="ctr">
              <a:buNone/>
            </a:pPr>
            <a:r>
              <a:rPr lang="en-US" sz="1150" dirty="0">
                <a:solidFill>
                  <a:srgbClr val="6D28D9"/>
                </a:solidFill>
                <a:latin typeface="Segoe UI Semibold" pitchFamily="34" charset="0"/>
                <a:ea typeface="Segoe UI Semibold" pitchFamily="34" charset="-122"/>
                <a:cs typeface="Segoe UI Semibold" pitchFamily="34" charset="-120"/>
              </a:rPr>
              <a:t>Weekly Tracker</a:t>
            </a:r>
            <a:endParaRPr lang="en-US" sz="1150" dirty="0"/>
          </a:p>
        </p:txBody>
      </p:sp>
      <p:sp>
        <p:nvSpPr>
          <p:cNvPr id="26" name="a5_24"/>
          <p:cNvSpPr/>
          <p:nvPr/>
        </p:nvSpPr>
        <p:spPr>
          <a:xfrm>
            <a:off x="10702138" y="5596128"/>
            <a:ext cx="965606" cy="347472"/>
          </a:xfrm>
          <a:prstGeom prst="roundRect">
            <a:avLst>
              <a:gd name="adj" fmla="val 131579"/>
            </a:avLst>
          </a:prstGeom>
          <a:solidFill>
            <a:srgbClr val="FFFBEB"/>
          </a:solidFill>
          <a:ln w="9525">
            <a:solidFill>
              <a:srgbClr val="FDE68A"/>
            </a:solidFill>
            <a:prstDash val="solid"/>
          </a:ln>
        </p:spPr>
      </p:sp>
      <p:sp>
        <p:nvSpPr>
          <p:cNvPr id="27" name="a5_25"/>
          <p:cNvSpPr txBox="1"/>
          <p:nvPr/>
        </p:nvSpPr>
        <p:spPr>
          <a:xfrm>
            <a:off x="10702138" y="5596128"/>
            <a:ext cx="965606" cy="347472"/>
          </a:xfrm>
          <a:prstGeom prst="rect">
            <a:avLst/>
          </a:prstGeom>
          <a:noFill/>
          <a:ln/>
        </p:spPr>
        <p:txBody>
          <a:bodyPr wrap="square" lIns="0" tIns="0" rIns="0" bIns="0" rtlCol="0" anchor="ctr"/>
          <a:lstStyle/>
          <a:p>
            <a:pPr marL="0" indent="0" algn="ctr">
              <a:buNone/>
            </a:pPr>
            <a:r>
              <a:rPr lang="en-US" sz="1150" dirty="0">
                <a:solidFill>
                  <a:srgbClr val="B45309"/>
                </a:solidFill>
                <a:latin typeface="Segoe UI Semibold" pitchFamily="34" charset="0"/>
                <a:ea typeface="Segoe UI Semibold" pitchFamily="34" charset="-122"/>
                <a:cs typeface="Segoe UI Semibold" pitchFamily="34" charset="-120"/>
              </a:rPr>
              <a:t>Reports</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childTnLst>
                          </p:cTn>
                        </p:par>
                        <p:par>
                          <p:cTn id="23" fill="hold">
                            <p:stCondLst>
                              <p:cond delay="650"/>
                            </p:stCondLst>
                            <p:childTnLst>
                              <p:par>
                                <p:cTn id="24" presetID="10" presetClass="entr" presetSubtype="0" fill="hold" grpId="0" nodeType="afterEffect">
                                  <p:stCondLst>
                                    <p:cond delay="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childTnLst>
                          </p:cTn>
                        </p:par>
                        <p:par>
                          <p:cTn id="48" fill="hold">
                            <p:stCondLst>
                              <p:cond delay="1150"/>
                            </p:stCondLst>
                            <p:childTnLst>
                              <p:par>
                                <p:cTn id="49" presetID="10" presetClass="entr" presetSubtype="0" fill="hold" nodeType="afterEffect">
                                  <p:stCondLst>
                                    <p:cond delay="5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childTnLst>
                          </p:cTn>
                        </p:par>
                        <p:par>
                          <p:cTn id="52" fill="hold">
                            <p:stCondLst>
                              <p:cond delay="1650"/>
                            </p:stCondLst>
                            <p:childTnLst>
                              <p:par>
                                <p:cTn id="53" presetID="10" presetClass="entr" presetSubtype="0" fill="hold" nodeType="afterEffect">
                                  <p:stCondLst>
                                    <p:cond delay="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childTnLst>
                          </p:cTn>
                        </p:par>
                        <p:par>
                          <p:cTn id="59" fill="hold">
                            <p:stCondLst>
                              <p:cond delay="2150"/>
                            </p:stCondLst>
                            <p:childTnLst>
                              <p:par>
                                <p:cTn id="60" presetID="10" presetClass="entr" presetSubtype="0" fill="hold" nodeType="afterEffect">
                                  <p:stCondLst>
                                    <p:cond delay="5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5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5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5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5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6" grpId="0" animBg="1"/>
      <p:bldP spid="21" grpId="0" animBg="1"/>
      <p:bldP spid="23" grpId="0" animBg="1"/>
      <p:bldP spid="25" grpId="0" animBg="1"/>
      <p:bldP spid="2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10127011" y="384048"/>
            <a:ext cx="1516045" cy="365760"/>
          </a:xfrm>
          <a:prstGeom prst="rect">
            <a:avLst/>
          </a:prstGeom>
        </p:spPr>
      </p:pic>
      <p:sp>
        <p:nvSpPr>
          <p:cNvPr id="3" name="Shape 0"/>
          <p:cNvSpPr/>
          <p:nvPr/>
        </p:nvSpPr>
        <p:spPr>
          <a:xfrm>
            <a:off x="548640" y="402336"/>
            <a:ext cx="1887322" cy="329184"/>
          </a:xfrm>
          <a:prstGeom prst="roundRect">
            <a:avLst>
              <a:gd name="adj" fmla="val 138889"/>
            </a:avLst>
          </a:prstGeom>
          <a:solidFill>
            <a:srgbClr val="FFF1F2"/>
          </a:solidFill>
          <a:ln w="9525">
            <a:solidFill>
              <a:srgbClr val="FECDD3"/>
            </a:solidFill>
            <a:prstDash val="solid"/>
          </a:ln>
        </p:spPr>
      </p:sp>
      <p:pic>
        <p:nvPicPr>
          <p:cNvPr id="4" name="Image 1" descr="preencoded.png"/>
          <p:cNvPicPr>
            <a:picLocks noChangeAspect="1"/>
          </p:cNvPicPr>
          <p:nvPr/>
        </p:nvPicPr>
        <p:blipFill>
          <a:blip r:embed="rId5"/>
          <a:stretch>
            <a:fillRect/>
          </a:stretch>
        </p:blipFill>
        <p:spPr>
          <a:xfrm>
            <a:off x="676656" y="475488"/>
            <a:ext cx="182880" cy="182880"/>
          </a:xfrm>
          <a:prstGeom prst="rect">
            <a:avLst/>
          </a:prstGeom>
        </p:spPr>
      </p:pic>
      <p:sp>
        <p:nvSpPr>
          <p:cNvPr id="5" name="Text 1"/>
          <p:cNvSpPr txBox="1"/>
          <p:nvPr/>
        </p:nvSpPr>
        <p:spPr>
          <a:xfrm>
            <a:off x="932688" y="402336"/>
            <a:ext cx="1430122" cy="329184"/>
          </a:xfrm>
          <a:prstGeom prst="rect">
            <a:avLst/>
          </a:prstGeom>
          <a:noFill/>
          <a:ln/>
        </p:spPr>
        <p:txBody>
          <a:bodyPr wrap="square" lIns="0" tIns="0" rIns="0" bIns="0" rtlCol="0" anchor="ctr"/>
          <a:lstStyle/>
          <a:p>
            <a:pPr marL="0" indent="0">
              <a:buNone/>
            </a:pPr>
            <a:r>
              <a:rPr lang="en-US" sz="1000" kern="0" spc="120" dirty="0">
                <a:solidFill>
                  <a:srgbClr val="BE123C"/>
                </a:solidFill>
                <a:latin typeface="Segoe UI Semibold" pitchFamily="34" charset="0"/>
                <a:ea typeface="Segoe UI Semibold" pitchFamily="34" charset="-122"/>
                <a:cs typeface="Segoe UI Semibold" pitchFamily="34" charset="-120"/>
              </a:rPr>
              <a:t>THE CHALLENGE</a:t>
            </a:r>
            <a:endParaRPr lang="en-US" sz="1000" dirty="0"/>
          </a:p>
        </p:txBody>
      </p:sp>
      <p:sp>
        <p:nvSpPr>
          <p:cNvPr id="6" name="Text 2"/>
          <p:cNvSpPr txBox="1"/>
          <p:nvPr/>
        </p:nvSpPr>
        <p:spPr>
          <a:xfrm>
            <a:off x="548640" y="841248"/>
            <a:ext cx="9235440" cy="566928"/>
          </a:xfrm>
          <a:prstGeom prst="rect">
            <a:avLst/>
          </a:prstGeom>
          <a:noFill/>
          <a:ln/>
        </p:spPr>
        <p:txBody>
          <a:bodyPr wrap="square" lIns="0" tIns="0" rIns="0" bIns="0" rtlCol="0" anchor="ctr"/>
          <a:lstStyle/>
          <a:p>
            <a:pPr marL="0" indent="0">
              <a:buNone/>
            </a:pPr>
            <a:r>
              <a:rPr lang="en-US" sz="2800" dirty="0">
                <a:solidFill>
                  <a:srgbClr val="0F1E7A"/>
                </a:solidFill>
                <a:latin typeface="Segoe UI Semibold" pitchFamily="34" charset="0"/>
                <a:ea typeface="Segoe UI Semibold" pitchFamily="34" charset="-122"/>
                <a:cs typeface="Segoe UI Semibold" pitchFamily="34" charset="-120"/>
              </a:rPr>
              <a:t>From scattered spreadsheets to one shared system</a:t>
            </a:r>
            <a:endParaRPr lang="en-US" sz="2800" dirty="0"/>
          </a:p>
        </p:txBody>
      </p:sp>
      <p:sp>
        <p:nvSpPr>
          <p:cNvPr id="7" name="Text 3"/>
          <p:cNvSpPr txBox="1"/>
          <p:nvPr/>
        </p:nvSpPr>
        <p:spPr>
          <a:xfrm>
            <a:off x="548640" y="1371600"/>
            <a:ext cx="9235440" cy="329184"/>
          </a:xfrm>
          <a:prstGeom prst="rect">
            <a:avLst/>
          </a:prstGeom>
          <a:noFill/>
          <a:ln/>
        </p:spPr>
        <p:txBody>
          <a:bodyPr wrap="square" lIns="0" tIns="0" rIns="0" bIns="0" rtlCol="0" anchor="ctr"/>
          <a:lstStyle/>
          <a:p>
            <a:pPr marL="0" indent="0">
              <a:buNone/>
            </a:pPr>
            <a:r>
              <a:rPr lang="en-US" sz="1400" dirty="0">
                <a:solidFill>
                  <a:srgbClr val="475569"/>
                </a:solidFill>
                <a:latin typeface="Segoe UI" pitchFamily="34" charset="0"/>
                <a:ea typeface="Segoe UI" pitchFamily="34" charset="-122"/>
                <a:cs typeface="Segoe UI" pitchFamily="34" charset="-120"/>
              </a:rPr>
              <a:t>What a coordinator's day looked like before, and what changes with iPOMS</a:t>
            </a:r>
            <a:endParaRPr lang="en-US" sz="1400" dirty="0"/>
          </a:p>
        </p:txBody>
      </p:sp>
      <p:sp>
        <p:nvSpPr>
          <p:cNvPr id="8"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iPOMS  ·  Infoziant Placement Operations Management System</a:t>
            </a:r>
            <a:endParaRPr lang="en-US" sz="900" dirty="0"/>
          </a:p>
        </p:txBody>
      </p:sp>
      <p:sp>
        <p:nvSpPr>
          <p:cNvPr id="9" name="Text 5"/>
          <p:cNvSpPr txBox="1"/>
          <p:nvPr/>
        </p:nvSpPr>
        <p:spPr>
          <a:xfrm>
            <a:off x="10545775" y="6419088"/>
            <a:ext cx="1097280" cy="256032"/>
          </a:xfrm>
          <a:prstGeom prst="rect">
            <a:avLst/>
          </a:prstGeom>
          <a:noFill/>
          <a:ln/>
        </p:spPr>
        <p:txBody>
          <a:bodyPr wrap="square" lIns="0" tIns="0" rIns="0" bIns="0" rtlCol="0" anchor="ctr"/>
          <a:lstStyle/>
          <a:p>
            <a:pPr marL="0" indent="0" algn="r">
              <a:buNone/>
            </a:pPr>
            <a:r>
              <a:rPr lang="en-US" sz="900" dirty="0">
                <a:solidFill>
                  <a:srgbClr val="64748B"/>
                </a:solidFill>
                <a:latin typeface="Segoe UI Semibold" pitchFamily="34" charset="0"/>
                <a:ea typeface="Segoe UI Semibold" pitchFamily="34" charset="-122"/>
                <a:cs typeface="Segoe UI Semibold" pitchFamily="34" charset="-120"/>
              </a:rPr>
              <a:t>02 / 08</a:t>
            </a:r>
            <a:endParaRPr lang="en-US" sz="900" dirty="0"/>
          </a:p>
        </p:txBody>
      </p:sp>
      <p:sp>
        <p:nvSpPr>
          <p:cNvPr id="10" name="a1_26"/>
          <p:cNvSpPr/>
          <p:nvPr/>
        </p:nvSpPr>
        <p:spPr>
          <a:xfrm>
            <a:off x="548640" y="1920240"/>
            <a:ext cx="5285232" cy="3200400"/>
          </a:xfrm>
          <a:prstGeom prst="roundRect">
            <a:avLst>
              <a:gd name="adj" fmla="val 3429"/>
            </a:avLst>
          </a:prstGeom>
          <a:solidFill>
            <a:srgbClr val="FFF1F2"/>
          </a:solidFill>
          <a:ln w="9525">
            <a:solidFill>
              <a:srgbClr val="FECDD3"/>
            </a:solidFill>
            <a:prstDash val="solid"/>
          </a:ln>
        </p:spPr>
      </p:sp>
      <p:sp>
        <p:nvSpPr>
          <p:cNvPr id="11" name="a1_27"/>
          <p:cNvSpPr txBox="1"/>
          <p:nvPr/>
        </p:nvSpPr>
        <p:spPr>
          <a:xfrm>
            <a:off x="859536" y="2157984"/>
            <a:ext cx="2743200" cy="237744"/>
          </a:xfrm>
          <a:prstGeom prst="rect">
            <a:avLst/>
          </a:prstGeom>
          <a:noFill/>
          <a:ln/>
        </p:spPr>
        <p:txBody>
          <a:bodyPr wrap="square" lIns="0" tIns="0" rIns="0" bIns="0" rtlCol="0" anchor="t"/>
          <a:lstStyle/>
          <a:p>
            <a:pPr marL="0" indent="0">
              <a:buNone/>
            </a:pPr>
            <a:r>
              <a:rPr lang="en-US" sz="1050" kern="0" spc="180" dirty="0">
                <a:solidFill>
                  <a:srgbClr val="BE123C"/>
                </a:solidFill>
                <a:latin typeface="Segoe UI Semibold" pitchFamily="34" charset="0"/>
                <a:ea typeface="Segoe UI Semibold" pitchFamily="34" charset="-122"/>
                <a:cs typeface="Segoe UI Semibold" pitchFamily="34" charset="-120"/>
              </a:rPr>
              <a:t>BEFORE</a:t>
            </a:r>
            <a:endParaRPr lang="en-US" sz="1050" dirty="0"/>
          </a:p>
        </p:txBody>
      </p:sp>
      <p:sp>
        <p:nvSpPr>
          <p:cNvPr id="12" name="a1_28"/>
          <p:cNvSpPr txBox="1"/>
          <p:nvPr/>
        </p:nvSpPr>
        <p:spPr>
          <a:xfrm>
            <a:off x="859536" y="2395728"/>
            <a:ext cx="4736592" cy="384048"/>
          </a:xfrm>
          <a:prstGeom prst="rect">
            <a:avLst/>
          </a:prstGeom>
          <a:noFill/>
          <a:ln/>
        </p:spPr>
        <p:txBody>
          <a:bodyPr wrap="square" lIns="0" tIns="0" rIns="0" bIns="0" rtlCol="0" anchor="ctr"/>
          <a:lstStyle/>
          <a:p>
            <a:pPr marL="0" indent="0">
              <a:buNone/>
            </a:pPr>
            <a:r>
              <a:rPr lang="en-US" sz="1800" dirty="0">
                <a:solidFill>
                  <a:srgbClr val="0F172A"/>
                </a:solidFill>
                <a:latin typeface="Segoe UI Semibold" pitchFamily="34" charset="0"/>
                <a:ea typeface="Segoe UI Semibold" pitchFamily="34" charset="-122"/>
                <a:cs typeface="Segoe UI Semibold" pitchFamily="34" charset="-120"/>
              </a:rPr>
              <a:t>Many Excel files, many versions</a:t>
            </a:r>
            <a:endParaRPr lang="en-US" sz="1800" dirty="0"/>
          </a:p>
        </p:txBody>
      </p:sp>
      <p:sp>
        <p:nvSpPr>
          <p:cNvPr id="13" name="a2_29"/>
          <p:cNvSpPr/>
          <p:nvPr/>
        </p:nvSpPr>
        <p:spPr>
          <a:xfrm>
            <a:off x="859536" y="2980944"/>
            <a:ext cx="292608" cy="292608"/>
          </a:xfrm>
          <a:prstGeom prst="ellipse">
            <a:avLst/>
          </a:prstGeom>
          <a:solidFill>
            <a:srgbClr val="E11D48"/>
          </a:solidFill>
          <a:ln w="12700">
            <a:solidFill>
              <a:srgbClr val="E11D48"/>
            </a:solidFill>
            <a:prstDash val="solid"/>
          </a:ln>
        </p:spPr>
      </p:sp>
      <p:pic>
        <p:nvPicPr>
          <p:cNvPr id="14" name="a2_30" descr="preencoded.png"/>
          <p:cNvPicPr>
            <a:picLocks noChangeAspect="1"/>
          </p:cNvPicPr>
          <p:nvPr/>
        </p:nvPicPr>
        <p:blipFill>
          <a:blip r:embed="rId6"/>
          <a:stretch>
            <a:fillRect/>
          </a:stretch>
        </p:blipFill>
        <p:spPr>
          <a:xfrm>
            <a:off x="923910" y="3045318"/>
            <a:ext cx="163860" cy="163860"/>
          </a:xfrm>
          <a:prstGeom prst="rect">
            <a:avLst/>
          </a:prstGeom>
        </p:spPr>
      </p:pic>
      <p:sp>
        <p:nvSpPr>
          <p:cNvPr id="15" name="a2_31"/>
          <p:cNvSpPr txBox="1"/>
          <p:nvPr/>
        </p:nvSpPr>
        <p:spPr>
          <a:xfrm>
            <a:off x="1298448" y="2944368"/>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A separate Excel tracker for every college and month</a:t>
            </a:r>
            <a:endParaRPr lang="en-US" sz="1400" dirty="0"/>
          </a:p>
        </p:txBody>
      </p:sp>
      <p:sp>
        <p:nvSpPr>
          <p:cNvPr id="16" name="a2_32"/>
          <p:cNvSpPr/>
          <p:nvPr/>
        </p:nvSpPr>
        <p:spPr>
          <a:xfrm>
            <a:off x="859536" y="3511296"/>
            <a:ext cx="292608" cy="292608"/>
          </a:xfrm>
          <a:prstGeom prst="ellipse">
            <a:avLst/>
          </a:prstGeom>
          <a:solidFill>
            <a:srgbClr val="E11D48"/>
          </a:solidFill>
          <a:ln w="12700">
            <a:solidFill>
              <a:srgbClr val="E11D48"/>
            </a:solidFill>
            <a:prstDash val="solid"/>
          </a:ln>
        </p:spPr>
      </p:sp>
      <p:pic>
        <p:nvPicPr>
          <p:cNvPr id="17" name="a2_33" descr="preencoded.png"/>
          <p:cNvPicPr>
            <a:picLocks noChangeAspect="1"/>
          </p:cNvPicPr>
          <p:nvPr/>
        </p:nvPicPr>
        <p:blipFill>
          <a:blip r:embed="rId6"/>
          <a:stretch>
            <a:fillRect/>
          </a:stretch>
        </p:blipFill>
        <p:spPr>
          <a:xfrm>
            <a:off x="923910" y="3575670"/>
            <a:ext cx="163860" cy="163860"/>
          </a:xfrm>
          <a:prstGeom prst="rect">
            <a:avLst/>
          </a:prstGeom>
        </p:spPr>
      </p:pic>
      <p:sp>
        <p:nvSpPr>
          <p:cNvPr id="18" name="a2_34"/>
          <p:cNvSpPr txBox="1"/>
          <p:nvPr/>
        </p:nvSpPr>
        <p:spPr>
          <a:xfrm>
            <a:off x="1298448" y="3474720"/>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The same company typed into file after file</a:t>
            </a:r>
            <a:endParaRPr lang="en-US" sz="1400" dirty="0"/>
          </a:p>
        </p:txBody>
      </p:sp>
      <p:sp>
        <p:nvSpPr>
          <p:cNvPr id="19" name="a2_35"/>
          <p:cNvSpPr/>
          <p:nvPr/>
        </p:nvSpPr>
        <p:spPr>
          <a:xfrm>
            <a:off x="859536" y="4041648"/>
            <a:ext cx="292608" cy="292608"/>
          </a:xfrm>
          <a:prstGeom prst="ellipse">
            <a:avLst/>
          </a:prstGeom>
          <a:solidFill>
            <a:srgbClr val="E11D48"/>
          </a:solidFill>
          <a:ln w="12700">
            <a:solidFill>
              <a:srgbClr val="E11D48"/>
            </a:solidFill>
            <a:prstDash val="solid"/>
          </a:ln>
        </p:spPr>
      </p:sp>
      <p:pic>
        <p:nvPicPr>
          <p:cNvPr id="20" name="a2_36" descr="preencoded.png"/>
          <p:cNvPicPr>
            <a:picLocks noChangeAspect="1"/>
          </p:cNvPicPr>
          <p:nvPr/>
        </p:nvPicPr>
        <p:blipFill>
          <a:blip r:embed="rId6"/>
          <a:stretch>
            <a:fillRect/>
          </a:stretch>
        </p:blipFill>
        <p:spPr>
          <a:xfrm>
            <a:off x="923910" y="4106022"/>
            <a:ext cx="163860" cy="163860"/>
          </a:xfrm>
          <a:prstGeom prst="rect">
            <a:avLst/>
          </a:prstGeom>
        </p:spPr>
      </p:pic>
      <p:sp>
        <p:nvSpPr>
          <p:cNvPr id="21" name="a2_37"/>
          <p:cNvSpPr txBox="1"/>
          <p:nvPr/>
        </p:nvSpPr>
        <p:spPr>
          <a:xfrm>
            <a:off x="1298448" y="4005072"/>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Follow-ups kept in memory, and quietly missed</a:t>
            </a:r>
            <a:endParaRPr lang="en-US" sz="1400" dirty="0"/>
          </a:p>
        </p:txBody>
      </p:sp>
      <p:sp>
        <p:nvSpPr>
          <p:cNvPr id="22" name="a2_38"/>
          <p:cNvSpPr/>
          <p:nvPr/>
        </p:nvSpPr>
        <p:spPr>
          <a:xfrm>
            <a:off x="859536" y="4572000"/>
            <a:ext cx="292608" cy="292608"/>
          </a:xfrm>
          <a:prstGeom prst="ellipse">
            <a:avLst/>
          </a:prstGeom>
          <a:solidFill>
            <a:srgbClr val="E11D48"/>
          </a:solidFill>
          <a:ln w="12700">
            <a:solidFill>
              <a:srgbClr val="E11D48"/>
            </a:solidFill>
            <a:prstDash val="solid"/>
          </a:ln>
        </p:spPr>
      </p:sp>
      <p:pic>
        <p:nvPicPr>
          <p:cNvPr id="23" name="a2_39" descr="preencoded.png"/>
          <p:cNvPicPr>
            <a:picLocks noChangeAspect="1"/>
          </p:cNvPicPr>
          <p:nvPr/>
        </p:nvPicPr>
        <p:blipFill>
          <a:blip r:embed="rId6"/>
          <a:stretch>
            <a:fillRect/>
          </a:stretch>
        </p:blipFill>
        <p:spPr>
          <a:xfrm>
            <a:off x="923910" y="4636374"/>
            <a:ext cx="163860" cy="163860"/>
          </a:xfrm>
          <a:prstGeom prst="rect">
            <a:avLst/>
          </a:prstGeom>
        </p:spPr>
      </p:pic>
      <p:sp>
        <p:nvSpPr>
          <p:cNvPr id="24" name="a2_40"/>
          <p:cNvSpPr txBox="1"/>
          <p:nvPr/>
        </p:nvSpPr>
        <p:spPr>
          <a:xfrm>
            <a:off x="1298448" y="4535424"/>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Leaders chasing files to see real progress</a:t>
            </a:r>
            <a:endParaRPr lang="en-US" sz="1400" dirty="0"/>
          </a:p>
        </p:txBody>
      </p:sp>
      <p:sp>
        <p:nvSpPr>
          <p:cNvPr id="25" name="a3_41"/>
          <p:cNvSpPr/>
          <p:nvPr/>
        </p:nvSpPr>
        <p:spPr>
          <a:xfrm>
            <a:off x="6357823" y="1920240"/>
            <a:ext cx="5285232" cy="3200400"/>
          </a:xfrm>
          <a:prstGeom prst="roundRect">
            <a:avLst>
              <a:gd name="adj" fmla="val 3429"/>
            </a:avLst>
          </a:prstGeom>
          <a:solidFill>
            <a:srgbClr val="ECFDF5"/>
          </a:solidFill>
          <a:ln w="9525">
            <a:solidFill>
              <a:srgbClr val="A7F3D0"/>
            </a:solidFill>
            <a:prstDash val="solid"/>
          </a:ln>
        </p:spPr>
      </p:sp>
      <p:sp>
        <p:nvSpPr>
          <p:cNvPr id="26" name="a3_42"/>
          <p:cNvSpPr txBox="1"/>
          <p:nvPr/>
        </p:nvSpPr>
        <p:spPr>
          <a:xfrm>
            <a:off x="6668719" y="2157984"/>
            <a:ext cx="2743200" cy="237744"/>
          </a:xfrm>
          <a:prstGeom prst="rect">
            <a:avLst/>
          </a:prstGeom>
          <a:noFill/>
          <a:ln/>
        </p:spPr>
        <p:txBody>
          <a:bodyPr wrap="square" lIns="0" tIns="0" rIns="0" bIns="0" rtlCol="0" anchor="t"/>
          <a:lstStyle/>
          <a:p>
            <a:pPr marL="0" indent="0">
              <a:buNone/>
            </a:pPr>
            <a:r>
              <a:rPr lang="en-US" sz="1050" kern="0" spc="180" dirty="0">
                <a:solidFill>
                  <a:srgbClr val="047857"/>
                </a:solidFill>
                <a:latin typeface="Segoe UI Semibold" pitchFamily="34" charset="0"/>
                <a:ea typeface="Segoe UI Semibold" pitchFamily="34" charset="-122"/>
                <a:cs typeface="Segoe UI Semibold" pitchFamily="34" charset="-120"/>
              </a:rPr>
              <a:t>WITH iPOMS</a:t>
            </a:r>
            <a:endParaRPr lang="en-US" sz="1050" dirty="0"/>
          </a:p>
        </p:txBody>
      </p:sp>
      <p:sp>
        <p:nvSpPr>
          <p:cNvPr id="27" name="a3_43"/>
          <p:cNvSpPr txBox="1"/>
          <p:nvPr/>
        </p:nvSpPr>
        <p:spPr>
          <a:xfrm>
            <a:off x="6668719" y="2395728"/>
            <a:ext cx="4736592" cy="384048"/>
          </a:xfrm>
          <a:prstGeom prst="rect">
            <a:avLst/>
          </a:prstGeom>
          <a:noFill/>
          <a:ln/>
        </p:spPr>
        <p:txBody>
          <a:bodyPr wrap="square" lIns="0" tIns="0" rIns="0" bIns="0" rtlCol="0" anchor="ctr"/>
          <a:lstStyle/>
          <a:p>
            <a:pPr marL="0" indent="0">
              <a:buNone/>
            </a:pPr>
            <a:r>
              <a:rPr lang="en-US" sz="1800" dirty="0">
                <a:solidFill>
                  <a:srgbClr val="0F172A"/>
                </a:solidFill>
                <a:latin typeface="Segoe UI Semibold" pitchFamily="34" charset="0"/>
                <a:ea typeface="Segoe UI Semibold" pitchFamily="34" charset="-122"/>
                <a:cs typeface="Segoe UI Semibold" pitchFamily="34" charset="-120"/>
              </a:rPr>
              <a:t>One system, always in sync</a:t>
            </a:r>
            <a:endParaRPr lang="en-US" sz="1800" dirty="0"/>
          </a:p>
        </p:txBody>
      </p:sp>
      <p:sp>
        <p:nvSpPr>
          <p:cNvPr id="28" name="a4_44"/>
          <p:cNvSpPr/>
          <p:nvPr/>
        </p:nvSpPr>
        <p:spPr>
          <a:xfrm>
            <a:off x="6668719" y="2980944"/>
            <a:ext cx="292608" cy="292608"/>
          </a:xfrm>
          <a:prstGeom prst="ellipse">
            <a:avLst/>
          </a:prstGeom>
          <a:solidFill>
            <a:srgbClr val="059669"/>
          </a:solidFill>
          <a:ln w="12700">
            <a:solidFill>
              <a:srgbClr val="059669"/>
            </a:solidFill>
            <a:prstDash val="solid"/>
          </a:ln>
        </p:spPr>
      </p:sp>
      <p:pic>
        <p:nvPicPr>
          <p:cNvPr id="29" name="a4_45" descr="preencoded.png"/>
          <p:cNvPicPr>
            <a:picLocks noChangeAspect="1"/>
          </p:cNvPicPr>
          <p:nvPr/>
        </p:nvPicPr>
        <p:blipFill>
          <a:blip r:embed="rId7"/>
          <a:stretch>
            <a:fillRect/>
          </a:stretch>
        </p:blipFill>
        <p:spPr>
          <a:xfrm>
            <a:off x="6733093" y="3045318"/>
            <a:ext cx="163860" cy="163860"/>
          </a:xfrm>
          <a:prstGeom prst="rect">
            <a:avLst/>
          </a:prstGeom>
        </p:spPr>
      </p:pic>
      <p:sp>
        <p:nvSpPr>
          <p:cNvPr id="30" name="a4_46"/>
          <p:cNvSpPr txBox="1"/>
          <p:nvPr/>
        </p:nvSpPr>
        <p:spPr>
          <a:xfrm>
            <a:off x="7107631" y="2944368"/>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One login for every college and every module</a:t>
            </a:r>
            <a:endParaRPr lang="en-US" sz="1400" dirty="0"/>
          </a:p>
        </p:txBody>
      </p:sp>
      <p:sp>
        <p:nvSpPr>
          <p:cNvPr id="31" name="a4_47"/>
          <p:cNvSpPr/>
          <p:nvPr/>
        </p:nvSpPr>
        <p:spPr>
          <a:xfrm>
            <a:off x="6668719" y="3511296"/>
            <a:ext cx="292608" cy="292608"/>
          </a:xfrm>
          <a:prstGeom prst="ellipse">
            <a:avLst/>
          </a:prstGeom>
          <a:solidFill>
            <a:srgbClr val="059669"/>
          </a:solidFill>
          <a:ln w="12700">
            <a:solidFill>
              <a:srgbClr val="059669"/>
            </a:solidFill>
            <a:prstDash val="solid"/>
          </a:ln>
        </p:spPr>
      </p:sp>
      <p:pic>
        <p:nvPicPr>
          <p:cNvPr id="32" name="a4_48" descr="preencoded.png"/>
          <p:cNvPicPr>
            <a:picLocks noChangeAspect="1"/>
          </p:cNvPicPr>
          <p:nvPr/>
        </p:nvPicPr>
        <p:blipFill>
          <a:blip r:embed="rId7"/>
          <a:stretch>
            <a:fillRect/>
          </a:stretch>
        </p:blipFill>
        <p:spPr>
          <a:xfrm>
            <a:off x="6733093" y="3575670"/>
            <a:ext cx="163860" cy="163860"/>
          </a:xfrm>
          <a:prstGeom prst="rect">
            <a:avLst/>
          </a:prstGeom>
        </p:spPr>
      </p:pic>
      <p:sp>
        <p:nvSpPr>
          <p:cNvPr id="33" name="a4_49"/>
          <p:cNvSpPr txBox="1"/>
          <p:nvPr/>
        </p:nvSpPr>
        <p:spPr>
          <a:xfrm>
            <a:off x="7107631" y="3474720"/>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Contacts picked from a 3,500+ company database</a:t>
            </a:r>
            <a:endParaRPr lang="en-US" sz="1400" dirty="0"/>
          </a:p>
        </p:txBody>
      </p:sp>
      <p:sp>
        <p:nvSpPr>
          <p:cNvPr id="34" name="a4_50"/>
          <p:cNvSpPr/>
          <p:nvPr/>
        </p:nvSpPr>
        <p:spPr>
          <a:xfrm>
            <a:off x="6668719" y="4041648"/>
            <a:ext cx="292608" cy="292608"/>
          </a:xfrm>
          <a:prstGeom prst="ellipse">
            <a:avLst/>
          </a:prstGeom>
          <a:solidFill>
            <a:srgbClr val="059669"/>
          </a:solidFill>
          <a:ln w="12700">
            <a:solidFill>
              <a:srgbClr val="059669"/>
            </a:solidFill>
            <a:prstDash val="solid"/>
          </a:ln>
        </p:spPr>
      </p:sp>
      <p:pic>
        <p:nvPicPr>
          <p:cNvPr id="35" name="a4_51" descr="preencoded.png"/>
          <p:cNvPicPr>
            <a:picLocks noChangeAspect="1"/>
          </p:cNvPicPr>
          <p:nvPr/>
        </p:nvPicPr>
        <p:blipFill>
          <a:blip r:embed="rId7"/>
          <a:stretch>
            <a:fillRect/>
          </a:stretch>
        </p:blipFill>
        <p:spPr>
          <a:xfrm>
            <a:off x="6733093" y="4106022"/>
            <a:ext cx="163860" cy="163860"/>
          </a:xfrm>
          <a:prstGeom prst="rect">
            <a:avLst/>
          </a:prstGeom>
        </p:spPr>
      </p:pic>
      <p:sp>
        <p:nvSpPr>
          <p:cNvPr id="36" name="a4_52"/>
          <p:cNvSpPr txBox="1"/>
          <p:nvPr/>
        </p:nvSpPr>
        <p:spPr>
          <a:xfrm>
            <a:off x="7107631" y="4005072"/>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Automatic sync, reminders and follow-up alerts</a:t>
            </a:r>
            <a:endParaRPr lang="en-US" sz="1400" dirty="0"/>
          </a:p>
        </p:txBody>
      </p:sp>
      <p:sp>
        <p:nvSpPr>
          <p:cNvPr id="37" name="a4_53"/>
          <p:cNvSpPr/>
          <p:nvPr/>
        </p:nvSpPr>
        <p:spPr>
          <a:xfrm>
            <a:off x="6668719" y="4572000"/>
            <a:ext cx="292608" cy="292608"/>
          </a:xfrm>
          <a:prstGeom prst="ellipse">
            <a:avLst/>
          </a:prstGeom>
          <a:solidFill>
            <a:srgbClr val="059669"/>
          </a:solidFill>
          <a:ln w="12700">
            <a:solidFill>
              <a:srgbClr val="059669"/>
            </a:solidFill>
            <a:prstDash val="solid"/>
          </a:ln>
        </p:spPr>
      </p:sp>
      <p:pic>
        <p:nvPicPr>
          <p:cNvPr id="38" name="a4_54" descr="preencoded.png"/>
          <p:cNvPicPr>
            <a:picLocks noChangeAspect="1"/>
          </p:cNvPicPr>
          <p:nvPr/>
        </p:nvPicPr>
        <p:blipFill>
          <a:blip r:embed="rId7"/>
          <a:stretch>
            <a:fillRect/>
          </a:stretch>
        </p:blipFill>
        <p:spPr>
          <a:xfrm>
            <a:off x="6733093" y="4636374"/>
            <a:ext cx="163860" cy="163860"/>
          </a:xfrm>
          <a:prstGeom prst="rect">
            <a:avLst/>
          </a:prstGeom>
        </p:spPr>
      </p:pic>
      <p:sp>
        <p:nvSpPr>
          <p:cNvPr id="39" name="a4_55"/>
          <p:cNvSpPr txBox="1"/>
          <p:nvPr/>
        </p:nvSpPr>
        <p:spPr>
          <a:xfrm>
            <a:off x="7107631" y="4535424"/>
            <a:ext cx="4279392" cy="365760"/>
          </a:xfrm>
          <a:prstGeom prst="rect">
            <a:avLst/>
          </a:prstGeom>
          <a:noFill/>
          <a:ln/>
        </p:spPr>
        <p:txBody>
          <a:bodyPr wrap="square" lIns="0" tIns="0" rIns="0" bIns="0" rtlCol="0" anchor="ctr"/>
          <a:lstStyle/>
          <a:p>
            <a:pPr marL="0" indent="0">
              <a:buNone/>
            </a:pPr>
            <a:r>
              <a:rPr lang="en-US" sz="1400" dirty="0">
                <a:solidFill>
                  <a:srgbClr val="334155"/>
                </a:solidFill>
                <a:latin typeface="Segoe UI" pitchFamily="34" charset="0"/>
                <a:ea typeface="Segoe UI" pitchFamily="34" charset="-122"/>
                <a:cs typeface="Segoe UI" pitchFamily="34" charset="-120"/>
              </a:rPr>
              <a:t>A live team dashboard and one-click reports</a:t>
            </a:r>
            <a:endParaRPr lang="en-US" sz="1400" dirty="0"/>
          </a:p>
        </p:txBody>
      </p:sp>
      <p:sp>
        <p:nvSpPr>
          <p:cNvPr id="40" name="a3_56"/>
          <p:cNvSpPr/>
          <p:nvPr/>
        </p:nvSpPr>
        <p:spPr>
          <a:xfrm>
            <a:off x="5821528" y="3246120"/>
            <a:ext cx="548640" cy="548640"/>
          </a:xfrm>
          <a:prstGeom prst="ellipse">
            <a:avLst/>
          </a:prstGeom>
          <a:solidFill>
            <a:srgbClr val="0F1E7A"/>
          </a:solidFill>
          <a:ln w="12700">
            <a:solidFill>
              <a:srgbClr val="0F1E7A"/>
            </a:solidFill>
            <a:prstDash val="solid"/>
          </a:ln>
        </p:spPr>
      </p:sp>
      <p:pic>
        <p:nvPicPr>
          <p:cNvPr id="41" name="a3_57" descr="preencoded.png"/>
          <p:cNvPicPr>
            <a:picLocks noChangeAspect="1"/>
          </p:cNvPicPr>
          <p:nvPr/>
        </p:nvPicPr>
        <p:blipFill>
          <a:blip r:embed="rId8"/>
          <a:stretch>
            <a:fillRect/>
          </a:stretch>
        </p:blipFill>
        <p:spPr>
          <a:xfrm>
            <a:off x="5953201" y="3377794"/>
            <a:ext cx="285293" cy="285293"/>
          </a:xfrm>
          <a:prstGeom prst="rect">
            <a:avLst/>
          </a:prstGeom>
        </p:spPr>
      </p:pic>
      <p:sp>
        <p:nvSpPr>
          <p:cNvPr id="42" name="a5_58"/>
          <p:cNvSpPr/>
          <p:nvPr/>
        </p:nvSpPr>
        <p:spPr>
          <a:xfrm>
            <a:off x="548640" y="5349240"/>
            <a:ext cx="2609012" cy="841248"/>
          </a:xfrm>
          <a:prstGeom prst="roundRect">
            <a:avLst>
              <a:gd name="adj" fmla="val 13043"/>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43" name="a5_59"/>
          <p:cNvSpPr txBox="1"/>
          <p:nvPr/>
        </p:nvSpPr>
        <p:spPr>
          <a:xfrm>
            <a:off x="768096" y="5394960"/>
            <a:ext cx="2243252" cy="457200"/>
          </a:xfrm>
          <a:prstGeom prst="rect">
            <a:avLst/>
          </a:prstGeom>
          <a:noFill/>
          <a:ln/>
        </p:spPr>
        <p:txBody>
          <a:bodyPr wrap="square" lIns="0" tIns="0" rIns="0" bIns="0" rtlCol="0" anchor="ctr"/>
          <a:lstStyle/>
          <a:p>
            <a:pPr marL="0" indent="0">
              <a:buNone/>
            </a:pPr>
            <a:r>
              <a:rPr lang="en-US" sz="2400" dirty="0">
                <a:solidFill>
                  <a:srgbClr val="0F1E7A"/>
                </a:solidFill>
                <a:latin typeface="Segoe UI Semibold" pitchFamily="34" charset="0"/>
                <a:ea typeface="Segoe UI Semibold" pitchFamily="34" charset="-122"/>
                <a:cs typeface="Segoe UI Semibold" pitchFamily="34" charset="-120"/>
              </a:rPr>
              <a:t>3,500+</a:t>
            </a:r>
            <a:endParaRPr lang="en-US" sz="2400" dirty="0"/>
          </a:p>
        </p:txBody>
      </p:sp>
      <p:sp>
        <p:nvSpPr>
          <p:cNvPr id="44" name="a5_60"/>
          <p:cNvSpPr txBox="1"/>
          <p:nvPr/>
        </p:nvSpPr>
        <p:spPr>
          <a:xfrm>
            <a:off x="768096" y="5833872"/>
            <a:ext cx="2243252" cy="274320"/>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companies in one database</a:t>
            </a:r>
            <a:endParaRPr lang="en-US" sz="1200" dirty="0"/>
          </a:p>
        </p:txBody>
      </p:sp>
      <p:sp>
        <p:nvSpPr>
          <p:cNvPr id="45" name="a5_61"/>
          <p:cNvSpPr/>
          <p:nvPr/>
        </p:nvSpPr>
        <p:spPr>
          <a:xfrm>
            <a:off x="3377108" y="5349240"/>
            <a:ext cx="2609012" cy="841248"/>
          </a:xfrm>
          <a:prstGeom prst="roundRect">
            <a:avLst>
              <a:gd name="adj" fmla="val 13043"/>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46" name="a5_62"/>
          <p:cNvSpPr txBox="1"/>
          <p:nvPr/>
        </p:nvSpPr>
        <p:spPr>
          <a:xfrm>
            <a:off x="3596564" y="5394960"/>
            <a:ext cx="2243252" cy="457200"/>
          </a:xfrm>
          <a:prstGeom prst="rect">
            <a:avLst/>
          </a:prstGeom>
          <a:noFill/>
          <a:ln/>
        </p:spPr>
        <p:txBody>
          <a:bodyPr wrap="square" lIns="0" tIns="0" rIns="0" bIns="0" rtlCol="0" anchor="ctr"/>
          <a:lstStyle/>
          <a:p>
            <a:pPr marL="0" indent="0">
              <a:buNone/>
            </a:pPr>
            <a:r>
              <a:rPr lang="en-US" sz="2400" dirty="0">
                <a:solidFill>
                  <a:srgbClr val="0E7490"/>
                </a:solidFill>
                <a:latin typeface="Segoe UI Semibold" pitchFamily="34" charset="0"/>
                <a:ea typeface="Segoe UI Semibold" pitchFamily="34" charset="-122"/>
                <a:cs typeface="Segoe UI Semibold" pitchFamily="34" charset="-120"/>
              </a:rPr>
              <a:t>21</a:t>
            </a:r>
            <a:endParaRPr lang="en-US" sz="2400" dirty="0"/>
          </a:p>
        </p:txBody>
      </p:sp>
      <p:sp>
        <p:nvSpPr>
          <p:cNvPr id="47" name="a5_63"/>
          <p:cNvSpPr txBox="1"/>
          <p:nvPr/>
        </p:nvSpPr>
        <p:spPr>
          <a:xfrm>
            <a:off x="3596564" y="5833872"/>
            <a:ext cx="2243252" cy="274320"/>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partner colleges covered</a:t>
            </a:r>
            <a:endParaRPr lang="en-US" sz="1200" dirty="0"/>
          </a:p>
        </p:txBody>
      </p:sp>
      <p:sp>
        <p:nvSpPr>
          <p:cNvPr id="48" name="a5_64"/>
          <p:cNvSpPr/>
          <p:nvPr/>
        </p:nvSpPr>
        <p:spPr>
          <a:xfrm>
            <a:off x="6205576" y="5349240"/>
            <a:ext cx="2609012" cy="841248"/>
          </a:xfrm>
          <a:prstGeom prst="roundRect">
            <a:avLst>
              <a:gd name="adj" fmla="val 13043"/>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49" name="a5_65"/>
          <p:cNvSpPr txBox="1"/>
          <p:nvPr/>
        </p:nvSpPr>
        <p:spPr>
          <a:xfrm>
            <a:off x="6425032" y="5394960"/>
            <a:ext cx="2243252" cy="457200"/>
          </a:xfrm>
          <a:prstGeom prst="rect">
            <a:avLst/>
          </a:prstGeom>
          <a:noFill/>
          <a:ln/>
        </p:spPr>
        <p:txBody>
          <a:bodyPr wrap="square" lIns="0" tIns="0" rIns="0" bIns="0" rtlCol="0" anchor="ctr"/>
          <a:lstStyle/>
          <a:p>
            <a:pPr marL="0" indent="0">
              <a:buNone/>
            </a:pPr>
            <a:r>
              <a:rPr lang="en-US" sz="2400" dirty="0">
                <a:solidFill>
                  <a:srgbClr val="7C3AED"/>
                </a:solidFill>
                <a:latin typeface="Segoe UI Semibold" pitchFamily="34" charset="0"/>
                <a:ea typeface="Segoe UI Semibold" pitchFamily="34" charset="-122"/>
                <a:cs typeface="Segoe UI Semibold" pitchFamily="34" charset="-120"/>
              </a:rPr>
              <a:t>6</a:t>
            </a:r>
            <a:endParaRPr lang="en-US" sz="2400" dirty="0"/>
          </a:p>
        </p:txBody>
      </p:sp>
      <p:sp>
        <p:nvSpPr>
          <p:cNvPr id="50" name="a5_66"/>
          <p:cNvSpPr txBox="1"/>
          <p:nvPr/>
        </p:nvSpPr>
        <p:spPr>
          <a:xfrm>
            <a:off x="6425032" y="5833872"/>
            <a:ext cx="2243252" cy="274320"/>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report types, ready to export</a:t>
            </a:r>
            <a:endParaRPr lang="en-US" sz="1200" dirty="0"/>
          </a:p>
        </p:txBody>
      </p:sp>
      <p:sp>
        <p:nvSpPr>
          <p:cNvPr id="51" name="a5_67"/>
          <p:cNvSpPr/>
          <p:nvPr/>
        </p:nvSpPr>
        <p:spPr>
          <a:xfrm>
            <a:off x="9034043" y="5349240"/>
            <a:ext cx="2609012" cy="841248"/>
          </a:xfrm>
          <a:prstGeom prst="roundRect">
            <a:avLst>
              <a:gd name="adj" fmla="val 13043"/>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52" name="a5_68"/>
          <p:cNvSpPr txBox="1"/>
          <p:nvPr/>
        </p:nvSpPr>
        <p:spPr>
          <a:xfrm>
            <a:off x="9253499" y="5394960"/>
            <a:ext cx="2243252" cy="457200"/>
          </a:xfrm>
          <a:prstGeom prst="rect">
            <a:avLst/>
          </a:prstGeom>
          <a:noFill/>
          <a:ln/>
        </p:spPr>
        <p:txBody>
          <a:bodyPr wrap="square" lIns="0" tIns="0" rIns="0" bIns="0" rtlCol="0" anchor="ctr"/>
          <a:lstStyle/>
          <a:p>
            <a:pPr marL="0" indent="0">
              <a:buNone/>
            </a:pPr>
            <a:r>
              <a:rPr lang="en-US" sz="2400" dirty="0">
                <a:solidFill>
                  <a:srgbClr val="128C7E"/>
                </a:solidFill>
                <a:latin typeface="Segoe UI Semibold" pitchFamily="34" charset="0"/>
                <a:ea typeface="Segoe UI Semibold" pitchFamily="34" charset="-122"/>
                <a:cs typeface="Segoe UI Semibold" pitchFamily="34" charset="-120"/>
              </a:rPr>
              <a:t>1 click</a:t>
            </a:r>
            <a:endParaRPr lang="en-US" sz="2400" dirty="0"/>
          </a:p>
        </p:txBody>
      </p:sp>
      <p:sp>
        <p:nvSpPr>
          <p:cNvPr id="53" name="a5_69"/>
          <p:cNvSpPr txBox="1"/>
          <p:nvPr/>
        </p:nvSpPr>
        <p:spPr>
          <a:xfrm>
            <a:off x="9253499" y="5833872"/>
            <a:ext cx="2243252" cy="274320"/>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to call or WhatsApp a contact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par>
                          <p:cTn id="14" fill="hold">
                            <p:stCondLst>
                              <p:cond delay="650"/>
                            </p:stCondLst>
                            <p:childTnLst>
                              <p:par>
                                <p:cTn id="15" presetID="10" presetClass="entr" presetSubtype="0" fill="hold" nodeType="afterEffect">
                                  <p:stCondLst>
                                    <p:cond delay="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5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par>
                                <p:cTn id="42" presetID="10" presetClass="entr" presetSubtype="0"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50"/>
                                        <p:tgtEl>
                                          <p:spTgt spid="22"/>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5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50"/>
                                        <p:tgtEl>
                                          <p:spTgt spid="24"/>
                                        </p:tgtEl>
                                      </p:cBhvr>
                                    </p:animEffect>
                                  </p:childTnLst>
                                </p:cTn>
                              </p:par>
                            </p:childTnLst>
                          </p:cTn>
                        </p:par>
                        <p:par>
                          <p:cTn id="51" fill="hold">
                            <p:stCondLst>
                              <p:cond delay="1150"/>
                            </p:stCondLst>
                            <p:childTnLst>
                              <p:par>
                                <p:cTn id="52" presetID="10" presetClass="entr" presetSubtype="0" fill="hold" nodeType="afterEffect">
                                  <p:stCondLst>
                                    <p:cond delay="5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450"/>
                                        <p:tgtEl>
                                          <p:spTgt spid="40"/>
                                        </p:tgtEl>
                                      </p:cBhvr>
                                    </p:animEffect>
                                  </p:childTnLst>
                                </p:cTn>
                              </p:par>
                              <p:par>
                                <p:cTn id="64" presetID="10" presetClass="entr" presetSubtype="0" fill="hold"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450"/>
                                        <p:tgtEl>
                                          <p:spTgt spid="41"/>
                                        </p:tgtEl>
                                      </p:cBhvr>
                                    </p:animEffect>
                                  </p:childTnLst>
                                </p:cTn>
                              </p:par>
                            </p:childTnLst>
                          </p:cTn>
                        </p:par>
                        <p:par>
                          <p:cTn id="67" fill="hold">
                            <p:stCondLst>
                              <p:cond delay="1650"/>
                            </p:stCondLst>
                            <p:childTnLst>
                              <p:par>
                                <p:cTn id="68" presetID="10" presetClass="entr" presetSubtype="0" fill="hold" nodeType="afterEffect">
                                  <p:stCondLst>
                                    <p:cond delay="5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50"/>
                                        <p:tgtEl>
                                          <p:spTgt spid="28"/>
                                        </p:tgtEl>
                                      </p:cBhvr>
                                    </p:animEffect>
                                  </p:childTnLst>
                                </p:cTn>
                              </p:par>
                              <p:par>
                                <p:cTn id="71" presetID="10" presetClass="entr" presetSubtype="0" fill="hold"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par>
                                <p:cTn id="80" presetID="10" presetClass="entr" presetSubtype="0" fill="hold"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50"/>
                                        <p:tgtEl>
                                          <p:spTgt spid="3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50"/>
                                        <p:tgtEl>
                                          <p:spTgt spid="33"/>
                                        </p:tgtEl>
                                      </p:cBhvr>
                                    </p:animEffect>
                                  </p:childTnLst>
                                </p:cTn>
                              </p:par>
                              <p:par>
                                <p:cTn id="86" presetID="10" presetClass="entr" presetSubtype="0" fill="hold"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450"/>
                                        <p:tgtEl>
                                          <p:spTgt spid="34"/>
                                        </p:tgtEl>
                                      </p:cBhvr>
                                    </p:animEffect>
                                  </p:childTnLst>
                                </p:cTn>
                              </p:par>
                              <p:par>
                                <p:cTn id="89" presetID="10" presetClass="entr" presetSubtype="0" fill="hold"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450"/>
                                        <p:tgtEl>
                                          <p:spTgt spid="3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450"/>
                                        <p:tgtEl>
                                          <p:spTgt spid="36"/>
                                        </p:tgtEl>
                                      </p:cBhvr>
                                    </p:animEffect>
                                  </p:childTnLst>
                                </p:cTn>
                              </p:par>
                              <p:par>
                                <p:cTn id="95" presetID="10" presetClass="entr" presetSubtype="0" fill="hold" nodeType="withEffect">
                                  <p:stCondLst>
                                    <p:cond delay="0"/>
                                  </p:stCondLst>
                                  <p:childTnLst>
                                    <p:set>
                                      <p:cBhvr>
                                        <p:cTn id="96" dur="1" fill="hold">
                                          <p:stCondLst>
                                            <p:cond delay="0"/>
                                          </p:stCondLst>
                                        </p:cTn>
                                        <p:tgtEl>
                                          <p:spTgt spid="37"/>
                                        </p:tgtEl>
                                        <p:attrNameLst>
                                          <p:attrName>style.visibility</p:attrName>
                                        </p:attrNameLst>
                                      </p:cBhvr>
                                      <p:to>
                                        <p:strVal val="visible"/>
                                      </p:to>
                                    </p:set>
                                    <p:animEffect transition="in" filter="fade">
                                      <p:cBhvr>
                                        <p:cTn id="97" dur="450"/>
                                        <p:tgtEl>
                                          <p:spTgt spid="37"/>
                                        </p:tgtEl>
                                      </p:cBhvr>
                                    </p:animEffect>
                                  </p:childTnLst>
                                </p:cTn>
                              </p:par>
                              <p:par>
                                <p:cTn id="98" presetID="10" presetClass="entr" presetSubtype="0" fill="hold" nodeType="with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450"/>
                                        <p:tgtEl>
                                          <p:spTgt spid="3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450"/>
                                        <p:tgtEl>
                                          <p:spTgt spid="39"/>
                                        </p:tgtEl>
                                      </p:cBhvr>
                                    </p:animEffect>
                                  </p:childTnLst>
                                </p:cTn>
                              </p:par>
                            </p:childTnLst>
                          </p:cTn>
                        </p:par>
                        <p:par>
                          <p:cTn id="104" fill="hold">
                            <p:stCondLst>
                              <p:cond delay="2150"/>
                            </p:stCondLst>
                            <p:childTnLst>
                              <p:par>
                                <p:cTn id="105" presetID="10" presetClass="entr" presetSubtype="0" fill="hold" nodeType="afterEffect">
                                  <p:stCondLst>
                                    <p:cond delay="5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7" dur="450"/>
                                        <p:tgtEl>
                                          <p:spTgt spid="4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3"/>
                                        </p:tgtEl>
                                        <p:attrNameLst>
                                          <p:attrName>style.visibility</p:attrName>
                                        </p:attrNameLst>
                                      </p:cBhvr>
                                      <p:to>
                                        <p:strVal val="visible"/>
                                      </p:to>
                                    </p:set>
                                    <p:animEffect transition="in" filter="fade">
                                      <p:cBhvr>
                                        <p:cTn id="110" dur="450"/>
                                        <p:tgtEl>
                                          <p:spTgt spid="4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fade">
                                      <p:cBhvr>
                                        <p:cTn id="113" dur="450"/>
                                        <p:tgtEl>
                                          <p:spTgt spid="44"/>
                                        </p:tgtEl>
                                      </p:cBhvr>
                                    </p:animEffect>
                                  </p:childTnLst>
                                </p:cTn>
                              </p:par>
                              <p:par>
                                <p:cTn id="114" presetID="10" presetClass="entr" presetSubtype="0" fill="hold" nodeType="withEffect">
                                  <p:stCondLst>
                                    <p:cond delay="0"/>
                                  </p:stCondLst>
                                  <p:childTnLst>
                                    <p:set>
                                      <p:cBhvr>
                                        <p:cTn id="115" dur="1" fill="hold">
                                          <p:stCondLst>
                                            <p:cond delay="0"/>
                                          </p:stCondLst>
                                        </p:cTn>
                                        <p:tgtEl>
                                          <p:spTgt spid="45"/>
                                        </p:tgtEl>
                                        <p:attrNameLst>
                                          <p:attrName>style.visibility</p:attrName>
                                        </p:attrNameLst>
                                      </p:cBhvr>
                                      <p:to>
                                        <p:strVal val="visible"/>
                                      </p:to>
                                    </p:set>
                                    <p:animEffect transition="in" filter="fade">
                                      <p:cBhvr>
                                        <p:cTn id="116" dur="450"/>
                                        <p:tgtEl>
                                          <p:spTgt spid="45"/>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450"/>
                                        <p:tgtEl>
                                          <p:spTgt spid="4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450"/>
                                        <p:tgtEl>
                                          <p:spTgt spid="47"/>
                                        </p:tgtEl>
                                      </p:cBhvr>
                                    </p:animEffect>
                                  </p:childTnLst>
                                </p:cTn>
                              </p:par>
                              <p:par>
                                <p:cTn id="123" presetID="10" presetClass="entr" presetSubtype="0" fill="hold" nodeType="with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50"/>
                                        <p:tgtEl>
                                          <p:spTgt spid="48"/>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50"/>
                                        <p:tgtEl>
                                          <p:spTgt spid="4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50"/>
                                        <p:tgtEl>
                                          <p:spTgt spid="50"/>
                                        </p:tgtEl>
                                      </p:cBhvr>
                                    </p:animEffect>
                                  </p:childTnLst>
                                </p:cTn>
                              </p:par>
                              <p:par>
                                <p:cTn id="132" presetID="10" presetClass="entr" presetSubtype="0" fill="hold" nodeType="withEffect">
                                  <p:stCondLst>
                                    <p:cond delay="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50"/>
                                        <p:tgtEl>
                                          <p:spTgt spid="5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450"/>
                                        <p:tgtEl>
                                          <p:spTgt spid="52"/>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4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8" grpId="0" animBg="1"/>
      <p:bldP spid="21" grpId="0" animBg="1"/>
      <p:bldP spid="24" grpId="0" animBg="1"/>
      <p:bldP spid="26" grpId="0" animBg="1"/>
      <p:bldP spid="27" grpId="0" animBg="1"/>
      <p:bldP spid="30" grpId="0" animBg="1"/>
      <p:bldP spid="33" grpId="0" animBg="1"/>
      <p:bldP spid="36" grpId="0" animBg="1"/>
      <p:bldP spid="39" grpId="0" animBg="1"/>
      <p:bldP spid="43" grpId="0" animBg="1"/>
      <p:bldP spid="44" grpId="0" animBg="1"/>
      <p:bldP spid="46" grpId="0" animBg="1"/>
      <p:bldP spid="47" grpId="0" animBg="1"/>
      <p:bldP spid="49" grpId="0" animBg="1"/>
      <p:bldP spid="50" grpId="0" animBg="1"/>
      <p:bldP spid="52" grpId="0" animBg="1"/>
      <p:bldP spid="5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10127011" y="384048"/>
            <a:ext cx="1516045" cy="365760"/>
          </a:xfrm>
          <a:prstGeom prst="rect">
            <a:avLst/>
          </a:prstGeom>
        </p:spPr>
      </p:pic>
      <p:sp>
        <p:nvSpPr>
          <p:cNvPr id="3" name="Shape 0"/>
          <p:cNvSpPr/>
          <p:nvPr/>
        </p:nvSpPr>
        <p:spPr>
          <a:xfrm>
            <a:off x="548640" y="402336"/>
            <a:ext cx="2381098" cy="329184"/>
          </a:xfrm>
          <a:prstGeom prst="roundRect">
            <a:avLst>
              <a:gd name="adj" fmla="val 138889"/>
            </a:avLst>
          </a:prstGeom>
          <a:solidFill>
            <a:srgbClr val="EFF6FF"/>
          </a:solidFill>
          <a:ln w="9525">
            <a:solidFill>
              <a:srgbClr val="BFDBFE"/>
            </a:solidFill>
            <a:prstDash val="solid"/>
          </a:ln>
        </p:spPr>
      </p:sp>
      <p:pic>
        <p:nvPicPr>
          <p:cNvPr id="4" name="Image 1" descr="preencoded.png"/>
          <p:cNvPicPr>
            <a:picLocks noChangeAspect="1"/>
          </p:cNvPicPr>
          <p:nvPr/>
        </p:nvPicPr>
        <p:blipFill>
          <a:blip r:embed="rId5"/>
          <a:stretch>
            <a:fillRect/>
          </a:stretch>
        </p:blipFill>
        <p:spPr>
          <a:xfrm>
            <a:off x="676656" y="475488"/>
            <a:ext cx="182880" cy="182880"/>
          </a:xfrm>
          <a:prstGeom prst="rect">
            <a:avLst/>
          </a:prstGeom>
        </p:spPr>
      </p:pic>
      <p:sp>
        <p:nvSpPr>
          <p:cNvPr id="5" name="Text 1"/>
          <p:cNvSpPr txBox="1"/>
          <p:nvPr/>
        </p:nvSpPr>
        <p:spPr>
          <a:xfrm>
            <a:off x="932688" y="402336"/>
            <a:ext cx="1923898" cy="329184"/>
          </a:xfrm>
          <a:prstGeom prst="rect">
            <a:avLst/>
          </a:prstGeom>
          <a:noFill/>
          <a:ln/>
        </p:spPr>
        <p:txBody>
          <a:bodyPr wrap="square" lIns="0" tIns="0" rIns="0" bIns="0" rtlCol="0" anchor="ctr"/>
          <a:lstStyle/>
          <a:p>
            <a:pPr marL="0" indent="0">
              <a:buNone/>
            </a:pPr>
            <a:r>
              <a:rPr lang="en-US" sz="1000" kern="0" spc="120" dirty="0">
                <a:solidFill>
                  <a:srgbClr val="1D4ED8"/>
                </a:solidFill>
                <a:latin typeface="Segoe UI Semibold" pitchFamily="34" charset="0"/>
                <a:ea typeface="Segoe UI Semibold" pitchFamily="34" charset="-122"/>
                <a:cs typeface="Segoe UI Semibold" pitchFamily="34" charset="-120"/>
              </a:rPr>
              <a:t>ONE CONNECTED FLOW</a:t>
            </a:r>
            <a:endParaRPr lang="en-US" sz="1000" dirty="0"/>
          </a:p>
        </p:txBody>
      </p:sp>
      <p:sp>
        <p:nvSpPr>
          <p:cNvPr id="6" name="Text 2"/>
          <p:cNvSpPr txBox="1"/>
          <p:nvPr/>
        </p:nvSpPr>
        <p:spPr>
          <a:xfrm>
            <a:off x="548640" y="841248"/>
            <a:ext cx="9235440" cy="566928"/>
          </a:xfrm>
          <a:prstGeom prst="rect">
            <a:avLst/>
          </a:prstGeom>
          <a:noFill/>
          <a:ln/>
        </p:spPr>
        <p:txBody>
          <a:bodyPr wrap="square" lIns="0" tIns="0" rIns="0" bIns="0" rtlCol="0" anchor="ctr"/>
          <a:lstStyle/>
          <a:p>
            <a:pPr marL="0" indent="0">
              <a:buNone/>
            </a:pPr>
            <a:r>
              <a:rPr lang="en-US" sz="2800" dirty="0">
                <a:solidFill>
                  <a:srgbClr val="0F1E7A"/>
                </a:solidFill>
                <a:latin typeface="Segoe UI Semibold" pitchFamily="34" charset="0"/>
                <a:ea typeface="Segoe UI Semibold" pitchFamily="34" charset="-122"/>
                <a:cs typeface="Segoe UI Semibold" pitchFamily="34" charset="-120"/>
              </a:rPr>
              <a:t>One connected flow, from first call to final report</a:t>
            </a:r>
            <a:endParaRPr lang="en-US" sz="2800" dirty="0"/>
          </a:p>
        </p:txBody>
      </p:sp>
      <p:sp>
        <p:nvSpPr>
          <p:cNvPr id="7" name="Text 3"/>
          <p:cNvSpPr txBox="1"/>
          <p:nvPr/>
        </p:nvSpPr>
        <p:spPr>
          <a:xfrm>
            <a:off x="548640" y="1371600"/>
            <a:ext cx="9235440" cy="329184"/>
          </a:xfrm>
          <a:prstGeom prst="rect">
            <a:avLst/>
          </a:prstGeom>
          <a:noFill/>
          <a:ln/>
        </p:spPr>
        <p:txBody>
          <a:bodyPr wrap="square" lIns="0" tIns="0" rIns="0" bIns="0" rtlCol="0" anchor="ctr"/>
          <a:lstStyle/>
          <a:p>
            <a:pPr marL="0" indent="0">
              <a:buNone/>
            </a:pPr>
            <a:r>
              <a:rPr lang="en-US" sz="1400" dirty="0">
                <a:solidFill>
                  <a:srgbClr val="475569"/>
                </a:solidFill>
                <a:latin typeface="Segoe UI" pitchFamily="34" charset="0"/>
                <a:ea typeface="Segoe UI" pitchFamily="34" charset="-122"/>
                <a:cs typeface="Segoe UI" pitchFamily="34" charset="-120"/>
              </a:rPr>
              <a:t>Enter data once, and every module further down the line picks it up</a:t>
            </a:r>
            <a:endParaRPr lang="en-US" sz="1400" dirty="0"/>
          </a:p>
        </p:txBody>
      </p:sp>
      <p:sp>
        <p:nvSpPr>
          <p:cNvPr id="8"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iPOMS  ·  Infoziant Placement Operations Management System</a:t>
            </a:r>
            <a:endParaRPr lang="en-US" sz="900" dirty="0"/>
          </a:p>
        </p:txBody>
      </p:sp>
      <p:sp>
        <p:nvSpPr>
          <p:cNvPr id="9" name="Text 5"/>
          <p:cNvSpPr txBox="1"/>
          <p:nvPr/>
        </p:nvSpPr>
        <p:spPr>
          <a:xfrm>
            <a:off x="10545775" y="6419088"/>
            <a:ext cx="1097280" cy="256032"/>
          </a:xfrm>
          <a:prstGeom prst="rect">
            <a:avLst/>
          </a:prstGeom>
          <a:noFill/>
          <a:ln/>
        </p:spPr>
        <p:txBody>
          <a:bodyPr wrap="square" lIns="0" tIns="0" rIns="0" bIns="0" rtlCol="0" anchor="ctr"/>
          <a:lstStyle/>
          <a:p>
            <a:pPr marL="0" indent="0" algn="r">
              <a:buNone/>
            </a:pPr>
            <a:r>
              <a:rPr lang="en-US" sz="900" dirty="0">
                <a:solidFill>
                  <a:srgbClr val="64748B"/>
                </a:solidFill>
                <a:latin typeface="Segoe UI Semibold" pitchFamily="34" charset="0"/>
                <a:ea typeface="Segoe UI Semibold" pitchFamily="34" charset="-122"/>
                <a:cs typeface="Segoe UI Semibold" pitchFamily="34" charset="-120"/>
              </a:rPr>
              <a:t>03 / 08</a:t>
            </a:r>
            <a:endParaRPr lang="en-US" sz="900" dirty="0"/>
          </a:p>
        </p:txBody>
      </p:sp>
      <p:sp>
        <p:nvSpPr>
          <p:cNvPr id="10" name="a1_70"/>
          <p:cNvSpPr/>
          <p:nvPr/>
        </p:nvSpPr>
        <p:spPr>
          <a:xfrm>
            <a:off x="548640" y="1847088"/>
            <a:ext cx="1955536" cy="1243584"/>
          </a:xfrm>
          <a:prstGeom prst="roundRect">
            <a:avLst>
              <a:gd name="adj" fmla="val 10294"/>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11" name="a1_71"/>
          <p:cNvSpPr/>
          <p:nvPr/>
        </p:nvSpPr>
        <p:spPr>
          <a:xfrm>
            <a:off x="749808" y="2029968"/>
            <a:ext cx="420624" cy="420624"/>
          </a:xfrm>
          <a:prstGeom prst="ellipse">
            <a:avLst/>
          </a:prstGeom>
          <a:solidFill>
            <a:srgbClr val="0F1E7A"/>
          </a:solidFill>
          <a:ln w="12700">
            <a:solidFill>
              <a:srgbClr val="0F1E7A"/>
            </a:solidFill>
            <a:prstDash val="solid"/>
          </a:ln>
        </p:spPr>
      </p:sp>
      <p:pic>
        <p:nvPicPr>
          <p:cNvPr id="12" name="a1_72" descr="preencoded.png"/>
          <p:cNvPicPr>
            <a:picLocks noChangeAspect="1"/>
          </p:cNvPicPr>
          <p:nvPr/>
        </p:nvPicPr>
        <p:blipFill>
          <a:blip r:embed="rId6"/>
          <a:stretch>
            <a:fillRect/>
          </a:stretch>
        </p:blipFill>
        <p:spPr>
          <a:xfrm>
            <a:off x="850758" y="2130918"/>
            <a:ext cx="218724" cy="218724"/>
          </a:xfrm>
          <a:prstGeom prst="rect">
            <a:avLst/>
          </a:prstGeom>
        </p:spPr>
      </p:pic>
      <p:sp>
        <p:nvSpPr>
          <p:cNvPr id="13" name="a1_73"/>
          <p:cNvSpPr txBox="1"/>
          <p:nvPr/>
        </p:nvSpPr>
        <p:spPr>
          <a:xfrm>
            <a:off x="749808" y="2505456"/>
            <a:ext cx="1626352" cy="292608"/>
          </a:xfrm>
          <a:prstGeom prst="rect">
            <a:avLst/>
          </a:prstGeom>
          <a:noFill/>
          <a:ln/>
        </p:spPr>
        <p:txBody>
          <a:bodyPr wrap="square" lIns="0" tIns="0" rIns="0" bIns="0" rtlCol="0" anchor="ctr"/>
          <a:lstStyle/>
          <a:p>
            <a:pPr marL="0" indent="0">
              <a:buNone/>
            </a:pPr>
            <a:r>
              <a:rPr lang="en-US" sz="1450" dirty="0">
                <a:solidFill>
                  <a:srgbClr val="0F172A"/>
                </a:solidFill>
                <a:latin typeface="Segoe UI Semibold" pitchFamily="34" charset="0"/>
                <a:ea typeface="Segoe UI Semibold" pitchFamily="34" charset="-122"/>
                <a:cs typeface="Segoe UI Semibold" pitchFamily="34" charset="-120"/>
              </a:rPr>
              <a:t>Master Database</a:t>
            </a:r>
            <a:endParaRPr lang="en-US" sz="1450" dirty="0"/>
          </a:p>
        </p:txBody>
      </p:sp>
      <p:sp>
        <p:nvSpPr>
          <p:cNvPr id="14" name="a1_74"/>
          <p:cNvSpPr txBox="1"/>
          <p:nvPr/>
        </p:nvSpPr>
        <p:spPr>
          <a:xfrm>
            <a:off x="749808" y="2779776"/>
            <a:ext cx="1626352" cy="237744"/>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3,500+ companies</a:t>
            </a:r>
            <a:endParaRPr lang="en-US" sz="1200" dirty="0"/>
          </a:p>
        </p:txBody>
      </p:sp>
      <p:pic>
        <p:nvPicPr>
          <p:cNvPr id="15" name="a1_75" descr="preencoded.png"/>
          <p:cNvPicPr>
            <a:picLocks noChangeAspect="1"/>
          </p:cNvPicPr>
          <p:nvPr/>
        </p:nvPicPr>
        <p:blipFill>
          <a:blip r:embed="rId7"/>
          <a:stretch>
            <a:fillRect/>
          </a:stretch>
        </p:blipFill>
        <p:spPr>
          <a:xfrm>
            <a:off x="2531608" y="2331720"/>
            <a:ext cx="274320" cy="274320"/>
          </a:xfrm>
          <a:prstGeom prst="rect">
            <a:avLst/>
          </a:prstGeom>
        </p:spPr>
      </p:pic>
      <p:sp>
        <p:nvSpPr>
          <p:cNvPr id="16" name="a2_76"/>
          <p:cNvSpPr/>
          <p:nvPr/>
        </p:nvSpPr>
        <p:spPr>
          <a:xfrm>
            <a:off x="2833360" y="1847088"/>
            <a:ext cx="1955536" cy="1243584"/>
          </a:xfrm>
          <a:prstGeom prst="roundRect">
            <a:avLst>
              <a:gd name="adj" fmla="val 10294"/>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17" name="a2_77"/>
          <p:cNvSpPr/>
          <p:nvPr/>
        </p:nvSpPr>
        <p:spPr>
          <a:xfrm>
            <a:off x="3034528" y="2029968"/>
            <a:ext cx="420624" cy="420624"/>
          </a:xfrm>
          <a:prstGeom prst="ellipse">
            <a:avLst/>
          </a:prstGeom>
          <a:solidFill>
            <a:srgbClr val="2563EB"/>
          </a:solidFill>
          <a:ln w="12700">
            <a:solidFill>
              <a:srgbClr val="2563EB"/>
            </a:solidFill>
            <a:prstDash val="solid"/>
          </a:ln>
        </p:spPr>
      </p:sp>
      <p:pic>
        <p:nvPicPr>
          <p:cNvPr id="18" name="a2_78" descr="preencoded.png"/>
          <p:cNvPicPr>
            <a:picLocks noChangeAspect="1"/>
          </p:cNvPicPr>
          <p:nvPr/>
        </p:nvPicPr>
        <p:blipFill>
          <a:blip r:embed="rId8"/>
          <a:stretch>
            <a:fillRect/>
          </a:stretch>
        </p:blipFill>
        <p:spPr>
          <a:xfrm>
            <a:off x="3135478" y="2130918"/>
            <a:ext cx="218724" cy="218724"/>
          </a:xfrm>
          <a:prstGeom prst="rect">
            <a:avLst/>
          </a:prstGeom>
        </p:spPr>
      </p:pic>
      <p:sp>
        <p:nvSpPr>
          <p:cNvPr id="19" name="a2_79"/>
          <p:cNvSpPr txBox="1"/>
          <p:nvPr/>
        </p:nvSpPr>
        <p:spPr>
          <a:xfrm>
            <a:off x="3034528" y="2505456"/>
            <a:ext cx="1626352" cy="292608"/>
          </a:xfrm>
          <a:prstGeom prst="rect">
            <a:avLst/>
          </a:prstGeom>
          <a:noFill/>
          <a:ln/>
        </p:spPr>
        <p:txBody>
          <a:bodyPr wrap="square" lIns="0" tIns="0" rIns="0" bIns="0" rtlCol="0" anchor="ctr"/>
          <a:lstStyle/>
          <a:p>
            <a:pPr marL="0" indent="0">
              <a:buNone/>
            </a:pPr>
            <a:r>
              <a:rPr lang="en-US" sz="1450" dirty="0">
                <a:solidFill>
                  <a:srgbClr val="0F172A"/>
                </a:solidFill>
                <a:latin typeface="Segoe UI Semibold" pitchFamily="34" charset="0"/>
                <a:ea typeface="Segoe UI Semibold" pitchFamily="34" charset="-122"/>
                <a:cs typeface="Segoe UI Semibold" pitchFamily="34" charset="-120"/>
              </a:rPr>
              <a:t>Daily Tracker</a:t>
            </a:r>
            <a:endParaRPr lang="en-US" sz="1450" dirty="0"/>
          </a:p>
        </p:txBody>
      </p:sp>
      <p:sp>
        <p:nvSpPr>
          <p:cNvPr id="20" name="a2_80"/>
          <p:cNvSpPr txBox="1"/>
          <p:nvPr/>
        </p:nvSpPr>
        <p:spPr>
          <a:xfrm>
            <a:off x="3034528" y="2779776"/>
            <a:ext cx="1626352" cy="237744"/>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Every call logged</a:t>
            </a:r>
            <a:endParaRPr lang="en-US" sz="1200" dirty="0"/>
          </a:p>
        </p:txBody>
      </p:sp>
      <p:pic>
        <p:nvPicPr>
          <p:cNvPr id="21" name="a2_81" descr="preencoded.png"/>
          <p:cNvPicPr>
            <a:picLocks noChangeAspect="1"/>
          </p:cNvPicPr>
          <p:nvPr/>
        </p:nvPicPr>
        <p:blipFill>
          <a:blip r:embed="rId7"/>
          <a:stretch>
            <a:fillRect/>
          </a:stretch>
        </p:blipFill>
        <p:spPr>
          <a:xfrm>
            <a:off x="4816328" y="2331720"/>
            <a:ext cx="274320" cy="274320"/>
          </a:xfrm>
          <a:prstGeom prst="rect">
            <a:avLst/>
          </a:prstGeom>
        </p:spPr>
      </p:pic>
      <p:sp>
        <p:nvSpPr>
          <p:cNvPr id="22" name="a3_82"/>
          <p:cNvSpPr/>
          <p:nvPr/>
        </p:nvSpPr>
        <p:spPr>
          <a:xfrm>
            <a:off x="5118080" y="1847088"/>
            <a:ext cx="1955536" cy="1243584"/>
          </a:xfrm>
          <a:prstGeom prst="roundRect">
            <a:avLst>
              <a:gd name="adj" fmla="val 10294"/>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23" name="a3_83"/>
          <p:cNvSpPr/>
          <p:nvPr/>
        </p:nvSpPr>
        <p:spPr>
          <a:xfrm>
            <a:off x="5319248" y="2029968"/>
            <a:ext cx="420624" cy="420624"/>
          </a:xfrm>
          <a:prstGeom prst="ellipse">
            <a:avLst/>
          </a:prstGeom>
          <a:solidFill>
            <a:srgbClr val="059669"/>
          </a:solidFill>
          <a:ln w="12700">
            <a:solidFill>
              <a:srgbClr val="059669"/>
            </a:solidFill>
            <a:prstDash val="solid"/>
          </a:ln>
        </p:spPr>
      </p:sp>
      <p:pic>
        <p:nvPicPr>
          <p:cNvPr id="24" name="a3_84" descr="preencoded.png"/>
          <p:cNvPicPr>
            <a:picLocks noChangeAspect="1"/>
          </p:cNvPicPr>
          <p:nvPr/>
        </p:nvPicPr>
        <p:blipFill>
          <a:blip r:embed="rId9"/>
          <a:stretch>
            <a:fillRect/>
          </a:stretch>
        </p:blipFill>
        <p:spPr>
          <a:xfrm>
            <a:off x="5420197" y="2130918"/>
            <a:ext cx="218724" cy="218724"/>
          </a:xfrm>
          <a:prstGeom prst="rect">
            <a:avLst/>
          </a:prstGeom>
        </p:spPr>
      </p:pic>
      <p:sp>
        <p:nvSpPr>
          <p:cNvPr id="25" name="a3_85"/>
          <p:cNvSpPr txBox="1"/>
          <p:nvPr/>
        </p:nvSpPr>
        <p:spPr>
          <a:xfrm>
            <a:off x="5319248" y="2505456"/>
            <a:ext cx="1626352" cy="292608"/>
          </a:xfrm>
          <a:prstGeom prst="rect">
            <a:avLst/>
          </a:prstGeom>
          <a:noFill/>
          <a:ln/>
        </p:spPr>
        <p:txBody>
          <a:bodyPr wrap="square" lIns="0" tIns="0" rIns="0" bIns="0" rtlCol="0" anchor="ctr"/>
          <a:lstStyle/>
          <a:p>
            <a:pPr marL="0" indent="0">
              <a:buNone/>
            </a:pPr>
            <a:r>
              <a:rPr lang="en-US" sz="1450" dirty="0">
                <a:solidFill>
                  <a:srgbClr val="0F172A"/>
                </a:solidFill>
                <a:latin typeface="Segoe UI Semibold" pitchFamily="34" charset="0"/>
                <a:ea typeface="Segoe UI Semibold" pitchFamily="34" charset="-122"/>
                <a:cs typeface="Segoe UI Semibold" pitchFamily="34" charset="-120"/>
              </a:rPr>
              <a:t>Daily Leads</a:t>
            </a:r>
            <a:endParaRPr lang="en-US" sz="1450" dirty="0"/>
          </a:p>
        </p:txBody>
      </p:sp>
      <p:sp>
        <p:nvSpPr>
          <p:cNvPr id="26" name="a3_86"/>
          <p:cNvSpPr txBox="1"/>
          <p:nvPr/>
        </p:nvSpPr>
        <p:spPr>
          <a:xfrm>
            <a:off x="5319248" y="2779776"/>
            <a:ext cx="1626352" cy="237744"/>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Positives and JDs</a:t>
            </a:r>
            <a:endParaRPr lang="en-US" sz="1200" dirty="0"/>
          </a:p>
        </p:txBody>
      </p:sp>
      <p:pic>
        <p:nvPicPr>
          <p:cNvPr id="27" name="a3_87" descr="preencoded.png"/>
          <p:cNvPicPr>
            <a:picLocks noChangeAspect="1"/>
          </p:cNvPicPr>
          <p:nvPr/>
        </p:nvPicPr>
        <p:blipFill>
          <a:blip r:embed="rId7"/>
          <a:stretch>
            <a:fillRect/>
          </a:stretch>
        </p:blipFill>
        <p:spPr>
          <a:xfrm>
            <a:off x="7101048" y="2331720"/>
            <a:ext cx="274320" cy="274320"/>
          </a:xfrm>
          <a:prstGeom prst="rect">
            <a:avLst/>
          </a:prstGeom>
        </p:spPr>
      </p:pic>
      <p:sp>
        <p:nvSpPr>
          <p:cNvPr id="28" name="a4_88"/>
          <p:cNvSpPr/>
          <p:nvPr/>
        </p:nvSpPr>
        <p:spPr>
          <a:xfrm>
            <a:off x="7402800" y="1847088"/>
            <a:ext cx="1955536" cy="1243584"/>
          </a:xfrm>
          <a:prstGeom prst="roundRect">
            <a:avLst>
              <a:gd name="adj" fmla="val 10294"/>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29" name="a4_89"/>
          <p:cNvSpPr/>
          <p:nvPr/>
        </p:nvSpPr>
        <p:spPr>
          <a:xfrm>
            <a:off x="7603968" y="2029968"/>
            <a:ext cx="420624" cy="420624"/>
          </a:xfrm>
          <a:prstGeom prst="ellipse">
            <a:avLst/>
          </a:prstGeom>
          <a:solidFill>
            <a:srgbClr val="7C3AED"/>
          </a:solidFill>
          <a:ln w="12700">
            <a:solidFill>
              <a:srgbClr val="7C3AED"/>
            </a:solidFill>
            <a:prstDash val="solid"/>
          </a:ln>
        </p:spPr>
      </p:sp>
      <p:pic>
        <p:nvPicPr>
          <p:cNvPr id="30" name="a4_90" descr="preencoded.png"/>
          <p:cNvPicPr>
            <a:picLocks noChangeAspect="1"/>
          </p:cNvPicPr>
          <p:nvPr/>
        </p:nvPicPr>
        <p:blipFill>
          <a:blip r:embed="rId10"/>
          <a:stretch>
            <a:fillRect/>
          </a:stretch>
        </p:blipFill>
        <p:spPr>
          <a:xfrm>
            <a:off x="7704917" y="2130918"/>
            <a:ext cx="218724" cy="218724"/>
          </a:xfrm>
          <a:prstGeom prst="rect">
            <a:avLst/>
          </a:prstGeom>
        </p:spPr>
      </p:pic>
      <p:sp>
        <p:nvSpPr>
          <p:cNvPr id="31" name="a4_91"/>
          <p:cNvSpPr txBox="1"/>
          <p:nvPr/>
        </p:nvSpPr>
        <p:spPr>
          <a:xfrm>
            <a:off x="7603968" y="2505456"/>
            <a:ext cx="1626352" cy="292608"/>
          </a:xfrm>
          <a:prstGeom prst="rect">
            <a:avLst/>
          </a:prstGeom>
          <a:noFill/>
          <a:ln/>
        </p:spPr>
        <p:txBody>
          <a:bodyPr wrap="square" lIns="0" tIns="0" rIns="0" bIns="0" rtlCol="0" anchor="ctr"/>
          <a:lstStyle/>
          <a:p>
            <a:pPr marL="0" indent="0">
              <a:buNone/>
            </a:pPr>
            <a:r>
              <a:rPr lang="en-US" sz="1450" dirty="0">
                <a:solidFill>
                  <a:srgbClr val="0F172A"/>
                </a:solidFill>
                <a:latin typeface="Segoe UI Semibold" pitchFamily="34" charset="0"/>
                <a:ea typeface="Segoe UI Semibold" pitchFamily="34" charset="-122"/>
                <a:cs typeface="Segoe UI Semibold" pitchFamily="34" charset="-120"/>
              </a:rPr>
              <a:t>Weekly Tracker</a:t>
            </a:r>
            <a:endParaRPr lang="en-US" sz="1450" dirty="0"/>
          </a:p>
        </p:txBody>
      </p:sp>
      <p:sp>
        <p:nvSpPr>
          <p:cNvPr id="32" name="a4_92"/>
          <p:cNvSpPr txBox="1"/>
          <p:nvPr/>
        </p:nvSpPr>
        <p:spPr>
          <a:xfrm>
            <a:off x="7603968" y="2779776"/>
            <a:ext cx="1626352" cy="237744"/>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 drive pipeline</a:t>
            </a:r>
            <a:endParaRPr lang="en-US" sz="1200" dirty="0"/>
          </a:p>
        </p:txBody>
      </p:sp>
      <p:pic>
        <p:nvPicPr>
          <p:cNvPr id="33" name="a4_93" descr="preencoded.png"/>
          <p:cNvPicPr>
            <a:picLocks noChangeAspect="1"/>
          </p:cNvPicPr>
          <p:nvPr/>
        </p:nvPicPr>
        <p:blipFill>
          <a:blip r:embed="rId7"/>
          <a:stretch>
            <a:fillRect/>
          </a:stretch>
        </p:blipFill>
        <p:spPr>
          <a:xfrm>
            <a:off x="9385767" y="2331720"/>
            <a:ext cx="274320" cy="274320"/>
          </a:xfrm>
          <a:prstGeom prst="rect">
            <a:avLst/>
          </a:prstGeom>
        </p:spPr>
      </p:pic>
      <p:sp>
        <p:nvSpPr>
          <p:cNvPr id="34" name="a5_94"/>
          <p:cNvSpPr/>
          <p:nvPr/>
        </p:nvSpPr>
        <p:spPr>
          <a:xfrm>
            <a:off x="9687519" y="1847088"/>
            <a:ext cx="1955536" cy="1243584"/>
          </a:xfrm>
          <a:prstGeom prst="roundRect">
            <a:avLst>
              <a:gd name="adj" fmla="val 10294"/>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35" name="a5_95"/>
          <p:cNvSpPr/>
          <p:nvPr/>
        </p:nvSpPr>
        <p:spPr>
          <a:xfrm>
            <a:off x="9888687" y="2029968"/>
            <a:ext cx="420624" cy="420624"/>
          </a:xfrm>
          <a:prstGeom prst="ellipse">
            <a:avLst/>
          </a:prstGeom>
          <a:solidFill>
            <a:srgbClr val="D97706"/>
          </a:solidFill>
          <a:ln w="12700">
            <a:solidFill>
              <a:srgbClr val="D97706"/>
            </a:solidFill>
            <a:prstDash val="solid"/>
          </a:ln>
        </p:spPr>
      </p:sp>
      <p:pic>
        <p:nvPicPr>
          <p:cNvPr id="36" name="a5_96" descr="preencoded.png"/>
          <p:cNvPicPr>
            <a:picLocks noChangeAspect="1"/>
          </p:cNvPicPr>
          <p:nvPr/>
        </p:nvPicPr>
        <p:blipFill>
          <a:blip r:embed="rId11"/>
          <a:stretch>
            <a:fillRect/>
          </a:stretch>
        </p:blipFill>
        <p:spPr>
          <a:xfrm>
            <a:off x="9989637" y="2130918"/>
            <a:ext cx="218724" cy="218724"/>
          </a:xfrm>
          <a:prstGeom prst="rect">
            <a:avLst/>
          </a:prstGeom>
        </p:spPr>
      </p:pic>
      <p:sp>
        <p:nvSpPr>
          <p:cNvPr id="37" name="a5_97"/>
          <p:cNvSpPr txBox="1"/>
          <p:nvPr/>
        </p:nvSpPr>
        <p:spPr>
          <a:xfrm>
            <a:off x="9888687" y="2505456"/>
            <a:ext cx="1626352" cy="292608"/>
          </a:xfrm>
          <a:prstGeom prst="rect">
            <a:avLst/>
          </a:prstGeom>
          <a:noFill/>
          <a:ln/>
        </p:spPr>
        <p:txBody>
          <a:bodyPr wrap="square" lIns="0" tIns="0" rIns="0" bIns="0" rtlCol="0" anchor="ctr"/>
          <a:lstStyle/>
          <a:p>
            <a:pPr marL="0" indent="0">
              <a:buNone/>
            </a:pPr>
            <a:r>
              <a:rPr lang="en-US" sz="1450" dirty="0">
                <a:solidFill>
                  <a:srgbClr val="0F172A"/>
                </a:solidFill>
                <a:latin typeface="Segoe UI Semibold" pitchFamily="34" charset="0"/>
                <a:ea typeface="Segoe UI Semibold" pitchFamily="34" charset="-122"/>
                <a:cs typeface="Segoe UI Semibold" pitchFamily="34" charset="-120"/>
              </a:rPr>
              <a:t>Reports</a:t>
            </a:r>
            <a:endParaRPr lang="en-US" sz="1450" dirty="0"/>
          </a:p>
        </p:txBody>
      </p:sp>
      <p:sp>
        <p:nvSpPr>
          <p:cNvPr id="38" name="a5_98"/>
          <p:cNvSpPr txBox="1"/>
          <p:nvPr/>
        </p:nvSpPr>
        <p:spPr>
          <a:xfrm>
            <a:off x="9888687" y="2779776"/>
            <a:ext cx="1626352" cy="237744"/>
          </a:xfrm>
          <a:prstGeom prst="rect">
            <a:avLst/>
          </a:prstGeom>
          <a:noFill/>
          <a:ln/>
        </p:spPr>
        <p:txBody>
          <a:bodyPr wrap="square" lIns="0" tIns="0" rIns="0" bIns="0"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PDF, Excel, Image</a:t>
            </a:r>
            <a:endParaRPr lang="en-US" sz="1200" dirty="0"/>
          </a:p>
        </p:txBody>
      </p:sp>
      <p:pic>
        <p:nvPicPr>
          <p:cNvPr id="39" name="a6_99" descr="C:\Users\admin\.claude\skills\ipoms-ppt-2026\demo\assets\shots\metadata.png"/>
          <p:cNvPicPr>
            <a:picLocks noChangeAspect="1"/>
          </p:cNvPicPr>
          <p:nvPr/>
        </p:nvPicPr>
        <p:blipFill>
          <a:blip r:embed="rId12"/>
          <a:stretch>
            <a:fillRect/>
          </a:stretch>
        </p:blipFill>
        <p:spPr>
          <a:xfrm>
            <a:off x="384048" y="3255264"/>
            <a:ext cx="5742655" cy="2999232"/>
          </a:xfrm>
          <a:prstGeom prst="rect">
            <a:avLst/>
          </a:prstGeom>
        </p:spPr>
      </p:pic>
      <p:sp>
        <p:nvSpPr>
          <p:cNvPr id="40" name="a7_100"/>
          <p:cNvSpPr/>
          <p:nvPr/>
        </p:nvSpPr>
        <p:spPr>
          <a:xfrm>
            <a:off x="6675120" y="3364992"/>
            <a:ext cx="420624" cy="420624"/>
          </a:xfrm>
          <a:prstGeom prst="ellipse">
            <a:avLst/>
          </a:prstGeom>
          <a:solidFill>
            <a:srgbClr val="0F1E7A"/>
          </a:solidFill>
          <a:ln w="12700">
            <a:solidFill>
              <a:srgbClr val="0F1E7A"/>
            </a:solidFill>
            <a:prstDash val="solid"/>
          </a:ln>
        </p:spPr>
      </p:sp>
      <p:pic>
        <p:nvPicPr>
          <p:cNvPr id="41" name="a7_101" descr="preencoded.png"/>
          <p:cNvPicPr>
            <a:picLocks noChangeAspect="1"/>
          </p:cNvPicPr>
          <p:nvPr/>
        </p:nvPicPr>
        <p:blipFill>
          <a:blip r:embed="rId6"/>
          <a:stretch>
            <a:fillRect/>
          </a:stretch>
        </p:blipFill>
        <p:spPr>
          <a:xfrm>
            <a:off x="6776070" y="3465942"/>
            <a:ext cx="218724" cy="218724"/>
          </a:xfrm>
          <a:prstGeom prst="rect">
            <a:avLst/>
          </a:prstGeom>
        </p:spPr>
      </p:pic>
      <p:sp>
        <p:nvSpPr>
          <p:cNvPr id="42" name="a7_102"/>
          <p:cNvSpPr txBox="1"/>
          <p:nvPr/>
        </p:nvSpPr>
        <p:spPr>
          <a:xfrm>
            <a:off x="7278624" y="3346704"/>
            <a:ext cx="4364431"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3,500+ companies, one master list</a:t>
            </a:r>
            <a:endParaRPr lang="en-US" sz="1500" dirty="0"/>
          </a:p>
        </p:txBody>
      </p:sp>
      <p:sp>
        <p:nvSpPr>
          <p:cNvPr id="43" name="a7_103"/>
          <p:cNvSpPr txBox="1"/>
          <p:nvPr/>
        </p:nvSpPr>
        <p:spPr>
          <a:xfrm>
            <a:off x="7278624" y="3675888"/>
            <a:ext cx="4364431" cy="310896"/>
          </a:xfrm>
          <a:prstGeom prst="rect">
            <a:avLst/>
          </a:prstGeom>
          <a:noFill/>
          <a:ln/>
        </p:spPr>
        <p:txBody>
          <a:bodyPr wrap="square" lIns="0" tIns="0" rIns="0" bIns="0" rtlCol="0" anchor="t"/>
          <a:lstStyle/>
          <a:p>
            <a:pPr marL="0" indent="0">
              <a:lnSpc>
                <a:spcPct val="108000"/>
              </a:lnSpc>
              <a:buNone/>
            </a:pPr>
            <a:r>
              <a:rPr lang="en-US" sz="1250" dirty="0">
                <a:solidFill>
                  <a:srgbClr val="475569"/>
                </a:solidFill>
                <a:latin typeface="Segoe UI" pitchFamily="34" charset="0"/>
                <a:ea typeface="Segoe UI" pitchFamily="34" charset="-122"/>
                <a:cs typeface="Segoe UI" pitchFamily="34" charset="-120"/>
              </a:rPr>
              <a:t>Duplicates merged, so one company is one row</a:t>
            </a:r>
            <a:endParaRPr lang="en-US" sz="1250" dirty="0"/>
          </a:p>
        </p:txBody>
      </p:sp>
      <p:sp>
        <p:nvSpPr>
          <p:cNvPr id="44" name="a7_104"/>
          <p:cNvSpPr/>
          <p:nvPr/>
        </p:nvSpPr>
        <p:spPr>
          <a:xfrm>
            <a:off x="6675120" y="4096512"/>
            <a:ext cx="420624" cy="420624"/>
          </a:xfrm>
          <a:prstGeom prst="ellipse">
            <a:avLst/>
          </a:prstGeom>
          <a:solidFill>
            <a:srgbClr val="00A3BB"/>
          </a:solidFill>
          <a:ln w="12700">
            <a:solidFill>
              <a:srgbClr val="00A3BB"/>
            </a:solidFill>
            <a:prstDash val="solid"/>
          </a:ln>
        </p:spPr>
      </p:sp>
      <p:pic>
        <p:nvPicPr>
          <p:cNvPr id="45" name="a7_105" descr="preencoded.png"/>
          <p:cNvPicPr>
            <a:picLocks noChangeAspect="1"/>
          </p:cNvPicPr>
          <p:nvPr/>
        </p:nvPicPr>
        <p:blipFill>
          <a:blip r:embed="rId13"/>
          <a:stretch>
            <a:fillRect/>
          </a:stretch>
        </p:blipFill>
        <p:spPr>
          <a:xfrm>
            <a:off x="6776070" y="4197462"/>
            <a:ext cx="218724" cy="218724"/>
          </a:xfrm>
          <a:prstGeom prst="rect">
            <a:avLst/>
          </a:prstGeom>
        </p:spPr>
      </p:pic>
      <p:sp>
        <p:nvSpPr>
          <p:cNvPr id="46" name="a7_106"/>
          <p:cNvSpPr txBox="1"/>
          <p:nvPr/>
        </p:nvSpPr>
        <p:spPr>
          <a:xfrm>
            <a:off x="7278624" y="4078224"/>
            <a:ext cx="4364431"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Range Picker</a:t>
            </a:r>
            <a:endParaRPr lang="en-US" sz="1500" dirty="0"/>
          </a:p>
        </p:txBody>
      </p:sp>
      <p:sp>
        <p:nvSpPr>
          <p:cNvPr id="47" name="a7_107"/>
          <p:cNvSpPr txBox="1"/>
          <p:nvPr/>
        </p:nvSpPr>
        <p:spPr>
          <a:xfrm>
            <a:off x="7278624" y="4407408"/>
            <a:ext cx="4364431" cy="310896"/>
          </a:xfrm>
          <a:prstGeom prst="rect">
            <a:avLst/>
          </a:prstGeom>
          <a:noFill/>
          <a:ln/>
        </p:spPr>
        <p:txBody>
          <a:bodyPr wrap="square" lIns="0" tIns="0" rIns="0" bIns="0" rtlCol="0" anchor="t"/>
          <a:lstStyle/>
          <a:p>
            <a:pPr marL="0" indent="0">
              <a:lnSpc>
                <a:spcPct val="108000"/>
              </a:lnSpc>
              <a:buNone/>
            </a:pPr>
            <a:r>
              <a:rPr lang="en-US" sz="1250" dirty="0">
                <a:solidFill>
                  <a:srgbClr val="475569"/>
                </a:solidFill>
                <a:latin typeface="Segoe UI" pitchFamily="34" charset="0"/>
                <a:ea typeface="Segoe UI" pitchFamily="34" charset="-122"/>
                <a:cs typeface="Segoe UI" pitchFamily="34" charset="-120"/>
              </a:rPr>
              <a:t>Each coordinator works their own S.No range, like 1 to 500</a:t>
            </a:r>
            <a:endParaRPr lang="en-US" sz="1250" dirty="0"/>
          </a:p>
        </p:txBody>
      </p:sp>
      <p:sp>
        <p:nvSpPr>
          <p:cNvPr id="48" name="a7_108"/>
          <p:cNvSpPr/>
          <p:nvPr/>
        </p:nvSpPr>
        <p:spPr>
          <a:xfrm>
            <a:off x="6675120" y="4828032"/>
            <a:ext cx="420624" cy="420624"/>
          </a:xfrm>
          <a:prstGeom prst="ellipse">
            <a:avLst/>
          </a:prstGeom>
          <a:solidFill>
            <a:srgbClr val="7C3AED"/>
          </a:solidFill>
          <a:ln w="12700">
            <a:solidFill>
              <a:srgbClr val="7C3AED"/>
            </a:solidFill>
            <a:prstDash val="solid"/>
          </a:ln>
        </p:spPr>
      </p:sp>
      <p:pic>
        <p:nvPicPr>
          <p:cNvPr id="49" name="a7_109" descr="preencoded.png"/>
          <p:cNvPicPr>
            <a:picLocks noChangeAspect="1"/>
          </p:cNvPicPr>
          <p:nvPr/>
        </p:nvPicPr>
        <p:blipFill>
          <a:blip r:embed="rId14"/>
          <a:stretch>
            <a:fillRect/>
          </a:stretch>
        </p:blipFill>
        <p:spPr>
          <a:xfrm>
            <a:off x="6776070" y="4928982"/>
            <a:ext cx="218724" cy="218724"/>
          </a:xfrm>
          <a:prstGeom prst="rect">
            <a:avLst/>
          </a:prstGeom>
        </p:spPr>
      </p:pic>
      <p:sp>
        <p:nvSpPr>
          <p:cNvPr id="50" name="a7_110"/>
          <p:cNvSpPr txBox="1"/>
          <p:nvPr/>
        </p:nvSpPr>
        <p:spPr>
          <a:xfrm>
            <a:off x="7278624" y="4809744"/>
            <a:ext cx="4364431"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Pagination with page jump</a:t>
            </a:r>
            <a:endParaRPr lang="en-US" sz="1500" dirty="0"/>
          </a:p>
        </p:txBody>
      </p:sp>
      <p:sp>
        <p:nvSpPr>
          <p:cNvPr id="51" name="a7_111"/>
          <p:cNvSpPr txBox="1"/>
          <p:nvPr/>
        </p:nvSpPr>
        <p:spPr>
          <a:xfrm>
            <a:off x="7278624" y="5138928"/>
            <a:ext cx="4364431" cy="310896"/>
          </a:xfrm>
          <a:prstGeom prst="rect">
            <a:avLst/>
          </a:prstGeom>
          <a:noFill/>
          <a:ln/>
        </p:spPr>
        <p:txBody>
          <a:bodyPr wrap="square" lIns="0" tIns="0" rIns="0" bIns="0" rtlCol="0" anchor="t"/>
          <a:lstStyle/>
          <a:p>
            <a:pPr marL="0" indent="0">
              <a:lnSpc>
                <a:spcPct val="108000"/>
              </a:lnSpc>
              <a:buNone/>
            </a:pPr>
            <a:r>
              <a:rPr lang="en-US" sz="1250" dirty="0">
                <a:solidFill>
                  <a:srgbClr val="475569"/>
                </a:solidFill>
                <a:latin typeface="Segoe UI" pitchFamily="34" charset="0"/>
                <a:ea typeface="Segoe UI" pitchFamily="34" charset="-122"/>
                <a:cs typeface="Segoe UI" pitchFamily="34" charset="-120"/>
              </a:rPr>
              <a:t>Type a page number and go straight there</a:t>
            </a:r>
            <a:endParaRPr lang="en-US" sz="1250" dirty="0"/>
          </a:p>
        </p:txBody>
      </p:sp>
      <p:sp>
        <p:nvSpPr>
          <p:cNvPr id="52" name="a7_112"/>
          <p:cNvSpPr/>
          <p:nvPr/>
        </p:nvSpPr>
        <p:spPr>
          <a:xfrm>
            <a:off x="6675120" y="5559552"/>
            <a:ext cx="420624" cy="420624"/>
          </a:xfrm>
          <a:prstGeom prst="ellipse">
            <a:avLst/>
          </a:prstGeom>
          <a:solidFill>
            <a:srgbClr val="D97706"/>
          </a:solidFill>
          <a:ln w="12700">
            <a:solidFill>
              <a:srgbClr val="D97706"/>
            </a:solidFill>
            <a:prstDash val="solid"/>
          </a:ln>
        </p:spPr>
      </p:sp>
      <p:pic>
        <p:nvPicPr>
          <p:cNvPr id="53" name="a7_113" descr="preencoded.png"/>
          <p:cNvPicPr>
            <a:picLocks noChangeAspect="1"/>
          </p:cNvPicPr>
          <p:nvPr/>
        </p:nvPicPr>
        <p:blipFill>
          <a:blip r:embed="rId15"/>
          <a:stretch>
            <a:fillRect/>
          </a:stretch>
        </p:blipFill>
        <p:spPr>
          <a:xfrm>
            <a:off x="6776070" y="5660502"/>
            <a:ext cx="218724" cy="218724"/>
          </a:xfrm>
          <a:prstGeom prst="rect">
            <a:avLst/>
          </a:prstGeom>
        </p:spPr>
      </p:pic>
      <p:sp>
        <p:nvSpPr>
          <p:cNvPr id="54" name="a7_114"/>
          <p:cNvSpPr txBox="1"/>
          <p:nvPr/>
        </p:nvSpPr>
        <p:spPr>
          <a:xfrm>
            <a:off x="7278624" y="5541264"/>
            <a:ext cx="4364431"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Find anyone in seconds</a:t>
            </a:r>
            <a:endParaRPr lang="en-US" sz="1500" dirty="0"/>
          </a:p>
        </p:txBody>
      </p:sp>
      <p:sp>
        <p:nvSpPr>
          <p:cNvPr id="55" name="a7_115"/>
          <p:cNvSpPr txBox="1"/>
          <p:nvPr/>
        </p:nvSpPr>
        <p:spPr>
          <a:xfrm>
            <a:off x="7278624" y="5870448"/>
            <a:ext cx="4364431" cy="310896"/>
          </a:xfrm>
          <a:prstGeom prst="rect">
            <a:avLst/>
          </a:prstGeom>
          <a:noFill/>
          <a:ln/>
        </p:spPr>
        <p:txBody>
          <a:bodyPr wrap="square" lIns="0" tIns="0" rIns="0" bIns="0" rtlCol="0" anchor="t"/>
          <a:lstStyle/>
          <a:p>
            <a:pPr marL="0" indent="0">
              <a:lnSpc>
                <a:spcPct val="108000"/>
              </a:lnSpc>
              <a:buNone/>
            </a:pPr>
            <a:r>
              <a:rPr lang="en-US" sz="1250" dirty="0">
                <a:solidFill>
                  <a:srgbClr val="475569"/>
                </a:solidFill>
                <a:latin typeface="Segoe UI" pitchFamily="34" charset="0"/>
                <a:ea typeface="Segoe UI" pitchFamily="34" charset="-122"/>
                <a:cs typeface="Segoe UI" pitchFamily="34" charset="-120"/>
              </a:rPr>
              <a:t>Search by company, HR name or mobile number</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childTnLst>
                          </p:cTn>
                        </p:par>
                        <p:par>
                          <p:cTn id="23" fill="hold">
                            <p:stCondLst>
                              <p:cond delay="650"/>
                            </p:stCondLst>
                            <p:childTnLst>
                              <p:par>
                                <p:cTn id="24" presetID="10" presetClass="entr" presetSubtype="0" fill="hold" nodeType="afterEffect">
                                  <p:stCondLst>
                                    <p:cond delay="5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5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childTnLst>
                          </p:cTn>
                        </p:par>
                        <p:par>
                          <p:cTn id="42" fill="hold">
                            <p:stCondLst>
                              <p:cond delay="1150"/>
                            </p:stCondLst>
                            <p:childTnLst>
                              <p:par>
                                <p:cTn id="43" presetID="10" presetClass="entr" presetSubtype="0" fill="hold" nodeType="afterEffect">
                                  <p:stCondLst>
                                    <p:cond delay="5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par>
                                <p:cTn id="46" presetID="10" presetClass="entr" presetSubtype="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50"/>
                                        <p:tgtEl>
                                          <p:spTgt spid="23"/>
                                        </p:tgtEl>
                                      </p:cBhvr>
                                    </p:animEffect>
                                  </p:childTnLst>
                                </p:cTn>
                              </p:par>
                              <p:par>
                                <p:cTn id="49" presetID="10"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5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par>
                                <p:cTn id="58" presetID="10" presetClass="entr" presetSubtype="0"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childTnLst>
                          </p:cTn>
                        </p:par>
                        <p:par>
                          <p:cTn id="61" fill="hold">
                            <p:stCondLst>
                              <p:cond delay="1650"/>
                            </p:stCondLst>
                            <p:childTnLst>
                              <p:par>
                                <p:cTn id="62" presetID="10" presetClass="entr" presetSubtype="0" fill="hold" nodeType="afterEffect">
                                  <p:stCondLst>
                                    <p:cond delay="5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par>
                                <p:cTn id="68" presetID="10" presetClass="entr" presetSubtype="0" fill="hold"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5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5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50"/>
                                        <p:tgtEl>
                                          <p:spTgt spid="32"/>
                                        </p:tgtEl>
                                      </p:cBhvr>
                                    </p:animEffect>
                                  </p:childTnLst>
                                </p:cTn>
                              </p:par>
                              <p:par>
                                <p:cTn id="77" presetID="10" presetClass="entr" presetSubtype="0" fill="hold"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50"/>
                                        <p:tgtEl>
                                          <p:spTgt spid="33"/>
                                        </p:tgtEl>
                                      </p:cBhvr>
                                    </p:animEffect>
                                  </p:childTnLst>
                                </p:cTn>
                              </p:par>
                            </p:childTnLst>
                          </p:cTn>
                        </p:par>
                        <p:par>
                          <p:cTn id="80" fill="hold">
                            <p:stCondLst>
                              <p:cond delay="2150"/>
                            </p:stCondLst>
                            <p:childTnLst>
                              <p:par>
                                <p:cTn id="81" presetID="10" presetClass="entr" presetSubtype="0" fill="hold" nodeType="afterEffect">
                                  <p:stCondLst>
                                    <p:cond delay="5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450"/>
                                        <p:tgtEl>
                                          <p:spTgt spid="34"/>
                                        </p:tgtEl>
                                      </p:cBhvr>
                                    </p:animEffect>
                                  </p:childTnLst>
                                </p:cTn>
                              </p:par>
                              <p:par>
                                <p:cTn id="84" presetID="10" presetClass="entr" presetSubtype="0" fill="hold"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50"/>
                                        <p:tgtEl>
                                          <p:spTgt spid="35"/>
                                        </p:tgtEl>
                                      </p:cBhvr>
                                    </p:animEffect>
                                  </p:childTnLst>
                                </p:cTn>
                              </p:par>
                              <p:par>
                                <p:cTn id="87" presetID="10"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450"/>
                                        <p:tgtEl>
                                          <p:spTgt spid="3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450"/>
                                        <p:tgtEl>
                                          <p:spTgt spid="3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450"/>
                                        <p:tgtEl>
                                          <p:spTgt spid="38"/>
                                        </p:tgtEl>
                                      </p:cBhvr>
                                    </p:animEffect>
                                  </p:childTnLst>
                                </p:cTn>
                              </p:par>
                            </p:childTnLst>
                          </p:cTn>
                        </p:par>
                        <p:par>
                          <p:cTn id="96" fill="hold">
                            <p:stCondLst>
                              <p:cond delay="2650"/>
                            </p:stCondLst>
                            <p:childTnLst>
                              <p:par>
                                <p:cTn id="97" presetID="10" presetClass="entr" presetSubtype="0" fill="hold" nodeType="afterEffect">
                                  <p:stCondLst>
                                    <p:cond delay="5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50"/>
                                        <p:tgtEl>
                                          <p:spTgt spid="39"/>
                                        </p:tgtEl>
                                      </p:cBhvr>
                                    </p:animEffect>
                                  </p:childTnLst>
                                </p:cTn>
                              </p:par>
                            </p:childTnLst>
                          </p:cTn>
                        </p:par>
                        <p:par>
                          <p:cTn id="100" fill="hold">
                            <p:stCondLst>
                              <p:cond delay="3150"/>
                            </p:stCondLst>
                            <p:childTnLst>
                              <p:par>
                                <p:cTn id="101" presetID="10" presetClass="entr" presetSubtype="0" fill="hold" nodeType="afterEffect">
                                  <p:stCondLst>
                                    <p:cond delay="5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450"/>
                                        <p:tgtEl>
                                          <p:spTgt spid="40"/>
                                        </p:tgtEl>
                                      </p:cBhvr>
                                    </p:animEffect>
                                  </p:childTnLst>
                                </p:cTn>
                              </p:par>
                              <p:par>
                                <p:cTn id="104" presetID="10" presetClass="entr" presetSubtype="0" fill="hold" nodeType="with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450"/>
                                        <p:tgtEl>
                                          <p:spTgt spid="4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450"/>
                                        <p:tgtEl>
                                          <p:spTgt spid="4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450"/>
                                        <p:tgtEl>
                                          <p:spTgt spid="43"/>
                                        </p:tgtEl>
                                      </p:cBhvr>
                                    </p:animEffect>
                                  </p:childTnLst>
                                </p:cTn>
                              </p:par>
                              <p:par>
                                <p:cTn id="113" presetID="10" presetClass="entr" presetSubtype="0" fill="hold" nodeType="withEffect">
                                  <p:stCondLst>
                                    <p:cond delay="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450"/>
                                        <p:tgtEl>
                                          <p:spTgt spid="44"/>
                                        </p:tgtEl>
                                      </p:cBhvr>
                                    </p:animEffect>
                                  </p:childTnLst>
                                </p:cTn>
                              </p:par>
                              <p:par>
                                <p:cTn id="116" presetID="10" presetClass="entr" presetSubtype="0" fill="hold" nodeType="with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8" dur="450"/>
                                        <p:tgtEl>
                                          <p:spTgt spid="45"/>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21" dur="450"/>
                                        <p:tgtEl>
                                          <p:spTgt spid="46"/>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4" dur="450"/>
                                        <p:tgtEl>
                                          <p:spTgt spid="47"/>
                                        </p:tgtEl>
                                      </p:cBhvr>
                                    </p:animEffect>
                                  </p:childTnLst>
                                </p:cTn>
                              </p:par>
                              <p:par>
                                <p:cTn id="125" presetID="10" presetClass="entr" presetSubtype="0" fill="hold" nodeType="withEffect">
                                  <p:stCondLst>
                                    <p:cond delay="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7" dur="450"/>
                                        <p:tgtEl>
                                          <p:spTgt spid="48"/>
                                        </p:tgtEl>
                                      </p:cBhvr>
                                    </p:animEffect>
                                  </p:childTnLst>
                                </p:cTn>
                              </p:par>
                              <p:par>
                                <p:cTn id="128" presetID="10" presetClass="entr" presetSubtype="0" fill="hold" nodeType="withEffect">
                                  <p:stCondLst>
                                    <p:cond delay="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30" dur="450"/>
                                        <p:tgtEl>
                                          <p:spTgt spid="49"/>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450"/>
                                        <p:tgtEl>
                                          <p:spTgt spid="50"/>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450"/>
                                        <p:tgtEl>
                                          <p:spTgt spid="51"/>
                                        </p:tgtEl>
                                      </p:cBhvr>
                                    </p:animEffect>
                                  </p:childTnLst>
                                </p:cTn>
                              </p:par>
                              <p:par>
                                <p:cTn id="137" presetID="10" presetClass="entr" presetSubtype="0" fill="hold"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450"/>
                                        <p:tgtEl>
                                          <p:spTgt spid="52"/>
                                        </p:tgtEl>
                                      </p:cBhvr>
                                    </p:animEffect>
                                  </p:childTnLst>
                                </p:cTn>
                              </p:par>
                              <p:par>
                                <p:cTn id="140" presetID="10" presetClass="entr" presetSubtype="0"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fade">
                                      <p:cBhvr>
                                        <p:cTn id="142" dur="450"/>
                                        <p:tgtEl>
                                          <p:spTgt spid="53"/>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450"/>
                                        <p:tgtEl>
                                          <p:spTgt spid="54"/>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4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9" grpId="0" animBg="1"/>
      <p:bldP spid="20" grpId="0" animBg="1"/>
      <p:bldP spid="25" grpId="0" animBg="1"/>
      <p:bldP spid="26" grpId="0" animBg="1"/>
      <p:bldP spid="31" grpId="0" animBg="1"/>
      <p:bldP spid="32" grpId="0" animBg="1"/>
      <p:bldP spid="37" grpId="0" animBg="1"/>
      <p:bldP spid="38" grpId="0" animBg="1"/>
      <p:bldP spid="42" grpId="0" animBg="1"/>
      <p:bldP spid="43" grpId="0" animBg="1"/>
      <p:bldP spid="46" grpId="0" animBg="1"/>
      <p:bldP spid="47" grpId="0" animBg="1"/>
      <p:bldP spid="50" grpId="0" animBg="1"/>
      <p:bldP spid="51" grpId="0" animBg="1"/>
      <p:bldP spid="54" grpId="0" animBg="1"/>
      <p:bldP spid="5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10127011" y="384048"/>
            <a:ext cx="1516045" cy="365760"/>
          </a:xfrm>
          <a:prstGeom prst="rect">
            <a:avLst/>
          </a:prstGeom>
        </p:spPr>
      </p:pic>
      <p:sp>
        <p:nvSpPr>
          <p:cNvPr id="3" name="Shape 0"/>
          <p:cNvSpPr/>
          <p:nvPr/>
        </p:nvSpPr>
        <p:spPr>
          <a:xfrm>
            <a:off x="548640" y="402336"/>
            <a:ext cx="1887322" cy="329184"/>
          </a:xfrm>
          <a:prstGeom prst="roundRect">
            <a:avLst>
              <a:gd name="adj" fmla="val 138889"/>
            </a:avLst>
          </a:prstGeom>
          <a:solidFill>
            <a:srgbClr val="EFF6FF"/>
          </a:solidFill>
          <a:ln w="9525">
            <a:solidFill>
              <a:srgbClr val="BFDBFE"/>
            </a:solidFill>
            <a:prstDash val="solid"/>
          </a:ln>
        </p:spPr>
      </p:sp>
      <p:pic>
        <p:nvPicPr>
          <p:cNvPr id="4" name="Image 1" descr="preencoded.png"/>
          <p:cNvPicPr>
            <a:picLocks noChangeAspect="1"/>
          </p:cNvPicPr>
          <p:nvPr/>
        </p:nvPicPr>
        <p:blipFill>
          <a:blip r:embed="rId5"/>
          <a:stretch>
            <a:fillRect/>
          </a:stretch>
        </p:blipFill>
        <p:spPr>
          <a:xfrm>
            <a:off x="676656" y="475488"/>
            <a:ext cx="182880" cy="182880"/>
          </a:xfrm>
          <a:prstGeom prst="rect">
            <a:avLst/>
          </a:prstGeom>
        </p:spPr>
      </p:pic>
      <p:sp>
        <p:nvSpPr>
          <p:cNvPr id="5" name="Text 1"/>
          <p:cNvSpPr txBox="1"/>
          <p:nvPr/>
        </p:nvSpPr>
        <p:spPr>
          <a:xfrm>
            <a:off x="932688" y="402336"/>
            <a:ext cx="1430122" cy="329184"/>
          </a:xfrm>
          <a:prstGeom prst="rect">
            <a:avLst/>
          </a:prstGeom>
          <a:noFill/>
          <a:ln/>
        </p:spPr>
        <p:txBody>
          <a:bodyPr wrap="square" lIns="0" tIns="0" rIns="0" bIns="0" rtlCol="0" anchor="ctr"/>
          <a:lstStyle/>
          <a:p>
            <a:pPr marL="0" indent="0">
              <a:buNone/>
            </a:pPr>
            <a:r>
              <a:rPr lang="en-US" sz="1000" kern="0" spc="120" dirty="0">
                <a:solidFill>
                  <a:srgbClr val="1D4ED8"/>
                </a:solidFill>
                <a:latin typeface="Segoe UI Semibold" pitchFamily="34" charset="0"/>
                <a:ea typeface="Segoe UI Semibold" pitchFamily="34" charset="-122"/>
                <a:cs typeface="Segoe UI Semibold" pitchFamily="34" charset="-120"/>
              </a:rPr>
              <a:t>DAILY TRACKER</a:t>
            </a:r>
            <a:endParaRPr lang="en-US" sz="1000" dirty="0"/>
          </a:p>
        </p:txBody>
      </p:sp>
      <p:sp>
        <p:nvSpPr>
          <p:cNvPr id="6" name="Text 2"/>
          <p:cNvSpPr txBox="1"/>
          <p:nvPr/>
        </p:nvSpPr>
        <p:spPr>
          <a:xfrm>
            <a:off x="548640" y="841248"/>
            <a:ext cx="9235440" cy="566928"/>
          </a:xfrm>
          <a:prstGeom prst="rect">
            <a:avLst/>
          </a:prstGeom>
          <a:noFill/>
          <a:ln/>
        </p:spPr>
        <p:txBody>
          <a:bodyPr wrap="square" lIns="0" tIns="0" rIns="0" bIns="0" rtlCol="0" anchor="ctr"/>
          <a:lstStyle/>
          <a:p>
            <a:pPr marL="0" indent="0">
              <a:buNone/>
            </a:pPr>
            <a:r>
              <a:rPr lang="en-US" sz="2800" dirty="0">
                <a:solidFill>
                  <a:srgbClr val="0F1E7A"/>
                </a:solidFill>
                <a:latin typeface="Segoe UI Semibold" pitchFamily="34" charset="0"/>
                <a:ea typeface="Segoe UI Semibold" pitchFamily="34" charset="-122"/>
                <a:cs typeface="Segoe UI Semibold" pitchFamily="34" charset="-120"/>
              </a:rPr>
              <a:t>Log a call in seconds, not minutes</a:t>
            </a:r>
            <a:endParaRPr lang="en-US" sz="2800" dirty="0"/>
          </a:p>
        </p:txBody>
      </p:sp>
      <p:sp>
        <p:nvSpPr>
          <p:cNvPr id="7" name="Text 3"/>
          <p:cNvSpPr txBox="1"/>
          <p:nvPr/>
        </p:nvSpPr>
        <p:spPr>
          <a:xfrm>
            <a:off x="548640" y="1371600"/>
            <a:ext cx="9235440" cy="329184"/>
          </a:xfrm>
          <a:prstGeom prst="rect">
            <a:avLst/>
          </a:prstGeom>
          <a:noFill/>
          <a:ln/>
        </p:spPr>
        <p:txBody>
          <a:bodyPr wrap="square" lIns="0" tIns="0" rIns="0" bIns="0" rtlCol="0" anchor="ctr"/>
          <a:lstStyle/>
          <a:p>
            <a:pPr marL="0" indent="0">
              <a:buNone/>
            </a:pPr>
            <a:r>
              <a:rPr lang="en-US" sz="1400" dirty="0">
                <a:solidFill>
                  <a:srgbClr val="475569"/>
                </a:solidFill>
                <a:latin typeface="Segoe UI" pitchFamily="34" charset="0"/>
                <a:ea typeface="Segoe UI" pitchFamily="34" charset="-122"/>
                <a:cs typeface="Segoe UI" pitchFamily="34" charset="-120"/>
              </a:rPr>
              <a:t>Contacts come straight from the database, and the tracker fills in the rest</a:t>
            </a:r>
            <a:endParaRPr lang="en-US" sz="1400" dirty="0"/>
          </a:p>
        </p:txBody>
      </p:sp>
      <p:sp>
        <p:nvSpPr>
          <p:cNvPr id="8"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iPOMS  ·  Infoziant Placement Operations Management System</a:t>
            </a:r>
            <a:endParaRPr lang="en-US" sz="900" dirty="0"/>
          </a:p>
        </p:txBody>
      </p:sp>
      <p:sp>
        <p:nvSpPr>
          <p:cNvPr id="9" name="Text 5"/>
          <p:cNvSpPr txBox="1"/>
          <p:nvPr/>
        </p:nvSpPr>
        <p:spPr>
          <a:xfrm>
            <a:off x="10545775" y="6419088"/>
            <a:ext cx="1097280" cy="256032"/>
          </a:xfrm>
          <a:prstGeom prst="rect">
            <a:avLst/>
          </a:prstGeom>
          <a:noFill/>
          <a:ln/>
        </p:spPr>
        <p:txBody>
          <a:bodyPr wrap="square" lIns="0" tIns="0" rIns="0" bIns="0" rtlCol="0" anchor="ctr"/>
          <a:lstStyle/>
          <a:p>
            <a:pPr marL="0" indent="0" algn="r">
              <a:buNone/>
            </a:pPr>
            <a:r>
              <a:rPr lang="en-US" sz="900" dirty="0">
                <a:solidFill>
                  <a:srgbClr val="64748B"/>
                </a:solidFill>
                <a:latin typeface="Segoe UI Semibold" pitchFamily="34" charset="0"/>
                <a:ea typeface="Segoe UI Semibold" pitchFamily="34" charset="-122"/>
                <a:cs typeface="Segoe UI Semibold" pitchFamily="34" charset="-120"/>
              </a:rPr>
              <a:t>04 / 08</a:t>
            </a:r>
            <a:endParaRPr lang="en-US" sz="900" dirty="0"/>
          </a:p>
        </p:txBody>
      </p:sp>
      <p:pic>
        <p:nvPicPr>
          <p:cNvPr id="10" name="a1_116" descr="C:\Users\admin\.claude\skills\ipoms-ppt-2026\demo\assets\shots\picker.png"/>
          <p:cNvPicPr>
            <a:picLocks noChangeAspect="1"/>
          </p:cNvPicPr>
          <p:nvPr/>
        </p:nvPicPr>
        <p:blipFill>
          <a:blip r:embed="rId6"/>
          <a:stretch>
            <a:fillRect/>
          </a:stretch>
        </p:blipFill>
        <p:spPr>
          <a:xfrm>
            <a:off x="384048" y="1810512"/>
            <a:ext cx="5778230" cy="4443984"/>
          </a:xfrm>
          <a:prstGeom prst="rect">
            <a:avLst/>
          </a:prstGeom>
        </p:spPr>
      </p:pic>
      <p:pic>
        <p:nvPicPr>
          <p:cNvPr id="11" name="a2_117" descr="C:\Users\admin\.claude\skills\ipoms-ppt-2026\demo\assets\shots\callout-contact.png"/>
          <p:cNvPicPr>
            <a:picLocks noChangeAspect="1"/>
          </p:cNvPicPr>
          <p:nvPr/>
        </p:nvPicPr>
        <p:blipFill>
          <a:blip r:embed="rId7"/>
          <a:stretch>
            <a:fillRect/>
          </a:stretch>
        </p:blipFill>
        <p:spPr>
          <a:xfrm>
            <a:off x="6336792" y="2082546"/>
            <a:ext cx="1874520" cy="937260"/>
          </a:xfrm>
          <a:prstGeom prst="rect">
            <a:avLst/>
          </a:prstGeom>
        </p:spPr>
      </p:pic>
      <p:sp>
        <p:nvSpPr>
          <p:cNvPr id="12" name="a2_118"/>
          <p:cNvSpPr/>
          <p:nvPr/>
        </p:nvSpPr>
        <p:spPr>
          <a:xfrm>
            <a:off x="8385048" y="1965960"/>
            <a:ext cx="310896" cy="310896"/>
          </a:xfrm>
          <a:prstGeom prst="ellipse">
            <a:avLst/>
          </a:prstGeom>
          <a:solidFill>
            <a:srgbClr val="2563EB"/>
          </a:solidFill>
          <a:ln w="12700">
            <a:solidFill>
              <a:srgbClr val="2563EB"/>
            </a:solidFill>
            <a:prstDash val="solid"/>
          </a:ln>
        </p:spPr>
      </p:sp>
      <p:pic>
        <p:nvPicPr>
          <p:cNvPr id="13" name="a2_119" descr="preencoded.png"/>
          <p:cNvPicPr>
            <a:picLocks noChangeAspect="1"/>
          </p:cNvPicPr>
          <p:nvPr/>
        </p:nvPicPr>
        <p:blipFill>
          <a:blip r:embed="rId8"/>
          <a:stretch>
            <a:fillRect/>
          </a:stretch>
        </p:blipFill>
        <p:spPr>
          <a:xfrm>
            <a:off x="8453445" y="2034357"/>
            <a:ext cx="174102" cy="174102"/>
          </a:xfrm>
          <a:prstGeom prst="rect">
            <a:avLst/>
          </a:prstGeom>
        </p:spPr>
      </p:pic>
      <p:sp>
        <p:nvSpPr>
          <p:cNvPr id="14" name="a2_120"/>
          <p:cNvSpPr/>
          <p:nvPr/>
        </p:nvSpPr>
        <p:spPr>
          <a:xfrm>
            <a:off x="8769096" y="1965960"/>
            <a:ext cx="310896" cy="310896"/>
          </a:xfrm>
          <a:prstGeom prst="ellipse">
            <a:avLst/>
          </a:prstGeom>
          <a:solidFill>
            <a:srgbClr val="25D366"/>
          </a:solidFill>
          <a:ln w="12700">
            <a:solidFill>
              <a:srgbClr val="25D366"/>
            </a:solidFill>
            <a:prstDash val="solid"/>
          </a:ln>
        </p:spPr>
      </p:sp>
      <p:pic>
        <p:nvPicPr>
          <p:cNvPr id="15" name="a2_121" descr="preencoded.png"/>
          <p:cNvPicPr>
            <a:picLocks noChangeAspect="1"/>
          </p:cNvPicPr>
          <p:nvPr/>
        </p:nvPicPr>
        <p:blipFill>
          <a:blip r:embed="rId9"/>
          <a:stretch>
            <a:fillRect/>
          </a:stretch>
        </p:blipFill>
        <p:spPr>
          <a:xfrm>
            <a:off x="8837493" y="2034357"/>
            <a:ext cx="174102" cy="174102"/>
          </a:xfrm>
          <a:prstGeom prst="rect">
            <a:avLst/>
          </a:prstGeom>
        </p:spPr>
      </p:pic>
      <p:sp>
        <p:nvSpPr>
          <p:cNvPr id="16" name="a2_122"/>
          <p:cNvSpPr txBox="1"/>
          <p:nvPr/>
        </p:nvSpPr>
        <p:spPr>
          <a:xfrm>
            <a:off x="8385048" y="2331720"/>
            <a:ext cx="3258007"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Call or WhatsApp in one click</a:t>
            </a:r>
            <a:endParaRPr lang="en-US" sz="1500" dirty="0"/>
          </a:p>
        </p:txBody>
      </p:sp>
      <p:sp>
        <p:nvSpPr>
          <p:cNvPr id="17" name="a2_123"/>
          <p:cNvSpPr txBox="1"/>
          <p:nvPr/>
        </p:nvSpPr>
        <p:spPr>
          <a:xfrm>
            <a:off x="8385048" y="2660904"/>
            <a:ext cx="3258007" cy="566928"/>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Segoe UI" pitchFamily="34" charset="0"/>
                <a:ea typeface="Segoe UI" pitchFamily="34" charset="-122"/>
                <a:cs typeface="Segoe UI" pitchFamily="34" charset="-120"/>
              </a:rPr>
              <a:t>Calls connect through Microsoft Phone Link; WhatsApp opens on the web or desktop app</a:t>
            </a:r>
            <a:endParaRPr lang="en-US" sz="1250" dirty="0"/>
          </a:p>
        </p:txBody>
      </p:sp>
      <p:pic>
        <p:nvPicPr>
          <p:cNvPr id="18" name="a3_124" descr="C:\Users\admin\.claude\skills\ipoms-ppt-2026\demo\assets\shots\callout-timing.png"/>
          <p:cNvPicPr>
            <a:picLocks noChangeAspect="1"/>
          </p:cNvPicPr>
          <p:nvPr/>
        </p:nvPicPr>
        <p:blipFill>
          <a:blip r:embed="rId10"/>
          <a:stretch>
            <a:fillRect/>
          </a:stretch>
        </p:blipFill>
        <p:spPr>
          <a:xfrm>
            <a:off x="6336792" y="3645658"/>
            <a:ext cx="1874520" cy="755404"/>
          </a:xfrm>
          <a:prstGeom prst="rect">
            <a:avLst/>
          </a:prstGeom>
        </p:spPr>
      </p:pic>
      <p:sp>
        <p:nvSpPr>
          <p:cNvPr id="19" name="a3_125"/>
          <p:cNvSpPr/>
          <p:nvPr/>
        </p:nvSpPr>
        <p:spPr>
          <a:xfrm>
            <a:off x="8385048" y="3438144"/>
            <a:ext cx="310896" cy="310896"/>
          </a:xfrm>
          <a:prstGeom prst="ellipse">
            <a:avLst/>
          </a:prstGeom>
          <a:solidFill>
            <a:srgbClr val="D97706"/>
          </a:solidFill>
          <a:ln w="12700">
            <a:solidFill>
              <a:srgbClr val="D97706"/>
            </a:solidFill>
            <a:prstDash val="solid"/>
          </a:ln>
        </p:spPr>
      </p:sp>
      <p:pic>
        <p:nvPicPr>
          <p:cNvPr id="20" name="a3_126" descr="preencoded.png"/>
          <p:cNvPicPr>
            <a:picLocks noChangeAspect="1"/>
          </p:cNvPicPr>
          <p:nvPr/>
        </p:nvPicPr>
        <p:blipFill>
          <a:blip r:embed="rId11"/>
          <a:stretch>
            <a:fillRect/>
          </a:stretch>
        </p:blipFill>
        <p:spPr>
          <a:xfrm>
            <a:off x="8453445" y="3506541"/>
            <a:ext cx="174102" cy="174102"/>
          </a:xfrm>
          <a:prstGeom prst="rect">
            <a:avLst/>
          </a:prstGeom>
        </p:spPr>
      </p:pic>
      <p:sp>
        <p:nvSpPr>
          <p:cNvPr id="21" name="a3_127"/>
          <p:cNvSpPr txBox="1"/>
          <p:nvPr/>
        </p:nvSpPr>
        <p:spPr>
          <a:xfrm>
            <a:off x="8385048" y="3803904"/>
            <a:ext cx="3258007"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Timing captured for you</a:t>
            </a:r>
            <a:endParaRPr lang="en-US" sz="1500" dirty="0"/>
          </a:p>
        </p:txBody>
      </p:sp>
      <p:sp>
        <p:nvSpPr>
          <p:cNvPr id="22" name="a3_128"/>
          <p:cNvSpPr txBox="1"/>
          <p:nvPr/>
        </p:nvSpPr>
        <p:spPr>
          <a:xfrm>
            <a:off x="8385048" y="4133088"/>
            <a:ext cx="3258007" cy="566928"/>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Segoe UI" pitchFamily="34" charset="0"/>
                <a:ea typeface="Segoe UI" pitchFamily="34" charset="-122"/>
                <a:cs typeface="Segoe UI" pitchFamily="34" charset="-120"/>
              </a:rPr>
              <a:t>Press Spacebar for the start time; end time and duration fill in automatically</a:t>
            </a:r>
            <a:endParaRPr lang="en-US" sz="1250" dirty="0"/>
          </a:p>
        </p:txBody>
      </p:sp>
      <p:pic>
        <p:nvPicPr>
          <p:cNvPr id="23" name="a4_129" descr="C:\Users\admin\.claude\skills\ipoms-ppt-2026\demo\assets\shots\callout-status.png"/>
          <p:cNvPicPr>
            <a:picLocks noChangeAspect="1"/>
          </p:cNvPicPr>
          <p:nvPr/>
        </p:nvPicPr>
        <p:blipFill>
          <a:blip r:embed="rId12"/>
          <a:stretch>
            <a:fillRect/>
          </a:stretch>
        </p:blipFill>
        <p:spPr>
          <a:xfrm>
            <a:off x="6336792" y="4907032"/>
            <a:ext cx="1874520" cy="1177024"/>
          </a:xfrm>
          <a:prstGeom prst="rect">
            <a:avLst/>
          </a:prstGeom>
        </p:spPr>
      </p:pic>
      <p:sp>
        <p:nvSpPr>
          <p:cNvPr id="24" name="a4_130"/>
          <p:cNvSpPr/>
          <p:nvPr/>
        </p:nvSpPr>
        <p:spPr>
          <a:xfrm>
            <a:off x="8385048" y="4910328"/>
            <a:ext cx="310896" cy="310896"/>
          </a:xfrm>
          <a:prstGeom prst="ellipse">
            <a:avLst/>
          </a:prstGeom>
          <a:solidFill>
            <a:srgbClr val="059669"/>
          </a:solidFill>
          <a:ln w="12700">
            <a:solidFill>
              <a:srgbClr val="059669"/>
            </a:solidFill>
            <a:prstDash val="solid"/>
          </a:ln>
        </p:spPr>
      </p:sp>
      <p:pic>
        <p:nvPicPr>
          <p:cNvPr id="25" name="a4_131" descr="preencoded.png"/>
          <p:cNvPicPr>
            <a:picLocks noChangeAspect="1"/>
          </p:cNvPicPr>
          <p:nvPr/>
        </p:nvPicPr>
        <p:blipFill>
          <a:blip r:embed="rId13"/>
          <a:stretch>
            <a:fillRect/>
          </a:stretch>
        </p:blipFill>
        <p:spPr>
          <a:xfrm>
            <a:off x="8453445" y="4978725"/>
            <a:ext cx="174102" cy="174102"/>
          </a:xfrm>
          <a:prstGeom prst="rect">
            <a:avLst/>
          </a:prstGeom>
        </p:spPr>
      </p:pic>
      <p:sp>
        <p:nvSpPr>
          <p:cNvPr id="26" name="a4_132"/>
          <p:cNvSpPr txBox="1"/>
          <p:nvPr/>
        </p:nvSpPr>
        <p:spPr>
          <a:xfrm>
            <a:off x="8385048" y="5276088"/>
            <a:ext cx="3258007"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Every change saves itself</a:t>
            </a:r>
            <a:endParaRPr lang="en-US" sz="1500" dirty="0"/>
          </a:p>
        </p:txBody>
      </p:sp>
      <p:sp>
        <p:nvSpPr>
          <p:cNvPr id="27" name="a4_133"/>
          <p:cNvSpPr txBox="1"/>
          <p:nvPr/>
        </p:nvSpPr>
        <p:spPr>
          <a:xfrm>
            <a:off x="8385048" y="5605272"/>
            <a:ext cx="3258007" cy="566928"/>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Segoe UI" pitchFamily="34" charset="0"/>
                <a:ea typeface="Segoe UI" pitchFamily="34" charset="-122"/>
                <a:cs typeface="Segoe UI" pitchFamily="34" charset="-120"/>
              </a:rPr>
              <a:t>Pick a call status and the row auto-saves. There is no Save button to forget</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par>
                          <p:cTn id="8" fill="hold">
                            <p:stCondLst>
                              <p:cond delay="650"/>
                            </p:stCondLst>
                            <p:childTnLst>
                              <p:par>
                                <p:cTn id="9" presetID="10" presetClass="entr" presetSubtype="0" fill="hold" nodeType="afterEffect">
                                  <p:stCondLst>
                                    <p:cond delay="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tgtEl>
                                          <p:spTgt spid="11"/>
                                        </p:tgtEl>
                                      </p:cBhvr>
                                    </p:animEffect>
                                  </p:childTnLst>
                                </p:cTn>
                              </p:par>
                              <p:par>
                                <p:cTn id="12" presetID="10"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5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5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childTnLst>
                          </p:cTn>
                        </p:par>
                        <p:par>
                          <p:cTn id="30" fill="hold">
                            <p:stCondLst>
                              <p:cond delay="1150"/>
                            </p:stCondLst>
                            <p:childTnLst>
                              <p:par>
                                <p:cTn id="31" presetID="10" presetClass="entr" presetSubtype="0" fill="hold" nodeType="afterEffect">
                                  <p:stCondLst>
                                    <p:cond delay="5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50"/>
                                        <p:tgtEl>
                                          <p:spTgt spid="18"/>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5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5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5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par>
                          <p:cTn id="46" fill="hold">
                            <p:stCondLst>
                              <p:cond delay="1650"/>
                            </p:stCondLst>
                            <p:childTnLst>
                              <p:par>
                                <p:cTn id="47" presetID="10" presetClass="entr" presetSubtype="0" fill="hold" nodeType="afterEffect">
                                  <p:stCondLst>
                                    <p:cond delay="5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5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5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50"/>
                                        <p:tgtEl>
                                          <p:spTgt spid="2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1" grpId="0" animBg="1"/>
      <p:bldP spid="22" grpId="0" animBg="1"/>
      <p:bldP spid="26" grpId="0" animBg="1"/>
      <p:bldP spid="2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10127011" y="384048"/>
            <a:ext cx="1516045" cy="365760"/>
          </a:xfrm>
          <a:prstGeom prst="rect">
            <a:avLst/>
          </a:prstGeom>
        </p:spPr>
      </p:pic>
      <p:sp>
        <p:nvSpPr>
          <p:cNvPr id="3" name="Shape 0"/>
          <p:cNvSpPr/>
          <p:nvPr/>
        </p:nvSpPr>
        <p:spPr>
          <a:xfrm>
            <a:off x="548640" y="402336"/>
            <a:ext cx="2282342" cy="329184"/>
          </a:xfrm>
          <a:prstGeom prst="roundRect">
            <a:avLst>
              <a:gd name="adj" fmla="val 138889"/>
            </a:avLst>
          </a:prstGeom>
          <a:solidFill>
            <a:srgbClr val="ECFDF5"/>
          </a:solidFill>
          <a:ln w="9525">
            <a:solidFill>
              <a:srgbClr val="A7F3D0"/>
            </a:solidFill>
            <a:prstDash val="solid"/>
          </a:ln>
        </p:spPr>
      </p:sp>
      <p:pic>
        <p:nvPicPr>
          <p:cNvPr id="4" name="Image 1" descr="preencoded.png"/>
          <p:cNvPicPr>
            <a:picLocks noChangeAspect="1"/>
          </p:cNvPicPr>
          <p:nvPr/>
        </p:nvPicPr>
        <p:blipFill>
          <a:blip r:embed="rId5"/>
          <a:stretch>
            <a:fillRect/>
          </a:stretch>
        </p:blipFill>
        <p:spPr>
          <a:xfrm>
            <a:off x="676656" y="475488"/>
            <a:ext cx="182880" cy="182880"/>
          </a:xfrm>
          <a:prstGeom prst="rect">
            <a:avLst/>
          </a:prstGeom>
        </p:spPr>
      </p:pic>
      <p:sp>
        <p:nvSpPr>
          <p:cNvPr id="5" name="Text 1"/>
          <p:cNvSpPr txBox="1"/>
          <p:nvPr/>
        </p:nvSpPr>
        <p:spPr>
          <a:xfrm>
            <a:off x="932688" y="402336"/>
            <a:ext cx="1825142" cy="329184"/>
          </a:xfrm>
          <a:prstGeom prst="rect">
            <a:avLst/>
          </a:prstGeom>
          <a:noFill/>
          <a:ln/>
        </p:spPr>
        <p:txBody>
          <a:bodyPr wrap="square" lIns="0" tIns="0" rIns="0" bIns="0" rtlCol="0" anchor="ctr"/>
          <a:lstStyle/>
          <a:p>
            <a:pPr marL="0" indent="0">
              <a:buNone/>
            </a:pPr>
            <a:r>
              <a:rPr lang="en-US" sz="1000" kern="0" spc="120" dirty="0">
                <a:solidFill>
                  <a:srgbClr val="047857"/>
                </a:solidFill>
                <a:latin typeface="Segoe UI Semibold" pitchFamily="34" charset="0"/>
                <a:ea typeface="Segoe UI Semibold" pitchFamily="34" charset="-122"/>
                <a:cs typeface="Segoe UI Semibold" pitchFamily="34" charset="-120"/>
              </a:rPr>
              <a:t>SYNC &amp; FOLLOW-UPS</a:t>
            </a:r>
            <a:endParaRPr lang="en-US" sz="1000" dirty="0"/>
          </a:p>
        </p:txBody>
      </p:sp>
      <p:sp>
        <p:nvSpPr>
          <p:cNvPr id="6" name="Text 2"/>
          <p:cNvSpPr txBox="1"/>
          <p:nvPr/>
        </p:nvSpPr>
        <p:spPr>
          <a:xfrm>
            <a:off x="548640" y="841248"/>
            <a:ext cx="9235440" cy="566928"/>
          </a:xfrm>
          <a:prstGeom prst="rect">
            <a:avLst/>
          </a:prstGeom>
          <a:noFill/>
          <a:ln/>
        </p:spPr>
        <p:txBody>
          <a:bodyPr wrap="square" lIns="0" tIns="0" rIns="0" bIns="0" rtlCol="0" anchor="ctr"/>
          <a:lstStyle/>
          <a:p>
            <a:pPr marL="0" indent="0">
              <a:buNone/>
            </a:pPr>
            <a:r>
              <a:rPr lang="en-US" sz="2800" dirty="0">
                <a:solidFill>
                  <a:srgbClr val="0F1E7A"/>
                </a:solidFill>
                <a:latin typeface="Segoe UI Semibold" pitchFamily="34" charset="0"/>
                <a:ea typeface="Segoe UI Semibold" pitchFamily="34" charset="-122"/>
                <a:cs typeface="Segoe UI Semibold" pitchFamily="34" charset="-120"/>
              </a:rPr>
              <a:t>Every positive call moves forward on its own</a:t>
            </a:r>
            <a:endParaRPr lang="en-US" sz="2800" dirty="0"/>
          </a:p>
        </p:txBody>
      </p:sp>
      <p:sp>
        <p:nvSpPr>
          <p:cNvPr id="7" name="Text 3"/>
          <p:cNvSpPr txBox="1"/>
          <p:nvPr/>
        </p:nvSpPr>
        <p:spPr>
          <a:xfrm>
            <a:off x="548640" y="1371600"/>
            <a:ext cx="9235440" cy="329184"/>
          </a:xfrm>
          <a:prstGeom prst="rect">
            <a:avLst/>
          </a:prstGeom>
          <a:noFill/>
          <a:ln/>
        </p:spPr>
        <p:txBody>
          <a:bodyPr wrap="square" lIns="0" tIns="0" rIns="0" bIns="0" rtlCol="0" anchor="ctr"/>
          <a:lstStyle/>
          <a:p>
            <a:pPr marL="0" indent="0">
              <a:buNone/>
            </a:pPr>
            <a:r>
              <a:rPr lang="en-US" sz="1400" dirty="0">
                <a:solidFill>
                  <a:srgbClr val="475569"/>
                </a:solidFill>
                <a:latin typeface="Segoe UI" pitchFamily="34" charset="0"/>
                <a:ea typeface="Segoe UI" pitchFamily="34" charset="-122"/>
                <a:cs typeface="Segoe UI" pitchFamily="34" charset="-120"/>
              </a:rPr>
              <a:t>Sync buttons when you want it now, automatic jobs for the day you forget</a:t>
            </a:r>
            <a:endParaRPr lang="en-US" sz="1400" dirty="0"/>
          </a:p>
        </p:txBody>
      </p:sp>
      <p:sp>
        <p:nvSpPr>
          <p:cNvPr id="8"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iPOMS  ·  Infoziant Placement Operations Management System</a:t>
            </a:r>
            <a:endParaRPr lang="en-US" sz="900" dirty="0"/>
          </a:p>
        </p:txBody>
      </p:sp>
      <p:sp>
        <p:nvSpPr>
          <p:cNvPr id="9" name="Text 5"/>
          <p:cNvSpPr txBox="1"/>
          <p:nvPr/>
        </p:nvSpPr>
        <p:spPr>
          <a:xfrm>
            <a:off x="10545775" y="6419088"/>
            <a:ext cx="1097280" cy="256032"/>
          </a:xfrm>
          <a:prstGeom prst="rect">
            <a:avLst/>
          </a:prstGeom>
          <a:noFill/>
          <a:ln/>
        </p:spPr>
        <p:txBody>
          <a:bodyPr wrap="square" lIns="0" tIns="0" rIns="0" bIns="0" rtlCol="0" anchor="ctr"/>
          <a:lstStyle/>
          <a:p>
            <a:pPr marL="0" indent="0" algn="r">
              <a:buNone/>
            </a:pPr>
            <a:r>
              <a:rPr lang="en-US" sz="900" dirty="0">
                <a:solidFill>
                  <a:srgbClr val="64748B"/>
                </a:solidFill>
                <a:latin typeface="Segoe UI Semibold" pitchFamily="34" charset="0"/>
                <a:ea typeface="Segoe UI Semibold" pitchFamily="34" charset="-122"/>
                <a:cs typeface="Segoe UI Semibold" pitchFamily="34" charset="-120"/>
              </a:rPr>
              <a:t>05 / 08</a:t>
            </a:r>
            <a:endParaRPr lang="en-US" sz="900" dirty="0"/>
          </a:p>
        </p:txBody>
      </p:sp>
      <p:pic>
        <p:nvPicPr>
          <p:cNvPr id="10" name="a1_134" descr="C:\Users\admin\.claude\skills\ipoms-ppt-2026\demo\assets\shots\leads.png"/>
          <p:cNvPicPr>
            <a:picLocks noChangeAspect="1"/>
          </p:cNvPicPr>
          <p:nvPr/>
        </p:nvPicPr>
        <p:blipFill>
          <a:blip r:embed="rId6"/>
          <a:stretch>
            <a:fillRect/>
          </a:stretch>
        </p:blipFill>
        <p:spPr>
          <a:xfrm>
            <a:off x="384048" y="1810512"/>
            <a:ext cx="5669280" cy="3027911"/>
          </a:xfrm>
          <a:prstGeom prst="rect">
            <a:avLst/>
          </a:prstGeom>
        </p:spPr>
      </p:pic>
      <p:pic>
        <p:nvPicPr>
          <p:cNvPr id="11" name="a2_135" descr="C:\Users\admin\.claude\skills\ipoms-ppt-2026\demo\assets\shots\weekly.png"/>
          <p:cNvPicPr>
            <a:picLocks noChangeAspect="1"/>
          </p:cNvPicPr>
          <p:nvPr/>
        </p:nvPicPr>
        <p:blipFill>
          <a:blip r:embed="rId7"/>
          <a:stretch>
            <a:fillRect/>
          </a:stretch>
        </p:blipFill>
        <p:spPr>
          <a:xfrm>
            <a:off x="1325880" y="3127248"/>
            <a:ext cx="5669280" cy="3027911"/>
          </a:xfrm>
          <a:prstGeom prst="rect">
            <a:avLst/>
          </a:prstGeom>
        </p:spPr>
      </p:pic>
      <p:sp>
        <p:nvSpPr>
          <p:cNvPr id="12" name="a3_136"/>
          <p:cNvSpPr/>
          <p:nvPr/>
        </p:nvSpPr>
        <p:spPr>
          <a:xfrm>
            <a:off x="7452360" y="1847088"/>
            <a:ext cx="882396" cy="292608"/>
          </a:xfrm>
          <a:prstGeom prst="roundRect">
            <a:avLst>
              <a:gd name="adj" fmla="val 156250"/>
            </a:avLst>
          </a:prstGeom>
          <a:solidFill>
            <a:srgbClr val="ECFDF5"/>
          </a:solidFill>
          <a:ln w="9525">
            <a:solidFill>
              <a:srgbClr val="A7F3D0"/>
            </a:solidFill>
            <a:prstDash val="solid"/>
          </a:ln>
        </p:spPr>
      </p:sp>
      <p:sp>
        <p:nvSpPr>
          <p:cNvPr id="13" name="a3_137"/>
          <p:cNvSpPr txBox="1"/>
          <p:nvPr/>
        </p:nvSpPr>
        <p:spPr>
          <a:xfrm>
            <a:off x="7452360" y="1847088"/>
            <a:ext cx="882396" cy="292608"/>
          </a:xfrm>
          <a:prstGeom prst="rect">
            <a:avLst/>
          </a:prstGeom>
          <a:noFill/>
          <a:ln/>
        </p:spPr>
        <p:txBody>
          <a:bodyPr wrap="square" lIns="0" tIns="0" rIns="0" bIns="0" rtlCol="0" anchor="ctr"/>
          <a:lstStyle/>
          <a:p>
            <a:pPr marL="0" indent="0" algn="ctr">
              <a:buNone/>
            </a:pPr>
            <a:r>
              <a:rPr lang="en-US" sz="1000" kern="0" spc="100" dirty="0">
                <a:solidFill>
                  <a:srgbClr val="047857"/>
                </a:solidFill>
                <a:latin typeface="Segoe UI Semibold" pitchFamily="34" charset="0"/>
                <a:ea typeface="Segoe UI Semibold" pitchFamily="34" charset="-122"/>
                <a:cs typeface="Segoe UI Semibold" pitchFamily="34" charset="-120"/>
              </a:rPr>
              <a:t>ON SAVE</a:t>
            </a:r>
            <a:endParaRPr lang="en-US" sz="1000" dirty="0"/>
          </a:p>
        </p:txBody>
      </p:sp>
      <p:sp>
        <p:nvSpPr>
          <p:cNvPr id="14" name="a3_138"/>
          <p:cNvSpPr txBox="1"/>
          <p:nvPr/>
        </p:nvSpPr>
        <p:spPr>
          <a:xfrm>
            <a:off x="8481060" y="1828800"/>
            <a:ext cx="3161995" cy="329184"/>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Invite Mail calls flow forward</a:t>
            </a:r>
            <a:endParaRPr lang="en-US" sz="1500" dirty="0"/>
          </a:p>
        </p:txBody>
      </p:sp>
      <p:sp>
        <p:nvSpPr>
          <p:cNvPr id="15" name="a3_139"/>
          <p:cNvSpPr txBox="1"/>
          <p:nvPr/>
        </p:nvSpPr>
        <p:spPr>
          <a:xfrm>
            <a:off x="7452360" y="2231136"/>
            <a:ext cx="4190695" cy="566928"/>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Segoe UI" pitchFamily="34" charset="0"/>
                <a:ea typeface="Segoe UI" pitchFamily="34" charset="-122"/>
                <a:cs typeface="Segoe UI" pitchFamily="34" charset="-120"/>
              </a:rPr>
              <a:t>They land in the Weekly Tracker pipeline, and one Sync pulls them into Daily Leads</a:t>
            </a:r>
            <a:endParaRPr lang="en-US" sz="1250" dirty="0"/>
          </a:p>
        </p:txBody>
      </p:sp>
      <p:sp>
        <p:nvSpPr>
          <p:cNvPr id="16" name="a4_140"/>
          <p:cNvSpPr/>
          <p:nvPr/>
        </p:nvSpPr>
        <p:spPr>
          <a:xfrm>
            <a:off x="7452360" y="2935224"/>
            <a:ext cx="882396" cy="292608"/>
          </a:xfrm>
          <a:prstGeom prst="roundRect">
            <a:avLst>
              <a:gd name="adj" fmla="val 156250"/>
            </a:avLst>
          </a:prstGeom>
          <a:solidFill>
            <a:srgbClr val="FFFBEB"/>
          </a:solidFill>
          <a:ln w="9525">
            <a:solidFill>
              <a:srgbClr val="FDE68A"/>
            </a:solidFill>
            <a:prstDash val="solid"/>
          </a:ln>
        </p:spPr>
      </p:sp>
      <p:sp>
        <p:nvSpPr>
          <p:cNvPr id="17" name="a4_141"/>
          <p:cNvSpPr txBox="1"/>
          <p:nvPr/>
        </p:nvSpPr>
        <p:spPr>
          <a:xfrm>
            <a:off x="7452360" y="2935224"/>
            <a:ext cx="882396" cy="292608"/>
          </a:xfrm>
          <a:prstGeom prst="rect">
            <a:avLst/>
          </a:prstGeom>
          <a:noFill/>
          <a:ln/>
        </p:spPr>
        <p:txBody>
          <a:bodyPr wrap="square" lIns="0" tIns="0" rIns="0" bIns="0" rtlCol="0" anchor="ctr"/>
          <a:lstStyle/>
          <a:p>
            <a:pPr marL="0" indent="0" algn="ctr">
              <a:buNone/>
            </a:pPr>
            <a:r>
              <a:rPr lang="en-US" sz="1000" kern="0" spc="100" dirty="0">
                <a:solidFill>
                  <a:srgbClr val="B45309"/>
                </a:solidFill>
                <a:latin typeface="Segoe UI Semibold" pitchFamily="34" charset="0"/>
                <a:ea typeface="Segoe UI Semibold" pitchFamily="34" charset="-122"/>
                <a:cs typeface="Segoe UI Semibold" pitchFamily="34" charset="-120"/>
              </a:rPr>
              <a:t>8:00 PM</a:t>
            </a:r>
            <a:endParaRPr lang="en-US" sz="1000" dirty="0"/>
          </a:p>
        </p:txBody>
      </p:sp>
      <p:sp>
        <p:nvSpPr>
          <p:cNvPr id="18" name="a4_142"/>
          <p:cNvSpPr txBox="1"/>
          <p:nvPr/>
        </p:nvSpPr>
        <p:spPr>
          <a:xfrm>
            <a:off x="8481060" y="2916936"/>
            <a:ext cx="3161995" cy="329184"/>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Reminder email</a:t>
            </a:r>
            <a:endParaRPr lang="en-US" sz="1500" dirty="0"/>
          </a:p>
        </p:txBody>
      </p:sp>
      <p:sp>
        <p:nvSpPr>
          <p:cNvPr id="19" name="a4_143"/>
          <p:cNvSpPr txBox="1"/>
          <p:nvPr/>
        </p:nvSpPr>
        <p:spPr>
          <a:xfrm>
            <a:off x="7452360" y="3319272"/>
            <a:ext cx="4190695" cy="566928"/>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Segoe UI" pitchFamily="34" charset="0"/>
                <a:ea typeface="Segoe UI" pitchFamily="34" charset="-122"/>
                <a:cs typeface="Segoe UI" pitchFamily="34" charset="-120"/>
              </a:rPr>
              <a:t>Lists Invite Mail calls not yet in the Weekly Tracker</a:t>
            </a:r>
            <a:endParaRPr lang="en-US" sz="1250" dirty="0"/>
          </a:p>
        </p:txBody>
      </p:sp>
      <p:sp>
        <p:nvSpPr>
          <p:cNvPr id="20" name="a5_144"/>
          <p:cNvSpPr/>
          <p:nvPr/>
        </p:nvSpPr>
        <p:spPr>
          <a:xfrm>
            <a:off x="7452360" y="4023360"/>
            <a:ext cx="969264" cy="292608"/>
          </a:xfrm>
          <a:prstGeom prst="roundRect">
            <a:avLst>
              <a:gd name="adj" fmla="val 156250"/>
            </a:avLst>
          </a:prstGeom>
          <a:solidFill>
            <a:srgbClr val="F5F3FF"/>
          </a:solidFill>
          <a:ln w="9525">
            <a:solidFill>
              <a:srgbClr val="DDD6FE"/>
            </a:solidFill>
            <a:prstDash val="solid"/>
          </a:ln>
        </p:spPr>
      </p:sp>
      <p:sp>
        <p:nvSpPr>
          <p:cNvPr id="21" name="a5_145"/>
          <p:cNvSpPr txBox="1"/>
          <p:nvPr/>
        </p:nvSpPr>
        <p:spPr>
          <a:xfrm>
            <a:off x="7452360" y="4023360"/>
            <a:ext cx="969264" cy="292608"/>
          </a:xfrm>
          <a:prstGeom prst="rect">
            <a:avLst/>
          </a:prstGeom>
          <a:noFill/>
          <a:ln/>
        </p:spPr>
        <p:txBody>
          <a:bodyPr wrap="square" lIns="0" tIns="0" rIns="0" bIns="0" rtlCol="0" anchor="ctr"/>
          <a:lstStyle/>
          <a:p>
            <a:pPr marL="0" indent="0" algn="ctr">
              <a:buNone/>
            </a:pPr>
            <a:r>
              <a:rPr lang="en-US" sz="1000" kern="0" spc="100" dirty="0">
                <a:solidFill>
                  <a:srgbClr val="6D28D9"/>
                </a:solidFill>
                <a:latin typeface="Segoe UI Semibold" pitchFamily="34" charset="0"/>
                <a:ea typeface="Segoe UI Semibold" pitchFamily="34" charset="-122"/>
                <a:cs typeface="Segoe UI Semibold" pitchFamily="34" charset="-120"/>
              </a:rPr>
              <a:t>10:00 PM</a:t>
            </a:r>
            <a:endParaRPr lang="en-US" sz="1000" dirty="0"/>
          </a:p>
        </p:txBody>
      </p:sp>
      <p:sp>
        <p:nvSpPr>
          <p:cNvPr id="22" name="a5_146"/>
          <p:cNvSpPr txBox="1"/>
          <p:nvPr/>
        </p:nvSpPr>
        <p:spPr>
          <a:xfrm>
            <a:off x="8567928" y="4005072"/>
            <a:ext cx="3075127" cy="329184"/>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Automatic safety net</a:t>
            </a:r>
            <a:endParaRPr lang="en-US" sz="1500" dirty="0"/>
          </a:p>
        </p:txBody>
      </p:sp>
      <p:sp>
        <p:nvSpPr>
          <p:cNvPr id="23" name="a5_147"/>
          <p:cNvSpPr txBox="1"/>
          <p:nvPr/>
        </p:nvSpPr>
        <p:spPr>
          <a:xfrm>
            <a:off x="7452360" y="4407408"/>
            <a:ext cx="4190695" cy="566928"/>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Segoe UI" pitchFamily="34" charset="0"/>
                <a:ea typeface="Segoe UI" pitchFamily="34" charset="-122"/>
                <a:cs typeface="Segoe UI" pitchFamily="34" charset="-120"/>
              </a:rPr>
              <a:t>Syncs whatever is left, and shows an alert at your next login</a:t>
            </a:r>
            <a:endParaRPr lang="en-US" sz="1250" dirty="0"/>
          </a:p>
        </p:txBody>
      </p:sp>
      <p:sp>
        <p:nvSpPr>
          <p:cNvPr id="24" name="a6_148"/>
          <p:cNvSpPr/>
          <p:nvPr/>
        </p:nvSpPr>
        <p:spPr>
          <a:xfrm>
            <a:off x="7452360" y="5111496"/>
            <a:ext cx="1056132" cy="292608"/>
          </a:xfrm>
          <a:prstGeom prst="roundRect">
            <a:avLst>
              <a:gd name="adj" fmla="val 156250"/>
            </a:avLst>
          </a:prstGeom>
          <a:solidFill>
            <a:srgbClr val="FFF1F2"/>
          </a:solidFill>
          <a:ln w="9525">
            <a:solidFill>
              <a:srgbClr val="FECDD3"/>
            </a:solidFill>
            <a:prstDash val="solid"/>
          </a:ln>
        </p:spPr>
      </p:sp>
      <p:sp>
        <p:nvSpPr>
          <p:cNvPr id="25" name="a6_149"/>
          <p:cNvSpPr txBox="1"/>
          <p:nvPr/>
        </p:nvSpPr>
        <p:spPr>
          <a:xfrm>
            <a:off x="7452360" y="5111496"/>
            <a:ext cx="1056132" cy="292608"/>
          </a:xfrm>
          <a:prstGeom prst="rect">
            <a:avLst/>
          </a:prstGeom>
          <a:noFill/>
          <a:ln/>
        </p:spPr>
        <p:txBody>
          <a:bodyPr wrap="square" lIns="0" tIns="0" rIns="0" bIns="0" rtlCol="0" anchor="ctr"/>
          <a:lstStyle/>
          <a:p>
            <a:pPr marL="0" indent="0" algn="ctr">
              <a:buNone/>
            </a:pPr>
            <a:r>
              <a:rPr lang="en-US" sz="1000" kern="0" spc="100" dirty="0">
                <a:solidFill>
                  <a:srgbClr val="BE123C"/>
                </a:solidFill>
                <a:latin typeface="Segoe UI Semibold" pitchFamily="34" charset="0"/>
                <a:ea typeface="Segoe UI Semibold" pitchFamily="34" charset="-122"/>
                <a:cs typeface="Segoe UI Semibold" pitchFamily="34" charset="-120"/>
              </a:rPr>
              <a:t>DASHBOARD</a:t>
            </a:r>
            <a:endParaRPr lang="en-US" sz="1000" dirty="0"/>
          </a:p>
        </p:txBody>
      </p:sp>
      <p:sp>
        <p:nvSpPr>
          <p:cNvPr id="26" name="a6_150"/>
          <p:cNvSpPr txBox="1"/>
          <p:nvPr/>
        </p:nvSpPr>
        <p:spPr>
          <a:xfrm>
            <a:off x="8654796" y="5093208"/>
            <a:ext cx="2988259" cy="329184"/>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Follow-ups stay visible</a:t>
            </a:r>
            <a:endParaRPr lang="en-US" sz="1500" dirty="0"/>
          </a:p>
        </p:txBody>
      </p:sp>
      <p:sp>
        <p:nvSpPr>
          <p:cNvPr id="27" name="a6_151"/>
          <p:cNvSpPr txBox="1"/>
          <p:nvPr/>
        </p:nvSpPr>
        <p:spPr>
          <a:xfrm>
            <a:off x="7452360" y="5495544"/>
            <a:ext cx="4190695" cy="566928"/>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Segoe UI" pitchFamily="34" charset="0"/>
                <a:ea typeface="Segoe UI" pitchFamily="34" charset="-122"/>
                <a:cs typeface="Segoe UI" pitchFamily="34" charset="-120"/>
              </a:rPr>
              <a:t>Due Now and Overdue follow-ups show when you log in</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par>
                          <p:cTn id="8" fill="hold">
                            <p:stCondLst>
                              <p:cond delay="650"/>
                            </p:stCondLst>
                            <p:childTnLst>
                              <p:par>
                                <p:cTn id="9" presetID="10" presetClass="entr" presetSubtype="0" fill="hold" nodeType="afterEffect">
                                  <p:stCondLst>
                                    <p:cond delay="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tgtEl>
                                          <p:spTgt spid="11"/>
                                        </p:tgtEl>
                                      </p:cBhvr>
                                    </p:animEffect>
                                  </p:childTnLst>
                                </p:cTn>
                              </p:par>
                            </p:childTnLst>
                          </p:cTn>
                        </p:par>
                        <p:par>
                          <p:cTn id="12" fill="hold">
                            <p:stCondLst>
                              <p:cond delay="1150"/>
                            </p:stCondLst>
                            <p:childTnLst>
                              <p:par>
                                <p:cTn id="13" presetID="10" presetClass="entr" presetSubtype="0" fill="hold" nodeType="afterEffect">
                                  <p:stCondLst>
                                    <p:cond delay="5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par>
                          <p:cTn id="25" fill="hold">
                            <p:stCondLst>
                              <p:cond delay="1650"/>
                            </p:stCondLst>
                            <p:childTnLst>
                              <p:par>
                                <p:cTn id="26" presetID="10" presetClass="entr" presetSubtype="0" fill="hold" nodeType="afterEffect">
                                  <p:stCondLst>
                                    <p:cond delay="5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5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5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5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50"/>
                                        <p:tgtEl>
                                          <p:spTgt spid="19"/>
                                        </p:tgtEl>
                                      </p:cBhvr>
                                    </p:animEffect>
                                  </p:childTnLst>
                                </p:cTn>
                              </p:par>
                            </p:childTnLst>
                          </p:cTn>
                        </p:par>
                        <p:par>
                          <p:cTn id="38" fill="hold">
                            <p:stCondLst>
                              <p:cond delay="2150"/>
                            </p:stCondLst>
                            <p:childTnLst>
                              <p:par>
                                <p:cTn id="39" presetID="10" presetClass="entr" presetSubtype="0" fill="hold" nodeType="afterEffect">
                                  <p:stCondLst>
                                    <p:cond delay="5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5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5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5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450"/>
                                        <p:tgtEl>
                                          <p:spTgt spid="23"/>
                                        </p:tgtEl>
                                      </p:cBhvr>
                                    </p:animEffect>
                                  </p:childTnLst>
                                </p:cTn>
                              </p:par>
                            </p:childTnLst>
                          </p:cTn>
                        </p:par>
                        <p:par>
                          <p:cTn id="51" fill="hold">
                            <p:stCondLst>
                              <p:cond delay="2650"/>
                            </p:stCondLst>
                            <p:childTnLst>
                              <p:par>
                                <p:cTn id="52" presetID="10" presetClass="entr" presetSubtype="0" fill="hold" nodeType="afterEffect">
                                  <p:stCondLst>
                                    <p:cond delay="5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10127011" y="384048"/>
            <a:ext cx="1516045" cy="365760"/>
          </a:xfrm>
          <a:prstGeom prst="rect">
            <a:avLst/>
          </a:prstGeom>
        </p:spPr>
      </p:pic>
      <p:sp>
        <p:nvSpPr>
          <p:cNvPr id="3" name="Shape 0"/>
          <p:cNvSpPr/>
          <p:nvPr/>
        </p:nvSpPr>
        <p:spPr>
          <a:xfrm>
            <a:off x="548640" y="402336"/>
            <a:ext cx="1689811" cy="329184"/>
          </a:xfrm>
          <a:prstGeom prst="roundRect">
            <a:avLst>
              <a:gd name="adj" fmla="val 138889"/>
            </a:avLst>
          </a:prstGeom>
          <a:solidFill>
            <a:srgbClr val="F5F3FF"/>
          </a:solidFill>
          <a:ln w="9525">
            <a:solidFill>
              <a:srgbClr val="DDD6FE"/>
            </a:solidFill>
            <a:prstDash val="solid"/>
          </a:ln>
        </p:spPr>
      </p:sp>
      <p:pic>
        <p:nvPicPr>
          <p:cNvPr id="4" name="Image 1" descr="preencoded.png"/>
          <p:cNvPicPr>
            <a:picLocks noChangeAspect="1"/>
          </p:cNvPicPr>
          <p:nvPr/>
        </p:nvPicPr>
        <p:blipFill>
          <a:blip r:embed="rId5"/>
          <a:stretch>
            <a:fillRect/>
          </a:stretch>
        </p:blipFill>
        <p:spPr>
          <a:xfrm>
            <a:off x="676656" y="475488"/>
            <a:ext cx="182880" cy="182880"/>
          </a:xfrm>
          <a:prstGeom prst="rect">
            <a:avLst/>
          </a:prstGeom>
        </p:spPr>
      </p:pic>
      <p:sp>
        <p:nvSpPr>
          <p:cNvPr id="5" name="Text 1"/>
          <p:cNvSpPr txBox="1"/>
          <p:nvPr/>
        </p:nvSpPr>
        <p:spPr>
          <a:xfrm>
            <a:off x="932688" y="402336"/>
            <a:ext cx="1232611" cy="329184"/>
          </a:xfrm>
          <a:prstGeom prst="rect">
            <a:avLst/>
          </a:prstGeom>
          <a:noFill/>
          <a:ln/>
        </p:spPr>
        <p:txBody>
          <a:bodyPr wrap="square" lIns="0" tIns="0" rIns="0" bIns="0" rtlCol="0" anchor="ctr"/>
          <a:lstStyle/>
          <a:p>
            <a:pPr marL="0" indent="0">
              <a:buNone/>
            </a:pPr>
            <a:r>
              <a:rPr lang="en-US" sz="1000" kern="0" spc="120" dirty="0">
                <a:solidFill>
                  <a:srgbClr val="6D28D9"/>
                </a:solidFill>
                <a:latin typeface="Segoe UI Semibold" pitchFamily="34" charset="0"/>
                <a:ea typeface="Segoe UI Semibold" pitchFamily="34" charset="-122"/>
                <a:cs typeface="Segoe UI Semibold" pitchFamily="34" charset="-120"/>
              </a:rPr>
              <a:t>PERFORMANCE</a:t>
            </a:r>
            <a:endParaRPr lang="en-US" sz="1000" dirty="0"/>
          </a:p>
        </p:txBody>
      </p:sp>
      <p:sp>
        <p:nvSpPr>
          <p:cNvPr id="6" name="Text 2"/>
          <p:cNvSpPr txBox="1"/>
          <p:nvPr/>
        </p:nvSpPr>
        <p:spPr>
          <a:xfrm>
            <a:off x="548640" y="841248"/>
            <a:ext cx="9235440" cy="566928"/>
          </a:xfrm>
          <a:prstGeom prst="rect">
            <a:avLst/>
          </a:prstGeom>
          <a:noFill/>
          <a:ln/>
        </p:spPr>
        <p:txBody>
          <a:bodyPr wrap="square" lIns="0" tIns="0" rIns="0" bIns="0" rtlCol="0" anchor="ctr"/>
          <a:lstStyle/>
          <a:p>
            <a:pPr marL="0" indent="0">
              <a:buNone/>
            </a:pPr>
            <a:r>
              <a:rPr lang="en-US" sz="2800" dirty="0">
                <a:solidFill>
                  <a:srgbClr val="0F1E7A"/>
                </a:solidFill>
                <a:latin typeface="Segoe UI Semibold" pitchFamily="34" charset="0"/>
                <a:ea typeface="Segoe UI Semibold" pitchFamily="34" charset="-122"/>
                <a:cs typeface="Segoe UI Semibold" pitchFamily="34" charset="-120"/>
              </a:rPr>
              <a:t>Team performance you can see, not chase</a:t>
            </a:r>
            <a:endParaRPr lang="en-US" sz="2800" dirty="0"/>
          </a:p>
        </p:txBody>
      </p:sp>
      <p:sp>
        <p:nvSpPr>
          <p:cNvPr id="7" name="Text 3"/>
          <p:cNvSpPr txBox="1"/>
          <p:nvPr/>
        </p:nvSpPr>
        <p:spPr>
          <a:xfrm>
            <a:off x="548640" y="1371600"/>
            <a:ext cx="9235440" cy="329184"/>
          </a:xfrm>
          <a:prstGeom prst="rect">
            <a:avLst/>
          </a:prstGeom>
          <a:noFill/>
          <a:ln/>
        </p:spPr>
        <p:txBody>
          <a:bodyPr wrap="square" lIns="0" tIns="0" rIns="0" bIns="0" rtlCol="0" anchor="ctr"/>
          <a:lstStyle/>
          <a:p>
            <a:pPr marL="0" indent="0">
              <a:buNone/>
            </a:pPr>
            <a:r>
              <a:rPr lang="en-US" sz="1400" dirty="0">
                <a:solidFill>
                  <a:srgbClr val="475569"/>
                </a:solidFill>
                <a:latin typeface="Segoe UI" pitchFamily="34" charset="0"/>
                <a:ea typeface="Segoe UI" pitchFamily="34" charset="-122"/>
                <a:cs typeface="Segoe UI" pitchFamily="34" charset="-120"/>
              </a:rPr>
              <a:t>Team Leaders watch activity live: no status calls, no chasing files</a:t>
            </a:r>
            <a:endParaRPr lang="en-US" sz="1400" dirty="0"/>
          </a:p>
        </p:txBody>
      </p:sp>
      <p:sp>
        <p:nvSpPr>
          <p:cNvPr id="8"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iPOMS  ·  Infoziant Placement Operations Management System</a:t>
            </a:r>
            <a:endParaRPr lang="en-US" sz="900" dirty="0"/>
          </a:p>
        </p:txBody>
      </p:sp>
      <p:sp>
        <p:nvSpPr>
          <p:cNvPr id="9" name="Text 5"/>
          <p:cNvSpPr txBox="1"/>
          <p:nvPr/>
        </p:nvSpPr>
        <p:spPr>
          <a:xfrm>
            <a:off x="10545775" y="6419088"/>
            <a:ext cx="1097280" cy="256032"/>
          </a:xfrm>
          <a:prstGeom prst="rect">
            <a:avLst/>
          </a:prstGeom>
          <a:noFill/>
          <a:ln/>
        </p:spPr>
        <p:txBody>
          <a:bodyPr wrap="square" lIns="0" tIns="0" rIns="0" bIns="0" rtlCol="0" anchor="ctr"/>
          <a:lstStyle/>
          <a:p>
            <a:pPr marL="0" indent="0" algn="r">
              <a:buNone/>
            </a:pPr>
            <a:r>
              <a:rPr lang="en-US" sz="900" dirty="0">
                <a:solidFill>
                  <a:srgbClr val="64748B"/>
                </a:solidFill>
                <a:latin typeface="Segoe UI Semibold" pitchFamily="34" charset="0"/>
                <a:ea typeface="Segoe UI Semibold" pitchFamily="34" charset="-122"/>
                <a:cs typeface="Segoe UI Semibold" pitchFamily="34" charset="-120"/>
              </a:rPr>
              <a:t>06 / 08</a:t>
            </a:r>
            <a:endParaRPr lang="en-US" sz="900" dirty="0"/>
          </a:p>
        </p:txBody>
      </p:sp>
      <p:pic>
        <p:nvPicPr>
          <p:cNvPr id="10" name="a1_152" descr="C:\Users\admin\.claude\skills\ipoms-ppt-2026\demo\assets\shots\team.png"/>
          <p:cNvPicPr>
            <a:picLocks noChangeAspect="1"/>
          </p:cNvPicPr>
          <p:nvPr/>
        </p:nvPicPr>
        <p:blipFill>
          <a:blip r:embed="rId6"/>
          <a:stretch>
            <a:fillRect/>
          </a:stretch>
        </p:blipFill>
        <p:spPr>
          <a:xfrm>
            <a:off x="384048" y="1792224"/>
            <a:ext cx="5102390" cy="4462272"/>
          </a:xfrm>
          <a:prstGeom prst="rect">
            <a:avLst/>
          </a:prstGeom>
        </p:spPr>
      </p:pic>
      <p:sp>
        <p:nvSpPr>
          <p:cNvPr id="11" name="a2_153"/>
          <p:cNvSpPr/>
          <p:nvPr/>
        </p:nvSpPr>
        <p:spPr>
          <a:xfrm>
            <a:off x="5760720" y="1847088"/>
            <a:ext cx="2831440" cy="1572768"/>
          </a:xfrm>
          <a:prstGeom prst="roundRect">
            <a:avLst>
              <a:gd name="adj" fmla="val 8140"/>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12" name="a2_154"/>
          <p:cNvSpPr/>
          <p:nvPr/>
        </p:nvSpPr>
        <p:spPr>
          <a:xfrm>
            <a:off x="5980176" y="2066544"/>
            <a:ext cx="438912" cy="438912"/>
          </a:xfrm>
          <a:prstGeom prst="ellipse">
            <a:avLst/>
          </a:prstGeom>
          <a:solidFill>
            <a:srgbClr val="059669"/>
          </a:solidFill>
          <a:ln w="12700">
            <a:solidFill>
              <a:srgbClr val="059669"/>
            </a:solidFill>
            <a:prstDash val="solid"/>
          </a:ln>
        </p:spPr>
      </p:sp>
      <p:pic>
        <p:nvPicPr>
          <p:cNvPr id="13" name="a2_155" descr="preencoded.png"/>
          <p:cNvPicPr>
            <a:picLocks noChangeAspect="1"/>
          </p:cNvPicPr>
          <p:nvPr/>
        </p:nvPicPr>
        <p:blipFill>
          <a:blip r:embed="rId7"/>
          <a:stretch>
            <a:fillRect/>
          </a:stretch>
        </p:blipFill>
        <p:spPr>
          <a:xfrm>
            <a:off x="6085515" y="2171883"/>
            <a:ext cx="228234" cy="228234"/>
          </a:xfrm>
          <a:prstGeom prst="rect">
            <a:avLst/>
          </a:prstGeom>
        </p:spPr>
      </p:pic>
      <p:sp>
        <p:nvSpPr>
          <p:cNvPr id="14" name="a2_156"/>
          <p:cNvSpPr txBox="1"/>
          <p:nvPr/>
        </p:nvSpPr>
        <p:spPr>
          <a:xfrm>
            <a:off x="5980176" y="2596896"/>
            <a:ext cx="2429104"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Live presence</a:t>
            </a:r>
            <a:endParaRPr lang="en-US" sz="1500" dirty="0"/>
          </a:p>
        </p:txBody>
      </p:sp>
      <p:sp>
        <p:nvSpPr>
          <p:cNvPr id="15" name="a2_157"/>
          <p:cNvSpPr txBox="1"/>
          <p:nvPr/>
        </p:nvSpPr>
        <p:spPr>
          <a:xfrm>
            <a:off x="5980176" y="2907792"/>
            <a:ext cx="2429104" cy="475488"/>
          </a:xfrm>
          <a:prstGeom prst="rect">
            <a:avLst/>
          </a:prstGeom>
          <a:noFill/>
          <a:ln/>
        </p:spPr>
        <p:txBody>
          <a:bodyPr wrap="square" lIns="0" tIns="0" rIns="0" bIns="0" rtlCol="0" anchor="t"/>
          <a:lstStyle/>
          <a:p>
            <a:pPr marL="0" indent="0">
              <a:lnSpc>
                <a:spcPct val="102000"/>
              </a:lnSpc>
              <a:buNone/>
            </a:pPr>
            <a:r>
              <a:rPr lang="en-US" sz="1200" dirty="0">
                <a:solidFill>
                  <a:srgbClr val="475569"/>
                </a:solidFill>
                <a:latin typeface="Segoe UI" pitchFamily="34" charset="0"/>
                <a:ea typeface="Segoe UI" pitchFamily="34" charset="-122"/>
                <a:cs typeface="Segoe UI" pitchFamily="34" charset="-120"/>
              </a:rPr>
              <a:t>Who is online, away or offline, and the college they are on</a:t>
            </a:r>
            <a:endParaRPr lang="en-US" sz="1200" dirty="0"/>
          </a:p>
        </p:txBody>
      </p:sp>
      <p:sp>
        <p:nvSpPr>
          <p:cNvPr id="16" name="a3_158"/>
          <p:cNvSpPr/>
          <p:nvPr/>
        </p:nvSpPr>
        <p:spPr>
          <a:xfrm>
            <a:off x="8811616" y="1847088"/>
            <a:ext cx="2831440" cy="1572768"/>
          </a:xfrm>
          <a:prstGeom prst="roundRect">
            <a:avLst>
              <a:gd name="adj" fmla="val 8140"/>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17" name="a3_159"/>
          <p:cNvSpPr/>
          <p:nvPr/>
        </p:nvSpPr>
        <p:spPr>
          <a:xfrm>
            <a:off x="9031072" y="2066544"/>
            <a:ext cx="438912" cy="438912"/>
          </a:xfrm>
          <a:prstGeom prst="ellipse">
            <a:avLst/>
          </a:prstGeom>
          <a:solidFill>
            <a:srgbClr val="2563EB"/>
          </a:solidFill>
          <a:ln w="12700">
            <a:solidFill>
              <a:srgbClr val="2563EB"/>
            </a:solidFill>
            <a:prstDash val="solid"/>
          </a:ln>
        </p:spPr>
      </p:sp>
      <p:pic>
        <p:nvPicPr>
          <p:cNvPr id="18" name="a3_160" descr="preencoded.png"/>
          <p:cNvPicPr>
            <a:picLocks noChangeAspect="1"/>
          </p:cNvPicPr>
          <p:nvPr/>
        </p:nvPicPr>
        <p:blipFill>
          <a:blip r:embed="rId8"/>
          <a:stretch>
            <a:fillRect/>
          </a:stretch>
        </p:blipFill>
        <p:spPr>
          <a:xfrm>
            <a:off x="9136410" y="2171883"/>
            <a:ext cx="228234" cy="228234"/>
          </a:xfrm>
          <a:prstGeom prst="rect">
            <a:avLst/>
          </a:prstGeom>
        </p:spPr>
      </p:pic>
      <p:sp>
        <p:nvSpPr>
          <p:cNvPr id="19" name="a3_161"/>
          <p:cNvSpPr txBox="1"/>
          <p:nvPr/>
        </p:nvSpPr>
        <p:spPr>
          <a:xfrm>
            <a:off x="9031072" y="2596896"/>
            <a:ext cx="2429104"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Calls made today</a:t>
            </a:r>
            <a:endParaRPr lang="en-US" sz="1500" dirty="0"/>
          </a:p>
        </p:txBody>
      </p:sp>
      <p:sp>
        <p:nvSpPr>
          <p:cNvPr id="20" name="a3_162"/>
          <p:cNvSpPr txBox="1"/>
          <p:nvPr/>
        </p:nvSpPr>
        <p:spPr>
          <a:xfrm>
            <a:off x="9031072" y="2907792"/>
            <a:ext cx="2429104" cy="475488"/>
          </a:xfrm>
          <a:prstGeom prst="rect">
            <a:avLst/>
          </a:prstGeom>
          <a:noFill/>
          <a:ln/>
        </p:spPr>
        <p:txBody>
          <a:bodyPr wrap="square" lIns="0" tIns="0" rIns="0" bIns="0" rtlCol="0" anchor="t"/>
          <a:lstStyle/>
          <a:p>
            <a:pPr marL="0" indent="0">
              <a:lnSpc>
                <a:spcPct val="102000"/>
              </a:lnSpc>
              <a:buNone/>
            </a:pPr>
            <a:r>
              <a:rPr lang="en-US" sz="1200" dirty="0">
                <a:solidFill>
                  <a:srgbClr val="475569"/>
                </a:solidFill>
                <a:latin typeface="Segoe UI" pitchFamily="34" charset="0"/>
                <a:ea typeface="Segoe UI" pitchFamily="34" charset="-122"/>
                <a:cs typeface="Segoe UI" pitchFamily="34" charset="-120"/>
              </a:rPr>
              <a:t>Per coordinator, refreshed every 15 seconds</a:t>
            </a:r>
            <a:endParaRPr lang="en-US" sz="1200" dirty="0"/>
          </a:p>
        </p:txBody>
      </p:sp>
      <p:sp>
        <p:nvSpPr>
          <p:cNvPr id="21" name="a4_163"/>
          <p:cNvSpPr/>
          <p:nvPr/>
        </p:nvSpPr>
        <p:spPr>
          <a:xfrm>
            <a:off x="5760720" y="3621024"/>
            <a:ext cx="2831440" cy="1572768"/>
          </a:xfrm>
          <a:prstGeom prst="roundRect">
            <a:avLst>
              <a:gd name="adj" fmla="val 8140"/>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22" name="a4_164"/>
          <p:cNvSpPr/>
          <p:nvPr/>
        </p:nvSpPr>
        <p:spPr>
          <a:xfrm>
            <a:off x="5980176" y="3840480"/>
            <a:ext cx="438912" cy="438912"/>
          </a:xfrm>
          <a:prstGeom prst="ellipse">
            <a:avLst/>
          </a:prstGeom>
          <a:solidFill>
            <a:srgbClr val="7C3AED"/>
          </a:solidFill>
          <a:ln w="12700">
            <a:solidFill>
              <a:srgbClr val="7C3AED"/>
            </a:solidFill>
            <a:prstDash val="solid"/>
          </a:ln>
        </p:spPr>
      </p:sp>
      <p:pic>
        <p:nvPicPr>
          <p:cNvPr id="23" name="a4_165" descr="preencoded.png"/>
          <p:cNvPicPr>
            <a:picLocks noChangeAspect="1"/>
          </p:cNvPicPr>
          <p:nvPr/>
        </p:nvPicPr>
        <p:blipFill>
          <a:blip r:embed="rId9"/>
          <a:stretch>
            <a:fillRect/>
          </a:stretch>
        </p:blipFill>
        <p:spPr>
          <a:xfrm>
            <a:off x="6085515" y="3945819"/>
            <a:ext cx="228234" cy="228234"/>
          </a:xfrm>
          <a:prstGeom prst="rect">
            <a:avLst/>
          </a:prstGeom>
        </p:spPr>
      </p:pic>
      <p:sp>
        <p:nvSpPr>
          <p:cNvPr id="24" name="a4_166"/>
          <p:cNvSpPr txBox="1"/>
          <p:nvPr/>
        </p:nvSpPr>
        <p:spPr>
          <a:xfrm>
            <a:off x="5980176" y="4370832"/>
            <a:ext cx="2429104"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Positives and JDs</a:t>
            </a:r>
            <a:endParaRPr lang="en-US" sz="1500" dirty="0"/>
          </a:p>
        </p:txBody>
      </p:sp>
      <p:sp>
        <p:nvSpPr>
          <p:cNvPr id="25" name="a4_167"/>
          <p:cNvSpPr txBox="1"/>
          <p:nvPr/>
        </p:nvSpPr>
        <p:spPr>
          <a:xfrm>
            <a:off x="5980176" y="4681728"/>
            <a:ext cx="2429104" cy="475488"/>
          </a:xfrm>
          <a:prstGeom prst="rect">
            <a:avLst/>
          </a:prstGeom>
          <a:noFill/>
          <a:ln/>
        </p:spPr>
        <p:txBody>
          <a:bodyPr wrap="square" lIns="0" tIns="0" rIns="0" bIns="0" rtlCol="0" anchor="t"/>
          <a:lstStyle/>
          <a:p>
            <a:pPr marL="0" indent="0">
              <a:lnSpc>
                <a:spcPct val="102000"/>
              </a:lnSpc>
              <a:buNone/>
            </a:pPr>
            <a:r>
              <a:rPr lang="en-US" sz="1200" dirty="0">
                <a:solidFill>
                  <a:srgbClr val="475569"/>
                </a:solidFill>
                <a:latin typeface="Segoe UI" pitchFamily="34" charset="0"/>
                <a:ea typeface="Segoe UI" pitchFamily="34" charset="-122"/>
                <a:cs typeface="Segoe UI" pitchFamily="34" charset="-120"/>
              </a:rPr>
              <a:t>Each coordinator's positive leads and JDs received</a:t>
            </a:r>
            <a:endParaRPr lang="en-US" sz="1200" dirty="0"/>
          </a:p>
        </p:txBody>
      </p:sp>
      <p:sp>
        <p:nvSpPr>
          <p:cNvPr id="26" name="a5_168"/>
          <p:cNvSpPr/>
          <p:nvPr/>
        </p:nvSpPr>
        <p:spPr>
          <a:xfrm>
            <a:off x="8811616" y="3621024"/>
            <a:ext cx="2831440" cy="1572768"/>
          </a:xfrm>
          <a:prstGeom prst="roundRect">
            <a:avLst>
              <a:gd name="adj" fmla="val 8140"/>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27" name="a5_169"/>
          <p:cNvSpPr/>
          <p:nvPr/>
        </p:nvSpPr>
        <p:spPr>
          <a:xfrm>
            <a:off x="9031072" y="3840480"/>
            <a:ext cx="438912" cy="438912"/>
          </a:xfrm>
          <a:prstGeom prst="ellipse">
            <a:avLst/>
          </a:prstGeom>
          <a:solidFill>
            <a:srgbClr val="D97706"/>
          </a:solidFill>
          <a:ln w="12700">
            <a:solidFill>
              <a:srgbClr val="D97706"/>
            </a:solidFill>
            <a:prstDash val="solid"/>
          </a:ln>
        </p:spPr>
      </p:sp>
      <p:pic>
        <p:nvPicPr>
          <p:cNvPr id="28" name="a5_170" descr="preencoded.png"/>
          <p:cNvPicPr>
            <a:picLocks noChangeAspect="1"/>
          </p:cNvPicPr>
          <p:nvPr/>
        </p:nvPicPr>
        <p:blipFill>
          <a:blip r:embed="rId10"/>
          <a:stretch>
            <a:fillRect/>
          </a:stretch>
        </p:blipFill>
        <p:spPr>
          <a:xfrm>
            <a:off x="9136410" y="3945819"/>
            <a:ext cx="228234" cy="228234"/>
          </a:xfrm>
          <a:prstGeom prst="rect">
            <a:avLst/>
          </a:prstGeom>
        </p:spPr>
      </p:pic>
      <p:sp>
        <p:nvSpPr>
          <p:cNvPr id="29" name="a5_171"/>
          <p:cNvSpPr txBox="1"/>
          <p:nvPr/>
        </p:nvSpPr>
        <p:spPr>
          <a:xfrm>
            <a:off x="9031072" y="4370832"/>
            <a:ext cx="2429104" cy="310896"/>
          </a:xfrm>
          <a:prstGeom prst="rect">
            <a:avLst/>
          </a:prstGeom>
          <a:noFill/>
          <a:ln/>
        </p:spPr>
        <p:txBody>
          <a:bodyPr wrap="square" lIns="0" tIns="0" rIns="0" bIns="0" rtlCol="0" anchor="ctr"/>
          <a:lstStyle/>
          <a:p>
            <a:pPr marL="0" indent="0">
              <a:buNone/>
            </a:pPr>
            <a:r>
              <a:rPr lang="en-US" sz="1500" dirty="0">
                <a:solidFill>
                  <a:srgbClr val="0F172A"/>
                </a:solidFill>
                <a:latin typeface="Segoe UI Semibold" pitchFamily="34" charset="0"/>
                <a:ea typeface="Segoe UI Semibold" pitchFamily="34" charset="-122"/>
                <a:cs typeface="Segoe UI Semibold" pitchFamily="34" charset="-120"/>
              </a:rPr>
              <a:t>Call duration</a:t>
            </a:r>
            <a:endParaRPr lang="en-US" sz="1500" dirty="0"/>
          </a:p>
        </p:txBody>
      </p:sp>
      <p:sp>
        <p:nvSpPr>
          <p:cNvPr id="30" name="a5_172"/>
          <p:cNvSpPr txBox="1"/>
          <p:nvPr/>
        </p:nvSpPr>
        <p:spPr>
          <a:xfrm>
            <a:off x="9031072" y="4681728"/>
            <a:ext cx="2429104" cy="475488"/>
          </a:xfrm>
          <a:prstGeom prst="rect">
            <a:avLst/>
          </a:prstGeom>
          <a:noFill/>
          <a:ln/>
        </p:spPr>
        <p:txBody>
          <a:bodyPr wrap="square" lIns="0" tIns="0" rIns="0" bIns="0" rtlCol="0" anchor="t"/>
          <a:lstStyle/>
          <a:p>
            <a:pPr marL="0" indent="0">
              <a:lnSpc>
                <a:spcPct val="102000"/>
              </a:lnSpc>
              <a:buNone/>
            </a:pPr>
            <a:r>
              <a:rPr lang="en-US" sz="1200" dirty="0">
                <a:solidFill>
                  <a:srgbClr val="475569"/>
                </a:solidFill>
                <a:latin typeface="Segoe UI" pitchFamily="34" charset="0"/>
                <a:ea typeface="Segoe UI" pitchFamily="34" charset="-122"/>
                <a:cs typeface="Segoe UI" pitchFamily="34" charset="-120"/>
              </a:rPr>
              <a:t>Start, end and duration recorded on every call</a:t>
            </a:r>
            <a:endParaRPr lang="en-US" sz="1200" dirty="0"/>
          </a:p>
        </p:txBody>
      </p:sp>
      <p:sp>
        <p:nvSpPr>
          <p:cNvPr id="31" name="a6_173"/>
          <p:cNvSpPr/>
          <p:nvPr/>
        </p:nvSpPr>
        <p:spPr>
          <a:xfrm>
            <a:off x="5760720" y="5413248"/>
            <a:ext cx="5882335" cy="841248"/>
          </a:xfrm>
          <a:prstGeom prst="roundRect">
            <a:avLst>
              <a:gd name="adj" fmla="val 15217"/>
            </a:avLst>
          </a:prstGeom>
          <a:solidFill>
            <a:srgbClr val="F8FAFC"/>
          </a:solidFill>
          <a:ln w="9525">
            <a:solidFill>
              <a:srgbClr val="CBD5E1"/>
            </a:solidFill>
            <a:prstDash val="solid"/>
          </a:ln>
        </p:spPr>
      </p:sp>
      <p:sp>
        <p:nvSpPr>
          <p:cNvPr id="32" name="a6_174"/>
          <p:cNvSpPr/>
          <p:nvPr/>
        </p:nvSpPr>
        <p:spPr>
          <a:xfrm>
            <a:off x="5980176" y="5678424"/>
            <a:ext cx="998525" cy="310896"/>
          </a:xfrm>
          <a:prstGeom prst="roundRect">
            <a:avLst>
              <a:gd name="adj" fmla="val 147059"/>
            </a:avLst>
          </a:prstGeom>
          <a:solidFill>
            <a:srgbClr val="FFFBEB"/>
          </a:solidFill>
          <a:ln w="9525">
            <a:solidFill>
              <a:srgbClr val="FDE68A"/>
            </a:solidFill>
            <a:prstDash val="solid"/>
          </a:ln>
        </p:spPr>
      </p:sp>
      <p:pic>
        <p:nvPicPr>
          <p:cNvPr id="33" name="a6_175" descr="preencoded.png"/>
          <p:cNvPicPr>
            <a:picLocks noChangeAspect="1"/>
          </p:cNvPicPr>
          <p:nvPr/>
        </p:nvPicPr>
        <p:blipFill>
          <a:blip r:embed="rId11"/>
          <a:stretch>
            <a:fillRect/>
          </a:stretch>
        </p:blipFill>
        <p:spPr>
          <a:xfrm>
            <a:off x="6108192" y="5742432"/>
            <a:ext cx="182880" cy="182880"/>
          </a:xfrm>
          <a:prstGeom prst="rect">
            <a:avLst/>
          </a:prstGeom>
        </p:spPr>
      </p:pic>
      <p:sp>
        <p:nvSpPr>
          <p:cNvPr id="34" name="a6_176"/>
          <p:cNvSpPr txBox="1"/>
          <p:nvPr/>
        </p:nvSpPr>
        <p:spPr>
          <a:xfrm>
            <a:off x="6364224" y="5678424"/>
            <a:ext cx="541325" cy="310896"/>
          </a:xfrm>
          <a:prstGeom prst="rect">
            <a:avLst/>
          </a:prstGeom>
          <a:noFill/>
          <a:ln/>
        </p:spPr>
        <p:txBody>
          <a:bodyPr wrap="square" lIns="0" tIns="0" rIns="0" bIns="0" rtlCol="0" anchor="ctr"/>
          <a:lstStyle/>
          <a:p>
            <a:pPr marL="0" indent="0">
              <a:buNone/>
            </a:pPr>
            <a:r>
              <a:rPr lang="en-US" sz="1000" kern="0" spc="120" dirty="0">
                <a:solidFill>
                  <a:srgbClr val="B45309"/>
                </a:solidFill>
                <a:latin typeface="Segoe UI Semibold" pitchFamily="34" charset="0"/>
                <a:ea typeface="Segoe UI Semibold" pitchFamily="34" charset="-122"/>
                <a:cs typeface="Segoe UI Semibold" pitchFamily="34" charset="-120"/>
              </a:rPr>
              <a:t>NEXT</a:t>
            </a:r>
            <a:endParaRPr lang="en-US" sz="1000" dirty="0"/>
          </a:p>
        </p:txBody>
      </p:sp>
      <p:sp>
        <p:nvSpPr>
          <p:cNvPr id="35" name="a6_177"/>
          <p:cNvSpPr txBox="1"/>
          <p:nvPr/>
        </p:nvSpPr>
        <p:spPr>
          <a:xfrm>
            <a:off x="7059168" y="5413248"/>
            <a:ext cx="4401007" cy="841248"/>
          </a:xfrm>
          <a:prstGeom prst="rect">
            <a:avLst/>
          </a:prstGeom>
          <a:noFill/>
          <a:ln/>
        </p:spPr>
        <p:txBody>
          <a:bodyPr wrap="square" lIns="0" tIns="0" rIns="0" bIns="0" rtlCol="0" anchor="ctr"/>
          <a:lstStyle/>
          <a:p>
            <a:pPr marL="0" indent="0">
              <a:buNone/>
            </a:pPr>
            <a:r>
              <a:rPr lang="en-US" sz="1250" dirty="0">
                <a:solidFill>
                  <a:srgbClr val="475569"/>
                </a:solidFill>
                <a:latin typeface="Segoe UI" pitchFamily="34" charset="0"/>
                <a:ea typeface="Segoe UI" pitchFamily="34" charset="-122"/>
                <a:cs typeface="Segoe UI" pitchFamily="34" charset="-120"/>
              </a:rPr>
              <a:t>Month-over-month comparison of each coordinator's calls and conversions</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par>
                          <p:cTn id="8" fill="hold">
                            <p:stCondLst>
                              <p:cond delay="650"/>
                            </p:stCondLst>
                            <p:childTnLst>
                              <p:par>
                                <p:cTn id="9" presetID="10" presetClass="entr" presetSubtype="0" fill="hold" nodeType="afterEffect">
                                  <p:stCondLst>
                                    <p:cond delay="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tgtEl>
                                          <p:spTgt spid="11"/>
                                        </p:tgtEl>
                                      </p:cBhvr>
                                    </p:animEffect>
                                  </p:childTnLst>
                                </p:cTn>
                              </p:par>
                              <p:par>
                                <p:cTn id="12" presetID="10"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5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childTnLst>
                          </p:cTn>
                        </p:par>
                        <p:par>
                          <p:cTn id="24" fill="hold">
                            <p:stCondLst>
                              <p:cond delay="1150"/>
                            </p:stCondLst>
                            <p:childTnLst>
                              <p:par>
                                <p:cTn id="25" presetID="10" presetClass="entr" presetSubtype="0" fill="hold" nodeType="afterEffect">
                                  <p:stCondLst>
                                    <p:cond delay="5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50"/>
                                        <p:tgtEl>
                                          <p:spTgt spid="16"/>
                                        </p:tgtEl>
                                      </p:cBhvr>
                                    </p:animEffect>
                                  </p:childTnLst>
                                </p:cTn>
                              </p:par>
                              <p:par>
                                <p:cTn id="28" presetID="10"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childTnLst>
                                </p:cTn>
                              </p:par>
                              <p:par>
                                <p:cTn id="31" presetID="10"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5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5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50"/>
                                        <p:tgtEl>
                                          <p:spTgt spid="20"/>
                                        </p:tgtEl>
                                      </p:cBhvr>
                                    </p:animEffect>
                                  </p:childTnLst>
                                </p:cTn>
                              </p:par>
                            </p:childTnLst>
                          </p:cTn>
                        </p:par>
                        <p:par>
                          <p:cTn id="40" fill="hold">
                            <p:stCondLst>
                              <p:cond delay="1650"/>
                            </p:stCondLst>
                            <p:childTnLst>
                              <p:par>
                                <p:cTn id="41" presetID="10" presetClass="entr" presetSubtype="0" fill="hold" nodeType="afterEffect">
                                  <p:stCondLst>
                                    <p:cond delay="5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par>
                                <p:cTn id="47" presetID="10"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5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50"/>
                                        <p:tgtEl>
                                          <p:spTgt spid="25"/>
                                        </p:tgtEl>
                                      </p:cBhvr>
                                    </p:animEffect>
                                  </p:childTnLst>
                                </p:cTn>
                              </p:par>
                            </p:childTnLst>
                          </p:cTn>
                        </p:par>
                        <p:par>
                          <p:cTn id="56" fill="hold">
                            <p:stCondLst>
                              <p:cond delay="2150"/>
                            </p:stCondLst>
                            <p:childTnLst>
                              <p:par>
                                <p:cTn id="57" presetID="10" presetClass="entr" presetSubtype="0" fill="hold" nodeType="afterEffect">
                                  <p:stCondLst>
                                    <p:cond delay="5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50"/>
                                        <p:tgtEl>
                                          <p:spTgt spid="26"/>
                                        </p:tgtEl>
                                      </p:cBhvr>
                                    </p:animEffect>
                                  </p:childTnLst>
                                </p:cTn>
                              </p:par>
                              <p:par>
                                <p:cTn id="60" presetID="10" presetClass="entr" presetSubtype="0" fill="hold"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50"/>
                                        <p:tgtEl>
                                          <p:spTgt spid="27"/>
                                        </p:tgtEl>
                                      </p:cBhvr>
                                    </p:animEffect>
                                  </p:childTnLst>
                                </p:cTn>
                              </p:par>
                              <p:par>
                                <p:cTn id="63" presetID="10"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5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5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50"/>
                                        <p:tgtEl>
                                          <p:spTgt spid="30"/>
                                        </p:tgtEl>
                                      </p:cBhvr>
                                    </p:animEffect>
                                  </p:childTnLst>
                                </p:cTn>
                              </p:par>
                            </p:childTnLst>
                          </p:cTn>
                        </p:par>
                        <p:par>
                          <p:cTn id="72" fill="hold">
                            <p:stCondLst>
                              <p:cond delay="2650"/>
                            </p:stCondLst>
                            <p:childTnLst>
                              <p:par>
                                <p:cTn id="73" presetID="10" presetClass="entr" presetSubtype="0" fill="hold" nodeType="afterEffect">
                                  <p:stCondLst>
                                    <p:cond delay="5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5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50"/>
                                        <p:tgtEl>
                                          <p:spTgt spid="32"/>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5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50"/>
                                        <p:tgtEl>
                                          <p:spTgt spid="3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 grpId="0" animBg="1"/>
      <p:bldP spid="20" grpId="0" animBg="1"/>
      <p:bldP spid="24" grpId="0" animBg="1"/>
      <p:bldP spid="25" grpId="0" animBg="1"/>
      <p:bldP spid="29" grpId="0" animBg="1"/>
      <p:bldP spid="30" grpId="0" animBg="1"/>
      <p:bldP spid="34"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10127011" y="384048"/>
            <a:ext cx="1516045" cy="365760"/>
          </a:xfrm>
          <a:prstGeom prst="rect">
            <a:avLst/>
          </a:prstGeom>
        </p:spPr>
      </p:pic>
      <p:sp>
        <p:nvSpPr>
          <p:cNvPr id="3" name="Shape 0"/>
          <p:cNvSpPr/>
          <p:nvPr/>
        </p:nvSpPr>
        <p:spPr>
          <a:xfrm>
            <a:off x="548640" y="402336"/>
            <a:ext cx="1294790" cy="329184"/>
          </a:xfrm>
          <a:prstGeom prst="roundRect">
            <a:avLst>
              <a:gd name="adj" fmla="val 138889"/>
            </a:avLst>
          </a:prstGeom>
          <a:solidFill>
            <a:srgbClr val="FFFBEB"/>
          </a:solidFill>
          <a:ln w="9525">
            <a:solidFill>
              <a:srgbClr val="FDE68A"/>
            </a:solidFill>
            <a:prstDash val="solid"/>
          </a:ln>
        </p:spPr>
      </p:sp>
      <p:pic>
        <p:nvPicPr>
          <p:cNvPr id="4" name="Image 1" descr="preencoded.png"/>
          <p:cNvPicPr>
            <a:picLocks noChangeAspect="1"/>
          </p:cNvPicPr>
          <p:nvPr/>
        </p:nvPicPr>
        <p:blipFill>
          <a:blip r:embed="rId5"/>
          <a:stretch>
            <a:fillRect/>
          </a:stretch>
        </p:blipFill>
        <p:spPr>
          <a:xfrm>
            <a:off x="676656" y="475488"/>
            <a:ext cx="182880" cy="182880"/>
          </a:xfrm>
          <a:prstGeom prst="rect">
            <a:avLst/>
          </a:prstGeom>
        </p:spPr>
      </p:pic>
      <p:sp>
        <p:nvSpPr>
          <p:cNvPr id="5" name="Text 1"/>
          <p:cNvSpPr txBox="1"/>
          <p:nvPr/>
        </p:nvSpPr>
        <p:spPr>
          <a:xfrm>
            <a:off x="932688" y="402336"/>
            <a:ext cx="837590" cy="329184"/>
          </a:xfrm>
          <a:prstGeom prst="rect">
            <a:avLst/>
          </a:prstGeom>
          <a:noFill/>
          <a:ln/>
        </p:spPr>
        <p:txBody>
          <a:bodyPr wrap="square" lIns="0" tIns="0" rIns="0" bIns="0" rtlCol="0" anchor="ctr"/>
          <a:lstStyle/>
          <a:p>
            <a:pPr marL="0" indent="0">
              <a:buNone/>
            </a:pPr>
            <a:r>
              <a:rPr lang="en-US" sz="1000" kern="0" spc="120" dirty="0">
                <a:solidFill>
                  <a:srgbClr val="B45309"/>
                </a:solidFill>
                <a:latin typeface="Segoe UI Semibold" pitchFamily="34" charset="0"/>
                <a:ea typeface="Segoe UI Semibold" pitchFamily="34" charset="-122"/>
                <a:cs typeface="Segoe UI Semibold" pitchFamily="34" charset="-120"/>
              </a:rPr>
              <a:t>REPORTS</a:t>
            </a:r>
            <a:endParaRPr lang="en-US" sz="1000" dirty="0"/>
          </a:p>
        </p:txBody>
      </p:sp>
      <p:sp>
        <p:nvSpPr>
          <p:cNvPr id="6" name="Text 2"/>
          <p:cNvSpPr txBox="1"/>
          <p:nvPr/>
        </p:nvSpPr>
        <p:spPr>
          <a:xfrm>
            <a:off x="548640" y="841248"/>
            <a:ext cx="9235440" cy="566928"/>
          </a:xfrm>
          <a:prstGeom prst="rect">
            <a:avLst/>
          </a:prstGeom>
          <a:noFill/>
          <a:ln/>
        </p:spPr>
        <p:txBody>
          <a:bodyPr wrap="square" lIns="0" tIns="0" rIns="0" bIns="0" rtlCol="0" anchor="ctr"/>
          <a:lstStyle/>
          <a:p>
            <a:pPr marL="0" indent="0">
              <a:buNone/>
            </a:pPr>
            <a:r>
              <a:rPr lang="en-US" sz="2800" dirty="0">
                <a:solidFill>
                  <a:srgbClr val="0F1E7A"/>
                </a:solidFill>
                <a:latin typeface="Segoe UI Semibold" pitchFamily="34" charset="0"/>
                <a:ea typeface="Segoe UI Semibold" pitchFamily="34" charset="-122"/>
                <a:cs typeface="Segoe UI Semibold" pitchFamily="34" charset="-120"/>
              </a:rPr>
              <a:t>Reports in one click, in the format you need</a:t>
            </a:r>
            <a:endParaRPr lang="en-US" sz="2800" dirty="0"/>
          </a:p>
        </p:txBody>
      </p:sp>
      <p:sp>
        <p:nvSpPr>
          <p:cNvPr id="7" name="Text 3"/>
          <p:cNvSpPr txBox="1"/>
          <p:nvPr/>
        </p:nvSpPr>
        <p:spPr>
          <a:xfrm>
            <a:off x="548640" y="1371600"/>
            <a:ext cx="9235440" cy="329184"/>
          </a:xfrm>
          <a:prstGeom prst="rect">
            <a:avLst/>
          </a:prstGeom>
          <a:noFill/>
          <a:ln/>
        </p:spPr>
        <p:txBody>
          <a:bodyPr wrap="square" lIns="0" tIns="0" rIns="0" bIns="0" rtlCol="0" anchor="ctr"/>
          <a:lstStyle/>
          <a:p>
            <a:pPr marL="0" indent="0">
              <a:buNone/>
            </a:pPr>
            <a:r>
              <a:rPr lang="en-US" sz="1400" dirty="0">
                <a:solidFill>
                  <a:srgbClr val="475569"/>
                </a:solidFill>
                <a:latin typeface="Segoe UI" pitchFamily="34" charset="0"/>
                <a:ea typeface="Segoe UI" pitchFamily="34" charset="-122"/>
                <a:cs typeface="Segoe UI" pitchFamily="34" charset="-120"/>
              </a:rPr>
              <a:t>Pick one college or a group of colleges, choose the sections, generate</a:t>
            </a:r>
            <a:endParaRPr lang="en-US" sz="1400" dirty="0"/>
          </a:p>
        </p:txBody>
      </p:sp>
      <p:sp>
        <p:nvSpPr>
          <p:cNvPr id="8"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iPOMS  ·  Infoziant Placement Operations Management System</a:t>
            </a:r>
            <a:endParaRPr lang="en-US" sz="900" dirty="0"/>
          </a:p>
        </p:txBody>
      </p:sp>
      <p:sp>
        <p:nvSpPr>
          <p:cNvPr id="9" name="Text 5"/>
          <p:cNvSpPr txBox="1"/>
          <p:nvPr/>
        </p:nvSpPr>
        <p:spPr>
          <a:xfrm>
            <a:off x="10545775" y="6419088"/>
            <a:ext cx="1097280" cy="256032"/>
          </a:xfrm>
          <a:prstGeom prst="rect">
            <a:avLst/>
          </a:prstGeom>
          <a:noFill/>
          <a:ln/>
        </p:spPr>
        <p:txBody>
          <a:bodyPr wrap="square" lIns="0" tIns="0" rIns="0" bIns="0" rtlCol="0" anchor="ctr"/>
          <a:lstStyle/>
          <a:p>
            <a:pPr marL="0" indent="0" algn="r">
              <a:buNone/>
            </a:pPr>
            <a:r>
              <a:rPr lang="en-US" sz="900" dirty="0">
                <a:solidFill>
                  <a:srgbClr val="64748B"/>
                </a:solidFill>
                <a:latin typeface="Segoe UI Semibold" pitchFamily="34" charset="0"/>
                <a:ea typeface="Segoe UI Semibold" pitchFamily="34" charset="-122"/>
                <a:cs typeface="Segoe UI Semibold" pitchFamily="34" charset="-120"/>
              </a:rPr>
              <a:t>07 / 08</a:t>
            </a:r>
            <a:endParaRPr lang="en-US" sz="900" dirty="0"/>
          </a:p>
        </p:txBody>
      </p:sp>
      <p:pic>
        <p:nvPicPr>
          <p:cNvPr id="10" name="a1_178" descr="C:\Users\admin\.claude\skills\ipoms-ppt-2026\demo\assets\shots\wizard.png"/>
          <p:cNvPicPr>
            <a:picLocks noChangeAspect="1"/>
          </p:cNvPicPr>
          <p:nvPr/>
        </p:nvPicPr>
        <p:blipFill>
          <a:blip r:embed="rId6"/>
          <a:stretch>
            <a:fillRect/>
          </a:stretch>
        </p:blipFill>
        <p:spPr>
          <a:xfrm>
            <a:off x="384048" y="1792224"/>
            <a:ext cx="4526280" cy="3649762"/>
          </a:xfrm>
          <a:prstGeom prst="rect">
            <a:avLst/>
          </a:prstGeom>
        </p:spPr>
      </p:pic>
      <p:pic>
        <p:nvPicPr>
          <p:cNvPr id="11" name="a2_179" descr="C:\Users\admin\.claude\skills\ipoms-ppt-2026\demo\assets\shots\report.png"/>
          <p:cNvPicPr>
            <a:picLocks noChangeAspect="1"/>
          </p:cNvPicPr>
          <p:nvPr/>
        </p:nvPicPr>
        <p:blipFill>
          <a:blip r:embed="rId7"/>
          <a:stretch>
            <a:fillRect/>
          </a:stretch>
        </p:blipFill>
        <p:spPr>
          <a:xfrm>
            <a:off x="2331720" y="2487168"/>
            <a:ext cx="4588973" cy="3767328"/>
          </a:xfrm>
          <a:prstGeom prst="rect">
            <a:avLst/>
          </a:prstGeom>
        </p:spPr>
      </p:pic>
      <p:sp>
        <p:nvSpPr>
          <p:cNvPr id="12" name="a3_180"/>
          <p:cNvSpPr txBox="1"/>
          <p:nvPr/>
        </p:nvSpPr>
        <p:spPr>
          <a:xfrm>
            <a:off x="7178040" y="1828800"/>
            <a:ext cx="4465015" cy="256032"/>
          </a:xfrm>
          <a:prstGeom prst="rect">
            <a:avLst/>
          </a:prstGeom>
          <a:noFill/>
          <a:ln/>
        </p:spPr>
        <p:txBody>
          <a:bodyPr wrap="square" lIns="0" tIns="0" rIns="0" bIns="0" rtlCol="0" anchor="t"/>
          <a:lstStyle/>
          <a:p>
            <a:pPr marL="0" indent="0">
              <a:buNone/>
            </a:pPr>
            <a:r>
              <a:rPr lang="en-US" sz="1050" kern="0" spc="180" dirty="0">
                <a:solidFill>
                  <a:srgbClr val="B45309"/>
                </a:solidFill>
                <a:latin typeface="Segoe UI Semibold" pitchFamily="34" charset="0"/>
                <a:ea typeface="Segoe UI Semibold" pitchFamily="34" charset="-122"/>
                <a:cs typeface="Segoe UI Semibold" pitchFamily="34" charset="-120"/>
              </a:rPr>
              <a:t>6 REPORT TYPES</a:t>
            </a:r>
            <a:endParaRPr lang="en-US" sz="1050" dirty="0"/>
          </a:p>
        </p:txBody>
      </p:sp>
      <p:sp>
        <p:nvSpPr>
          <p:cNvPr id="13" name="a3_181"/>
          <p:cNvSpPr/>
          <p:nvPr/>
        </p:nvSpPr>
        <p:spPr>
          <a:xfrm>
            <a:off x="7178040" y="2157984"/>
            <a:ext cx="2150212" cy="384048"/>
          </a:xfrm>
          <a:prstGeom prst="roundRect">
            <a:avLst>
              <a:gd name="adj" fmla="val 119048"/>
            </a:avLst>
          </a:prstGeom>
          <a:solidFill>
            <a:srgbClr val="EFF6FF"/>
          </a:solidFill>
          <a:ln w="9525">
            <a:solidFill>
              <a:srgbClr val="BFDBFE"/>
            </a:solidFill>
            <a:prstDash val="solid"/>
          </a:ln>
        </p:spPr>
      </p:sp>
      <p:sp>
        <p:nvSpPr>
          <p:cNvPr id="14" name="a3_182"/>
          <p:cNvSpPr txBox="1"/>
          <p:nvPr/>
        </p:nvSpPr>
        <p:spPr>
          <a:xfrm>
            <a:off x="7178040" y="2157984"/>
            <a:ext cx="2150212" cy="384048"/>
          </a:xfrm>
          <a:prstGeom prst="rect">
            <a:avLst/>
          </a:prstGeom>
          <a:noFill/>
          <a:ln/>
        </p:spPr>
        <p:txBody>
          <a:bodyPr wrap="square" lIns="0" tIns="0" rIns="0" bIns="0" rtlCol="0" anchor="ctr"/>
          <a:lstStyle/>
          <a:p>
            <a:pPr marL="0" indent="0" algn="ctr">
              <a:buNone/>
            </a:pPr>
            <a:r>
              <a:rPr lang="en-US" sz="1250" dirty="0">
                <a:solidFill>
                  <a:srgbClr val="1D4ED8"/>
                </a:solidFill>
                <a:latin typeface="Segoe UI Semibold" pitchFamily="34" charset="0"/>
                <a:ea typeface="Segoe UI Semibold" pitchFamily="34" charset="-122"/>
                <a:cs typeface="Segoe UI Semibold" pitchFamily="34" charset="-120"/>
              </a:rPr>
              <a:t>Weekly Report</a:t>
            </a:r>
            <a:endParaRPr lang="en-US" sz="1250" dirty="0"/>
          </a:p>
        </p:txBody>
      </p:sp>
      <p:sp>
        <p:nvSpPr>
          <p:cNvPr id="15" name="a3_183"/>
          <p:cNvSpPr/>
          <p:nvPr/>
        </p:nvSpPr>
        <p:spPr>
          <a:xfrm>
            <a:off x="9492844" y="2157984"/>
            <a:ext cx="2150212" cy="384048"/>
          </a:xfrm>
          <a:prstGeom prst="roundRect">
            <a:avLst>
              <a:gd name="adj" fmla="val 119048"/>
            </a:avLst>
          </a:prstGeom>
          <a:solidFill>
            <a:srgbClr val="F5F3FF"/>
          </a:solidFill>
          <a:ln w="9525">
            <a:solidFill>
              <a:srgbClr val="DDD6FE"/>
            </a:solidFill>
            <a:prstDash val="solid"/>
          </a:ln>
        </p:spPr>
      </p:sp>
      <p:sp>
        <p:nvSpPr>
          <p:cNvPr id="16" name="a3_184"/>
          <p:cNvSpPr txBox="1"/>
          <p:nvPr/>
        </p:nvSpPr>
        <p:spPr>
          <a:xfrm>
            <a:off x="9492844" y="2157984"/>
            <a:ext cx="2150212" cy="384048"/>
          </a:xfrm>
          <a:prstGeom prst="rect">
            <a:avLst/>
          </a:prstGeom>
          <a:noFill/>
          <a:ln/>
        </p:spPr>
        <p:txBody>
          <a:bodyPr wrap="square" lIns="0" tIns="0" rIns="0" bIns="0" rtlCol="0" anchor="ctr"/>
          <a:lstStyle/>
          <a:p>
            <a:pPr marL="0" indent="0" algn="ctr">
              <a:buNone/>
            </a:pPr>
            <a:r>
              <a:rPr lang="en-US" sz="1250" dirty="0">
                <a:solidFill>
                  <a:srgbClr val="6D28D9"/>
                </a:solidFill>
                <a:latin typeface="Segoe UI Semibold" pitchFamily="34" charset="0"/>
                <a:ea typeface="Segoe UI Semibold" pitchFamily="34" charset="-122"/>
                <a:cs typeface="Segoe UI Semibold" pitchFamily="34" charset="-120"/>
              </a:rPr>
              <a:t>Month-End</a:t>
            </a:r>
            <a:endParaRPr lang="en-US" sz="1250" dirty="0"/>
          </a:p>
        </p:txBody>
      </p:sp>
      <p:sp>
        <p:nvSpPr>
          <p:cNvPr id="17" name="a3_185"/>
          <p:cNvSpPr/>
          <p:nvPr/>
        </p:nvSpPr>
        <p:spPr>
          <a:xfrm>
            <a:off x="7178040" y="2651760"/>
            <a:ext cx="2150212" cy="384048"/>
          </a:xfrm>
          <a:prstGeom prst="roundRect">
            <a:avLst>
              <a:gd name="adj" fmla="val 119048"/>
            </a:avLst>
          </a:prstGeom>
          <a:solidFill>
            <a:srgbClr val="FFF1F2"/>
          </a:solidFill>
          <a:ln w="9525">
            <a:solidFill>
              <a:srgbClr val="FECDD3"/>
            </a:solidFill>
            <a:prstDash val="solid"/>
          </a:ln>
        </p:spPr>
      </p:sp>
      <p:sp>
        <p:nvSpPr>
          <p:cNvPr id="18" name="a3_186"/>
          <p:cNvSpPr txBox="1"/>
          <p:nvPr/>
        </p:nvSpPr>
        <p:spPr>
          <a:xfrm>
            <a:off x="7178040" y="2651760"/>
            <a:ext cx="2150212" cy="384048"/>
          </a:xfrm>
          <a:prstGeom prst="rect">
            <a:avLst/>
          </a:prstGeom>
          <a:noFill/>
          <a:ln/>
        </p:spPr>
        <p:txBody>
          <a:bodyPr wrap="square" lIns="0" tIns="0" rIns="0" bIns="0" rtlCol="0" anchor="ctr"/>
          <a:lstStyle/>
          <a:p>
            <a:pPr marL="0" indent="0" algn="ctr">
              <a:buNone/>
            </a:pPr>
            <a:r>
              <a:rPr lang="en-US" sz="1250" dirty="0">
                <a:solidFill>
                  <a:srgbClr val="BE123C"/>
                </a:solidFill>
                <a:latin typeface="Segoe UI Semibold" pitchFamily="34" charset="0"/>
                <a:ea typeface="Segoe UI Semibold" pitchFamily="34" charset="-122"/>
                <a:cs typeface="Segoe UI Semibold" pitchFamily="34" charset="-120"/>
              </a:rPr>
              <a:t>Pending Tasks</a:t>
            </a:r>
            <a:endParaRPr lang="en-US" sz="1250" dirty="0"/>
          </a:p>
        </p:txBody>
      </p:sp>
      <p:sp>
        <p:nvSpPr>
          <p:cNvPr id="19" name="a3_187"/>
          <p:cNvSpPr/>
          <p:nvPr/>
        </p:nvSpPr>
        <p:spPr>
          <a:xfrm>
            <a:off x="9492844" y="2651760"/>
            <a:ext cx="2150212" cy="384048"/>
          </a:xfrm>
          <a:prstGeom prst="roundRect">
            <a:avLst>
              <a:gd name="adj" fmla="val 119048"/>
            </a:avLst>
          </a:prstGeom>
          <a:solidFill>
            <a:srgbClr val="ECFEFF"/>
          </a:solidFill>
          <a:ln w="9525">
            <a:solidFill>
              <a:srgbClr val="A5F3FC"/>
            </a:solidFill>
            <a:prstDash val="solid"/>
          </a:ln>
        </p:spPr>
      </p:sp>
      <p:sp>
        <p:nvSpPr>
          <p:cNvPr id="20" name="a3_188"/>
          <p:cNvSpPr txBox="1"/>
          <p:nvPr/>
        </p:nvSpPr>
        <p:spPr>
          <a:xfrm>
            <a:off x="9492844" y="2651760"/>
            <a:ext cx="2150212" cy="384048"/>
          </a:xfrm>
          <a:prstGeom prst="rect">
            <a:avLst/>
          </a:prstGeom>
          <a:noFill/>
          <a:ln/>
        </p:spPr>
        <p:txBody>
          <a:bodyPr wrap="square" lIns="0" tIns="0" rIns="0" bIns="0" rtlCol="0" anchor="ctr"/>
          <a:lstStyle/>
          <a:p>
            <a:pPr marL="0" indent="0" algn="ctr">
              <a:buNone/>
            </a:pPr>
            <a:r>
              <a:rPr lang="en-US" sz="1250" dirty="0">
                <a:solidFill>
                  <a:srgbClr val="0E7490"/>
                </a:solidFill>
                <a:latin typeface="Segoe UI Semibold" pitchFamily="34" charset="0"/>
                <a:ea typeface="Segoe UI Semibold" pitchFamily="34" charset="-122"/>
                <a:cs typeface="Segoe UI Semibold" pitchFamily="34" charset="-120"/>
              </a:rPr>
              <a:t>Active Leads</a:t>
            </a:r>
            <a:endParaRPr lang="en-US" sz="1250" dirty="0"/>
          </a:p>
        </p:txBody>
      </p:sp>
      <p:sp>
        <p:nvSpPr>
          <p:cNvPr id="21" name="a3_189"/>
          <p:cNvSpPr/>
          <p:nvPr/>
        </p:nvSpPr>
        <p:spPr>
          <a:xfrm>
            <a:off x="7178040" y="3145536"/>
            <a:ext cx="2150212" cy="384048"/>
          </a:xfrm>
          <a:prstGeom prst="roundRect">
            <a:avLst>
              <a:gd name="adj" fmla="val 119048"/>
            </a:avLst>
          </a:prstGeom>
          <a:solidFill>
            <a:srgbClr val="ECFDF5"/>
          </a:solidFill>
          <a:ln w="9525">
            <a:solidFill>
              <a:srgbClr val="A7F3D0"/>
            </a:solidFill>
            <a:prstDash val="solid"/>
          </a:ln>
        </p:spPr>
      </p:sp>
      <p:sp>
        <p:nvSpPr>
          <p:cNvPr id="22" name="a3_190"/>
          <p:cNvSpPr txBox="1"/>
          <p:nvPr/>
        </p:nvSpPr>
        <p:spPr>
          <a:xfrm>
            <a:off x="7178040" y="3145536"/>
            <a:ext cx="2150212" cy="384048"/>
          </a:xfrm>
          <a:prstGeom prst="rect">
            <a:avLst/>
          </a:prstGeom>
          <a:noFill/>
          <a:ln/>
        </p:spPr>
        <p:txBody>
          <a:bodyPr wrap="square" lIns="0" tIns="0" rIns="0" bIns="0" rtlCol="0" anchor="ctr"/>
          <a:lstStyle/>
          <a:p>
            <a:pPr marL="0" indent="0" algn="ctr">
              <a:buNone/>
            </a:pPr>
            <a:r>
              <a:rPr lang="en-US" sz="1250" dirty="0">
                <a:solidFill>
                  <a:srgbClr val="047857"/>
                </a:solidFill>
                <a:latin typeface="Segoe UI Semibold" pitchFamily="34" charset="0"/>
                <a:ea typeface="Segoe UI Semibold" pitchFamily="34" charset="-122"/>
                <a:cs typeface="Segoe UI Semibold" pitchFamily="34" charset="-120"/>
              </a:rPr>
              <a:t>Daily Positives</a:t>
            </a:r>
            <a:endParaRPr lang="en-US" sz="1250" dirty="0"/>
          </a:p>
        </p:txBody>
      </p:sp>
      <p:sp>
        <p:nvSpPr>
          <p:cNvPr id="23" name="a3_191"/>
          <p:cNvSpPr/>
          <p:nvPr/>
        </p:nvSpPr>
        <p:spPr>
          <a:xfrm>
            <a:off x="9492844" y="3145536"/>
            <a:ext cx="2150212" cy="384048"/>
          </a:xfrm>
          <a:prstGeom prst="roundRect">
            <a:avLst>
              <a:gd name="adj" fmla="val 119048"/>
            </a:avLst>
          </a:prstGeom>
          <a:solidFill>
            <a:srgbClr val="FFFBEB"/>
          </a:solidFill>
          <a:ln w="9525">
            <a:solidFill>
              <a:srgbClr val="FDE68A"/>
            </a:solidFill>
            <a:prstDash val="solid"/>
          </a:ln>
        </p:spPr>
      </p:sp>
      <p:sp>
        <p:nvSpPr>
          <p:cNvPr id="24" name="a3_192"/>
          <p:cNvSpPr txBox="1"/>
          <p:nvPr/>
        </p:nvSpPr>
        <p:spPr>
          <a:xfrm>
            <a:off x="9492844" y="3145536"/>
            <a:ext cx="2150212" cy="384048"/>
          </a:xfrm>
          <a:prstGeom prst="rect">
            <a:avLst/>
          </a:prstGeom>
          <a:noFill/>
          <a:ln/>
        </p:spPr>
        <p:txBody>
          <a:bodyPr wrap="square" lIns="0" tIns="0" rIns="0" bIns="0" rtlCol="0" anchor="ctr"/>
          <a:lstStyle/>
          <a:p>
            <a:pPr marL="0" indent="0" algn="ctr">
              <a:buNone/>
            </a:pPr>
            <a:r>
              <a:rPr lang="en-US" sz="1250" dirty="0">
                <a:solidFill>
                  <a:srgbClr val="B45309"/>
                </a:solidFill>
                <a:latin typeface="Segoe UI Semibold" pitchFamily="34" charset="0"/>
                <a:ea typeface="Segoe UI Semibold" pitchFamily="34" charset="-122"/>
                <a:cs typeface="Segoe UI Semibold" pitchFamily="34" charset="-120"/>
              </a:rPr>
              <a:t>Daily JD Received</a:t>
            </a:r>
            <a:endParaRPr lang="en-US" sz="1250" dirty="0"/>
          </a:p>
        </p:txBody>
      </p:sp>
      <p:sp>
        <p:nvSpPr>
          <p:cNvPr id="25" name="a4_193"/>
          <p:cNvSpPr txBox="1"/>
          <p:nvPr/>
        </p:nvSpPr>
        <p:spPr>
          <a:xfrm>
            <a:off x="7178040" y="3730752"/>
            <a:ext cx="4465015" cy="256032"/>
          </a:xfrm>
          <a:prstGeom prst="rect">
            <a:avLst/>
          </a:prstGeom>
          <a:noFill/>
          <a:ln/>
        </p:spPr>
        <p:txBody>
          <a:bodyPr wrap="square" lIns="0" tIns="0" rIns="0" bIns="0" rtlCol="0" anchor="t"/>
          <a:lstStyle/>
          <a:p>
            <a:pPr marL="0" indent="0">
              <a:buNone/>
            </a:pPr>
            <a:r>
              <a:rPr lang="en-US" sz="1050" kern="0" spc="180" dirty="0">
                <a:solidFill>
                  <a:srgbClr val="B45309"/>
                </a:solidFill>
                <a:latin typeface="Segoe UI Semibold" pitchFamily="34" charset="0"/>
                <a:ea typeface="Segoe UI Semibold" pitchFamily="34" charset="-122"/>
                <a:cs typeface="Segoe UI Semibold" pitchFamily="34" charset="-120"/>
              </a:rPr>
              <a:t>COVERAGE</a:t>
            </a:r>
            <a:endParaRPr lang="en-US" sz="1050" dirty="0"/>
          </a:p>
        </p:txBody>
      </p:sp>
      <p:sp>
        <p:nvSpPr>
          <p:cNvPr id="26" name="a4_194"/>
          <p:cNvSpPr/>
          <p:nvPr/>
        </p:nvSpPr>
        <p:spPr>
          <a:xfrm>
            <a:off x="7178040" y="4059936"/>
            <a:ext cx="384048" cy="384048"/>
          </a:xfrm>
          <a:prstGeom prst="ellipse">
            <a:avLst/>
          </a:prstGeom>
          <a:solidFill>
            <a:srgbClr val="0F1E7A"/>
          </a:solidFill>
          <a:ln w="12700">
            <a:solidFill>
              <a:srgbClr val="0F1E7A"/>
            </a:solidFill>
            <a:prstDash val="solid"/>
          </a:ln>
        </p:spPr>
      </p:sp>
      <p:pic>
        <p:nvPicPr>
          <p:cNvPr id="27" name="a4_195" descr="preencoded.png"/>
          <p:cNvPicPr>
            <a:picLocks noChangeAspect="1"/>
          </p:cNvPicPr>
          <p:nvPr/>
        </p:nvPicPr>
        <p:blipFill>
          <a:blip r:embed="rId8"/>
          <a:stretch>
            <a:fillRect/>
          </a:stretch>
        </p:blipFill>
        <p:spPr>
          <a:xfrm>
            <a:off x="7270212" y="4152108"/>
            <a:ext cx="199705" cy="199705"/>
          </a:xfrm>
          <a:prstGeom prst="rect">
            <a:avLst/>
          </a:prstGeom>
        </p:spPr>
      </p:pic>
      <p:sp>
        <p:nvSpPr>
          <p:cNvPr id="28" name="a4_196"/>
          <p:cNvSpPr txBox="1"/>
          <p:nvPr/>
        </p:nvSpPr>
        <p:spPr>
          <a:xfrm>
            <a:off x="7744968" y="4041648"/>
            <a:ext cx="3898087" cy="310896"/>
          </a:xfrm>
          <a:prstGeom prst="rect">
            <a:avLst/>
          </a:prstGeom>
          <a:noFill/>
          <a:ln/>
        </p:spPr>
        <p:txBody>
          <a:bodyPr wrap="square" lIns="0" tIns="0" rIns="0" bIns="0" rtlCol="0" anchor="ctr"/>
          <a:lstStyle/>
          <a:p>
            <a:pPr marL="0" indent="0">
              <a:buNone/>
            </a:pPr>
            <a:r>
              <a:rPr lang="en-US" sz="1450" dirty="0">
                <a:solidFill>
                  <a:srgbClr val="0F172A"/>
                </a:solidFill>
                <a:latin typeface="Segoe UI Semibold" pitchFamily="34" charset="0"/>
                <a:ea typeface="Segoe UI Semibold" pitchFamily="34" charset="-122"/>
                <a:cs typeface="Segoe UI Semibold" pitchFamily="34" charset="-120"/>
              </a:rPr>
              <a:t>One college or many, in one go</a:t>
            </a:r>
            <a:endParaRPr lang="en-US" sz="1450" dirty="0"/>
          </a:p>
        </p:txBody>
      </p:sp>
      <p:sp>
        <p:nvSpPr>
          <p:cNvPr id="29" name="a5_197"/>
          <p:cNvSpPr txBox="1"/>
          <p:nvPr/>
        </p:nvSpPr>
        <p:spPr>
          <a:xfrm>
            <a:off x="7178040" y="4645152"/>
            <a:ext cx="4465015" cy="256032"/>
          </a:xfrm>
          <a:prstGeom prst="rect">
            <a:avLst/>
          </a:prstGeom>
          <a:noFill/>
          <a:ln/>
        </p:spPr>
        <p:txBody>
          <a:bodyPr wrap="square" lIns="0" tIns="0" rIns="0" bIns="0" rtlCol="0" anchor="t"/>
          <a:lstStyle/>
          <a:p>
            <a:pPr marL="0" indent="0">
              <a:buNone/>
            </a:pPr>
            <a:r>
              <a:rPr lang="en-US" sz="1050" kern="0" spc="180" dirty="0">
                <a:solidFill>
                  <a:srgbClr val="B45309"/>
                </a:solidFill>
                <a:latin typeface="Segoe UI Semibold" pitchFamily="34" charset="0"/>
                <a:ea typeface="Segoe UI Semibold" pitchFamily="34" charset="-122"/>
                <a:cs typeface="Segoe UI Semibold" pitchFamily="34" charset="-120"/>
              </a:rPr>
              <a:t>EXPORT FORMATS</a:t>
            </a:r>
            <a:endParaRPr lang="en-US" sz="1050" dirty="0"/>
          </a:p>
        </p:txBody>
      </p:sp>
      <p:sp>
        <p:nvSpPr>
          <p:cNvPr id="30" name="a5_198"/>
          <p:cNvSpPr/>
          <p:nvPr/>
        </p:nvSpPr>
        <p:spPr>
          <a:xfrm>
            <a:off x="7178040" y="4974336"/>
            <a:ext cx="1378610" cy="1280160"/>
          </a:xfrm>
          <a:prstGeom prst="roundRect">
            <a:avLst>
              <a:gd name="adj" fmla="val 10000"/>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31" name="a5_199"/>
          <p:cNvSpPr/>
          <p:nvPr/>
        </p:nvSpPr>
        <p:spPr>
          <a:xfrm>
            <a:off x="7611313" y="5157216"/>
            <a:ext cx="512064" cy="512064"/>
          </a:xfrm>
          <a:prstGeom prst="ellipse">
            <a:avLst/>
          </a:prstGeom>
          <a:solidFill>
            <a:srgbClr val="DC2626"/>
          </a:solidFill>
          <a:ln w="12700">
            <a:solidFill>
              <a:srgbClr val="DC2626"/>
            </a:solidFill>
            <a:prstDash val="solid"/>
          </a:ln>
        </p:spPr>
      </p:sp>
      <p:pic>
        <p:nvPicPr>
          <p:cNvPr id="32" name="a5_200" descr="preencoded.png"/>
          <p:cNvPicPr>
            <a:picLocks noChangeAspect="1"/>
          </p:cNvPicPr>
          <p:nvPr/>
        </p:nvPicPr>
        <p:blipFill>
          <a:blip r:embed="rId9"/>
          <a:stretch>
            <a:fillRect/>
          </a:stretch>
        </p:blipFill>
        <p:spPr>
          <a:xfrm>
            <a:off x="7739329" y="5285232"/>
            <a:ext cx="256032" cy="256032"/>
          </a:xfrm>
          <a:prstGeom prst="rect">
            <a:avLst/>
          </a:prstGeom>
        </p:spPr>
      </p:pic>
      <p:sp>
        <p:nvSpPr>
          <p:cNvPr id="33" name="a5_201"/>
          <p:cNvSpPr txBox="1"/>
          <p:nvPr/>
        </p:nvSpPr>
        <p:spPr>
          <a:xfrm>
            <a:off x="7178040" y="5779008"/>
            <a:ext cx="1378610" cy="329184"/>
          </a:xfrm>
          <a:prstGeom prst="rect">
            <a:avLst/>
          </a:prstGeom>
          <a:noFill/>
          <a:ln/>
        </p:spPr>
        <p:txBody>
          <a:bodyPr wrap="square" lIns="0" tIns="0" rIns="0" bIns="0" rtlCol="0" anchor="ctr"/>
          <a:lstStyle/>
          <a:p>
            <a:pPr marL="0" indent="0" algn="ctr">
              <a:buNone/>
            </a:pPr>
            <a:r>
              <a:rPr lang="en-US" sz="1500" dirty="0">
                <a:solidFill>
                  <a:srgbClr val="0F172A"/>
                </a:solidFill>
                <a:latin typeface="Segoe UI Semibold" pitchFamily="34" charset="0"/>
                <a:ea typeface="Segoe UI Semibold" pitchFamily="34" charset="-122"/>
                <a:cs typeface="Segoe UI Semibold" pitchFamily="34" charset="-120"/>
              </a:rPr>
              <a:t>PDF</a:t>
            </a:r>
            <a:endParaRPr lang="en-US" sz="1500" dirty="0"/>
          </a:p>
        </p:txBody>
      </p:sp>
      <p:sp>
        <p:nvSpPr>
          <p:cNvPr id="34" name="a5_202"/>
          <p:cNvSpPr/>
          <p:nvPr/>
        </p:nvSpPr>
        <p:spPr>
          <a:xfrm>
            <a:off x="8721242" y="4974336"/>
            <a:ext cx="1378610" cy="1280160"/>
          </a:xfrm>
          <a:prstGeom prst="roundRect">
            <a:avLst>
              <a:gd name="adj" fmla="val 10000"/>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35" name="a5_203"/>
          <p:cNvSpPr/>
          <p:nvPr/>
        </p:nvSpPr>
        <p:spPr>
          <a:xfrm>
            <a:off x="9154516" y="5157216"/>
            <a:ext cx="512064" cy="512064"/>
          </a:xfrm>
          <a:prstGeom prst="ellipse">
            <a:avLst/>
          </a:prstGeom>
          <a:solidFill>
            <a:srgbClr val="16A34A"/>
          </a:solidFill>
          <a:ln w="12700">
            <a:solidFill>
              <a:srgbClr val="16A34A"/>
            </a:solidFill>
            <a:prstDash val="solid"/>
          </a:ln>
        </p:spPr>
      </p:sp>
      <p:pic>
        <p:nvPicPr>
          <p:cNvPr id="36" name="a5_204" descr="preencoded.png"/>
          <p:cNvPicPr>
            <a:picLocks noChangeAspect="1"/>
          </p:cNvPicPr>
          <p:nvPr/>
        </p:nvPicPr>
        <p:blipFill>
          <a:blip r:embed="rId10"/>
          <a:stretch>
            <a:fillRect/>
          </a:stretch>
        </p:blipFill>
        <p:spPr>
          <a:xfrm>
            <a:off x="9282532" y="5285232"/>
            <a:ext cx="256032" cy="256032"/>
          </a:xfrm>
          <a:prstGeom prst="rect">
            <a:avLst/>
          </a:prstGeom>
        </p:spPr>
      </p:pic>
      <p:sp>
        <p:nvSpPr>
          <p:cNvPr id="37" name="a5_205"/>
          <p:cNvSpPr txBox="1"/>
          <p:nvPr/>
        </p:nvSpPr>
        <p:spPr>
          <a:xfrm>
            <a:off x="8721242" y="5779008"/>
            <a:ext cx="1378610" cy="329184"/>
          </a:xfrm>
          <a:prstGeom prst="rect">
            <a:avLst/>
          </a:prstGeom>
          <a:noFill/>
          <a:ln/>
        </p:spPr>
        <p:txBody>
          <a:bodyPr wrap="square" lIns="0" tIns="0" rIns="0" bIns="0" rtlCol="0" anchor="ctr"/>
          <a:lstStyle/>
          <a:p>
            <a:pPr marL="0" indent="0" algn="ctr">
              <a:buNone/>
            </a:pPr>
            <a:r>
              <a:rPr lang="en-US" sz="1500" dirty="0">
                <a:solidFill>
                  <a:srgbClr val="0F172A"/>
                </a:solidFill>
                <a:latin typeface="Segoe UI Semibold" pitchFamily="34" charset="0"/>
                <a:ea typeface="Segoe UI Semibold" pitchFamily="34" charset="-122"/>
                <a:cs typeface="Segoe UI Semibold" pitchFamily="34" charset="-120"/>
              </a:rPr>
              <a:t>Excel</a:t>
            </a:r>
            <a:endParaRPr lang="en-US" sz="1500" dirty="0"/>
          </a:p>
        </p:txBody>
      </p:sp>
      <p:sp>
        <p:nvSpPr>
          <p:cNvPr id="38" name="a5_206"/>
          <p:cNvSpPr/>
          <p:nvPr/>
        </p:nvSpPr>
        <p:spPr>
          <a:xfrm>
            <a:off x="10264445" y="4974336"/>
            <a:ext cx="1378610" cy="1280160"/>
          </a:xfrm>
          <a:prstGeom prst="roundRect">
            <a:avLst>
              <a:gd name="adj" fmla="val 10000"/>
            </a:avLst>
          </a:prstGeom>
          <a:solidFill>
            <a:srgbClr val="FFFFFF"/>
          </a:solidFill>
          <a:ln w="9525">
            <a:solidFill>
              <a:srgbClr val="E2E8F0"/>
            </a:solidFill>
            <a:prstDash val="solid"/>
          </a:ln>
          <a:effectLst>
            <a:outerShdw blurRad="127000" dist="25400" dir="5400000" algn="bl" rotWithShape="0">
              <a:srgbClr val="0F1E7A">
                <a:alpha val="10000"/>
              </a:srgbClr>
            </a:outerShdw>
          </a:effectLst>
        </p:spPr>
      </p:sp>
      <p:sp>
        <p:nvSpPr>
          <p:cNvPr id="39" name="a5_207"/>
          <p:cNvSpPr/>
          <p:nvPr/>
        </p:nvSpPr>
        <p:spPr>
          <a:xfrm>
            <a:off x="10697718" y="5157216"/>
            <a:ext cx="512064" cy="512064"/>
          </a:xfrm>
          <a:prstGeom prst="ellipse">
            <a:avLst/>
          </a:prstGeom>
          <a:solidFill>
            <a:srgbClr val="2563EB"/>
          </a:solidFill>
          <a:ln w="12700">
            <a:solidFill>
              <a:srgbClr val="2563EB"/>
            </a:solidFill>
            <a:prstDash val="solid"/>
          </a:ln>
        </p:spPr>
      </p:sp>
      <p:pic>
        <p:nvPicPr>
          <p:cNvPr id="40" name="a5_208" descr="preencoded.png"/>
          <p:cNvPicPr>
            <a:picLocks noChangeAspect="1"/>
          </p:cNvPicPr>
          <p:nvPr/>
        </p:nvPicPr>
        <p:blipFill>
          <a:blip r:embed="rId11"/>
          <a:stretch>
            <a:fillRect/>
          </a:stretch>
        </p:blipFill>
        <p:spPr>
          <a:xfrm>
            <a:off x="10825734" y="5285232"/>
            <a:ext cx="256032" cy="256032"/>
          </a:xfrm>
          <a:prstGeom prst="rect">
            <a:avLst/>
          </a:prstGeom>
        </p:spPr>
      </p:pic>
      <p:sp>
        <p:nvSpPr>
          <p:cNvPr id="41" name="a5_209"/>
          <p:cNvSpPr txBox="1"/>
          <p:nvPr/>
        </p:nvSpPr>
        <p:spPr>
          <a:xfrm>
            <a:off x="10264445" y="5779008"/>
            <a:ext cx="1378610" cy="329184"/>
          </a:xfrm>
          <a:prstGeom prst="rect">
            <a:avLst/>
          </a:prstGeom>
          <a:noFill/>
          <a:ln/>
        </p:spPr>
        <p:txBody>
          <a:bodyPr wrap="square" lIns="0" tIns="0" rIns="0" bIns="0" rtlCol="0" anchor="ctr"/>
          <a:lstStyle/>
          <a:p>
            <a:pPr marL="0" indent="0" algn="ctr">
              <a:buNone/>
            </a:pPr>
            <a:r>
              <a:rPr lang="en-US" sz="1500" dirty="0">
                <a:solidFill>
                  <a:srgbClr val="0F172A"/>
                </a:solidFill>
                <a:latin typeface="Segoe UI Semibold" pitchFamily="34" charset="0"/>
                <a:ea typeface="Segoe UI Semibold" pitchFamily="34" charset="-122"/>
                <a:cs typeface="Segoe UI Semibold" pitchFamily="34" charset="-120"/>
              </a:rPr>
              <a:t>Image</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par>
                          <p:cTn id="8" fill="hold">
                            <p:stCondLst>
                              <p:cond delay="650"/>
                            </p:stCondLst>
                            <p:childTnLst>
                              <p:par>
                                <p:cTn id="9" presetID="10" presetClass="entr" presetSubtype="0" fill="hold" nodeType="afterEffect">
                                  <p:stCondLst>
                                    <p:cond delay="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tgtEl>
                                          <p:spTgt spid="11"/>
                                        </p:tgtEl>
                                      </p:cBhvr>
                                    </p:animEffect>
                                  </p:childTnLst>
                                </p:cTn>
                              </p:par>
                            </p:childTnLst>
                          </p:cTn>
                        </p:par>
                        <p:par>
                          <p:cTn id="12" fill="hold">
                            <p:stCondLst>
                              <p:cond delay="1150"/>
                            </p:stCondLst>
                            <p:childTnLst>
                              <p:par>
                                <p:cTn id="13" presetID="10" presetClass="entr" presetSubtype="0" fill="hold" grpId="0" nodeType="afterEffect">
                                  <p:stCondLst>
                                    <p:cond delay="5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50"/>
                                        <p:tgtEl>
                                          <p:spTgt spid="16"/>
                                        </p:tgtEl>
                                      </p:cBhvr>
                                    </p:animEffect>
                                  </p:childTnLst>
                                </p:cTn>
                              </p:par>
                              <p:par>
                                <p:cTn id="28" presetID="10"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50"/>
                                        <p:tgtEl>
                                          <p:spTgt spid="18"/>
                                        </p:tgtEl>
                                      </p:cBhvr>
                                    </p:animEffect>
                                  </p:childTnLst>
                                </p:cTn>
                              </p:par>
                              <p:par>
                                <p:cTn id="34" presetID="10"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5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50"/>
                                        <p:tgtEl>
                                          <p:spTgt spid="20"/>
                                        </p:tgtEl>
                                      </p:cBhvr>
                                    </p:animEffect>
                                  </p:childTnLst>
                                </p:cTn>
                              </p:par>
                              <p:par>
                                <p:cTn id="40" presetID="10"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5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par>
                                <p:cTn id="46" presetID="10" presetClass="entr" presetSubtype="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5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50"/>
                                        <p:tgtEl>
                                          <p:spTgt spid="24"/>
                                        </p:tgtEl>
                                      </p:cBhvr>
                                    </p:animEffect>
                                  </p:childTnLst>
                                </p:cTn>
                              </p:par>
                            </p:childTnLst>
                          </p:cTn>
                        </p:par>
                        <p:par>
                          <p:cTn id="52" fill="hold">
                            <p:stCondLst>
                              <p:cond delay="1650"/>
                            </p:stCondLst>
                            <p:childTnLst>
                              <p:par>
                                <p:cTn id="53" presetID="10" presetClass="entr" presetSubtype="0" fill="hold" grpId="0" nodeType="afterEffect">
                                  <p:stCondLst>
                                    <p:cond delay="5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50"/>
                                        <p:tgtEl>
                                          <p:spTgt spid="25"/>
                                        </p:tgtEl>
                                      </p:cBhvr>
                                    </p:animEffect>
                                  </p:childTnLst>
                                </p:cTn>
                              </p:par>
                              <p:par>
                                <p:cTn id="56" presetID="10" presetClass="entr" presetSubtype="0"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5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childTnLst>
                          </p:cTn>
                        </p:par>
                        <p:par>
                          <p:cTn id="65" fill="hold">
                            <p:stCondLst>
                              <p:cond delay="2150"/>
                            </p:stCondLst>
                            <p:childTnLst>
                              <p:par>
                                <p:cTn id="66" presetID="10" presetClass="entr" presetSubtype="0" fill="hold" grpId="0" nodeType="afterEffect">
                                  <p:stCondLst>
                                    <p:cond delay="5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50"/>
                                        <p:tgtEl>
                                          <p:spTgt spid="29"/>
                                        </p:tgtEl>
                                      </p:cBhvr>
                                    </p:animEffect>
                                  </p:childTnLst>
                                </p:cTn>
                              </p:par>
                              <p:par>
                                <p:cTn id="69" presetID="10" presetClass="entr" presetSubtype="0" fill="hold"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50"/>
                                        <p:tgtEl>
                                          <p:spTgt spid="30"/>
                                        </p:tgtEl>
                                      </p:cBhvr>
                                    </p:animEffect>
                                  </p:childTnLst>
                                </p:cTn>
                              </p:par>
                              <p:par>
                                <p:cTn id="72" presetID="10" presetClass="entr" presetSubtype="0"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450"/>
                                        <p:tgtEl>
                                          <p:spTgt spid="31"/>
                                        </p:tgtEl>
                                      </p:cBhvr>
                                    </p:animEffect>
                                  </p:childTnLst>
                                </p:cTn>
                              </p:par>
                              <p:par>
                                <p:cTn id="75" presetID="10" presetClass="entr" presetSubtype="0"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450"/>
                                        <p:tgtEl>
                                          <p:spTgt spid="3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450"/>
                                        <p:tgtEl>
                                          <p:spTgt spid="33"/>
                                        </p:tgtEl>
                                      </p:cBhvr>
                                    </p:animEffect>
                                  </p:childTnLst>
                                </p:cTn>
                              </p:par>
                              <p:par>
                                <p:cTn id="81" presetID="10" presetClass="entr" presetSubtype="0" fill="hold"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450"/>
                                        <p:tgtEl>
                                          <p:spTgt spid="34"/>
                                        </p:tgtEl>
                                      </p:cBhvr>
                                    </p:animEffect>
                                  </p:childTnLst>
                                </p:cTn>
                              </p:par>
                              <p:par>
                                <p:cTn id="84" presetID="10" presetClass="entr" presetSubtype="0" fill="hold"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50"/>
                                        <p:tgtEl>
                                          <p:spTgt spid="35"/>
                                        </p:tgtEl>
                                      </p:cBhvr>
                                    </p:animEffect>
                                  </p:childTnLst>
                                </p:cTn>
                              </p:par>
                              <p:par>
                                <p:cTn id="87" presetID="10"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450"/>
                                        <p:tgtEl>
                                          <p:spTgt spid="3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450"/>
                                        <p:tgtEl>
                                          <p:spTgt spid="37"/>
                                        </p:tgtEl>
                                      </p:cBhvr>
                                    </p:animEffect>
                                  </p:childTnLst>
                                </p:cTn>
                              </p:par>
                              <p:par>
                                <p:cTn id="93" presetID="10" presetClass="entr" presetSubtype="0" fill="hold" nodeType="with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450"/>
                                        <p:tgtEl>
                                          <p:spTgt spid="38"/>
                                        </p:tgtEl>
                                      </p:cBhvr>
                                    </p:animEffect>
                                  </p:childTnLst>
                                </p:cTn>
                              </p:par>
                              <p:par>
                                <p:cTn id="96" presetID="10" presetClass="entr" presetSubtype="0" fill="hold" nodeType="with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450"/>
                                        <p:tgtEl>
                                          <p:spTgt spid="39"/>
                                        </p:tgtEl>
                                      </p:cBhvr>
                                    </p:animEffect>
                                  </p:childTnLst>
                                </p:cTn>
                              </p:par>
                              <p:par>
                                <p:cTn id="99" presetID="10" presetClass="entr" presetSubtype="0" fill="hold"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450"/>
                                        <p:tgtEl>
                                          <p:spTgt spid="4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5" grpId="0" animBg="1"/>
      <p:bldP spid="28" grpId="0" animBg="1"/>
      <p:bldP spid="29" grpId="0" animBg="1"/>
      <p:bldP spid="33" grpId="0" animBg="1"/>
      <p:bldP spid="37" grpId="0" animBg="1"/>
      <p:bldP spid="4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dmin\.claude\skills\ipoms-ppt-2026\demo\assets\infoziant_wordmark.png"/>
          <p:cNvPicPr>
            <a:picLocks noChangeAspect="1"/>
          </p:cNvPicPr>
          <p:nvPr/>
        </p:nvPicPr>
        <p:blipFill>
          <a:blip r:embed="rId4"/>
          <a:stretch>
            <a:fillRect/>
          </a:stretch>
        </p:blipFill>
        <p:spPr>
          <a:xfrm>
            <a:off x="4541902" y="914400"/>
            <a:ext cx="3107892" cy="749808"/>
          </a:xfrm>
          <a:prstGeom prst="rect">
            <a:avLst/>
          </a:prstGeom>
        </p:spPr>
      </p:pic>
      <p:sp>
        <p:nvSpPr>
          <p:cNvPr id="3" name="a1_210"/>
          <p:cNvSpPr txBox="1"/>
          <p:nvPr/>
        </p:nvSpPr>
        <p:spPr>
          <a:xfrm>
            <a:off x="1371600" y="1965960"/>
            <a:ext cx="9448495" cy="1005840"/>
          </a:xfrm>
          <a:prstGeom prst="rect">
            <a:avLst/>
          </a:prstGeom>
          <a:noFill/>
          <a:ln/>
        </p:spPr>
        <p:txBody>
          <a:bodyPr wrap="square" lIns="0" tIns="0" rIns="0" bIns="0" rtlCol="0" anchor="ctr"/>
          <a:lstStyle/>
          <a:p>
            <a:pPr marL="0" indent="0" algn="ctr">
              <a:buNone/>
            </a:pPr>
            <a:r>
              <a:rPr lang="en-US" sz="6000" dirty="0">
                <a:solidFill>
                  <a:srgbClr val="0F1E7A"/>
                </a:solidFill>
                <a:latin typeface="Segoe UI Semibold" pitchFamily="34" charset="0"/>
                <a:ea typeface="Segoe UI Semibold" pitchFamily="34" charset="-122"/>
                <a:cs typeface="Segoe UI Semibold" pitchFamily="34" charset="-120"/>
              </a:rPr>
              <a:t>Thank you</a:t>
            </a:r>
            <a:endParaRPr lang="en-US" sz="6000" dirty="0"/>
          </a:p>
        </p:txBody>
      </p:sp>
      <p:sp>
        <p:nvSpPr>
          <p:cNvPr id="4" name="a1_211"/>
          <p:cNvSpPr txBox="1"/>
          <p:nvPr/>
        </p:nvSpPr>
        <p:spPr>
          <a:xfrm>
            <a:off x="1371600" y="2944368"/>
            <a:ext cx="9448495" cy="457200"/>
          </a:xfrm>
          <a:prstGeom prst="rect">
            <a:avLst/>
          </a:prstGeom>
          <a:noFill/>
          <a:ln/>
        </p:spPr>
        <p:txBody>
          <a:bodyPr wrap="square" lIns="0" tIns="0" rIns="0" bIns="0" rtlCol="0" anchor="ctr"/>
          <a:lstStyle/>
          <a:p>
            <a:pPr marL="0" indent="0" algn="ctr">
              <a:buNone/>
            </a:pPr>
            <a:r>
              <a:rPr lang="en-US" sz="1900" dirty="0">
                <a:solidFill>
                  <a:srgbClr val="475569"/>
                </a:solidFill>
                <a:latin typeface="Segoe UI" pitchFamily="34" charset="0"/>
                <a:ea typeface="Segoe UI" pitchFamily="34" charset="-122"/>
                <a:cs typeface="Segoe UI" pitchFamily="34" charset="-120"/>
              </a:rPr>
              <a:t>Questions, and a live walkthrough of iPOMS</a:t>
            </a:r>
            <a:endParaRPr lang="en-US" sz="1900" dirty="0"/>
          </a:p>
        </p:txBody>
      </p:sp>
      <p:sp>
        <p:nvSpPr>
          <p:cNvPr id="5" name="a2_212"/>
          <p:cNvSpPr/>
          <p:nvPr/>
        </p:nvSpPr>
        <p:spPr>
          <a:xfrm>
            <a:off x="2598268" y="3822192"/>
            <a:ext cx="3977640" cy="585216"/>
          </a:xfrm>
          <a:prstGeom prst="roundRect">
            <a:avLst>
              <a:gd name="adj" fmla="val 78125"/>
            </a:avLst>
          </a:prstGeom>
          <a:solidFill>
            <a:srgbClr val="0F1E7A"/>
          </a:solidFill>
          <a:ln w="9525">
            <a:solidFill>
              <a:srgbClr val="0F1E7A"/>
            </a:solidFill>
            <a:prstDash val="solid"/>
          </a:ln>
        </p:spPr>
      </p:sp>
      <p:pic>
        <p:nvPicPr>
          <p:cNvPr id="6" name="a2_213" descr="preencoded.png"/>
          <p:cNvPicPr>
            <a:picLocks noChangeAspect="1"/>
          </p:cNvPicPr>
          <p:nvPr/>
        </p:nvPicPr>
        <p:blipFill>
          <a:blip r:embed="rId5"/>
          <a:stretch>
            <a:fillRect/>
          </a:stretch>
        </p:blipFill>
        <p:spPr>
          <a:xfrm>
            <a:off x="2872588" y="4005072"/>
            <a:ext cx="219456" cy="219456"/>
          </a:xfrm>
          <a:prstGeom prst="rect">
            <a:avLst/>
          </a:prstGeom>
        </p:spPr>
      </p:pic>
      <p:sp>
        <p:nvSpPr>
          <p:cNvPr id="7" name="a2_214"/>
          <p:cNvSpPr txBox="1"/>
          <p:nvPr/>
        </p:nvSpPr>
        <p:spPr>
          <a:xfrm>
            <a:off x="3201772" y="3822192"/>
            <a:ext cx="3246120" cy="585216"/>
          </a:xfrm>
          <a:prstGeom prst="rect">
            <a:avLst/>
          </a:prstGeom>
          <a:noFill/>
          <a:ln/>
        </p:spPr>
        <p:txBody>
          <a:bodyPr wrap="square" lIns="0" tIns="0" rIns="0" bIns="0" rtlCol="0" anchor="ctr"/>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hlinkClick r:id="rId6" tooltip="https://ipoms.vercel.app/">
                  <a:extLst>
                    <a:ext uri="{A12FA001-AC4F-418D-AE19-62706E023703}">
                      <ahyp:hlinkClr xmlns:ahyp="http://schemas.microsoft.com/office/drawing/2018/hyperlinkcolor" val="tx"/>
                    </a:ext>
                  </a:extLst>
                </a:hlinkClick>
              </a:rPr>
              <a:t>Open iPOMS  ·  ipoms.vercel.app</a:t>
            </a:r>
            <a:endParaRPr lang="en-US" sz="1400" dirty="0"/>
          </a:p>
        </p:txBody>
      </p:sp>
      <p:sp>
        <p:nvSpPr>
          <p:cNvPr id="8" name="a2_215"/>
          <p:cNvSpPr/>
          <p:nvPr/>
        </p:nvSpPr>
        <p:spPr>
          <a:xfrm>
            <a:off x="6850228" y="3822192"/>
            <a:ext cx="2743200" cy="585216"/>
          </a:xfrm>
          <a:prstGeom prst="roundRect">
            <a:avLst>
              <a:gd name="adj" fmla="val 78125"/>
            </a:avLst>
          </a:prstGeom>
          <a:solidFill>
            <a:srgbClr val="FFFFFF"/>
          </a:solidFill>
          <a:ln w="15875">
            <a:solidFill>
              <a:srgbClr val="C7D2FE"/>
            </a:solidFill>
            <a:prstDash val="solid"/>
          </a:ln>
        </p:spPr>
      </p:sp>
      <p:pic>
        <p:nvPicPr>
          <p:cNvPr id="9" name="a2_216" descr="preencoded.png"/>
          <p:cNvPicPr>
            <a:picLocks noChangeAspect="1"/>
          </p:cNvPicPr>
          <p:nvPr/>
        </p:nvPicPr>
        <p:blipFill>
          <a:blip r:embed="rId7"/>
          <a:stretch>
            <a:fillRect/>
          </a:stretch>
        </p:blipFill>
        <p:spPr>
          <a:xfrm>
            <a:off x="7124548" y="4005072"/>
            <a:ext cx="219456" cy="219456"/>
          </a:xfrm>
          <a:prstGeom prst="rect">
            <a:avLst/>
          </a:prstGeom>
        </p:spPr>
      </p:pic>
      <p:sp>
        <p:nvSpPr>
          <p:cNvPr id="10" name="a2_217"/>
          <p:cNvSpPr txBox="1"/>
          <p:nvPr/>
        </p:nvSpPr>
        <p:spPr>
          <a:xfrm>
            <a:off x="7453732" y="3822192"/>
            <a:ext cx="2011680" cy="585216"/>
          </a:xfrm>
          <a:prstGeom prst="rect">
            <a:avLst/>
          </a:prstGeom>
          <a:noFill/>
          <a:ln/>
        </p:spPr>
        <p:txBody>
          <a:bodyPr wrap="square" lIns="0" tIns="0" rIns="0" bIns="0" rtlCol="0" anchor="ctr"/>
          <a:lstStyle/>
          <a:p>
            <a:pPr marL="0" indent="0">
              <a:buNone/>
            </a:pPr>
            <a:r>
              <a:rPr lang="en-US" sz="1400" u="sng" dirty="0">
                <a:solidFill>
                  <a:srgbClr val="0F1E7A"/>
                </a:solidFill>
                <a:latin typeface="Segoe UI Semibold" pitchFamily="34" charset="0"/>
                <a:ea typeface="Segoe UI Semibold" pitchFamily="34" charset="-122"/>
                <a:cs typeface="Segoe UI Semibold" pitchFamily="34" charset="-120"/>
                <a:hlinkClick r:id="rId8" tooltip="https://www.infoziant.com">
                  <a:extLst>
                    <a:ext uri="{A12FA001-AC4F-418D-AE19-62706E023703}">
                      <ahyp:hlinkClr xmlns:ahyp="http://schemas.microsoft.com/office/drawing/2018/hyperlinkcolor" val="tx"/>
                    </a:ext>
                  </a:extLst>
                </a:hlinkClick>
              </a:rPr>
              <a:t>www.infoziant.com</a:t>
            </a:r>
            <a:endParaRPr lang="en-US" sz="1400" dirty="0"/>
          </a:p>
        </p:txBody>
      </p:sp>
      <p:sp>
        <p:nvSpPr>
          <p:cNvPr id="11" name="a3_218"/>
          <p:cNvSpPr txBox="1"/>
          <p:nvPr/>
        </p:nvSpPr>
        <p:spPr>
          <a:xfrm>
            <a:off x="1371600" y="4846320"/>
            <a:ext cx="9448495" cy="256032"/>
          </a:xfrm>
          <a:prstGeom prst="rect">
            <a:avLst/>
          </a:prstGeom>
          <a:noFill/>
          <a:ln/>
        </p:spPr>
        <p:txBody>
          <a:bodyPr wrap="square" lIns="0" tIns="0" rIns="0" bIns="0" rtlCol="0" anchor="t"/>
          <a:lstStyle/>
          <a:p>
            <a:pPr marL="0" indent="0" algn="ctr">
              <a:buNone/>
            </a:pPr>
            <a:r>
              <a:rPr lang="en-US" sz="1050" kern="0" spc="200" dirty="0">
                <a:solidFill>
                  <a:srgbClr val="0E7490"/>
                </a:solidFill>
                <a:latin typeface="Segoe UI Semibold" pitchFamily="34" charset="0"/>
                <a:ea typeface="Segoe UI Semibold" pitchFamily="34" charset="-122"/>
                <a:cs typeface="Segoe UI Semibold" pitchFamily="34" charset="-120"/>
              </a:rPr>
              <a:t>PRESENTED BY</a:t>
            </a:r>
            <a:endParaRPr lang="en-US" sz="1050" dirty="0"/>
          </a:p>
        </p:txBody>
      </p:sp>
      <p:sp>
        <p:nvSpPr>
          <p:cNvPr id="12" name="a3_219"/>
          <p:cNvSpPr txBox="1"/>
          <p:nvPr/>
        </p:nvSpPr>
        <p:spPr>
          <a:xfrm>
            <a:off x="1371600" y="5102352"/>
            <a:ext cx="9448495" cy="438912"/>
          </a:xfrm>
          <a:prstGeom prst="rect">
            <a:avLst/>
          </a:prstGeom>
          <a:noFill/>
          <a:ln/>
        </p:spPr>
        <p:txBody>
          <a:bodyPr wrap="square" lIns="0" tIns="0" rIns="0" bIns="0" rtlCol="0" anchor="ctr"/>
          <a:lstStyle/>
          <a:p>
            <a:pPr marL="0" indent="0" algn="ctr">
              <a:buNone/>
            </a:pPr>
            <a:r>
              <a:rPr lang="en-US" sz="2000" dirty="0">
                <a:solidFill>
                  <a:srgbClr val="0F1E7A"/>
                </a:solidFill>
                <a:latin typeface="Segoe UI Semibold" pitchFamily="34" charset="0"/>
                <a:ea typeface="Segoe UI Semibold" pitchFamily="34" charset="-122"/>
                <a:cs typeface="Segoe UI Semibold" pitchFamily="34" charset="-120"/>
              </a:rPr>
              <a:t>A. MOHANARADHA</a:t>
            </a:r>
            <a:endParaRPr lang="en-US" sz="2000" dirty="0"/>
          </a:p>
        </p:txBody>
      </p:sp>
      <p:sp>
        <p:nvSpPr>
          <p:cNvPr id="13" name="a3_220"/>
          <p:cNvSpPr txBox="1"/>
          <p:nvPr/>
        </p:nvSpPr>
        <p:spPr>
          <a:xfrm>
            <a:off x="1371600" y="5541264"/>
            <a:ext cx="9448495" cy="310896"/>
          </a:xfrm>
          <a:prstGeom prst="rect">
            <a:avLst/>
          </a:prstGeom>
          <a:noFill/>
          <a:ln/>
        </p:spPr>
        <p:txBody>
          <a:bodyPr wrap="square" lIns="0" tIns="0" rIns="0" bIns="0" rtlCol="0" anchor="ctr"/>
          <a:lstStyle/>
          <a:p>
            <a:pPr marL="0" indent="0" algn="ctr">
              <a:buNone/>
            </a:pPr>
            <a:r>
              <a:rPr lang="en-US" sz="1300" dirty="0">
                <a:solidFill>
                  <a:srgbClr val="475569"/>
                </a:solidFill>
                <a:latin typeface="Segoe UI" pitchFamily="34" charset="0"/>
                <a:ea typeface="Segoe UI" pitchFamily="34" charset="-122"/>
                <a:cs typeface="Segoe UI" pitchFamily="34" charset="-120"/>
              </a:rPr>
              <a:t>Infoziant</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childTnLst>
                          </p:cTn>
                        </p:par>
                        <p:par>
                          <p:cTn id="11" fill="hold">
                            <p:stCondLst>
                              <p:cond delay="650"/>
                            </p:stCondLst>
                            <p:childTnLst>
                              <p:par>
                                <p:cTn id="12" presetID="10" presetClass="entr" presetSubtype="0" fill="hold" nodeType="afterEffect">
                                  <p:stCondLst>
                                    <p:cond delay="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childTnLst>
                          </p:cTn>
                        </p:par>
                        <p:par>
                          <p:cTn id="30" fill="hold">
                            <p:stCondLst>
                              <p:cond delay="1150"/>
                            </p:stCondLst>
                            <p:childTnLst>
                              <p:par>
                                <p:cTn id="31" presetID="10" presetClass="entr" presetSubtype="0" fill="hold" grpId="0" nodeType="afterEffect">
                                  <p:stCondLst>
                                    <p:cond delay="5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10" grpId="0" animBg="1"/>
      <p:bldP spid="11"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1179</Words>
  <Application>Microsoft Office PowerPoint</Application>
  <PresentationFormat>Widescreen</PresentationFormat>
  <Paragraphs>145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Infoziant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iPOMS — Infoziant Placement Operations Management System</dc:title>
  <dc:subject>PptxGenJS Presentation</dc:subject>
  <dc:creator>A. Mohanaradha</dc:creator>
  <cp:lastModifiedBy>Mohanaradha A</cp:lastModifiedBy>
  <cp:revision>2</cp:revision>
  <dcterms:created xsi:type="dcterms:W3CDTF">2026-09-17T11:48:17Z</dcterms:created>
  <dcterms:modified xsi:type="dcterms:W3CDTF">2026-09-17T11:49:00Z</dcterms:modified>
</cp:coreProperties>
</file>